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Nyutro Sans" panose="020B0604020202020204" charset="0"/>
      <p:regular r:id="rId15"/>
    </p:embeddedFont>
    <p:embeddedFont>
      <p:font typeface="Nyutro Sans Bold" panose="020B0604020202020204" charset="0"/>
      <p:regular r:id="rId16"/>
    </p:embeddedFont>
    <p:embeddedFont>
      <p:font typeface="Nyutro Sans Heavy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105524" cy="9201150"/>
            <a:chOff x="0" y="0"/>
            <a:chExt cx="1652231" cy="24899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2231" cy="2489946"/>
            </a:xfrm>
            <a:custGeom>
              <a:avLst/>
              <a:gdLst/>
              <a:ahLst/>
              <a:cxnLst/>
              <a:rect l="l" t="t" r="r" b="b"/>
              <a:pathLst>
                <a:path w="1863594" h="2782841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t="-162" b="-16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46" y="666750"/>
            <a:ext cx="923925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825"/>
              </a:lnSpc>
            </a:pPr>
            <a:r>
              <a:rPr lang="en-US" sz="9600" b="1" spc="-128" dirty="0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E-Governance: Models and Components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5965730"/>
            <a:ext cx="9174425" cy="315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90"/>
              </a:lnSpc>
            </a:pPr>
            <a:r>
              <a:rPr lang="en-US" sz="2207" b="1" spc="-44" dirty="0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    Team Members List</a:t>
            </a:r>
          </a:p>
          <a:p>
            <a:pPr marL="0" lvl="0" indent="0" algn="l">
              <a:lnSpc>
                <a:spcPts val="3090"/>
              </a:lnSpc>
            </a:pPr>
            <a:endParaRPr lang="en-US" sz="2207" spc="-44" dirty="0">
              <a:solidFill>
                <a:srgbClr val="D0D9E7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 marL="476606" lvl="1" indent="-238303" algn="l">
              <a:lnSpc>
                <a:spcPts val="3090"/>
              </a:lnSpc>
              <a:buFont typeface="Arial"/>
              <a:buChar char="•"/>
            </a:pPr>
            <a:r>
              <a:rPr lang="en-US" sz="2207" spc="-44" dirty="0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Naman Sagar (23/MC/093)</a:t>
            </a:r>
          </a:p>
          <a:p>
            <a:pPr marL="476606" lvl="1" indent="-238303" algn="l">
              <a:lnSpc>
                <a:spcPts val="3090"/>
              </a:lnSpc>
              <a:buFont typeface="Arial"/>
              <a:buChar char="•"/>
            </a:pPr>
            <a:r>
              <a:rPr lang="en-US" sz="2207" spc="-44" dirty="0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Navdeep Singh (23/MC/094)</a:t>
            </a:r>
          </a:p>
          <a:p>
            <a:pPr marL="476606" lvl="1" indent="-238303">
              <a:lnSpc>
                <a:spcPts val="3090"/>
              </a:lnSpc>
              <a:buFont typeface="Arial"/>
              <a:buChar char="•"/>
            </a:pPr>
            <a:r>
              <a:rPr lang="en-US" sz="2207" spc="-44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Krish (23/MC/076)</a:t>
            </a:r>
            <a:endParaRPr lang="en-US" sz="2207" spc="-44" dirty="0">
              <a:solidFill>
                <a:srgbClr val="D0D9E7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 marL="476606" lvl="1" indent="-238303" algn="l">
              <a:lnSpc>
                <a:spcPts val="3090"/>
              </a:lnSpc>
              <a:buFont typeface="Arial"/>
              <a:buChar char="•"/>
            </a:pPr>
            <a:r>
              <a:rPr lang="en-US" sz="2207" spc="-44" dirty="0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Lokesh </a:t>
            </a:r>
            <a:r>
              <a:rPr lang="en-US" sz="2207" spc="-44" dirty="0" err="1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Godara</a:t>
            </a:r>
            <a:r>
              <a:rPr lang="en-US" sz="2207" spc="-44" dirty="0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 (23/MC/082)</a:t>
            </a:r>
          </a:p>
          <a:p>
            <a:pPr marL="476606" lvl="1" indent="-238303" algn="l">
              <a:lnSpc>
                <a:spcPts val="3090"/>
              </a:lnSpc>
              <a:buFont typeface="Arial"/>
              <a:buChar char="•"/>
            </a:pPr>
            <a:r>
              <a:rPr lang="en-US" sz="2207" spc="-44" dirty="0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Parth Malik (23/MC/101)</a:t>
            </a:r>
          </a:p>
          <a:p>
            <a:pPr marL="476606" lvl="1" indent="-238303" algn="l">
              <a:lnSpc>
                <a:spcPts val="3090"/>
              </a:lnSpc>
              <a:buFont typeface="Arial"/>
              <a:buChar char="•"/>
            </a:pPr>
            <a:r>
              <a:rPr lang="en-US" sz="2207" spc="-44" dirty="0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Madhav Gandhi (23/MC/083)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5146638"/>
            <a:chOff x="0" y="0"/>
            <a:chExt cx="14935200" cy="6862184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4935200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FFFF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Introduction to E-Governance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00" y="3371850"/>
              <a:ext cx="148971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Foundations and Scope of Digital Government Services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8100" y="4514800"/>
              <a:ext cx="11061700" cy="2347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E-Governance refers to the </a:t>
              </a:r>
              <a:r>
                <a:rPr lang="en-US" sz="2499" b="1" u="none" strike="noStrike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digital transformation</a:t>
              </a: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of government services, enhancing interactions between citizens and the government. This shift improves efficiency and accessibility, paving the way for modern governance.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9763125" cy="3019425"/>
            <a:chOff x="0" y="0"/>
            <a:chExt cx="13017500" cy="4025900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3017500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FFFF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Importance of E-Governance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00" y="3371850"/>
              <a:ext cx="129794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Enhancing Efficiency and Accountability in Governance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5325" y="6038850"/>
            <a:ext cx="6858000" cy="2574888"/>
            <a:chOff x="0" y="0"/>
            <a:chExt cx="9144000" cy="3433184"/>
          </a:xfrm>
        </p:grpSpPr>
        <p:sp>
          <p:nvSpPr>
            <p:cNvPr id="6" name="TextBox 6"/>
            <p:cNvSpPr txBox="1"/>
            <p:nvPr/>
          </p:nvSpPr>
          <p:spPr>
            <a:xfrm>
              <a:off x="0" y="1085800"/>
              <a:ext cx="9144000" cy="2347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E-Governance fosters </a:t>
              </a:r>
              <a:r>
                <a:rPr lang="en-US" sz="2499" b="1" u="none" strike="noStrike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transparency</a:t>
              </a: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by enabling citizens to access government information easily, promoting open communication and trust between public officials and the community.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1440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Transparency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6038850"/>
            <a:ext cx="6858000" cy="3013038"/>
            <a:chOff x="0" y="0"/>
            <a:chExt cx="9144000" cy="4017384"/>
          </a:xfrm>
        </p:grpSpPr>
        <p:sp>
          <p:nvSpPr>
            <p:cNvPr id="9" name="TextBox 9"/>
            <p:cNvSpPr txBox="1"/>
            <p:nvPr/>
          </p:nvSpPr>
          <p:spPr>
            <a:xfrm>
              <a:off x="0" y="1085800"/>
              <a:ext cx="9144000" cy="2931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Through digital platforms, E-Governance ensures </a:t>
              </a:r>
              <a:r>
                <a:rPr lang="en-US" sz="2499" b="1" u="none" strike="noStrike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accountability</a:t>
              </a: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, allowing citizens to track governmental actions and decisions, enhancing their engagement and encouraging responsible governance.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1440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Accountability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723900"/>
            <a:ext cx="11201400" cy="7425444"/>
            <a:chOff x="0" y="76200"/>
            <a:chExt cx="14935200" cy="9900591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4935200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FFFF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Broadcasting Model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00" y="2000250"/>
              <a:ext cx="14897100" cy="7976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 dirty="0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One-Way Information Dissemination to Citizens</a:t>
              </a:r>
            </a:p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endParaRPr lang="en-US" sz="2999" b="1" u="none" strike="noStrike" dirty="0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endParaRPr>
            </a:p>
            <a:p>
              <a:pPr marL="647698" lvl="1" indent="-323849" algn="l">
                <a:lnSpc>
                  <a:spcPts val="35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 b="1" u="none" strike="noStrike" dirty="0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This involves the transfer of information from government to citizens without seeking feedback.</a:t>
              </a:r>
            </a:p>
            <a:p>
              <a:pPr marL="647698" lvl="1" indent="-323849" algn="l">
                <a:lnSpc>
                  <a:spcPts val="35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 b="1" u="none" strike="noStrike" dirty="0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An example of this is the announcements made through the MyGov platform.</a:t>
              </a:r>
              <a:endParaRPr lang="en-US" sz="2999" b="1" dirty="0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endParaRPr>
            </a:p>
            <a:p>
              <a:pPr marL="647698" lvl="1" indent="-323849" algn="l">
                <a:lnSpc>
                  <a:spcPts val="35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 b="1" u="none" strike="noStrike" dirty="0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This approach empowers citizens by providing them with essential information.</a:t>
              </a:r>
            </a:p>
            <a:p>
              <a:pPr marL="647698" lvl="1" indent="-323849" algn="l">
                <a:lnSpc>
                  <a:spcPts val="35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 b="1" u="none" strike="noStrike" dirty="0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The importance of transparency and clarity in communication. While one-way dissemination ensures that citizens receive timely updates</a:t>
              </a:r>
            </a:p>
            <a:p>
              <a:pPr marL="647698" lvl="1" indent="-323849" algn="l">
                <a:lnSpc>
                  <a:spcPts val="35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9" b="1" u="none" strike="noStrike" dirty="0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It may lack the opportunity for public engagement and participation.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083300"/>
            <a:ext cx="6886575" cy="353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Definition</a:t>
            </a: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: Controlled, secure information flow between government entities.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Purpose</a:t>
            </a: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: Ensures confidentiality and integrity of sensitive data.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Use Cases</a:t>
            </a: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: Inter-agency communication, secure data transfers, and crisis management.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Examples</a:t>
            </a: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: Health department data sharing during emergencies.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742950"/>
            <a:ext cx="6886575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Critical Flow Model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666750"/>
            <a:ext cx="8324850" cy="8953500"/>
            <a:chOff x="0" y="0"/>
            <a:chExt cx="2576171" cy="27707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172" cy="2770723"/>
            </a:xfrm>
            <a:custGeom>
              <a:avLst/>
              <a:gdLst/>
              <a:ahLst/>
              <a:cxnLst/>
              <a:rect l="l" t="t" r="r" b="b"/>
              <a:pathLst>
                <a:path w="2576172" h="2770723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5207000"/>
            <a:ext cx="6886575" cy="441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 dirty="0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Definition:</a:t>
            </a:r>
            <a:r>
              <a:rPr lang="en-US" sz="2499" u="none" strike="noStrike" dirty="0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 Benchmarking and comparing government performances across various services.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 dirty="0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Purpose:</a:t>
            </a:r>
            <a:r>
              <a:rPr lang="en-US" sz="2499" u="none" strike="noStrike" dirty="0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 Assess effectiveness and efficiency of E-Governance initiatives.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 dirty="0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Use Cases:</a:t>
            </a:r>
            <a:r>
              <a:rPr lang="en-US" sz="2499" u="none" strike="noStrike" dirty="0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 Performance metrics, public service delivery comparisons, and citizen satisfaction ratings.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 dirty="0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Example:</a:t>
            </a:r>
            <a:r>
              <a:rPr lang="en-US" sz="2499" u="none" strike="noStrike" dirty="0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 Cross-country analysis of digital service accessibility.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742950"/>
            <a:ext cx="6886575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Comparative Analysis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666750"/>
            <a:ext cx="8324850" cy="8953500"/>
            <a:chOff x="0" y="0"/>
            <a:chExt cx="2576171" cy="27707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172" cy="2770723"/>
            </a:xfrm>
            <a:custGeom>
              <a:avLst/>
              <a:gdLst/>
              <a:ahLst/>
              <a:cxnLst/>
              <a:rect l="l" t="t" r="r" b="b"/>
              <a:pathLst>
                <a:path w="2576172" h="2770723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5645150"/>
            <a:ext cx="6886575" cy="397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Engages citizens through digital platforms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Facilitates advocacy campaigns and civic initiatives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Empowers individuals to voice opinions and influence policies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Enhances transparency and accountability in governance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Encourages collaboration between government and citizens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742950"/>
            <a:ext cx="688657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E-Advocacy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666750"/>
            <a:ext cx="8324850" cy="8953500"/>
            <a:chOff x="0" y="0"/>
            <a:chExt cx="2576171" cy="27707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172" cy="2770723"/>
            </a:xfrm>
            <a:custGeom>
              <a:avLst/>
              <a:gdLst/>
              <a:ahLst/>
              <a:cxnLst/>
              <a:rect l="l" t="t" r="r" b="b"/>
              <a:pathLst>
                <a:path w="2576172" h="2770723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37518A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3A7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37518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3A70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Interaction Types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1879600"/>
            <a:chOff x="0" y="0"/>
            <a:chExt cx="4805315" cy="250613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38100"/>
              <a:ext cx="4805315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G2C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32715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Government services to citizens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2317750"/>
            <a:chOff x="0" y="0"/>
            <a:chExt cx="4042139" cy="309033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38100"/>
              <a:ext cx="4042139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G2B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327150"/>
              <a:ext cx="4042139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Regulations and support for businesses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1879600"/>
            <a:chOff x="0" y="0"/>
            <a:chExt cx="4042139" cy="250613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38100"/>
              <a:ext cx="4042139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G2G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32715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Data sharing between government agencies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1879600"/>
            <a:chOff x="0" y="0"/>
            <a:chExt cx="4033431" cy="250613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38100"/>
              <a:ext cx="4033431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G2E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327150"/>
              <a:ext cx="4033431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Internal HR services for employees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9763125" cy="3019425"/>
            <a:chOff x="0" y="0"/>
            <a:chExt cx="13017500" cy="4025900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3017500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FFFF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Four Interaction Types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00" y="3371850"/>
              <a:ext cx="129794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Objectives and Transactions in E-Governance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5325" y="6038850"/>
            <a:ext cx="6858000" cy="3013038"/>
            <a:chOff x="0" y="0"/>
            <a:chExt cx="9144000" cy="4017384"/>
          </a:xfrm>
        </p:grpSpPr>
        <p:sp>
          <p:nvSpPr>
            <p:cNvPr id="6" name="TextBox 6"/>
            <p:cNvSpPr txBox="1"/>
            <p:nvPr/>
          </p:nvSpPr>
          <p:spPr>
            <a:xfrm>
              <a:off x="0" y="1085800"/>
              <a:ext cx="9144000" cy="2931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Government to Citizen (G2C) interactions focus on delivering services and communication directly to the public, enhancing engagement through online portals and streamlined processes for citizen queries and access.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1440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G2C Interaction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6038850"/>
            <a:ext cx="6858000" cy="3013038"/>
            <a:chOff x="0" y="0"/>
            <a:chExt cx="9144000" cy="4017384"/>
          </a:xfrm>
        </p:grpSpPr>
        <p:sp>
          <p:nvSpPr>
            <p:cNvPr id="9" name="TextBox 9"/>
            <p:cNvSpPr txBox="1"/>
            <p:nvPr/>
          </p:nvSpPr>
          <p:spPr>
            <a:xfrm>
              <a:off x="0" y="1085800"/>
              <a:ext cx="9144000" cy="2931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Government to Business (G2B) interactions involve providing regulatory information, licensing, and business support services, enabling easier compliance and fostering a supportive environment for entrepreneurs and businesses.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1440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G2B Interaction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48150"/>
            <a:ext cx="5448300" cy="3194207"/>
            <a:chOff x="0" y="0"/>
            <a:chExt cx="844084" cy="4948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4084" cy="494866"/>
            </a:xfrm>
            <a:custGeom>
              <a:avLst/>
              <a:gdLst/>
              <a:ahLst/>
              <a:cxnLst/>
              <a:rect l="l" t="t" r="r" b="b"/>
              <a:pathLst>
                <a:path w="844084" h="494866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324" r="-32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19850" y="4248150"/>
            <a:ext cx="5448300" cy="3194207"/>
            <a:chOff x="0" y="0"/>
            <a:chExt cx="844084" cy="494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4084" cy="494866"/>
            </a:xfrm>
            <a:custGeom>
              <a:avLst/>
              <a:gdLst/>
              <a:ahLst/>
              <a:cxnLst/>
              <a:rect l="l" t="t" r="r" b="b"/>
              <a:pathLst>
                <a:path w="844084" h="494866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324" r="-32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2950" y="4248150"/>
            <a:ext cx="5448300" cy="3194207"/>
            <a:chOff x="0" y="0"/>
            <a:chExt cx="844084" cy="494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4084" cy="494866"/>
            </a:xfrm>
            <a:custGeom>
              <a:avLst/>
              <a:gdLst/>
              <a:ahLst/>
              <a:cxnLst/>
              <a:rect l="l" t="t" r="r" b="b"/>
              <a:pathLst>
                <a:path w="844084" h="494866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459342"/>
                  </a:lnTo>
                  <a:cubicBezTo>
                    <a:pt x="844084" y="478961"/>
                    <a:pt x="828179" y="494866"/>
                    <a:pt x="808560" y="494866"/>
                  </a:cubicBezTo>
                  <a:lnTo>
                    <a:pt x="35524" y="494866"/>
                  </a:lnTo>
                  <a:cubicBezTo>
                    <a:pt x="15905" y="494866"/>
                    <a:pt x="0" y="478961"/>
                    <a:pt x="0" y="459342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4"/>
              <a:stretch>
                <a:fillRect l="-324" r="-324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66750" y="742950"/>
            <a:ext cx="15516225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Core Components of E-Governance Explained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6750" y="7829550"/>
            <a:ext cx="5448300" cy="1343794"/>
            <a:chOff x="0" y="0"/>
            <a:chExt cx="7264400" cy="179172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612742"/>
              <a:ext cx="72644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Networks and systems enabling digital services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72644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ICT Infrastructure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19850" y="7829550"/>
            <a:ext cx="5448300" cy="1343794"/>
            <a:chOff x="0" y="0"/>
            <a:chExt cx="7264400" cy="179172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612742"/>
              <a:ext cx="72644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Regulations guiding E-Governance operations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72644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Legal Frameworks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7829550"/>
            <a:ext cx="5448300" cy="905644"/>
            <a:chOff x="0" y="0"/>
            <a:chExt cx="7264400" cy="1207525"/>
          </a:xfrm>
        </p:grpSpPr>
        <p:sp>
          <p:nvSpPr>
            <p:cNvPr id="16" name="TextBox 16"/>
            <p:cNvSpPr txBox="1"/>
            <p:nvPr/>
          </p:nvSpPr>
          <p:spPr>
            <a:xfrm>
              <a:off x="0" y="612742"/>
              <a:ext cx="72644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Protecting data integrity and privacy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72644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Security Measures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9763125" cy="1990725"/>
            <a:chOff x="0" y="0"/>
            <a:chExt cx="13017500" cy="2654300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3017500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FFFF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Core Components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00" y="2000250"/>
              <a:ext cx="129794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Importance and Best Practices in E-Governance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5325" y="6038850"/>
            <a:ext cx="6858000" cy="3013038"/>
            <a:chOff x="0" y="0"/>
            <a:chExt cx="9144000" cy="4017384"/>
          </a:xfrm>
        </p:grpSpPr>
        <p:sp>
          <p:nvSpPr>
            <p:cNvPr id="6" name="TextBox 6"/>
            <p:cNvSpPr txBox="1"/>
            <p:nvPr/>
          </p:nvSpPr>
          <p:spPr>
            <a:xfrm>
              <a:off x="0" y="1085800"/>
              <a:ext cx="9144000" cy="2931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</a:t>
              </a:r>
              <a:r>
                <a:rPr lang="en-US" sz="2499" b="1" u="none" strike="noStrike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ICT infrastructure</a:t>
              </a: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is vital as it enables efficient digital governance, supporting seamless interactions between government and citizens while fostering transparency and accessibility across services.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1440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Role and Importance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6038850"/>
            <a:ext cx="6858000" cy="3013038"/>
            <a:chOff x="0" y="0"/>
            <a:chExt cx="9144000" cy="4017384"/>
          </a:xfrm>
        </p:grpSpPr>
        <p:sp>
          <p:nvSpPr>
            <p:cNvPr id="9" name="TextBox 9"/>
            <p:cNvSpPr txBox="1"/>
            <p:nvPr/>
          </p:nvSpPr>
          <p:spPr>
            <a:xfrm>
              <a:off x="0" y="1085800"/>
              <a:ext cx="9144000" cy="2931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Legal and policy frameworks</a:t>
              </a: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face challenges in adapting to rapid technological changes. Implementing best practices like regular updates ensures effective governance, data protection, and public trust in digital services.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1440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Challenges and Best Practices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9763125" cy="1990725"/>
            <a:chOff x="0" y="0"/>
            <a:chExt cx="13017500" cy="2654300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3017500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FFFFF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Core Components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00" y="2000250"/>
              <a:ext cx="129794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Key Elements of E-Governance Structure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5325" y="6038850"/>
            <a:ext cx="6858000" cy="2574888"/>
            <a:chOff x="0" y="0"/>
            <a:chExt cx="9144000" cy="3433184"/>
          </a:xfrm>
        </p:grpSpPr>
        <p:sp>
          <p:nvSpPr>
            <p:cNvPr id="6" name="TextBox 6"/>
            <p:cNvSpPr txBox="1"/>
            <p:nvPr/>
          </p:nvSpPr>
          <p:spPr>
            <a:xfrm>
              <a:off x="0" y="1085800"/>
              <a:ext cx="9144000" cy="2347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Data protection laws</a:t>
              </a: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ensure the safeguarding of personal information, establishing clear guidelines for data handling and privacy, which is vital for maintaining citizen trust in digital governance.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1440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Data Protection Laws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6038850"/>
            <a:ext cx="6858000" cy="3013038"/>
            <a:chOff x="0" y="0"/>
            <a:chExt cx="9144000" cy="4017384"/>
          </a:xfrm>
        </p:grpSpPr>
        <p:sp>
          <p:nvSpPr>
            <p:cNvPr id="9" name="TextBox 9"/>
            <p:cNvSpPr txBox="1"/>
            <p:nvPr/>
          </p:nvSpPr>
          <p:spPr>
            <a:xfrm>
              <a:off x="0" y="1085800"/>
              <a:ext cx="9144000" cy="2931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Implementing </a:t>
              </a:r>
              <a:r>
                <a:rPr lang="en-US" sz="2499" b="1" u="none" strike="noStrike">
                  <a:solidFill>
                    <a:srgbClr val="D0D9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secure communication protocols</a:t>
              </a:r>
              <a:r>
                <a:rPr lang="en-US" sz="2499" u="none" strike="noStrike">
                  <a:solidFill>
                    <a:srgbClr val="D0D9E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protects sensitive information transmitted between government entities and citizens, enhancing overall security and preventing unauthorized access to vital data.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1440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  <a:spcBef>
                  <a:spcPct val="0"/>
                </a:spcBef>
              </a:pPr>
              <a:r>
                <a:rPr lang="en-US" sz="2999" b="1" u="none" strike="noStrike">
                  <a:solidFill>
                    <a:srgbClr val="A7C7E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Secure Communication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India's </a:t>
            </a:r>
            <a:r>
              <a:rPr lang="en-US" sz="2499" b="1" u="none" strike="noStrike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Digital India</a:t>
            </a: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 initiative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98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Estonia’s innovative </a:t>
            </a:r>
            <a:r>
              <a:rPr lang="en-US" sz="2499" b="1" u="none" strike="noStrike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e-Residency program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729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D0D9E7"/>
                </a:solidFill>
                <a:latin typeface="Nyutro Sans"/>
                <a:ea typeface="Nyutro Sans"/>
                <a:cs typeface="Nyutro Sans"/>
                <a:sym typeface="Nyutro Sans"/>
              </a:rPr>
              <a:t>Bridging technology and </a:t>
            </a:r>
            <a:r>
              <a:rPr lang="en-US" sz="2499" b="1" u="none" strike="noStrike">
                <a:solidFill>
                  <a:srgbClr val="D0D9E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citizen engagement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5025" y="1638300"/>
            <a:ext cx="1407795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</a:pPr>
            <a:r>
              <a:rPr lang="en-US" sz="9000" b="1" spc="-89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Notable Real-World Examples of E-Governance</a:t>
            </a:r>
          </a:p>
        </p:txBody>
      </p:sp>
      <p:sp>
        <p:nvSpPr>
          <p:cNvPr id="6" name="Freeform 6"/>
          <p:cNvSpPr/>
          <p:nvPr/>
        </p:nvSpPr>
        <p:spPr>
          <a:xfrm>
            <a:off x="2439246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19800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59107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653</Words>
  <Application>Microsoft Office PowerPoint</Application>
  <PresentationFormat>Custom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Nyutro Sans Heavy</vt:lpstr>
      <vt:lpstr>Nyutro Sans</vt:lpstr>
      <vt:lpstr>Arial</vt:lpstr>
      <vt:lpstr>Nyutro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E-Governance: Models and Components</dc:title>
  <dc:description>Presentation - E-Governance: Models and Components</dc:description>
  <cp:lastModifiedBy>Naman Sagar</cp:lastModifiedBy>
  <cp:revision>3</cp:revision>
  <dcterms:created xsi:type="dcterms:W3CDTF">2006-08-16T00:00:00Z</dcterms:created>
  <dcterms:modified xsi:type="dcterms:W3CDTF">2025-10-28T11:53:34Z</dcterms:modified>
  <dc:identifier>DAG3E8aT7Bk</dc:identifier>
</cp:coreProperties>
</file>