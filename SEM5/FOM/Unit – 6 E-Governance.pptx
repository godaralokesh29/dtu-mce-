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65" r:id="rId14"/>
    <p:sldId id="26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4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CF9BB8-87AC-4AD1-873D-13F911EB370A}" type="datetimeFigureOut">
              <a:rPr lang="en-US" smtClean="0"/>
              <a:t>10-Nov-25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FAAC30-36CE-4A55-97FF-60C2517CA9E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2FAAC30-36CE-4A55-97FF-60C2517CA9E3}"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28F8CB4-EA09-48CC-BAFE-E7C7C6978697}" type="datetimeFigureOut">
              <a:rPr lang="en-US" smtClean="0"/>
              <a:t>10-Nov-25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F8CB4-EA09-48CC-BAFE-E7C7C6978697}" type="datetimeFigureOut">
              <a:rPr lang="en-US" smtClean="0"/>
              <a:t>10-Nov-25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8F8CB4-EA09-48CC-BAFE-E7C7C6978697}" type="datetimeFigureOut">
              <a:rPr lang="en-US" smtClean="0"/>
              <a:t>10-Nov-25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28F8CB4-EA09-48CC-BAFE-E7C7C6978697}" type="datetimeFigureOut">
              <a:rPr lang="en-US" smtClean="0"/>
              <a:t>10-Nov-25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28F8CB4-EA09-48CC-BAFE-E7C7C6978697}" type="datetimeFigureOut">
              <a:rPr lang="en-US" smtClean="0"/>
              <a:t>10-Nov-25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8F8CB4-EA09-48CC-BAFE-E7C7C6978697}" type="datetimeFigureOut">
              <a:rPr lang="en-US" smtClean="0"/>
              <a:t>10-Nov-25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8F8CB4-EA09-48CC-BAFE-E7C7C6978697}" type="datetimeFigureOut">
              <a:rPr lang="en-US" smtClean="0"/>
              <a:t>10-Nov-25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8F8CB4-EA09-48CC-BAFE-E7C7C6978697}" type="datetimeFigureOut">
              <a:rPr lang="en-US" smtClean="0"/>
              <a:t>10-Nov-25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8F8CB4-EA09-48CC-BAFE-E7C7C6978697}" type="datetimeFigureOut">
              <a:rPr lang="en-US" smtClean="0"/>
              <a:t>10-Nov-25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F8CB4-EA09-48CC-BAFE-E7C7C6978697}" type="datetimeFigureOut">
              <a:rPr lang="en-US" smtClean="0"/>
              <a:t>10-Nov-25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8F8CB4-EA09-48CC-BAFE-E7C7C6978697}" type="datetimeFigureOut">
              <a:rPr lang="en-US" smtClean="0"/>
              <a:t>10-Nov-25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0DE522-DB6A-4677-9689-BDFFEAAAA34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8F8CB4-EA09-48CC-BAFE-E7C7C6978697}" type="datetimeFigureOut">
              <a:rPr lang="en-US" smtClean="0"/>
              <a:t>10-Nov-25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0DE522-DB6A-4677-9689-BDFFEAAAA34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914399"/>
          </a:xfrm>
        </p:spPr>
        <p:txBody>
          <a:bodyPr/>
          <a:lstStyle/>
          <a:p>
            <a:r>
              <a:rPr lang="en-US" dirty="0" smtClean="0"/>
              <a:t>Unit – 6 E-Governance</a:t>
            </a:r>
            <a:endParaRPr lang="en-US" dirty="0"/>
          </a:p>
        </p:txBody>
      </p:sp>
      <p:sp>
        <p:nvSpPr>
          <p:cNvPr id="3" name="Subtitle 2"/>
          <p:cNvSpPr>
            <a:spLocks noGrp="1"/>
          </p:cNvSpPr>
          <p:nvPr>
            <p:ph type="subTitle" idx="1"/>
          </p:nvPr>
        </p:nvSpPr>
        <p:spPr>
          <a:xfrm>
            <a:off x="304800" y="1676400"/>
            <a:ext cx="8610600" cy="4876800"/>
          </a:xfrm>
        </p:spPr>
        <p:txBody>
          <a:bodyPr/>
          <a:lstStyle/>
          <a:p>
            <a:r>
              <a:rPr lang="en-US" dirty="0" smtClean="0">
                <a:solidFill>
                  <a:schemeClr val="tx1"/>
                </a:solidFill>
              </a:rPr>
              <a:t>Contents to be Covered:</a:t>
            </a:r>
          </a:p>
          <a:p>
            <a:pPr marL="514350" indent="-514350">
              <a:buAutoNum type="arabicParenR"/>
            </a:pPr>
            <a:r>
              <a:rPr lang="en-US" dirty="0" smtClean="0">
                <a:solidFill>
                  <a:schemeClr val="tx1"/>
                </a:solidFill>
              </a:rPr>
              <a:t>Definition</a:t>
            </a:r>
          </a:p>
          <a:p>
            <a:pPr marL="514350" indent="-514350">
              <a:buAutoNum type="arabicParenR"/>
            </a:pPr>
            <a:r>
              <a:rPr lang="en-US" dirty="0" smtClean="0">
                <a:solidFill>
                  <a:schemeClr val="tx1"/>
                </a:solidFill>
              </a:rPr>
              <a:t>Significance</a:t>
            </a:r>
          </a:p>
          <a:p>
            <a:pPr marL="514350" indent="-514350">
              <a:buAutoNum type="arabicParenR"/>
            </a:pPr>
            <a:r>
              <a:rPr lang="en-US" dirty="0" smtClean="0">
                <a:solidFill>
                  <a:schemeClr val="tx1"/>
                </a:solidFill>
              </a:rPr>
              <a:t>Objectives</a:t>
            </a:r>
          </a:p>
          <a:p>
            <a:pPr marL="514350" indent="-514350">
              <a:buAutoNum type="arabicParenR"/>
            </a:pPr>
            <a:r>
              <a:rPr lang="en-US" dirty="0" smtClean="0">
                <a:solidFill>
                  <a:schemeClr val="tx1"/>
                </a:solidFill>
              </a:rPr>
              <a:t>Various Programs by Indian Govt.</a:t>
            </a:r>
          </a:p>
          <a:p>
            <a:pPr marL="514350" indent="-514350">
              <a:buAutoNum type="arabicParenR"/>
            </a:pPr>
            <a:r>
              <a:rPr lang="en-US" dirty="0" smtClean="0">
                <a:solidFill>
                  <a:schemeClr val="tx1"/>
                </a:solidFill>
              </a:rPr>
              <a:t>Digital India Program</a:t>
            </a:r>
          </a:p>
          <a:p>
            <a:pPr marL="514350" indent="-514350">
              <a:buAutoNum type="arabicParenR"/>
            </a:pPr>
            <a:r>
              <a:rPr lang="en-US" dirty="0" smtClean="0">
                <a:solidFill>
                  <a:schemeClr val="tx1"/>
                </a:solidFill>
              </a:rPr>
              <a:t>Achievements by Indian Govt. </a:t>
            </a:r>
          </a:p>
          <a:p>
            <a:pPr marL="514350" indent="-514350">
              <a:buAutoNum type="arabicParenR"/>
            </a:pP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Definition of E-Governance</a:t>
            </a:r>
            <a:endParaRPr lang="en-US" dirty="0"/>
          </a:p>
        </p:txBody>
      </p:sp>
      <p:sp>
        <p:nvSpPr>
          <p:cNvPr id="3" name="Content Placeholder 2"/>
          <p:cNvSpPr>
            <a:spLocks noGrp="1"/>
          </p:cNvSpPr>
          <p:nvPr>
            <p:ph idx="1"/>
          </p:nvPr>
        </p:nvSpPr>
        <p:spPr>
          <a:xfrm>
            <a:off x="304800" y="1295400"/>
            <a:ext cx="8610600" cy="5410200"/>
          </a:xfrm>
        </p:spPr>
        <p:txBody>
          <a:bodyPr>
            <a:normAutofit fontScale="92500" lnSpcReduction="20000"/>
          </a:bodyPr>
          <a:lstStyle/>
          <a:p>
            <a:pPr algn="just"/>
            <a:r>
              <a:rPr lang="en-US" dirty="0"/>
              <a:t>E-governance is the application of Information and Communication Technology (ICT) to government processes to improve public service delivery, transparency, and </a:t>
            </a:r>
            <a:r>
              <a:rPr lang="en-US" dirty="0" smtClean="0"/>
              <a:t>efficiency.</a:t>
            </a:r>
          </a:p>
          <a:p>
            <a:pPr algn="just"/>
            <a:r>
              <a:rPr lang="en-US" dirty="0"/>
              <a:t>E-governance is the use of ICT, such as the internet and mobile computing, by government and public sector agencies to provide services, share information, facilitate transactions, and improve communication with citizens, businesses, and other government entities</a:t>
            </a:r>
            <a:r>
              <a:rPr lang="en-US" dirty="0" smtClean="0"/>
              <a:t>.</a:t>
            </a:r>
          </a:p>
          <a:p>
            <a:pPr algn="just"/>
            <a:r>
              <a:rPr lang="en-US" dirty="0"/>
              <a:t>It goes beyond simply computerizing government operations, aiming to fundamentally change government processes to be more efficient and citizen-centric</a:t>
            </a:r>
          </a:p>
          <a:p>
            <a:pPr algn="just"/>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92162"/>
          </a:xfrm>
        </p:spPr>
        <p:txBody>
          <a:bodyPr/>
          <a:lstStyle/>
          <a:p>
            <a:r>
              <a:rPr lang="en-US" dirty="0" smtClean="0"/>
              <a:t>Objectives of E-Governance</a:t>
            </a:r>
            <a:endParaRPr lang="en-US" dirty="0"/>
          </a:p>
        </p:txBody>
      </p:sp>
      <p:sp>
        <p:nvSpPr>
          <p:cNvPr id="3" name="Content Placeholder 2"/>
          <p:cNvSpPr>
            <a:spLocks noGrp="1"/>
          </p:cNvSpPr>
          <p:nvPr>
            <p:ph idx="1"/>
          </p:nvPr>
        </p:nvSpPr>
        <p:spPr>
          <a:xfrm>
            <a:off x="228600" y="1371600"/>
            <a:ext cx="8686800" cy="5334000"/>
          </a:xfrm>
        </p:spPr>
        <p:txBody>
          <a:bodyPr>
            <a:normAutofit fontScale="85000" lnSpcReduction="20000"/>
          </a:bodyPr>
          <a:lstStyle/>
          <a:p>
            <a:pPr algn="just"/>
            <a:r>
              <a:rPr lang="en-US" b="1" dirty="0"/>
              <a:t>SMART Governance:</a:t>
            </a:r>
            <a:r>
              <a:rPr lang="en-US" dirty="0"/>
              <a:t> To achieve a government that is Simple, Moral, Accountable, Responsive, and Transparent</a:t>
            </a:r>
            <a:r>
              <a:rPr lang="en-US" dirty="0" smtClean="0"/>
              <a:t>.</a:t>
            </a:r>
          </a:p>
          <a:p>
            <a:pPr algn="just"/>
            <a:r>
              <a:rPr lang="en-US" b="1" dirty="0"/>
              <a:t>Improved Service Delivery:</a:t>
            </a:r>
            <a:r>
              <a:rPr lang="en-US" dirty="0"/>
              <a:t> To make government services more accessible, efficient, and convenient by delivering them through digital platforms.</a:t>
            </a:r>
          </a:p>
          <a:p>
            <a:pPr algn="just"/>
            <a:r>
              <a:rPr lang="en-US" b="1" dirty="0"/>
              <a:t>Increased Transparency:</a:t>
            </a:r>
            <a:r>
              <a:rPr lang="en-US" dirty="0"/>
              <a:t> To provide information to the public in a transparent manner and reduce corruption by digitalizing processes.</a:t>
            </a:r>
          </a:p>
          <a:p>
            <a:pPr algn="just"/>
            <a:r>
              <a:rPr lang="en-US" b="1" dirty="0"/>
              <a:t>Citizen Participation:</a:t>
            </a:r>
            <a:r>
              <a:rPr lang="en-US" dirty="0"/>
              <a:t> To enhance citizen-government interaction by enabling online debates, e-participation, and digital democracy.</a:t>
            </a:r>
          </a:p>
          <a:p>
            <a:pPr algn="just"/>
            <a:r>
              <a:rPr lang="en-US" b="1" dirty="0"/>
              <a:t>Efficiency:</a:t>
            </a:r>
            <a:r>
              <a:rPr lang="en-US" dirty="0"/>
              <a:t> To streamline government functions, reduce paperwork, and lower administrative costs through automation and process re-engineering. </a:t>
            </a:r>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Significance of E-Governance</a:t>
            </a:r>
            <a:endParaRPr lang="en-US" dirty="0"/>
          </a:p>
        </p:txBody>
      </p:sp>
      <p:sp>
        <p:nvSpPr>
          <p:cNvPr id="3" name="Content Placeholder 2"/>
          <p:cNvSpPr>
            <a:spLocks noGrp="1"/>
          </p:cNvSpPr>
          <p:nvPr>
            <p:ph idx="1"/>
          </p:nvPr>
        </p:nvSpPr>
        <p:spPr>
          <a:xfrm>
            <a:off x="152400" y="1447800"/>
            <a:ext cx="8839200" cy="5257800"/>
          </a:xfrm>
        </p:spPr>
        <p:txBody>
          <a:bodyPr>
            <a:normAutofit fontScale="77500" lnSpcReduction="20000"/>
          </a:bodyPr>
          <a:lstStyle/>
          <a:p>
            <a:pPr algn="just"/>
            <a:r>
              <a:rPr lang="en-US" b="1" dirty="0"/>
              <a:t>Reduced Corruption:</a:t>
            </a:r>
            <a:r>
              <a:rPr lang="en-US" dirty="0"/>
              <a:t> Automating processes reduces the opportunities for corruption and bribery.</a:t>
            </a:r>
          </a:p>
          <a:p>
            <a:pPr algn="just"/>
            <a:r>
              <a:rPr lang="en-US" b="1" dirty="0"/>
              <a:t>Lower Costs:</a:t>
            </a:r>
            <a:r>
              <a:rPr lang="en-US" dirty="0"/>
              <a:t> Automation and reduced paperwork lead to significant cost savings for the government and taxpayers.</a:t>
            </a:r>
          </a:p>
          <a:p>
            <a:pPr algn="just"/>
            <a:r>
              <a:rPr lang="en-US" b="1" dirty="0"/>
              <a:t>Increased Legitimacy:</a:t>
            </a:r>
            <a:r>
              <a:rPr lang="en-US" dirty="0"/>
              <a:t> By being more transparent, accountable, and responsive, e-governance builds greater trust and legitimacy for government institutions.</a:t>
            </a:r>
          </a:p>
          <a:p>
            <a:pPr algn="just"/>
            <a:r>
              <a:rPr lang="en-US" b="1" dirty="0"/>
              <a:t>Enhanced Accessibility:</a:t>
            </a:r>
            <a:r>
              <a:rPr lang="en-US" dirty="0"/>
              <a:t> Citizens, especially in remote areas, gain easier access to government services and information.</a:t>
            </a:r>
          </a:p>
          <a:p>
            <a:pPr algn="just"/>
            <a:r>
              <a:rPr lang="en-US" b="1" dirty="0"/>
              <a:t>Faster Communication:</a:t>
            </a:r>
            <a:r>
              <a:rPr lang="en-US" dirty="0"/>
              <a:t> It creates faster and more efficient communication channels between government departments, businesses, and citizens.</a:t>
            </a:r>
          </a:p>
          <a:p>
            <a:pPr algn="just"/>
            <a:r>
              <a:rPr lang="en-US" b="1" dirty="0"/>
              <a:t>Better Resource Management:</a:t>
            </a:r>
            <a:r>
              <a:rPr lang="en-US" dirty="0"/>
              <a:t> Integrated systems and shared databases improve government planning, coordination, and execution.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dirty="0" smtClean="0"/>
              <a:t>E-Governance in India</a:t>
            </a:r>
            <a:endParaRPr lang="en-US" dirty="0"/>
          </a:p>
        </p:txBody>
      </p:sp>
      <p:sp>
        <p:nvSpPr>
          <p:cNvPr id="3" name="Content Placeholder 2"/>
          <p:cNvSpPr>
            <a:spLocks noGrp="1"/>
          </p:cNvSpPr>
          <p:nvPr>
            <p:ph idx="1"/>
          </p:nvPr>
        </p:nvSpPr>
        <p:spPr>
          <a:xfrm>
            <a:off x="228600" y="1371600"/>
            <a:ext cx="8763000" cy="5257800"/>
          </a:xfrm>
        </p:spPr>
        <p:txBody>
          <a:bodyPr>
            <a:normAutofit fontScale="92500" lnSpcReduction="20000"/>
          </a:bodyPr>
          <a:lstStyle/>
          <a:p>
            <a:pPr algn="just"/>
            <a:r>
              <a:rPr lang="en-US" dirty="0" smtClean="0"/>
              <a:t>E-Governance in India began as an administrative reform, evolving into a comprehensive system of public service delivery using technology. </a:t>
            </a:r>
          </a:p>
          <a:p>
            <a:pPr algn="just"/>
            <a:r>
              <a:rPr lang="en-US" dirty="0" smtClean="0"/>
              <a:t>It integrates departments, simplifies access to government benefits, and enables citizens to engage directly with the government. With major projects like Digital India (2015), India is transforming how citizens interact with the government at every level.</a:t>
            </a:r>
          </a:p>
          <a:p>
            <a:pPr algn="just"/>
            <a:r>
              <a:rPr lang="en-US" dirty="0" smtClean="0"/>
              <a:t>Through E-Governance, government functions are digitized to reduce manual intervention, minimize corruption, and improve accessibility. The idea reflects the broader national vision of “Minimum Government, Maximum Governance.”</a:t>
            </a:r>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686800" cy="5257800"/>
          </a:xfrm>
        </p:spPr>
        <p:txBody>
          <a:bodyPr>
            <a:normAutofit fontScale="92500" lnSpcReduction="10000"/>
          </a:bodyPr>
          <a:lstStyle/>
          <a:p>
            <a:pPr algn="just"/>
            <a:r>
              <a:rPr lang="en-US" dirty="0" smtClean="0"/>
              <a:t>The National e-Governance Plan (</a:t>
            </a:r>
            <a:r>
              <a:rPr lang="en-US" dirty="0" err="1" smtClean="0"/>
              <a:t>NeGP</a:t>
            </a:r>
            <a:r>
              <a:rPr lang="en-US" dirty="0" smtClean="0"/>
              <a:t>) launched in 2006, laid the foundation for digital public services. </a:t>
            </a:r>
          </a:p>
          <a:p>
            <a:pPr algn="just"/>
            <a:r>
              <a:rPr lang="en-US" dirty="0" smtClean="0"/>
              <a:t>Later, the Digital India Mission (2015) expanded this vision by connecting villages, enabling digital transactions, and ensuring that every citizen could access government services online. </a:t>
            </a:r>
          </a:p>
          <a:p>
            <a:pPr algn="just"/>
            <a:r>
              <a:rPr lang="en-US" dirty="0" smtClean="0"/>
              <a:t>According to the Ministry of Electronics and Information Technology (</a:t>
            </a:r>
            <a:r>
              <a:rPr lang="en-US" dirty="0" err="1" smtClean="0"/>
              <a:t>MeitY</a:t>
            </a:r>
            <a:r>
              <a:rPr lang="en-US" dirty="0" smtClean="0"/>
              <a:t>), E-Governance in India now covers more than 31 Mission Mode Projects (MMPs), including areas like income tax filing, land records, passports, pensions, and rural development.</a:t>
            </a:r>
            <a:endParaRPr lang="en-US" dirty="0"/>
          </a:p>
        </p:txBody>
      </p:sp>
      <p:sp>
        <p:nvSpPr>
          <p:cNvPr id="4" name="Title 1"/>
          <p:cNvSpPr>
            <a:spLocks noGrp="1"/>
          </p:cNvSpPr>
          <p:nvPr>
            <p:ph type="title"/>
          </p:nvPr>
        </p:nvSpPr>
        <p:spPr>
          <a:xfrm>
            <a:off x="457200" y="274638"/>
            <a:ext cx="8229600" cy="868362"/>
          </a:xfrm>
        </p:spPr>
        <p:txBody>
          <a:bodyPr>
            <a:normAutofit/>
          </a:bodyPr>
          <a:lstStyle/>
          <a:p>
            <a:r>
              <a:rPr lang="en-US" dirty="0" smtClean="0"/>
              <a:t>E-Governance in India</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1" y="0"/>
            <a:ext cx="9058526" cy="6790488"/>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Digital India Mission/Pillars of E-</a:t>
            </a:r>
            <a:br>
              <a:rPr lang="en-US" dirty="0" smtClean="0"/>
            </a:br>
            <a:r>
              <a:rPr lang="en-US" dirty="0" smtClean="0"/>
              <a:t>Governance</a:t>
            </a:r>
            <a:endParaRPr lang="en-US" dirty="0"/>
          </a:p>
        </p:txBody>
      </p:sp>
      <p:sp>
        <p:nvSpPr>
          <p:cNvPr id="3" name="Content Placeholder 2"/>
          <p:cNvSpPr>
            <a:spLocks noGrp="1"/>
          </p:cNvSpPr>
          <p:nvPr>
            <p:ph idx="1"/>
          </p:nvPr>
        </p:nvSpPr>
        <p:spPr>
          <a:xfrm>
            <a:off x="228600" y="1600200"/>
            <a:ext cx="8686800" cy="5105400"/>
          </a:xfrm>
        </p:spPr>
        <p:txBody>
          <a:bodyPr>
            <a:normAutofit fontScale="77500" lnSpcReduction="20000"/>
          </a:bodyPr>
          <a:lstStyle/>
          <a:p>
            <a:pPr algn="just"/>
            <a:r>
              <a:rPr lang="en-US" dirty="0" smtClean="0"/>
              <a:t>E-Governance in India rests on several pillars that provide the foundation for digital transformation. </a:t>
            </a:r>
          </a:p>
          <a:p>
            <a:pPr algn="just"/>
            <a:r>
              <a:rPr lang="en-US" dirty="0" smtClean="0"/>
              <a:t>As per the Digital India Mission, nine pillars define the structure of e-Governance. Each one addresses a crucial part of the country’s digital ecosystem.</a:t>
            </a:r>
          </a:p>
          <a:p>
            <a:pPr algn="just"/>
            <a:r>
              <a:rPr lang="en-US" dirty="0"/>
              <a:t>Ten years ago, India launched Digital India </a:t>
            </a:r>
            <a:r>
              <a:rPr lang="en-US" dirty="0" smtClean="0"/>
              <a:t>Mission to </a:t>
            </a:r>
            <a:r>
              <a:rPr lang="en-US" dirty="0"/>
              <a:t>democratize technology access. </a:t>
            </a:r>
            <a:endParaRPr lang="en-US" dirty="0" smtClean="0"/>
          </a:p>
          <a:p>
            <a:pPr algn="just"/>
            <a:r>
              <a:rPr lang="en-US" dirty="0" smtClean="0"/>
              <a:t>The </a:t>
            </a:r>
            <a:r>
              <a:rPr lang="en-US" dirty="0"/>
              <a:t>mission has achieved remarkable success—internet connections grew from 250 million to 970 million, UPI processes 100+ billion transactions annually, and Direct Benefits Transfer has saved ₹3.48 trillion while empowering MSMEs nationwide. </a:t>
            </a:r>
            <a:endParaRPr lang="en-US" dirty="0" smtClean="0"/>
          </a:p>
          <a:p>
            <a:pPr algn="just"/>
            <a:r>
              <a:rPr lang="en-US" dirty="0" smtClean="0"/>
              <a:t>Digital </a:t>
            </a:r>
            <a:r>
              <a:rPr lang="en-US" dirty="0"/>
              <a:t>India has evolved from a government program into a people's movement, fundamentally transforming governance, commerce, and daily life across the nation.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0" y="228600"/>
            <a:ext cx="9144000" cy="6498097"/>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79722" y="0"/>
            <a:ext cx="9064278" cy="6864087"/>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838200"/>
          </a:xfrm>
        </p:spPr>
        <p:txBody>
          <a:bodyPr>
            <a:normAutofit/>
          </a:bodyPr>
          <a:lstStyle/>
          <a:p>
            <a:r>
              <a:rPr lang="en-US" dirty="0" smtClean="0"/>
              <a:t>Impact of E-Governance in India</a:t>
            </a:r>
            <a:endParaRPr lang="en-US" dirty="0"/>
          </a:p>
        </p:txBody>
      </p:sp>
      <p:sp>
        <p:nvSpPr>
          <p:cNvPr id="3" name="Content Placeholder 2"/>
          <p:cNvSpPr>
            <a:spLocks noGrp="1"/>
          </p:cNvSpPr>
          <p:nvPr>
            <p:ph idx="1"/>
          </p:nvPr>
        </p:nvSpPr>
        <p:spPr>
          <a:xfrm>
            <a:off x="228600" y="1371600"/>
            <a:ext cx="8686800" cy="5257800"/>
          </a:xfrm>
        </p:spPr>
        <p:txBody>
          <a:bodyPr>
            <a:normAutofit fontScale="62500" lnSpcReduction="20000"/>
          </a:bodyPr>
          <a:lstStyle/>
          <a:p>
            <a:pPr algn="just"/>
            <a:r>
              <a:rPr lang="en-US" dirty="0" smtClean="0"/>
              <a:t>The digital transformation of government processes has had a deep impact on India’s socio-economic landscape. E-Governance has improved the speed, transparency, and inclusiveness of service delivery. </a:t>
            </a:r>
          </a:p>
          <a:p>
            <a:pPr algn="just"/>
            <a:r>
              <a:rPr lang="en-US" dirty="0" smtClean="0"/>
              <a:t>Key Impacts are:</a:t>
            </a:r>
            <a:endParaRPr lang="en-US" dirty="0"/>
          </a:p>
          <a:p>
            <a:pPr marL="514350" indent="-514350" algn="just">
              <a:buFont typeface="+mj-lt"/>
              <a:buAutoNum type="arabicPeriod"/>
            </a:pPr>
            <a:r>
              <a:rPr lang="en-US" dirty="0" smtClean="0"/>
              <a:t>Improved Transparency: Portals like RTI Online and </a:t>
            </a:r>
            <a:r>
              <a:rPr lang="en-US" dirty="0" err="1" smtClean="0"/>
              <a:t>MyGov</a:t>
            </a:r>
            <a:r>
              <a:rPr lang="en-US" dirty="0" smtClean="0"/>
              <a:t> promote open government and citizen feedback.</a:t>
            </a:r>
          </a:p>
          <a:p>
            <a:pPr marL="514350" indent="-514350" algn="just">
              <a:buFont typeface="+mj-lt"/>
              <a:buAutoNum type="arabicPeriod"/>
            </a:pPr>
            <a:r>
              <a:rPr lang="en-US" dirty="0" smtClean="0"/>
              <a:t>Financial Inclusion: Through Jan </a:t>
            </a:r>
            <a:r>
              <a:rPr lang="en-US" dirty="0" err="1" smtClean="0"/>
              <a:t>Dhan</a:t>
            </a:r>
            <a:r>
              <a:rPr lang="en-US" dirty="0" smtClean="0"/>
              <a:t>-</a:t>
            </a:r>
            <a:r>
              <a:rPr lang="en-US" dirty="0" err="1" smtClean="0"/>
              <a:t>Aadhaar</a:t>
            </a:r>
            <a:r>
              <a:rPr lang="en-US" dirty="0" smtClean="0"/>
              <a:t>-Mobile (JAM) Trinity, over 47 </a:t>
            </a:r>
            <a:r>
              <a:rPr lang="en-US" dirty="0" err="1" smtClean="0"/>
              <a:t>crore</a:t>
            </a:r>
            <a:r>
              <a:rPr lang="en-US" dirty="0" smtClean="0"/>
              <a:t> people have gained access to formal banking.</a:t>
            </a:r>
          </a:p>
          <a:p>
            <a:pPr marL="514350" indent="-514350" algn="just">
              <a:buFont typeface="+mj-lt"/>
              <a:buAutoNum type="arabicPeriod"/>
            </a:pPr>
            <a:r>
              <a:rPr lang="en-US" dirty="0" smtClean="0"/>
              <a:t>Ease of Doing Business: Online filing, e-Procurement, and GSTN systems have simplified compliance.</a:t>
            </a:r>
          </a:p>
          <a:p>
            <a:pPr marL="514350" indent="-514350" algn="just">
              <a:buFont typeface="+mj-lt"/>
              <a:buAutoNum type="arabicPeriod"/>
            </a:pPr>
            <a:r>
              <a:rPr lang="en-US" dirty="0" smtClean="0"/>
              <a:t>Social Inclusion: Schemes and subsidies reach citizens directly through DBT, reducing leakages.</a:t>
            </a:r>
          </a:p>
          <a:p>
            <a:pPr marL="514350" indent="-514350" algn="just">
              <a:buFont typeface="+mj-lt"/>
              <a:buAutoNum type="arabicPeriod"/>
            </a:pPr>
            <a:r>
              <a:rPr lang="en-US" dirty="0" smtClean="0"/>
              <a:t>Education and Health: Platforms like DIKSHA and </a:t>
            </a:r>
            <a:r>
              <a:rPr lang="en-US" dirty="0" err="1" smtClean="0"/>
              <a:t>Ayushman</a:t>
            </a:r>
            <a:r>
              <a:rPr lang="en-US" dirty="0" smtClean="0"/>
              <a:t> Bharat Digital Mission provide online access to essential services.</a:t>
            </a:r>
          </a:p>
          <a:p>
            <a:pPr marL="514350" indent="-514350" algn="just">
              <a:buFont typeface="+mj-lt"/>
              <a:buAutoNum type="arabicPeriod"/>
            </a:pPr>
            <a:r>
              <a:rPr lang="en-US" dirty="0" smtClean="0"/>
              <a:t>Rural Connectivity: </a:t>
            </a:r>
            <a:r>
              <a:rPr lang="en-US" dirty="0" err="1" smtClean="0"/>
              <a:t>BharatNet</a:t>
            </a:r>
            <a:r>
              <a:rPr lang="en-US" dirty="0" smtClean="0"/>
              <a:t> and CSCs ensure last-mile digital delivery.</a:t>
            </a:r>
          </a:p>
          <a:p>
            <a:pPr marL="514350" indent="-514350" algn="just">
              <a:buFont typeface="+mj-lt"/>
              <a:buAutoNum type="arabicPeriod"/>
            </a:pPr>
            <a:r>
              <a:rPr lang="en-US" dirty="0" smtClean="0"/>
              <a:t>Environmental Benefits: Paperless offices and e-documents reduce administrative waste.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E-Governance in India Achievements</a:t>
            </a:r>
            <a:endParaRPr lang="en-US" dirty="0"/>
          </a:p>
        </p:txBody>
      </p:sp>
      <p:sp>
        <p:nvSpPr>
          <p:cNvPr id="3" name="Content Placeholder 2"/>
          <p:cNvSpPr>
            <a:spLocks noGrp="1"/>
          </p:cNvSpPr>
          <p:nvPr>
            <p:ph idx="1"/>
          </p:nvPr>
        </p:nvSpPr>
        <p:spPr>
          <a:xfrm>
            <a:off x="228600" y="1295400"/>
            <a:ext cx="8686800" cy="5334000"/>
          </a:xfrm>
        </p:spPr>
        <p:txBody>
          <a:bodyPr>
            <a:noAutofit/>
          </a:bodyPr>
          <a:lstStyle/>
          <a:p>
            <a:pPr algn="just"/>
            <a:r>
              <a:rPr lang="en-US" sz="1850" dirty="0" smtClean="0"/>
              <a:t>These following achievements demonstrate how E-Governance has shifted India’s administrative framework toward inclusivity and efficiency.</a:t>
            </a:r>
          </a:p>
          <a:p>
            <a:pPr algn="just"/>
            <a:r>
              <a:rPr lang="en-US" sz="1850" dirty="0" smtClean="0"/>
              <a:t>As of October 2024, </a:t>
            </a:r>
            <a:r>
              <a:rPr lang="en-US" sz="1850" dirty="0" err="1" smtClean="0"/>
              <a:t>BharatNet</a:t>
            </a:r>
            <a:r>
              <a:rPr lang="en-US" sz="1850" dirty="0" smtClean="0"/>
              <a:t> connected 2,14,283 Gram </a:t>
            </a:r>
            <a:r>
              <a:rPr lang="en-US" sz="1850" dirty="0" err="1" smtClean="0"/>
              <a:t>Panchayats</a:t>
            </a:r>
            <a:r>
              <a:rPr lang="en-US" sz="1850" dirty="0" smtClean="0"/>
              <a:t>, falling short of the targeted 2,22,343. (PIB)</a:t>
            </a:r>
          </a:p>
          <a:p>
            <a:pPr algn="just"/>
            <a:r>
              <a:rPr lang="en-US" sz="1850" dirty="0" smtClean="0"/>
              <a:t>As of September 2023, </a:t>
            </a:r>
            <a:r>
              <a:rPr lang="en-US" sz="1850" dirty="0" err="1" smtClean="0"/>
              <a:t>DigiLocker</a:t>
            </a:r>
            <a:r>
              <a:rPr lang="en-US" sz="1850" dirty="0" smtClean="0"/>
              <a:t> had issued over 6.27 billion documents to over 196 million users</a:t>
            </a:r>
          </a:p>
          <a:p>
            <a:pPr algn="just"/>
            <a:r>
              <a:rPr lang="en-US" sz="1850" dirty="0" smtClean="0"/>
              <a:t>As of August 2025, the </a:t>
            </a:r>
            <a:r>
              <a:rPr lang="en-US" sz="1850" dirty="0" err="1" smtClean="0"/>
              <a:t>Pradhan</a:t>
            </a:r>
            <a:r>
              <a:rPr lang="en-US" sz="1850" dirty="0" smtClean="0"/>
              <a:t> </a:t>
            </a:r>
            <a:r>
              <a:rPr lang="en-US" sz="1850" dirty="0" err="1" smtClean="0"/>
              <a:t>Mantri</a:t>
            </a:r>
            <a:r>
              <a:rPr lang="en-US" sz="1850" dirty="0" smtClean="0"/>
              <a:t> Jan </a:t>
            </a:r>
            <a:r>
              <a:rPr lang="en-US" sz="1850" dirty="0" err="1" smtClean="0"/>
              <a:t>Dhan</a:t>
            </a:r>
            <a:r>
              <a:rPr lang="en-US" sz="1850" dirty="0" smtClean="0"/>
              <a:t> </a:t>
            </a:r>
            <a:r>
              <a:rPr lang="en-US" sz="1850" dirty="0" err="1" smtClean="0"/>
              <a:t>Yojana</a:t>
            </a:r>
            <a:r>
              <a:rPr lang="en-US" sz="1850" dirty="0" smtClean="0"/>
              <a:t> (PMJDY) had opened over 53 </a:t>
            </a:r>
            <a:r>
              <a:rPr lang="en-US" sz="1850" dirty="0" err="1" smtClean="0"/>
              <a:t>crore</a:t>
            </a:r>
            <a:r>
              <a:rPr lang="en-US" sz="1850" dirty="0" smtClean="0"/>
              <a:t> accounts.</a:t>
            </a:r>
          </a:p>
          <a:p>
            <a:pPr algn="just"/>
            <a:r>
              <a:rPr lang="en-US" sz="1850" dirty="0" smtClean="0"/>
              <a:t>In August 2025, UPI recorded 20.01 billion transactions amounting to ₹24.85 </a:t>
            </a:r>
            <a:r>
              <a:rPr lang="en-US" sz="1850" dirty="0" err="1" smtClean="0"/>
              <a:t>lakh</a:t>
            </a:r>
            <a:r>
              <a:rPr lang="en-US" sz="1850" dirty="0" smtClean="0"/>
              <a:t> </a:t>
            </a:r>
            <a:r>
              <a:rPr lang="en-US" sz="1850" dirty="0" err="1" smtClean="0"/>
              <a:t>crore</a:t>
            </a:r>
            <a:r>
              <a:rPr lang="en-US" sz="1850" dirty="0" smtClean="0"/>
              <a:t>.</a:t>
            </a:r>
          </a:p>
          <a:p>
            <a:pPr algn="just"/>
            <a:r>
              <a:rPr lang="en-US" sz="1850" dirty="0" smtClean="0"/>
              <a:t>India’s E-Government Development Index (EGDI) rank is 97 out of 193 countries</a:t>
            </a:r>
          </a:p>
          <a:p>
            <a:pPr algn="just"/>
            <a:r>
              <a:rPr lang="en-US" sz="1850" dirty="0" smtClean="0"/>
              <a:t>As of October 2024, over 5.84 </a:t>
            </a:r>
            <a:r>
              <a:rPr lang="en-US" sz="1850" dirty="0" err="1" smtClean="0"/>
              <a:t>lakh</a:t>
            </a:r>
            <a:r>
              <a:rPr lang="en-US" sz="1850" dirty="0" smtClean="0"/>
              <a:t> Common Services </a:t>
            </a:r>
            <a:r>
              <a:rPr lang="en-US" sz="1850" dirty="0" err="1" smtClean="0"/>
              <a:t>Centres</a:t>
            </a:r>
            <a:r>
              <a:rPr lang="en-US" sz="1850" dirty="0" smtClean="0"/>
              <a:t> (CSCs) were operational across the country, including 4.63 </a:t>
            </a:r>
            <a:r>
              <a:rPr lang="en-US" sz="1850" dirty="0" err="1" smtClean="0"/>
              <a:t>lakh</a:t>
            </a:r>
            <a:r>
              <a:rPr lang="en-US" sz="1850" dirty="0" smtClean="0"/>
              <a:t> at the Gram Panchayat level.</a:t>
            </a:r>
          </a:p>
          <a:p>
            <a:pPr algn="just"/>
            <a:r>
              <a:rPr lang="en-US" sz="1850" dirty="0" smtClean="0"/>
              <a:t>Tripura’s West </a:t>
            </a:r>
            <a:r>
              <a:rPr lang="en-US" sz="1850" dirty="0" err="1" smtClean="0"/>
              <a:t>Majlishpur</a:t>
            </a:r>
            <a:r>
              <a:rPr lang="en-US" sz="1850" dirty="0" smtClean="0"/>
              <a:t> Gram Panchayat: Awarded second place in the 2024-2025 e-Governance awards for grassroots-level service delivery. </a:t>
            </a:r>
          </a:p>
          <a:p>
            <a:pPr algn="just"/>
            <a:r>
              <a:rPr lang="en-US" sz="1850" dirty="0" err="1" smtClean="0"/>
              <a:t>Suakati</a:t>
            </a:r>
            <a:r>
              <a:rPr lang="en-US" sz="1850" dirty="0" smtClean="0"/>
              <a:t> Panchayat, </a:t>
            </a:r>
            <a:r>
              <a:rPr lang="en-US" sz="1850" dirty="0" err="1" smtClean="0"/>
              <a:t>Odisha</a:t>
            </a:r>
            <a:r>
              <a:rPr lang="en-US" sz="1850" dirty="0" smtClean="0"/>
              <a:t>: Honored with the ‘Jury Award’ at the National Awards for e-Governance 2025 for leveraging technology in public service delivery.</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689</Words>
  <Application>Microsoft Office PowerPoint</Application>
  <PresentationFormat>On-screen Show (4:3)</PresentationFormat>
  <Paragraphs>60</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Unit – 6 E-Governance</vt:lpstr>
      <vt:lpstr>Definition of E-Governance</vt:lpstr>
      <vt:lpstr>Objectives of E-Governance</vt:lpstr>
      <vt:lpstr>Significance of E-Governance</vt:lpstr>
      <vt:lpstr>E-Governance in India</vt:lpstr>
      <vt:lpstr>E-Governance in India</vt:lpstr>
      <vt:lpstr>Slide 7</vt:lpstr>
      <vt:lpstr>Slide 8</vt:lpstr>
      <vt:lpstr>Slide 9</vt:lpstr>
      <vt:lpstr>Digital India Mission/Pillars of E- Governance</vt:lpstr>
      <vt:lpstr>Slide 11</vt:lpstr>
      <vt:lpstr>Slide 12</vt:lpstr>
      <vt:lpstr>Impact of E-Governance in India</vt:lpstr>
      <vt:lpstr>E-Governance in India Achievements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6 E-Governance</dc:title>
  <dc:creator>ROBINJOBIN</dc:creator>
  <cp:lastModifiedBy>ROBINJOBIN</cp:lastModifiedBy>
  <cp:revision>19</cp:revision>
  <dcterms:created xsi:type="dcterms:W3CDTF">2025-11-10T01:44:29Z</dcterms:created>
  <dcterms:modified xsi:type="dcterms:W3CDTF">2025-11-10T02:42:29Z</dcterms:modified>
</cp:coreProperties>
</file>