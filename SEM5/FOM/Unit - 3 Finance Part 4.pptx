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19"/>
  </p:notesMasterIdLst>
  <p:sldIdLst>
    <p:sldId id="256" r:id="rId2"/>
    <p:sldId id="257" r:id="rId3"/>
    <p:sldId id="258" r:id="rId4"/>
    <p:sldId id="259" r:id="rId5"/>
    <p:sldId id="260" r:id="rId6"/>
    <p:sldId id="261" r:id="rId7"/>
    <p:sldId id="262" r:id="rId8"/>
    <p:sldId id="263" r:id="rId9"/>
    <p:sldId id="268" r:id="rId10"/>
    <p:sldId id="264" r:id="rId11"/>
    <p:sldId id="265" r:id="rId12"/>
    <p:sldId id="266" r:id="rId13"/>
    <p:sldId id="270" r:id="rId14"/>
    <p:sldId id="271" r:id="rId15"/>
    <p:sldId id="272" r:id="rId16"/>
    <p:sldId id="273" r:id="rId17"/>
    <p:sldId id="274" r:id="rId18"/>
  </p:sldIdLst>
  <p:sldSz cx="9144000" cy="6858000" type="screen4x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085" autoAdjust="0"/>
  </p:normalViewPr>
  <p:slideViewPr>
    <p:cSldViewPr>
      <p:cViewPr varScale="1">
        <p:scale>
          <a:sx n="81" d="100"/>
          <a:sy n="81" d="100"/>
        </p:scale>
        <p:origin x="1498"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2DE8899F-BFE5-4AA0-AED6-C885169D4C66}" type="datetimeFigureOut">
              <a:rPr lang="en-US" smtClean="0"/>
              <a:t>9/28/2025</a:t>
            </a:fld>
            <a:endParaRPr lang="en-US" dirty="0"/>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142E26FC-73C0-4E78-9798-39A129586A73}" type="slidenum">
              <a:rPr lang="en-US" smtClean="0"/>
              <a:t>‹#›</a:t>
            </a:fld>
            <a:endParaRPr lang="en-US" dirty="0"/>
          </a:p>
        </p:txBody>
      </p:sp>
    </p:spTree>
    <p:extLst>
      <p:ext uri="{BB962C8B-B14F-4D97-AF65-F5344CB8AC3E}">
        <p14:creationId xmlns:p14="http://schemas.microsoft.com/office/powerpoint/2010/main" val="4236226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42E26FC-73C0-4E78-9798-39A129586A73}" type="slidenum">
              <a:rPr lang="en-US" smtClean="0"/>
              <a:t>14</a:t>
            </a:fld>
            <a:endParaRPr lang="en-US" dirty="0"/>
          </a:p>
        </p:txBody>
      </p:sp>
    </p:spTree>
    <p:extLst>
      <p:ext uri="{BB962C8B-B14F-4D97-AF65-F5344CB8AC3E}">
        <p14:creationId xmlns:p14="http://schemas.microsoft.com/office/powerpoint/2010/main" val="3415291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9/28/2025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2056209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1D8BD707-D9CF-40AE-B4C6-C98DA3205C09}" type="datetimeFigureOut">
              <a:rPr lang="en-US" smtClean="0"/>
              <a:t>9/28/2025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3116575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9/28/2025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2643106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9/28/2025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3583532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9/28/2025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3269295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D8BD707-D9CF-40AE-B4C6-C98DA3205C09}" type="datetimeFigureOut">
              <a:rPr lang="en-US" smtClean="0"/>
              <a:t>9/28/2025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4096361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D8BD707-D9CF-40AE-B4C6-C98DA3205C09}" type="datetimeFigureOut">
              <a:rPr lang="en-US" smtClean="0"/>
              <a:t>9/28/2025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3930897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1D8BD707-D9CF-40AE-B4C6-C98DA3205C09}" type="datetimeFigureOut">
              <a:rPr lang="en-US" smtClean="0"/>
              <a:t>9/28/2025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934274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2962296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2632816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9/28/2025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1185352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9/28/2025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19858538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9/28/2025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3100846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8BD707-D9CF-40AE-B4C6-C98DA3205C09}" type="datetimeFigureOut">
              <a:rPr lang="en-US" smtClean="0"/>
              <a:t>9/28/2025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33240128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8BD707-D9CF-40AE-B4C6-C98DA3205C09}" type="datetimeFigureOut">
              <a:rPr lang="en-US" smtClean="0"/>
              <a:t>9/28/2025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19493534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9/28/2025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10135930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9/28/2025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6835608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u="sng">
                <a:solidFill>
                  <a:srgbClr val="375F92"/>
                </a:solidFill>
                <a:latin typeface="Calibri"/>
                <a:cs typeface="Calibri"/>
              </a:defRPr>
            </a:lvl1pPr>
          </a:lstStyle>
          <a:p>
            <a:endParaRPr/>
          </a:p>
        </p:txBody>
      </p:sp>
      <p:sp>
        <p:nvSpPr>
          <p:cNvPr id="3" name="Holder 3"/>
          <p:cNvSpPr>
            <a:spLocks noGrp="1"/>
          </p:cNvSpPr>
          <p:nvPr>
            <p:ph sz="half" idx="2"/>
          </p:nvPr>
        </p:nvSpPr>
        <p:spPr>
          <a:xfrm>
            <a:off x="228600" y="1600200"/>
            <a:ext cx="3576954" cy="424751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sz="half" idx="3"/>
          </p:nvPr>
        </p:nvSpPr>
        <p:spPr>
          <a:xfrm>
            <a:off x="5108447" y="2362200"/>
            <a:ext cx="3810000" cy="4154804"/>
          </a:xfrm>
          <a:prstGeom prst="rect">
            <a:avLst/>
          </a:prstGeom>
        </p:spPr>
        <p:txBody>
          <a:bodyPr wrap="square" lIns="0" tIns="0" rIns="0" bIns="0">
            <a:spAutoFit/>
          </a:bodyPr>
          <a:lstStyle>
            <a:lvl1pPr>
              <a:defRPr b="0" i="0">
                <a:solidFill>
                  <a:schemeClr val="tx1"/>
                </a:solidFill>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9/28/2025</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extLst>
      <p:ext uri="{BB962C8B-B14F-4D97-AF65-F5344CB8AC3E}">
        <p14:creationId xmlns:p14="http://schemas.microsoft.com/office/powerpoint/2010/main" val="1822144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D8BD707-D9CF-40AE-B4C6-C98DA3205C09}" type="datetimeFigureOut">
              <a:rPr lang="en-US" smtClean="0"/>
              <a:t>9/28/2025</a:t>
            </a:fld>
            <a:endParaRPr lang="en-US" dirty="0"/>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B6F15528-21DE-4FAA-801E-634DDDAF4B2B}" type="slidenum">
              <a:rPr lang="en-US" smtClean="0"/>
              <a:t>‹#›</a:t>
            </a:fld>
            <a:endParaRPr lang="en-US" dirty="0"/>
          </a:p>
        </p:txBody>
      </p:sp>
    </p:spTree>
    <p:extLst>
      <p:ext uri="{BB962C8B-B14F-4D97-AF65-F5344CB8AC3E}">
        <p14:creationId xmlns:p14="http://schemas.microsoft.com/office/powerpoint/2010/main" val="2229353984"/>
      </p:ext>
    </p:extLst>
  </p:cSld>
  <p:clrMap bg1="dk1" tx1="lt1" bg2="dk2" tx2="lt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2.xml"/><Relationship Id="rId4" Type="http://schemas.openxmlformats.org/officeDocument/2006/relationships/image" Target="../media/image23.jp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1066800"/>
            <a:ext cx="8077200" cy="2044791"/>
          </a:xfrm>
          <a:prstGeom prst="rect">
            <a:avLst/>
          </a:prstGeom>
        </p:spPr>
        <p:txBody>
          <a:bodyPr vert="horz" wrap="square" lIns="0" tIns="13335" rIns="0" bIns="0" rtlCol="0">
            <a:spAutoFit/>
          </a:bodyPr>
          <a:lstStyle/>
          <a:p>
            <a:pPr marL="12700">
              <a:lnSpc>
                <a:spcPct val="100000"/>
              </a:lnSpc>
              <a:spcBef>
                <a:spcPts val="105"/>
              </a:spcBef>
            </a:pPr>
            <a:r>
              <a:rPr sz="6600" b="1" dirty="0">
                <a:solidFill>
                  <a:srgbClr val="FFFF00"/>
                </a:solidFill>
                <a:uFill>
                  <a:solidFill>
                    <a:srgbClr val="000000"/>
                  </a:solidFill>
                </a:uFill>
                <a:latin typeface="Times New Roman" panose="02020603050405020304" pitchFamily="18" charset="0"/>
                <a:cs typeface="Times New Roman" panose="02020603050405020304" pitchFamily="18" charset="0"/>
              </a:rPr>
              <a:t>Emerging</a:t>
            </a:r>
            <a:r>
              <a:rPr sz="6600" b="1" spc="-35" dirty="0">
                <a:solidFill>
                  <a:srgbClr val="FFFF00"/>
                </a:solidFill>
                <a:uFill>
                  <a:solidFill>
                    <a:srgbClr val="000000"/>
                  </a:solidFill>
                </a:uFill>
                <a:latin typeface="Times New Roman" panose="02020603050405020304" pitchFamily="18" charset="0"/>
                <a:cs typeface="Times New Roman" panose="02020603050405020304" pitchFamily="18" charset="0"/>
              </a:rPr>
              <a:t> </a:t>
            </a:r>
            <a:r>
              <a:rPr sz="6600" b="1" dirty="0">
                <a:solidFill>
                  <a:srgbClr val="FFFF00"/>
                </a:solidFill>
                <a:uFill>
                  <a:solidFill>
                    <a:srgbClr val="000000"/>
                  </a:solidFill>
                </a:uFill>
                <a:latin typeface="Times New Roman" panose="02020603050405020304" pitchFamily="18" charset="0"/>
                <a:cs typeface="Times New Roman" panose="02020603050405020304" pitchFamily="18" charset="0"/>
              </a:rPr>
              <a:t>Sources</a:t>
            </a:r>
            <a:r>
              <a:rPr sz="6600" b="1" spc="-55" dirty="0">
                <a:solidFill>
                  <a:srgbClr val="FFFF00"/>
                </a:solidFill>
                <a:uFill>
                  <a:solidFill>
                    <a:srgbClr val="000000"/>
                  </a:solidFill>
                </a:uFill>
                <a:latin typeface="Times New Roman" panose="02020603050405020304" pitchFamily="18" charset="0"/>
                <a:cs typeface="Times New Roman" panose="02020603050405020304" pitchFamily="18" charset="0"/>
              </a:rPr>
              <a:t> </a:t>
            </a:r>
            <a:r>
              <a:rPr sz="6600" b="1" dirty="0">
                <a:solidFill>
                  <a:srgbClr val="FFFF00"/>
                </a:solidFill>
                <a:uFill>
                  <a:solidFill>
                    <a:srgbClr val="000000"/>
                  </a:solidFill>
                </a:uFill>
                <a:latin typeface="Times New Roman" panose="02020603050405020304" pitchFamily="18" charset="0"/>
                <a:cs typeface="Times New Roman" panose="02020603050405020304" pitchFamily="18" charset="0"/>
              </a:rPr>
              <a:t>Of</a:t>
            </a:r>
            <a:r>
              <a:rPr sz="6600" b="1" spc="-30" dirty="0">
                <a:solidFill>
                  <a:srgbClr val="FFFF00"/>
                </a:solidFill>
                <a:uFill>
                  <a:solidFill>
                    <a:srgbClr val="000000"/>
                  </a:solidFill>
                </a:uFill>
                <a:latin typeface="Times New Roman" panose="02020603050405020304" pitchFamily="18" charset="0"/>
                <a:cs typeface="Times New Roman" panose="02020603050405020304" pitchFamily="18" charset="0"/>
              </a:rPr>
              <a:t> </a:t>
            </a:r>
            <a:r>
              <a:rPr sz="6600" b="1" spc="-10" dirty="0">
                <a:solidFill>
                  <a:srgbClr val="FFFF00"/>
                </a:solidFill>
                <a:uFill>
                  <a:solidFill>
                    <a:srgbClr val="000000"/>
                  </a:solidFill>
                </a:uFill>
                <a:latin typeface="Times New Roman" panose="02020603050405020304" pitchFamily="18" charset="0"/>
                <a:cs typeface="Times New Roman" panose="02020603050405020304" pitchFamily="18" charset="0"/>
              </a:rPr>
              <a:t>Finance</a:t>
            </a:r>
            <a:endParaRPr sz="6600" b="1" dirty="0">
              <a:solidFill>
                <a:srgbClr val="FFFF00"/>
              </a:solidFill>
              <a:latin typeface="Times New Roman" panose="02020603050405020304" pitchFamily="18" charset="0"/>
              <a:cs typeface="Times New Roman" panose="02020603050405020304" pitchFamily="18" charset="0"/>
            </a:endParaRPr>
          </a:p>
        </p:txBody>
      </p:sp>
      <p:pic>
        <p:nvPicPr>
          <p:cNvPr id="3" name="object 3"/>
          <p:cNvPicPr/>
          <p:nvPr/>
        </p:nvPicPr>
        <p:blipFill>
          <a:blip r:embed="rId2" cstate="print"/>
          <a:stretch>
            <a:fillRect/>
          </a:stretch>
        </p:blipFill>
        <p:spPr>
          <a:xfrm>
            <a:off x="3886200" y="2895600"/>
            <a:ext cx="4800600" cy="35432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1179819594"/>
              </p:ext>
            </p:extLst>
          </p:nvPr>
        </p:nvGraphicFramePr>
        <p:xfrm>
          <a:off x="298450" y="298450"/>
          <a:ext cx="8083550" cy="3816352"/>
        </p:xfrm>
        <a:graphic>
          <a:graphicData uri="http://schemas.openxmlformats.org/drawingml/2006/table">
            <a:tbl>
              <a:tblPr firstRow="1" bandRow="1">
                <a:tableStyleId>{2D5ABB26-0587-4C30-8999-92F81FD0307C}</a:tableStyleId>
              </a:tblPr>
              <a:tblGrid>
                <a:gridCol w="1316064">
                  <a:extLst>
                    <a:ext uri="{9D8B030D-6E8A-4147-A177-3AD203B41FA5}">
                      <a16:colId xmlns:a16="http://schemas.microsoft.com/office/drawing/2014/main" val="20000"/>
                    </a:ext>
                  </a:extLst>
                </a:gridCol>
                <a:gridCol w="6767486">
                  <a:extLst>
                    <a:ext uri="{9D8B030D-6E8A-4147-A177-3AD203B41FA5}">
                      <a16:colId xmlns:a16="http://schemas.microsoft.com/office/drawing/2014/main" val="20001"/>
                    </a:ext>
                  </a:extLst>
                </a:gridCol>
              </a:tblGrid>
              <a:tr h="477044">
                <a:tc>
                  <a:txBody>
                    <a:bodyPr/>
                    <a:lstStyle/>
                    <a:p>
                      <a:pPr marL="1905" algn="ctr">
                        <a:lnSpc>
                          <a:spcPct val="100000"/>
                        </a:lnSpc>
                        <a:spcBef>
                          <a:spcPts val="275"/>
                        </a:spcBef>
                      </a:pPr>
                      <a:r>
                        <a:rPr sz="2400" b="1" spc="-45" dirty="0">
                          <a:latin typeface="Times New Roman"/>
                          <a:cs typeface="Times New Roman"/>
                        </a:rPr>
                        <a:t>Sr.</a:t>
                      </a:r>
                      <a:r>
                        <a:rPr sz="2400" b="1" spc="-100" dirty="0">
                          <a:latin typeface="Times New Roman"/>
                          <a:cs typeface="Times New Roman"/>
                        </a:rPr>
                        <a:t> </a:t>
                      </a:r>
                      <a:r>
                        <a:rPr sz="2400" b="1" spc="-25" dirty="0">
                          <a:latin typeface="Times New Roman"/>
                          <a:cs typeface="Times New Roman"/>
                        </a:rPr>
                        <a:t>No.</a:t>
                      </a:r>
                      <a:endParaRPr sz="2400" dirty="0">
                        <a:latin typeface="Times New Roman"/>
                        <a:cs typeface="Times New Roman"/>
                      </a:endParaRPr>
                    </a:p>
                  </a:txBody>
                  <a:tcPr marL="0" marR="0" marT="34925"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spcBef>
                          <a:spcPts val="275"/>
                        </a:spcBef>
                      </a:pPr>
                      <a:r>
                        <a:rPr sz="2400" b="1" spc="-10" dirty="0">
                          <a:latin typeface="Times New Roman"/>
                          <a:cs typeface="Times New Roman"/>
                        </a:rPr>
                        <a:t>Topics</a:t>
                      </a:r>
                      <a:endParaRPr sz="2400" dirty="0">
                        <a:latin typeface="Times New Roman"/>
                        <a:cs typeface="Times New Roman"/>
                      </a:endParaRPr>
                    </a:p>
                  </a:txBody>
                  <a:tcPr marL="0" marR="0" marT="34925"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477044">
                <a:tc>
                  <a:txBody>
                    <a:bodyPr/>
                    <a:lstStyle/>
                    <a:p>
                      <a:pPr marL="635" algn="ctr">
                        <a:lnSpc>
                          <a:spcPct val="100000"/>
                        </a:lnSpc>
                        <a:spcBef>
                          <a:spcPts val="275"/>
                        </a:spcBef>
                      </a:pPr>
                      <a:r>
                        <a:rPr sz="2400" spc="-50" dirty="0">
                          <a:latin typeface="Times New Roman"/>
                          <a:cs typeface="Times New Roman"/>
                        </a:rPr>
                        <a:t>1</a:t>
                      </a:r>
                      <a:endParaRPr sz="2400" dirty="0">
                        <a:latin typeface="Times New Roman"/>
                        <a:cs typeface="Times New Roman"/>
                      </a:endParaRPr>
                    </a:p>
                  </a:txBody>
                  <a:tcPr marL="0" marR="0" marT="34925"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000000">
                        <a:alpha val="19999"/>
                      </a:srgbClr>
                    </a:solidFill>
                  </a:tcPr>
                </a:tc>
                <a:tc>
                  <a:txBody>
                    <a:bodyPr/>
                    <a:lstStyle/>
                    <a:p>
                      <a:pPr marL="1270" algn="ctr">
                        <a:lnSpc>
                          <a:spcPct val="100000"/>
                        </a:lnSpc>
                        <a:spcBef>
                          <a:spcPts val="275"/>
                        </a:spcBef>
                      </a:pPr>
                      <a:r>
                        <a:rPr sz="2400" spc="-10" dirty="0">
                          <a:latin typeface="Times New Roman"/>
                          <a:cs typeface="Times New Roman"/>
                        </a:rPr>
                        <a:t>Introduction</a:t>
                      </a:r>
                      <a:endParaRPr sz="2400" dirty="0">
                        <a:latin typeface="Times New Roman"/>
                        <a:cs typeface="Times New Roman"/>
                      </a:endParaRPr>
                    </a:p>
                  </a:txBody>
                  <a:tcPr marL="0" marR="0" marT="34925"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000000">
                        <a:alpha val="19999"/>
                      </a:srgbClr>
                    </a:solidFill>
                  </a:tcPr>
                </a:tc>
                <a:extLst>
                  <a:ext uri="{0D108BD9-81ED-4DB2-BD59-A6C34878D82A}">
                    <a16:rowId xmlns:a16="http://schemas.microsoft.com/office/drawing/2014/main" val="10001"/>
                  </a:ext>
                </a:extLst>
              </a:tr>
              <a:tr h="477044">
                <a:tc>
                  <a:txBody>
                    <a:bodyPr/>
                    <a:lstStyle/>
                    <a:p>
                      <a:pPr marL="635" algn="ctr">
                        <a:lnSpc>
                          <a:spcPct val="100000"/>
                        </a:lnSpc>
                        <a:spcBef>
                          <a:spcPts val="275"/>
                        </a:spcBef>
                      </a:pPr>
                      <a:r>
                        <a:rPr sz="2400" spc="-50" dirty="0">
                          <a:latin typeface="Times New Roman"/>
                          <a:cs typeface="Times New Roman"/>
                        </a:rPr>
                        <a:t>2</a:t>
                      </a:r>
                      <a:endParaRPr sz="2400" dirty="0">
                        <a:latin typeface="Times New Roman"/>
                        <a:cs typeface="Times New Roman"/>
                      </a:endParaRPr>
                    </a:p>
                  </a:txBody>
                  <a:tcPr marL="0" marR="0" marT="349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275"/>
                        </a:spcBef>
                      </a:pPr>
                      <a:r>
                        <a:rPr lang="en-US" sz="2400" spc="-10" dirty="0">
                          <a:latin typeface="Times New Roman"/>
                          <a:cs typeface="Times New Roman"/>
                        </a:rPr>
                        <a:t>Sources of Finance</a:t>
                      </a:r>
                      <a:endParaRPr sz="2400" dirty="0">
                        <a:latin typeface="Times New Roman"/>
                        <a:cs typeface="Times New Roman"/>
                      </a:endParaRPr>
                    </a:p>
                  </a:txBody>
                  <a:tcPr marL="0" marR="0" marT="349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77044">
                <a:tc>
                  <a:txBody>
                    <a:bodyPr/>
                    <a:lstStyle/>
                    <a:p>
                      <a:pPr marL="635" algn="ctr">
                        <a:lnSpc>
                          <a:spcPct val="100000"/>
                        </a:lnSpc>
                        <a:spcBef>
                          <a:spcPts val="280"/>
                        </a:spcBef>
                      </a:pPr>
                      <a:r>
                        <a:rPr sz="2400" spc="-50" dirty="0">
                          <a:latin typeface="Times New Roman"/>
                          <a:cs typeface="Times New Roman"/>
                        </a:rPr>
                        <a:t>3</a:t>
                      </a:r>
                      <a:endParaRPr sz="2400" dirty="0">
                        <a:latin typeface="Times New Roman"/>
                        <a:cs typeface="Times New Roman"/>
                      </a:endParaRPr>
                    </a:p>
                  </a:txBody>
                  <a:tcPr marL="0" marR="0" marT="355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a:txBody>
                    <a:bodyPr/>
                    <a:lstStyle/>
                    <a:p>
                      <a:pPr marL="635" algn="ctr">
                        <a:lnSpc>
                          <a:spcPct val="100000"/>
                        </a:lnSpc>
                        <a:spcBef>
                          <a:spcPts val="280"/>
                        </a:spcBef>
                      </a:pPr>
                      <a:r>
                        <a:rPr sz="2400" dirty="0">
                          <a:latin typeface="Times New Roman"/>
                          <a:cs typeface="Times New Roman"/>
                        </a:rPr>
                        <a:t>Private</a:t>
                      </a:r>
                      <a:r>
                        <a:rPr sz="2400" spc="-15" dirty="0">
                          <a:latin typeface="Times New Roman"/>
                          <a:cs typeface="Times New Roman"/>
                        </a:rPr>
                        <a:t> </a:t>
                      </a:r>
                      <a:r>
                        <a:rPr sz="2400" spc="-10" dirty="0">
                          <a:latin typeface="Times New Roman"/>
                          <a:cs typeface="Times New Roman"/>
                        </a:rPr>
                        <a:t>Equity</a:t>
                      </a:r>
                      <a:endParaRPr sz="2400" dirty="0">
                        <a:latin typeface="Times New Roman"/>
                        <a:cs typeface="Times New Roman"/>
                      </a:endParaRPr>
                    </a:p>
                  </a:txBody>
                  <a:tcPr marL="0" marR="0" marT="355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extLst>
                  <a:ext uri="{0D108BD9-81ED-4DB2-BD59-A6C34878D82A}">
                    <a16:rowId xmlns:a16="http://schemas.microsoft.com/office/drawing/2014/main" val="10003"/>
                  </a:ext>
                </a:extLst>
              </a:tr>
              <a:tr h="477044">
                <a:tc>
                  <a:txBody>
                    <a:bodyPr/>
                    <a:lstStyle/>
                    <a:p>
                      <a:pPr marL="635" algn="ctr">
                        <a:lnSpc>
                          <a:spcPct val="100000"/>
                        </a:lnSpc>
                        <a:spcBef>
                          <a:spcPts val="280"/>
                        </a:spcBef>
                      </a:pPr>
                      <a:r>
                        <a:rPr sz="2400" spc="-50" dirty="0">
                          <a:latin typeface="Times New Roman"/>
                          <a:cs typeface="Times New Roman"/>
                        </a:rPr>
                        <a:t>4</a:t>
                      </a:r>
                      <a:endParaRPr sz="2400" dirty="0">
                        <a:latin typeface="Times New Roman"/>
                        <a:cs typeface="Times New Roman"/>
                      </a:endParaRPr>
                    </a:p>
                  </a:txBody>
                  <a:tcPr marL="0" marR="0" marT="355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80"/>
                        </a:spcBef>
                      </a:pPr>
                      <a:r>
                        <a:rPr sz="2400" spc="-30" dirty="0">
                          <a:latin typeface="Times New Roman"/>
                          <a:cs typeface="Times New Roman"/>
                        </a:rPr>
                        <a:t>Venture</a:t>
                      </a:r>
                      <a:r>
                        <a:rPr sz="2400" spc="-85" dirty="0">
                          <a:latin typeface="Times New Roman"/>
                          <a:cs typeface="Times New Roman"/>
                        </a:rPr>
                        <a:t> </a:t>
                      </a:r>
                      <a:r>
                        <a:rPr sz="2400" spc="-10" dirty="0">
                          <a:latin typeface="Times New Roman"/>
                          <a:cs typeface="Times New Roman"/>
                        </a:rPr>
                        <a:t>Capital</a:t>
                      </a:r>
                      <a:endParaRPr sz="2400" dirty="0">
                        <a:latin typeface="Times New Roman"/>
                        <a:cs typeface="Times New Roman"/>
                      </a:endParaRPr>
                    </a:p>
                  </a:txBody>
                  <a:tcPr marL="0" marR="0" marT="355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477044">
                <a:tc>
                  <a:txBody>
                    <a:bodyPr/>
                    <a:lstStyle/>
                    <a:p>
                      <a:pPr marL="635" algn="ctr">
                        <a:lnSpc>
                          <a:spcPct val="100000"/>
                        </a:lnSpc>
                        <a:spcBef>
                          <a:spcPts val="280"/>
                        </a:spcBef>
                      </a:pPr>
                      <a:r>
                        <a:rPr sz="2400" spc="-50" dirty="0">
                          <a:latin typeface="Times New Roman"/>
                          <a:cs typeface="Times New Roman"/>
                        </a:rPr>
                        <a:t>5</a:t>
                      </a:r>
                      <a:endParaRPr sz="2400" dirty="0">
                        <a:latin typeface="Times New Roman"/>
                        <a:cs typeface="Times New Roman"/>
                      </a:endParaRPr>
                    </a:p>
                  </a:txBody>
                  <a:tcPr marL="0" marR="0" marT="355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a:txBody>
                    <a:bodyPr/>
                    <a:lstStyle/>
                    <a:p>
                      <a:pPr marL="1905" algn="ctr">
                        <a:lnSpc>
                          <a:spcPct val="100000"/>
                        </a:lnSpc>
                        <a:spcBef>
                          <a:spcPts val="280"/>
                        </a:spcBef>
                      </a:pPr>
                      <a:r>
                        <a:rPr sz="2400" dirty="0">
                          <a:latin typeface="Times New Roman"/>
                          <a:cs typeface="Times New Roman"/>
                        </a:rPr>
                        <a:t>Difference</a:t>
                      </a:r>
                      <a:r>
                        <a:rPr sz="2400" spc="-25" dirty="0">
                          <a:latin typeface="Times New Roman"/>
                          <a:cs typeface="Times New Roman"/>
                        </a:rPr>
                        <a:t> </a:t>
                      </a:r>
                      <a:r>
                        <a:rPr sz="2400" dirty="0">
                          <a:latin typeface="Times New Roman"/>
                          <a:cs typeface="Times New Roman"/>
                        </a:rPr>
                        <a:t>between</a:t>
                      </a:r>
                      <a:r>
                        <a:rPr sz="2400" spc="-40" dirty="0">
                          <a:latin typeface="Times New Roman"/>
                          <a:cs typeface="Times New Roman"/>
                        </a:rPr>
                        <a:t> </a:t>
                      </a:r>
                      <a:r>
                        <a:rPr sz="2400" dirty="0">
                          <a:latin typeface="Times New Roman"/>
                          <a:cs typeface="Times New Roman"/>
                        </a:rPr>
                        <a:t>PE</a:t>
                      </a:r>
                      <a:r>
                        <a:rPr sz="2400" spc="-25" dirty="0">
                          <a:latin typeface="Times New Roman"/>
                          <a:cs typeface="Times New Roman"/>
                        </a:rPr>
                        <a:t> </a:t>
                      </a:r>
                      <a:r>
                        <a:rPr sz="2400" dirty="0">
                          <a:latin typeface="Times New Roman"/>
                          <a:cs typeface="Times New Roman"/>
                        </a:rPr>
                        <a:t>&amp;</a:t>
                      </a:r>
                      <a:r>
                        <a:rPr sz="2400" spc="-75" dirty="0">
                          <a:latin typeface="Times New Roman"/>
                          <a:cs typeface="Times New Roman"/>
                        </a:rPr>
                        <a:t> </a:t>
                      </a:r>
                      <a:r>
                        <a:rPr sz="2400" spc="-25" dirty="0">
                          <a:latin typeface="Times New Roman"/>
                          <a:cs typeface="Times New Roman"/>
                        </a:rPr>
                        <a:t>VC</a:t>
                      </a:r>
                      <a:endParaRPr sz="2400" dirty="0">
                        <a:latin typeface="Times New Roman"/>
                        <a:cs typeface="Times New Roman"/>
                      </a:endParaRPr>
                    </a:p>
                  </a:txBody>
                  <a:tcPr marL="0" marR="0" marT="355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extLst>
                  <a:ext uri="{0D108BD9-81ED-4DB2-BD59-A6C34878D82A}">
                    <a16:rowId xmlns:a16="http://schemas.microsoft.com/office/drawing/2014/main" val="10005"/>
                  </a:ext>
                </a:extLst>
              </a:tr>
              <a:tr h="477044">
                <a:tc>
                  <a:txBody>
                    <a:bodyPr/>
                    <a:lstStyle/>
                    <a:p>
                      <a:pPr marL="635" algn="ctr">
                        <a:lnSpc>
                          <a:spcPct val="100000"/>
                        </a:lnSpc>
                        <a:spcBef>
                          <a:spcPts val="280"/>
                        </a:spcBef>
                      </a:pPr>
                      <a:r>
                        <a:rPr sz="2400" spc="-50" dirty="0">
                          <a:latin typeface="Times New Roman"/>
                          <a:cs typeface="Times New Roman"/>
                        </a:rPr>
                        <a:t>6</a:t>
                      </a:r>
                      <a:endParaRPr sz="2400" dirty="0">
                        <a:latin typeface="Times New Roman"/>
                        <a:cs typeface="Times New Roman"/>
                      </a:endParaRPr>
                    </a:p>
                  </a:txBody>
                  <a:tcPr marL="0" marR="0" marT="355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80"/>
                        </a:spcBef>
                      </a:pPr>
                      <a:r>
                        <a:rPr lang="en-US" sz="2400" dirty="0">
                          <a:latin typeface="Times New Roman"/>
                          <a:cs typeface="Times New Roman"/>
                        </a:rPr>
                        <a:t>Real Estate Investment Trust </a:t>
                      </a:r>
                      <a:endParaRPr sz="2400" dirty="0">
                        <a:latin typeface="Times New Roman"/>
                        <a:cs typeface="Times New Roman"/>
                      </a:endParaRPr>
                    </a:p>
                  </a:txBody>
                  <a:tcPr marL="0" marR="0" marT="355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477044">
                <a:tc>
                  <a:txBody>
                    <a:bodyPr/>
                    <a:lstStyle/>
                    <a:p>
                      <a:pPr marL="635" algn="ctr">
                        <a:lnSpc>
                          <a:spcPct val="100000"/>
                        </a:lnSpc>
                        <a:spcBef>
                          <a:spcPts val="280"/>
                        </a:spcBef>
                      </a:pPr>
                      <a:r>
                        <a:rPr lang="en-US" sz="2400" dirty="0">
                          <a:latin typeface="Times New Roman"/>
                          <a:cs typeface="Times New Roman"/>
                        </a:rPr>
                        <a:t>7</a:t>
                      </a:r>
                      <a:endParaRPr sz="2400" dirty="0">
                        <a:latin typeface="Times New Roman"/>
                        <a:cs typeface="Times New Roman"/>
                      </a:endParaRPr>
                    </a:p>
                  </a:txBody>
                  <a:tcPr marL="0" marR="0" marT="355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a:txBody>
                    <a:bodyPr/>
                    <a:lstStyle/>
                    <a:p>
                      <a:pPr algn="ctr">
                        <a:lnSpc>
                          <a:spcPct val="100000"/>
                        </a:lnSpc>
                        <a:spcBef>
                          <a:spcPts val="280"/>
                        </a:spcBef>
                      </a:pPr>
                      <a:r>
                        <a:rPr lang="en-US" sz="2400" dirty="0">
                          <a:latin typeface="Times New Roman"/>
                          <a:cs typeface="Times New Roman"/>
                        </a:rPr>
                        <a:t>Infrastructure Investment Trusts</a:t>
                      </a:r>
                    </a:p>
                  </a:txBody>
                  <a:tcPr marL="0" marR="0" marT="355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extLst>
                  <a:ext uri="{0D108BD9-81ED-4DB2-BD59-A6C34878D82A}">
                    <a16:rowId xmlns:a16="http://schemas.microsoft.com/office/drawing/2014/main" val="10007"/>
                  </a:ext>
                </a:extLst>
              </a:tr>
            </a:tbl>
          </a:graphicData>
        </a:graphic>
      </p:graphicFrame>
      <p:pic>
        <p:nvPicPr>
          <p:cNvPr id="3" name="object 3"/>
          <p:cNvPicPr/>
          <p:nvPr/>
        </p:nvPicPr>
        <p:blipFill>
          <a:blip r:embed="rId2" cstate="print"/>
          <a:stretch>
            <a:fillRect/>
          </a:stretch>
        </p:blipFill>
        <p:spPr>
          <a:xfrm>
            <a:off x="4419600" y="2753410"/>
            <a:ext cx="4876800" cy="4038599"/>
          </a:xfrm>
          <a:prstGeom prst="rect">
            <a:avLst/>
          </a:prstGeom>
        </p:spPr>
      </p:pic>
      <p:graphicFrame>
        <p:nvGraphicFramePr>
          <p:cNvPr id="5" name="Table 4">
            <a:extLst>
              <a:ext uri="{FF2B5EF4-FFF2-40B4-BE49-F238E27FC236}">
                <a16:creationId xmlns:a16="http://schemas.microsoft.com/office/drawing/2014/main" id="{07B38E41-6421-1DFE-1077-A54B7165C8FB}"/>
              </a:ext>
            </a:extLst>
          </p:cNvPr>
          <p:cNvGraphicFramePr>
            <a:graphicFrameLocks noGrp="1"/>
          </p:cNvGraphicFramePr>
          <p:nvPr>
            <p:extLst>
              <p:ext uri="{D42A27DB-BD31-4B8C-83A1-F6EECF244321}">
                <p14:modId xmlns:p14="http://schemas.microsoft.com/office/powerpoint/2010/main" val="212228705"/>
              </p:ext>
            </p:extLst>
          </p:nvPr>
        </p:nvGraphicFramePr>
        <p:xfrm>
          <a:off x="298450" y="4114802"/>
          <a:ext cx="8083550" cy="477044"/>
        </p:xfrm>
        <a:graphic>
          <a:graphicData uri="http://schemas.openxmlformats.org/drawingml/2006/table">
            <a:tbl>
              <a:tblPr firstRow="1" bandRow="1">
                <a:tableStyleId>{2D5ABB26-0587-4C30-8999-92F81FD0307C}</a:tableStyleId>
              </a:tblPr>
              <a:tblGrid>
                <a:gridCol w="1316064">
                  <a:extLst>
                    <a:ext uri="{9D8B030D-6E8A-4147-A177-3AD203B41FA5}">
                      <a16:colId xmlns:a16="http://schemas.microsoft.com/office/drawing/2014/main" val="2283783538"/>
                    </a:ext>
                  </a:extLst>
                </a:gridCol>
                <a:gridCol w="6767486">
                  <a:extLst>
                    <a:ext uri="{9D8B030D-6E8A-4147-A177-3AD203B41FA5}">
                      <a16:colId xmlns:a16="http://schemas.microsoft.com/office/drawing/2014/main" val="3532425200"/>
                    </a:ext>
                  </a:extLst>
                </a:gridCol>
              </a:tblGrid>
              <a:tr h="477044">
                <a:tc>
                  <a:txBody>
                    <a:bodyPr/>
                    <a:lstStyle/>
                    <a:p>
                      <a:pPr marL="635" algn="ctr">
                        <a:lnSpc>
                          <a:spcPct val="100000"/>
                        </a:lnSpc>
                        <a:spcBef>
                          <a:spcPts val="280"/>
                        </a:spcBef>
                      </a:pPr>
                      <a:r>
                        <a:rPr lang="en-US" sz="2400" spc="-50" dirty="0">
                          <a:latin typeface="Times New Roman"/>
                          <a:cs typeface="Times New Roman"/>
                        </a:rPr>
                        <a:t>8</a:t>
                      </a:r>
                      <a:endParaRPr sz="2400" dirty="0">
                        <a:latin typeface="Times New Roman"/>
                        <a:cs typeface="Times New Roman"/>
                      </a:endParaRPr>
                    </a:p>
                  </a:txBody>
                  <a:tcPr marL="0" marR="0" marT="355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80"/>
                        </a:spcBef>
                      </a:pPr>
                      <a:r>
                        <a:rPr lang="en-US" sz="2400" dirty="0">
                          <a:latin typeface="Times New Roman"/>
                          <a:cs typeface="Times New Roman"/>
                        </a:rPr>
                        <a:t>Conclusion </a:t>
                      </a:r>
                      <a:endParaRPr sz="2400" dirty="0">
                        <a:latin typeface="Times New Roman"/>
                        <a:cs typeface="Times New Roman"/>
                      </a:endParaRPr>
                    </a:p>
                  </a:txBody>
                  <a:tcPr marL="0" marR="0" marT="355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411580108"/>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1" y="67838"/>
            <a:ext cx="7467600" cy="1218153"/>
          </a:xfrm>
          <a:prstGeom prst="rect">
            <a:avLst/>
          </a:prstGeom>
        </p:spPr>
        <p:txBody>
          <a:bodyPr vert="horz" wrap="square" lIns="0" tIns="474852" rIns="0" bIns="0" rtlCol="0">
            <a:spAutoFit/>
          </a:bodyPr>
          <a:lstStyle/>
          <a:p>
            <a:pPr marL="1863089">
              <a:lnSpc>
                <a:spcPct val="100000"/>
              </a:lnSpc>
              <a:spcBef>
                <a:spcPts val="105"/>
              </a:spcBef>
            </a:pPr>
            <a:r>
              <a:rPr sz="4800" b="1" dirty="0">
                <a:solidFill>
                  <a:srgbClr val="FFFF00"/>
                </a:solidFill>
                <a:uFill>
                  <a:solidFill>
                    <a:srgbClr val="17375E"/>
                  </a:solidFill>
                </a:uFill>
                <a:latin typeface="Times New Roman" panose="02020603050405020304" pitchFamily="18" charset="0"/>
                <a:cs typeface="Times New Roman" panose="02020603050405020304" pitchFamily="18" charset="0"/>
              </a:rPr>
              <a:t>Introduction</a:t>
            </a:r>
            <a:r>
              <a:rPr sz="4800" b="1" spc="-50" dirty="0">
                <a:solidFill>
                  <a:srgbClr val="FFFF00"/>
                </a:solidFill>
                <a:uFill>
                  <a:solidFill>
                    <a:srgbClr val="000000"/>
                  </a:solidFill>
                </a:uFill>
                <a:latin typeface="Times New Roman" panose="02020603050405020304" pitchFamily="18" charset="0"/>
                <a:cs typeface="Times New Roman" panose="02020603050405020304" pitchFamily="18" charset="0"/>
              </a:rPr>
              <a:t> </a:t>
            </a:r>
            <a:r>
              <a:rPr sz="4800" b="1" dirty="0">
                <a:solidFill>
                  <a:srgbClr val="FFFF00"/>
                </a:solidFill>
                <a:uFill>
                  <a:solidFill>
                    <a:srgbClr val="17375E"/>
                  </a:solidFill>
                </a:uFill>
                <a:latin typeface="Times New Roman" panose="02020603050405020304" pitchFamily="18" charset="0"/>
                <a:cs typeface="Times New Roman" panose="02020603050405020304" pitchFamily="18" charset="0"/>
              </a:rPr>
              <a:t>&amp;</a:t>
            </a:r>
            <a:r>
              <a:rPr sz="4800" b="1" spc="-15" dirty="0">
                <a:solidFill>
                  <a:srgbClr val="FFFF00"/>
                </a:solidFill>
                <a:uFill>
                  <a:solidFill>
                    <a:srgbClr val="17375E"/>
                  </a:solidFill>
                </a:uFill>
                <a:latin typeface="Times New Roman" panose="02020603050405020304" pitchFamily="18" charset="0"/>
                <a:cs typeface="Times New Roman" panose="02020603050405020304" pitchFamily="18" charset="0"/>
              </a:rPr>
              <a:t> </a:t>
            </a:r>
            <a:r>
              <a:rPr sz="4800" b="1" spc="-20" dirty="0">
                <a:solidFill>
                  <a:srgbClr val="FFFF00"/>
                </a:solidFill>
                <a:uFill>
                  <a:solidFill>
                    <a:srgbClr val="17375E"/>
                  </a:solidFill>
                </a:uFill>
                <a:latin typeface="Times New Roman" panose="02020603050405020304" pitchFamily="18" charset="0"/>
                <a:cs typeface="Times New Roman" panose="02020603050405020304" pitchFamily="18" charset="0"/>
              </a:rPr>
              <a:t>Need</a:t>
            </a:r>
            <a:endParaRPr sz="4800" b="1" dirty="0">
              <a:solidFill>
                <a:srgbClr val="FFFF00"/>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543560" y="1600200"/>
            <a:ext cx="8056880" cy="3360535"/>
          </a:xfrm>
          <a:prstGeom prst="rect">
            <a:avLst/>
          </a:prstGeom>
        </p:spPr>
        <p:txBody>
          <a:bodyPr vert="horz" wrap="square" lIns="0" tIns="13335" rIns="0" bIns="0" rtlCol="0">
            <a:spAutoFit/>
          </a:bodyPr>
          <a:lstStyle/>
          <a:p>
            <a:pPr marL="355600" marR="5080" indent="-279400">
              <a:lnSpc>
                <a:spcPct val="100000"/>
              </a:lnSpc>
              <a:spcBef>
                <a:spcPts val="105"/>
              </a:spcBef>
            </a:pPr>
            <a:r>
              <a:rPr lang="en-US" sz="2000" b="1" dirty="0">
                <a:latin typeface="Calibri" panose="020F0502020204030204" pitchFamily="34" charset="0"/>
                <a:ea typeface="Calibri" panose="020F0502020204030204" pitchFamily="34" charset="0"/>
                <a:cs typeface="Calibri" panose="020F0502020204030204" pitchFamily="34" charset="0"/>
              </a:rPr>
              <a:t>     Finance</a:t>
            </a:r>
            <a:r>
              <a:rPr lang="en-US" sz="2000" dirty="0">
                <a:latin typeface="Calibri" panose="020F0502020204030204" pitchFamily="34" charset="0"/>
                <a:ea typeface="Calibri" panose="020F0502020204030204" pitchFamily="34" charset="0"/>
                <a:cs typeface="Calibri" panose="020F0502020204030204" pitchFamily="34" charset="0"/>
              </a:rPr>
              <a:t> is the study and management of money, investments, and other financial instruments. It involves how individuals, businesses, and organizations raise, allocate, and use funds over time, taking into account the risks and returns associated with those funds.</a:t>
            </a:r>
            <a:endParaRPr sz="2000" dirty="0">
              <a:latin typeface="Calibri" panose="020F0502020204030204" pitchFamily="34" charset="0"/>
              <a:ea typeface="Calibri" panose="020F0502020204030204" pitchFamily="34" charset="0"/>
              <a:cs typeface="Calibri" panose="020F0502020204030204" pitchFamily="34" charset="0"/>
            </a:endParaRPr>
          </a:p>
          <a:p>
            <a:pPr>
              <a:lnSpc>
                <a:spcPct val="100000"/>
              </a:lnSpc>
              <a:spcBef>
                <a:spcPts val="1060"/>
              </a:spcBef>
            </a:pPr>
            <a:endParaRPr sz="2000" dirty="0">
              <a:latin typeface="Calibri" panose="020F0502020204030204" pitchFamily="34" charset="0"/>
              <a:ea typeface="Calibri" panose="020F0502020204030204" pitchFamily="34" charset="0"/>
              <a:cs typeface="Calibri" panose="020F0502020204030204" pitchFamily="34" charset="0"/>
            </a:endParaRPr>
          </a:p>
          <a:p>
            <a:pPr marL="355600" marR="898525" indent="-342900">
              <a:lnSpc>
                <a:spcPct val="100000"/>
              </a:lnSpc>
              <a:buFont typeface="Wingdings"/>
              <a:buChar char=""/>
              <a:tabLst>
                <a:tab pos="355600" algn="l"/>
              </a:tabLst>
            </a:pPr>
            <a:r>
              <a:rPr sz="2000" dirty="0">
                <a:latin typeface="Calibri" panose="020F0502020204030204" pitchFamily="34" charset="0"/>
                <a:ea typeface="Calibri" panose="020F0502020204030204" pitchFamily="34" charset="0"/>
                <a:cs typeface="Calibri" panose="020F0502020204030204" pitchFamily="34" charset="0"/>
              </a:rPr>
              <a:t>Businesses</a:t>
            </a:r>
            <a:r>
              <a:rPr sz="2000" spc="-40"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need</a:t>
            </a:r>
            <a:r>
              <a:rPr sz="2000" spc="-15"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finances</a:t>
            </a:r>
            <a:r>
              <a:rPr sz="2000" spc="-40"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for</a:t>
            </a:r>
            <a:r>
              <a:rPr sz="2000" spc="-35"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daily</a:t>
            </a:r>
            <a:r>
              <a:rPr sz="2000" spc="-20"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operations</a:t>
            </a:r>
            <a:r>
              <a:rPr sz="2000" spc="-35"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and</a:t>
            </a:r>
            <a:r>
              <a:rPr sz="2000" spc="-20"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to</a:t>
            </a:r>
            <a:r>
              <a:rPr sz="2000" spc="-10"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meet</a:t>
            </a:r>
            <a:r>
              <a:rPr sz="2000" spc="-10" dirty="0">
                <a:latin typeface="Calibri" panose="020F0502020204030204" pitchFamily="34" charset="0"/>
                <a:ea typeface="Calibri" panose="020F0502020204030204" pitchFamily="34" charset="0"/>
                <a:cs typeface="Calibri" panose="020F0502020204030204" pitchFamily="34" charset="0"/>
              </a:rPr>
              <a:t> essential </a:t>
            </a:r>
            <a:r>
              <a:rPr sz="2000" dirty="0">
                <a:latin typeface="Calibri" panose="020F0502020204030204" pitchFamily="34" charset="0"/>
                <a:ea typeface="Calibri" panose="020F0502020204030204" pitchFamily="34" charset="0"/>
                <a:cs typeface="Calibri" panose="020F0502020204030204" pitchFamily="34" charset="0"/>
              </a:rPr>
              <a:t>expenses</a:t>
            </a:r>
            <a:r>
              <a:rPr sz="2000" spc="-30"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and</a:t>
            </a:r>
            <a:r>
              <a:rPr sz="2000" spc="-10" dirty="0">
                <a:latin typeface="Calibri" panose="020F0502020204030204" pitchFamily="34" charset="0"/>
                <a:ea typeface="Calibri" panose="020F0502020204030204" pitchFamily="34" charset="0"/>
                <a:cs typeface="Calibri" panose="020F0502020204030204" pitchFamily="34" charset="0"/>
              </a:rPr>
              <a:t> payments.</a:t>
            </a:r>
            <a:endParaRPr sz="2000" dirty="0">
              <a:latin typeface="Calibri" panose="020F0502020204030204" pitchFamily="34" charset="0"/>
              <a:ea typeface="Calibri" panose="020F0502020204030204" pitchFamily="34" charset="0"/>
              <a:cs typeface="Calibri" panose="020F0502020204030204" pitchFamily="34" charset="0"/>
            </a:endParaRPr>
          </a:p>
          <a:p>
            <a:pPr marL="354965" indent="-342265">
              <a:lnSpc>
                <a:spcPct val="100000"/>
              </a:lnSpc>
              <a:spcBef>
                <a:spcPts val="480"/>
              </a:spcBef>
              <a:buFont typeface="Wingdings"/>
              <a:buChar char=""/>
              <a:tabLst>
                <a:tab pos="354965" algn="l"/>
              </a:tabLst>
            </a:pPr>
            <a:r>
              <a:rPr sz="2000" dirty="0">
                <a:latin typeface="Calibri" panose="020F0502020204030204" pitchFamily="34" charset="0"/>
                <a:ea typeface="Calibri" panose="020F0502020204030204" pitchFamily="34" charset="0"/>
                <a:cs typeface="Calibri" panose="020F0502020204030204" pitchFamily="34" charset="0"/>
              </a:rPr>
              <a:t>Funds</a:t>
            </a:r>
            <a:r>
              <a:rPr sz="2000" spc="-35"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for</a:t>
            </a:r>
            <a:r>
              <a:rPr sz="2000" spc="-35"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business</a:t>
            </a:r>
            <a:r>
              <a:rPr sz="2000" spc="-40"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growth,</a:t>
            </a:r>
            <a:r>
              <a:rPr sz="2000" spc="-40"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market</a:t>
            </a:r>
            <a:r>
              <a:rPr sz="2000" spc="-25"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competition,</a:t>
            </a:r>
            <a:r>
              <a:rPr sz="2000" spc="-40"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and</a:t>
            </a:r>
            <a:r>
              <a:rPr sz="2000" spc="-25"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to</a:t>
            </a:r>
            <a:r>
              <a:rPr sz="2000" spc="-15"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keep</a:t>
            </a:r>
            <a:r>
              <a:rPr sz="2000" spc="-25"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your</a:t>
            </a:r>
            <a:r>
              <a:rPr sz="2000" spc="-25" dirty="0">
                <a:latin typeface="Calibri" panose="020F0502020204030204" pitchFamily="34" charset="0"/>
                <a:ea typeface="Calibri" panose="020F0502020204030204" pitchFamily="34" charset="0"/>
                <a:cs typeface="Calibri" panose="020F0502020204030204" pitchFamily="34" charset="0"/>
              </a:rPr>
              <a:t> </a:t>
            </a:r>
            <a:r>
              <a:rPr sz="2000" spc="-10" dirty="0">
                <a:latin typeface="Calibri" panose="020F0502020204030204" pitchFamily="34" charset="0"/>
                <a:ea typeface="Calibri" panose="020F0502020204030204" pitchFamily="34" charset="0"/>
                <a:cs typeface="Calibri" panose="020F0502020204030204" pitchFamily="34" charset="0"/>
              </a:rPr>
              <a:t>business</a:t>
            </a:r>
            <a:endParaRPr sz="2000" dirty="0">
              <a:latin typeface="Calibri" panose="020F0502020204030204" pitchFamily="34" charset="0"/>
              <a:ea typeface="Calibri" panose="020F0502020204030204" pitchFamily="34" charset="0"/>
              <a:cs typeface="Calibri" panose="020F0502020204030204" pitchFamily="34" charset="0"/>
            </a:endParaRPr>
          </a:p>
          <a:p>
            <a:pPr marL="355600">
              <a:lnSpc>
                <a:spcPct val="100000"/>
              </a:lnSpc>
              <a:spcBef>
                <a:spcPts val="5"/>
              </a:spcBef>
            </a:pPr>
            <a:r>
              <a:rPr sz="2000" dirty="0">
                <a:latin typeface="Calibri" panose="020F0502020204030204" pitchFamily="34" charset="0"/>
                <a:ea typeface="Calibri" panose="020F0502020204030204" pitchFamily="34" charset="0"/>
                <a:cs typeface="Calibri" panose="020F0502020204030204" pitchFamily="34" charset="0"/>
              </a:rPr>
              <a:t>operational</a:t>
            </a:r>
            <a:r>
              <a:rPr sz="2000" spc="-55"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and</a:t>
            </a:r>
            <a:r>
              <a:rPr sz="2000" spc="-25"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maintain</a:t>
            </a:r>
            <a:r>
              <a:rPr sz="2000" spc="-20"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your</a:t>
            </a:r>
            <a:r>
              <a:rPr sz="2000" spc="-25"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customer</a:t>
            </a:r>
            <a:r>
              <a:rPr sz="2000" spc="-15" dirty="0">
                <a:latin typeface="Calibri" panose="020F0502020204030204" pitchFamily="34" charset="0"/>
                <a:ea typeface="Calibri" panose="020F0502020204030204" pitchFamily="34" charset="0"/>
                <a:cs typeface="Calibri" panose="020F0502020204030204" pitchFamily="34" charset="0"/>
              </a:rPr>
              <a:t> </a:t>
            </a:r>
            <a:r>
              <a:rPr sz="2000" spc="-10" dirty="0">
                <a:latin typeface="Calibri" panose="020F0502020204030204" pitchFamily="34" charset="0"/>
                <a:ea typeface="Calibri" panose="020F0502020204030204" pitchFamily="34" charset="0"/>
                <a:cs typeface="Calibri" panose="020F0502020204030204" pitchFamily="34" charset="0"/>
              </a:rPr>
              <a:t>base..</a:t>
            </a:r>
            <a:endParaRPr sz="2000" dirty="0">
              <a:latin typeface="Calibri" panose="020F0502020204030204" pitchFamily="34" charset="0"/>
              <a:ea typeface="Calibri" panose="020F0502020204030204" pitchFamily="34" charset="0"/>
              <a:cs typeface="Calibri" panose="020F0502020204030204" pitchFamily="34" charset="0"/>
            </a:endParaRPr>
          </a:p>
          <a:p>
            <a:pPr marL="354965" indent="-342265">
              <a:lnSpc>
                <a:spcPct val="100000"/>
              </a:lnSpc>
              <a:spcBef>
                <a:spcPts val="480"/>
              </a:spcBef>
              <a:buFont typeface="Wingdings"/>
              <a:buChar char=""/>
              <a:tabLst>
                <a:tab pos="354965" algn="l"/>
              </a:tabLst>
            </a:pPr>
            <a:r>
              <a:rPr sz="2000" dirty="0">
                <a:latin typeface="Calibri" panose="020F0502020204030204" pitchFamily="34" charset="0"/>
                <a:ea typeface="Calibri" panose="020F0502020204030204" pitchFamily="34" charset="0"/>
                <a:cs typeface="Calibri" panose="020F0502020204030204" pitchFamily="34" charset="0"/>
              </a:rPr>
              <a:t>Inefficient</a:t>
            </a:r>
            <a:r>
              <a:rPr sz="2000" spc="-60"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management</a:t>
            </a:r>
            <a:r>
              <a:rPr sz="2000" spc="-10"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of</a:t>
            </a:r>
            <a:r>
              <a:rPr sz="2000" spc="-30"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finances</a:t>
            </a:r>
            <a:r>
              <a:rPr sz="2000" spc="-50"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could</a:t>
            </a:r>
            <a:r>
              <a:rPr sz="2000" spc="-30"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lead</a:t>
            </a:r>
            <a:r>
              <a:rPr sz="2000" spc="-30"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to</a:t>
            </a:r>
            <a:r>
              <a:rPr sz="2000" spc="-20"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liquidity</a:t>
            </a:r>
            <a:r>
              <a:rPr sz="2000" spc="-50" dirty="0">
                <a:latin typeface="Calibri" panose="020F0502020204030204" pitchFamily="34" charset="0"/>
                <a:ea typeface="Calibri" panose="020F0502020204030204" pitchFamily="34" charset="0"/>
                <a:cs typeface="Calibri" panose="020F0502020204030204" pitchFamily="34" charset="0"/>
              </a:rPr>
              <a:t> </a:t>
            </a:r>
            <a:r>
              <a:rPr sz="2000" spc="-10" dirty="0">
                <a:latin typeface="Calibri" panose="020F0502020204030204" pitchFamily="34" charset="0"/>
                <a:ea typeface="Calibri" panose="020F0502020204030204" pitchFamily="34" charset="0"/>
                <a:cs typeface="Calibri" panose="020F0502020204030204" pitchFamily="34" charset="0"/>
              </a:rPr>
              <a:t>shortages.</a:t>
            </a:r>
            <a:endParaRPr sz="2000" dirty="0">
              <a:latin typeface="Calibri" panose="020F0502020204030204" pitchFamily="34" charset="0"/>
              <a:ea typeface="Calibri" panose="020F0502020204030204" pitchFamily="34" charset="0"/>
              <a:cs typeface="Calibri" panose="020F0502020204030204" pitchFamily="34" charset="0"/>
            </a:endParaRPr>
          </a:p>
        </p:txBody>
      </p:sp>
      <p:pic>
        <p:nvPicPr>
          <p:cNvPr id="4" name="object 4"/>
          <p:cNvPicPr/>
          <p:nvPr/>
        </p:nvPicPr>
        <p:blipFill>
          <a:blip r:embed="rId2" cstate="print"/>
          <a:stretch>
            <a:fillRect/>
          </a:stretch>
        </p:blipFill>
        <p:spPr>
          <a:xfrm>
            <a:off x="1883899" y="4960735"/>
            <a:ext cx="7244861" cy="18972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9055" y="228600"/>
            <a:ext cx="8125890" cy="1000145"/>
          </a:xfrm>
          <a:prstGeom prst="rect">
            <a:avLst/>
          </a:prstGeom>
        </p:spPr>
        <p:txBody>
          <a:bodyPr vert="horz" wrap="square" lIns="0" tIns="258952" rIns="0" bIns="0" rtlCol="0">
            <a:spAutoFit/>
          </a:bodyPr>
          <a:lstStyle/>
          <a:p>
            <a:pPr marL="1877060">
              <a:lnSpc>
                <a:spcPct val="100000"/>
              </a:lnSpc>
              <a:spcBef>
                <a:spcPts val="100"/>
              </a:spcBef>
            </a:pPr>
            <a:r>
              <a:rPr sz="4800" b="1" dirty="0">
                <a:solidFill>
                  <a:srgbClr val="FFFF00"/>
                </a:solidFill>
                <a:uFill>
                  <a:solidFill>
                    <a:srgbClr val="17375E"/>
                  </a:solidFill>
                </a:uFill>
                <a:latin typeface="Times New Roman" panose="02020603050405020304" pitchFamily="18" charset="0"/>
                <a:cs typeface="Times New Roman" panose="02020603050405020304" pitchFamily="18" charset="0"/>
              </a:rPr>
              <a:t>Sources</a:t>
            </a:r>
            <a:r>
              <a:rPr sz="4800" b="1" spc="-90" dirty="0">
                <a:solidFill>
                  <a:srgbClr val="FFFF00"/>
                </a:solidFill>
                <a:uFill>
                  <a:solidFill>
                    <a:srgbClr val="17375E"/>
                  </a:solidFill>
                </a:uFill>
                <a:latin typeface="Times New Roman" panose="02020603050405020304" pitchFamily="18" charset="0"/>
                <a:cs typeface="Times New Roman" panose="02020603050405020304" pitchFamily="18" charset="0"/>
              </a:rPr>
              <a:t> </a:t>
            </a:r>
            <a:r>
              <a:rPr lang="en-US" sz="4800" b="1" spc="-90" dirty="0">
                <a:solidFill>
                  <a:srgbClr val="FFFF00"/>
                </a:solidFill>
                <a:uFill>
                  <a:solidFill>
                    <a:srgbClr val="17375E"/>
                  </a:solidFill>
                </a:uFill>
                <a:latin typeface="Times New Roman" panose="02020603050405020304" pitchFamily="18" charset="0"/>
                <a:cs typeface="Times New Roman" panose="02020603050405020304" pitchFamily="18" charset="0"/>
              </a:rPr>
              <a:t>o</a:t>
            </a:r>
            <a:r>
              <a:rPr sz="4800" b="1" dirty="0">
                <a:solidFill>
                  <a:srgbClr val="FFFF00"/>
                </a:solidFill>
                <a:uFill>
                  <a:solidFill>
                    <a:srgbClr val="17375E"/>
                  </a:solidFill>
                </a:uFill>
                <a:latin typeface="Times New Roman" panose="02020603050405020304" pitchFamily="18" charset="0"/>
                <a:cs typeface="Times New Roman" panose="02020603050405020304" pitchFamily="18" charset="0"/>
              </a:rPr>
              <a:t>f</a:t>
            </a:r>
            <a:r>
              <a:rPr sz="4800" b="1" spc="-100" dirty="0">
                <a:solidFill>
                  <a:srgbClr val="FFFF00"/>
                </a:solidFill>
                <a:uFill>
                  <a:solidFill>
                    <a:srgbClr val="17375E"/>
                  </a:solidFill>
                </a:uFill>
                <a:latin typeface="Times New Roman" panose="02020603050405020304" pitchFamily="18" charset="0"/>
                <a:cs typeface="Times New Roman" panose="02020603050405020304" pitchFamily="18" charset="0"/>
              </a:rPr>
              <a:t> </a:t>
            </a:r>
            <a:r>
              <a:rPr sz="4800" b="1" spc="-10" dirty="0">
                <a:solidFill>
                  <a:srgbClr val="FFFF00"/>
                </a:solidFill>
                <a:uFill>
                  <a:solidFill>
                    <a:srgbClr val="17375E"/>
                  </a:solidFill>
                </a:uFill>
                <a:latin typeface="Times New Roman" panose="02020603050405020304" pitchFamily="18" charset="0"/>
                <a:cs typeface="Times New Roman" panose="02020603050405020304" pitchFamily="18" charset="0"/>
              </a:rPr>
              <a:t>Finance</a:t>
            </a:r>
            <a:endParaRPr sz="4800" b="1" dirty="0">
              <a:solidFill>
                <a:srgbClr val="FFFF00"/>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152401" y="1524000"/>
            <a:ext cx="5105400" cy="4642938"/>
          </a:xfrm>
          <a:prstGeom prst="rect">
            <a:avLst/>
          </a:prstGeom>
        </p:spPr>
        <p:txBody>
          <a:bodyPr vert="horz" wrap="square" lIns="0" tIns="13335" rIns="0" bIns="0" rtlCol="0">
            <a:spAutoFit/>
          </a:bodyPr>
          <a:lstStyle/>
          <a:p>
            <a:pPr marL="355600" marR="748665" indent="-279400">
              <a:lnSpc>
                <a:spcPct val="100000"/>
              </a:lnSpc>
              <a:spcBef>
                <a:spcPts val="105"/>
              </a:spcBef>
            </a:pPr>
            <a:r>
              <a:rPr sz="2000" b="1" dirty="0">
                <a:latin typeface="Times New Roman"/>
                <a:cs typeface="Times New Roman"/>
              </a:rPr>
              <a:t>Main</a:t>
            </a:r>
            <a:r>
              <a:rPr sz="2000" b="1" spc="-50" dirty="0">
                <a:latin typeface="Times New Roman"/>
                <a:cs typeface="Times New Roman"/>
              </a:rPr>
              <a:t> </a:t>
            </a:r>
            <a:r>
              <a:rPr sz="2000" b="1" dirty="0">
                <a:latin typeface="Times New Roman"/>
                <a:cs typeface="Times New Roman"/>
              </a:rPr>
              <a:t>sources</a:t>
            </a:r>
            <a:r>
              <a:rPr sz="2000" b="1" spc="-30" dirty="0">
                <a:latin typeface="Times New Roman"/>
                <a:cs typeface="Times New Roman"/>
              </a:rPr>
              <a:t> </a:t>
            </a:r>
            <a:r>
              <a:rPr sz="2000" b="1" dirty="0">
                <a:latin typeface="Times New Roman"/>
                <a:cs typeface="Times New Roman"/>
              </a:rPr>
              <a:t>of</a:t>
            </a:r>
            <a:r>
              <a:rPr sz="2000" b="1" spc="-20" dirty="0">
                <a:latin typeface="Times New Roman"/>
                <a:cs typeface="Times New Roman"/>
              </a:rPr>
              <a:t> </a:t>
            </a:r>
            <a:r>
              <a:rPr sz="2000" b="1" dirty="0">
                <a:latin typeface="Times New Roman"/>
                <a:cs typeface="Times New Roman"/>
              </a:rPr>
              <a:t>funding</a:t>
            </a:r>
            <a:r>
              <a:rPr sz="2000" b="1" spc="-35" dirty="0">
                <a:latin typeface="Times New Roman"/>
                <a:cs typeface="Times New Roman"/>
              </a:rPr>
              <a:t> </a:t>
            </a:r>
            <a:r>
              <a:rPr sz="2000" b="1" dirty="0">
                <a:latin typeface="Times New Roman"/>
                <a:cs typeface="Times New Roman"/>
              </a:rPr>
              <a:t>for</a:t>
            </a:r>
            <a:r>
              <a:rPr sz="2000" b="1" spc="-55" dirty="0">
                <a:latin typeface="Times New Roman"/>
                <a:cs typeface="Times New Roman"/>
              </a:rPr>
              <a:t> </a:t>
            </a:r>
            <a:r>
              <a:rPr sz="2000" b="1" spc="-50" dirty="0">
                <a:latin typeface="Times New Roman"/>
                <a:cs typeface="Times New Roman"/>
              </a:rPr>
              <a:t>a </a:t>
            </a:r>
            <a:r>
              <a:rPr sz="2000" b="1" dirty="0">
                <a:latin typeface="Times New Roman"/>
                <a:cs typeface="Times New Roman"/>
              </a:rPr>
              <a:t>business</a:t>
            </a:r>
            <a:r>
              <a:rPr sz="2000" b="1" spc="-35" dirty="0">
                <a:latin typeface="Times New Roman"/>
                <a:cs typeface="Times New Roman"/>
              </a:rPr>
              <a:t> </a:t>
            </a:r>
            <a:r>
              <a:rPr sz="2000" spc="-50" dirty="0">
                <a:latin typeface="Times New Roman"/>
                <a:cs typeface="Times New Roman"/>
              </a:rPr>
              <a:t>:</a:t>
            </a:r>
            <a:endParaRPr sz="2000" dirty="0">
              <a:latin typeface="Times New Roman"/>
              <a:cs typeface="Times New Roman"/>
            </a:endParaRPr>
          </a:p>
          <a:p>
            <a:pPr marL="533400" indent="-520700">
              <a:lnSpc>
                <a:spcPct val="100000"/>
              </a:lnSpc>
              <a:spcBef>
                <a:spcPts val="475"/>
              </a:spcBef>
              <a:buAutoNum type="arabicPeriod"/>
              <a:tabLst>
                <a:tab pos="533400" algn="l"/>
              </a:tabLst>
            </a:pPr>
            <a:r>
              <a:rPr sz="2000" dirty="0">
                <a:latin typeface="Times New Roman"/>
                <a:cs typeface="Times New Roman"/>
              </a:rPr>
              <a:t>Revenues</a:t>
            </a:r>
            <a:r>
              <a:rPr sz="2000" spc="-40" dirty="0">
                <a:latin typeface="Times New Roman"/>
                <a:cs typeface="Times New Roman"/>
              </a:rPr>
              <a:t> </a:t>
            </a:r>
            <a:r>
              <a:rPr sz="2000" dirty="0">
                <a:latin typeface="Times New Roman"/>
                <a:cs typeface="Times New Roman"/>
              </a:rPr>
              <a:t>from</a:t>
            </a:r>
            <a:r>
              <a:rPr sz="2000" spc="-30" dirty="0">
                <a:latin typeface="Times New Roman"/>
                <a:cs typeface="Times New Roman"/>
              </a:rPr>
              <a:t> </a:t>
            </a:r>
            <a:r>
              <a:rPr sz="2000" spc="-10" dirty="0">
                <a:latin typeface="Times New Roman"/>
                <a:cs typeface="Times New Roman"/>
              </a:rPr>
              <a:t>business</a:t>
            </a:r>
            <a:endParaRPr sz="2000" dirty="0">
              <a:latin typeface="Times New Roman"/>
              <a:cs typeface="Times New Roman"/>
            </a:endParaRPr>
          </a:p>
          <a:p>
            <a:pPr marL="469900">
              <a:lnSpc>
                <a:spcPct val="100000"/>
              </a:lnSpc>
              <a:spcBef>
                <a:spcPts val="5"/>
              </a:spcBef>
            </a:pPr>
            <a:r>
              <a:rPr sz="2000" spc="-10" dirty="0">
                <a:latin typeface="Times New Roman"/>
                <a:cs typeface="Times New Roman"/>
              </a:rPr>
              <a:t>operations</a:t>
            </a:r>
            <a:endParaRPr sz="2000" dirty="0">
              <a:latin typeface="Times New Roman"/>
              <a:cs typeface="Times New Roman"/>
            </a:endParaRPr>
          </a:p>
          <a:p>
            <a:pPr marL="469900" marR="5080" indent="-457200">
              <a:lnSpc>
                <a:spcPct val="100000"/>
              </a:lnSpc>
              <a:spcBef>
                <a:spcPts val="480"/>
              </a:spcBef>
              <a:buAutoNum type="arabicPeriod" startAt="2"/>
              <a:tabLst>
                <a:tab pos="469900" algn="l"/>
                <a:tab pos="533400" algn="l"/>
              </a:tabLst>
            </a:pPr>
            <a:r>
              <a:rPr sz="2000" dirty="0">
                <a:latin typeface="Times New Roman"/>
                <a:cs typeface="Times New Roman"/>
              </a:rPr>
              <a:t>	Investor</a:t>
            </a:r>
            <a:r>
              <a:rPr sz="2000" spc="-55" dirty="0">
                <a:latin typeface="Times New Roman"/>
                <a:cs typeface="Times New Roman"/>
              </a:rPr>
              <a:t> </a:t>
            </a:r>
            <a:r>
              <a:rPr sz="2000" dirty="0">
                <a:latin typeface="Times New Roman"/>
                <a:cs typeface="Times New Roman"/>
              </a:rPr>
              <a:t>finances</a:t>
            </a:r>
            <a:r>
              <a:rPr sz="2000" spc="-45" dirty="0">
                <a:latin typeface="Times New Roman"/>
                <a:cs typeface="Times New Roman"/>
              </a:rPr>
              <a:t> </a:t>
            </a:r>
            <a:r>
              <a:rPr sz="2000" dirty="0">
                <a:latin typeface="Times New Roman"/>
                <a:cs typeface="Times New Roman"/>
              </a:rPr>
              <a:t>such</a:t>
            </a:r>
            <a:r>
              <a:rPr sz="2000" spc="-20" dirty="0">
                <a:latin typeface="Times New Roman"/>
                <a:cs typeface="Times New Roman"/>
              </a:rPr>
              <a:t> </a:t>
            </a:r>
            <a:r>
              <a:rPr sz="2000" dirty="0">
                <a:latin typeface="Times New Roman"/>
                <a:cs typeface="Times New Roman"/>
              </a:rPr>
              <a:t>as</a:t>
            </a:r>
            <a:r>
              <a:rPr sz="2000" spc="-10" dirty="0">
                <a:latin typeface="Times New Roman"/>
                <a:cs typeface="Times New Roman"/>
              </a:rPr>
              <a:t> </a:t>
            </a:r>
            <a:r>
              <a:rPr lang="en-US" sz="2000" spc="-10" dirty="0">
                <a:latin typeface="Times New Roman"/>
                <a:cs typeface="Times New Roman"/>
              </a:rPr>
              <a:t>owners’</a:t>
            </a:r>
            <a:r>
              <a:rPr sz="2000" spc="-10" dirty="0">
                <a:latin typeface="Times New Roman"/>
                <a:cs typeface="Times New Roman"/>
              </a:rPr>
              <a:t>, </a:t>
            </a:r>
            <a:r>
              <a:rPr lang="en-US" sz="2000" dirty="0">
                <a:latin typeface="Times New Roman"/>
                <a:cs typeface="Times New Roman"/>
              </a:rPr>
              <a:t>partners</a:t>
            </a:r>
            <a:r>
              <a:rPr sz="2000" spc="-60" dirty="0">
                <a:latin typeface="Times New Roman"/>
                <a:cs typeface="Times New Roman"/>
              </a:rPr>
              <a:t> </a:t>
            </a:r>
            <a:r>
              <a:rPr sz="2000" dirty="0">
                <a:latin typeface="Times New Roman"/>
                <a:cs typeface="Times New Roman"/>
              </a:rPr>
              <a:t>or</a:t>
            </a:r>
            <a:r>
              <a:rPr sz="2000" spc="-30" dirty="0">
                <a:latin typeface="Times New Roman"/>
                <a:cs typeface="Times New Roman"/>
              </a:rPr>
              <a:t> </a:t>
            </a:r>
            <a:r>
              <a:rPr sz="2000" dirty="0">
                <a:latin typeface="Times New Roman"/>
                <a:cs typeface="Times New Roman"/>
              </a:rPr>
              <a:t>venture</a:t>
            </a:r>
            <a:r>
              <a:rPr sz="2000" spc="-40" dirty="0">
                <a:latin typeface="Times New Roman"/>
                <a:cs typeface="Times New Roman"/>
              </a:rPr>
              <a:t> </a:t>
            </a:r>
            <a:r>
              <a:rPr sz="2000" spc="-10" dirty="0">
                <a:latin typeface="Times New Roman"/>
                <a:cs typeface="Times New Roman"/>
              </a:rPr>
              <a:t>capital</a:t>
            </a:r>
            <a:endParaRPr sz="2000" dirty="0">
              <a:latin typeface="Times New Roman"/>
              <a:cs typeface="Times New Roman"/>
            </a:endParaRPr>
          </a:p>
          <a:p>
            <a:pPr marL="533400" indent="-520700">
              <a:lnSpc>
                <a:spcPct val="100000"/>
              </a:lnSpc>
              <a:spcBef>
                <a:spcPts val="480"/>
              </a:spcBef>
              <a:buAutoNum type="arabicPeriod" startAt="2"/>
              <a:tabLst>
                <a:tab pos="533400" algn="l"/>
              </a:tabLst>
            </a:pPr>
            <a:r>
              <a:rPr sz="2000" dirty="0">
                <a:latin typeface="Times New Roman"/>
                <a:cs typeface="Times New Roman"/>
              </a:rPr>
              <a:t>Loans</a:t>
            </a:r>
            <a:r>
              <a:rPr sz="2000" spc="-20" dirty="0">
                <a:latin typeface="Times New Roman"/>
                <a:cs typeface="Times New Roman"/>
              </a:rPr>
              <a:t> </a:t>
            </a:r>
            <a:r>
              <a:rPr sz="2000" dirty="0">
                <a:latin typeface="Times New Roman"/>
                <a:cs typeface="Times New Roman"/>
              </a:rPr>
              <a:t>from</a:t>
            </a:r>
            <a:r>
              <a:rPr sz="2000" spc="-35" dirty="0">
                <a:latin typeface="Times New Roman"/>
                <a:cs typeface="Times New Roman"/>
              </a:rPr>
              <a:t> </a:t>
            </a:r>
            <a:r>
              <a:rPr sz="2000" dirty="0">
                <a:latin typeface="Times New Roman"/>
                <a:cs typeface="Times New Roman"/>
              </a:rPr>
              <a:t>individuals</a:t>
            </a:r>
            <a:r>
              <a:rPr sz="2000" spc="-45" dirty="0">
                <a:latin typeface="Times New Roman"/>
                <a:cs typeface="Times New Roman"/>
              </a:rPr>
              <a:t> </a:t>
            </a:r>
            <a:r>
              <a:rPr sz="2000" spc="-25" dirty="0">
                <a:latin typeface="Times New Roman"/>
                <a:cs typeface="Times New Roman"/>
              </a:rPr>
              <a:t>or</a:t>
            </a:r>
            <a:endParaRPr sz="2000" dirty="0">
              <a:latin typeface="Times New Roman"/>
              <a:cs typeface="Times New Roman"/>
            </a:endParaRPr>
          </a:p>
          <a:p>
            <a:pPr marL="469900">
              <a:lnSpc>
                <a:spcPct val="100000"/>
              </a:lnSpc>
            </a:pPr>
            <a:r>
              <a:rPr lang="en-US" sz="2000" dirty="0">
                <a:latin typeface="Times New Roman"/>
                <a:cs typeface="Times New Roman"/>
              </a:rPr>
              <a:t>F</a:t>
            </a:r>
            <a:r>
              <a:rPr sz="2000" dirty="0">
                <a:latin typeface="Times New Roman"/>
                <a:cs typeface="Times New Roman"/>
              </a:rPr>
              <a:t>inancial</a:t>
            </a:r>
            <a:r>
              <a:rPr sz="2000" spc="-45" dirty="0">
                <a:latin typeface="Times New Roman"/>
                <a:cs typeface="Times New Roman"/>
              </a:rPr>
              <a:t> </a:t>
            </a:r>
            <a:r>
              <a:rPr sz="2000" spc="-10" dirty="0">
                <a:latin typeface="Times New Roman"/>
                <a:cs typeface="Times New Roman"/>
              </a:rPr>
              <a:t>institutions.</a:t>
            </a:r>
            <a:endParaRPr sz="2000" dirty="0">
              <a:latin typeface="Times New Roman"/>
              <a:cs typeface="Times New Roman"/>
            </a:endParaRPr>
          </a:p>
          <a:p>
            <a:pPr marL="469900" marR="103505" indent="-457200">
              <a:lnSpc>
                <a:spcPct val="100000"/>
              </a:lnSpc>
              <a:spcBef>
                <a:spcPts val="480"/>
              </a:spcBef>
              <a:buAutoNum type="arabicPeriod" startAt="4"/>
              <a:tabLst>
                <a:tab pos="469900" algn="l"/>
              </a:tabLst>
            </a:pPr>
            <a:r>
              <a:rPr sz="2000" dirty="0">
                <a:latin typeface="Times New Roman"/>
                <a:cs typeface="Times New Roman"/>
              </a:rPr>
              <a:t>Short-term</a:t>
            </a:r>
            <a:r>
              <a:rPr sz="2000" spc="-55" dirty="0">
                <a:latin typeface="Times New Roman"/>
                <a:cs typeface="Times New Roman"/>
              </a:rPr>
              <a:t> </a:t>
            </a:r>
            <a:r>
              <a:rPr sz="2000" dirty="0">
                <a:latin typeface="Times New Roman"/>
                <a:cs typeface="Times New Roman"/>
              </a:rPr>
              <a:t>sources</a:t>
            </a:r>
            <a:r>
              <a:rPr sz="2000" spc="-40" dirty="0">
                <a:latin typeface="Times New Roman"/>
                <a:cs typeface="Times New Roman"/>
              </a:rPr>
              <a:t> </a:t>
            </a:r>
            <a:r>
              <a:rPr sz="2000" dirty="0">
                <a:latin typeface="Times New Roman"/>
                <a:cs typeface="Times New Roman"/>
              </a:rPr>
              <a:t>of</a:t>
            </a:r>
            <a:r>
              <a:rPr sz="2000" spc="-10" dirty="0">
                <a:latin typeface="Times New Roman"/>
                <a:cs typeface="Times New Roman"/>
              </a:rPr>
              <a:t> finance, </a:t>
            </a:r>
            <a:r>
              <a:rPr sz="2000" dirty="0">
                <a:latin typeface="Times New Roman"/>
                <a:cs typeface="Times New Roman"/>
              </a:rPr>
              <a:t>such</a:t>
            </a:r>
            <a:r>
              <a:rPr sz="2000" spc="-15" dirty="0">
                <a:latin typeface="Times New Roman"/>
                <a:cs typeface="Times New Roman"/>
              </a:rPr>
              <a:t> </a:t>
            </a:r>
            <a:r>
              <a:rPr sz="2000" dirty="0">
                <a:latin typeface="Times New Roman"/>
                <a:cs typeface="Times New Roman"/>
              </a:rPr>
              <a:t>as</a:t>
            </a:r>
            <a:r>
              <a:rPr sz="2000" spc="-10" dirty="0">
                <a:latin typeface="Times New Roman"/>
                <a:cs typeface="Times New Roman"/>
              </a:rPr>
              <a:t> </a:t>
            </a:r>
            <a:r>
              <a:rPr sz="2000" dirty="0">
                <a:latin typeface="Times New Roman"/>
                <a:cs typeface="Times New Roman"/>
              </a:rPr>
              <a:t>cash revenue</a:t>
            </a:r>
            <a:r>
              <a:rPr sz="2000" spc="-50" dirty="0">
                <a:latin typeface="Times New Roman"/>
                <a:cs typeface="Times New Roman"/>
              </a:rPr>
              <a:t> </a:t>
            </a:r>
            <a:r>
              <a:rPr sz="2000" dirty="0">
                <a:latin typeface="Times New Roman"/>
                <a:cs typeface="Times New Roman"/>
              </a:rPr>
              <a:t>and</a:t>
            </a:r>
            <a:r>
              <a:rPr sz="2000" spc="5" dirty="0">
                <a:latin typeface="Times New Roman"/>
                <a:cs typeface="Times New Roman"/>
              </a:rPr>
              <a:t> </a:t>
            </a:r>
            <a:r>
              <a:rPr sz="2000" spc="-10" dirty="0">
                <a:latin typeface="Times New Roman"/>
                <a:cs typeface="Times New Roman"/>
              </a:rPr>
              <a:t>advance </a:t>
            </a:r>
            <a:r>
              <a:rPr sz="2000" dirty="0">
                <a:latin typeface="Times New Roman"/>
                <a:cs typeface="Times New Roman"/>
              </a:rPr>
              <a:t>receipts,</a:t>
            </a:r>
            <a:r>
              <a:rPr sz="2000" spc="-45" dirty="0">
                <a:latin typeface="Times New Roman"/>
                <a:cs typeface="Times New Roman"/>
              </a:rPr>
              <a:t> </a:t>
            </a:r>
            <a:r>
              <a:rPr sz="2000" dirty="0">
                <a:latin typeface="Times New Roman"/>
                <a:cs typeface="Times New Roman"/>
              </a:rPr>
              <a:t>must</a:t>
            </a:r>
            <a:r>
              <a:rPr sz="2000" spc="-5" dirty="0">
                <a:latin typeface="Times New Roman"/>
                <a:cs typeface="Times New Roman"/>
              </a:rPr>
              <a:t> </a:t>
            </a:r>
            <a:r>
              <a:rPr sz="2000" dirty="0">
                <a:latin typeface="Times New Roman"/>
                <a:cs typeface="Times New Roman"/>
              </a:rPr>
              <a:t>be</a:t>
            </a:r>
            <a:r>
              <a:rPr sz="2000" spc="-10" dirty="0">
                <a:latin typeface="Times New Roman"/>
                <a:cs typeface="Times New Roman"/>
              </a:rPr>
              <a:t> obtained </a:t>
            </a:r>
            <a:r>
              <a:rPr sz="2000" dirty="0">
                <a:latin typeface="Times New Roman"/>
                <a:cs typeface="Times New Roman"/>
              </a:rPr>
              <a:t>sufficiently</a:t>
            </a:r>
            <a:r>
              <a:rPr sz="2000" spc="-70" dirty="0">
                <a:latin typeface="Times New Roman"/>
                <a:cs typeface="Times New Roman"/>
              </a:rPr>
              <a:t> </a:t>
            </a:r>
            <a:r>
              <a:rPr sz="2000" dirty="0">
                <a:latin typeface="Times New Roman"/>
                <a:cs typeface="Times New Roman"/>
              </a:rPr>
              <a:t>through</a:t>
            </a:r>
            <a:r>
              <a:rPr sz="2000" spc="-70" dirty="0">
                <a:latin typeface="Times New Roman"/>
                <a:cs typeface="Times New Roman"/>
              </a:rPr>
              <a:t> </a:t>
            </a:r>
            <a:r>
              <a:rPr sz="2000" dirty="0">
                <a:latin typeface="Times New Roman"/>
                <a:cs typeface="Times New Roman"/>
              </a:rPr>
              <a:t>effective</a:t>
            </a:r>
            <a:r>
              <a:rPr sz="2000" spc="-60" dirty="0">
                <a:latin typeface="Times New Roman"/>
                <a:cs typeface="Times New Roman"/>
              </a:rPr>
              <a:t> </a:t>
            </a:r>
            <a:r>
              <a:rPr sz="2000" spc="-20" dirty="0">
                <a:latin typeface="Times New Roman"/>
                <a:cs typeface="Times New Roman"/>
              </a:rPr>
              <a:t>debt </a:t>
            </a:r>
            <a:r>
              <a:rPr sz="2000" dirty="0">
                <a:latin typeface="Times New Roman"/>
                <a:cs typeface="Times New Roman"/>
              </a:rPr>
              <a:t>and</a:t>
            </a:r>
            <a:r>
              <a:rPr sz="2000" spc="-10" dirty="0">
                <a:latin typeface="Times New Roman"/>
                <a:cs typeface="Times New Roman"/>
              </a:rPr>
              <a:t> </a:t>
            </a:r>
            <a:r>
              <a:rPr sz="2000" dirty="0">
                <a:latin typeface="Times New Roman"/>
                <a:cs typeface="Times New Roman"/>
              </a:rPr>
              <a:t>discount</a:t>
            </a:r>
            <a:r>
              <a:rPr sz="2000" spc="-40" dirty="0">
                <a:latin typeface="Times New Roman"/>
                <a:cs typeface="Times New Roman"/>
              </a:rPr>
              <a:t> </a:t>
            </a:r>
            <a:r>
              <a:rPr sz="2000" spc="-10" dirty="0">
                <a:latin typeface="Times New Roman"/>
                <a:cs typeface="Times New Roman"/>
              </a:rPr>
              <a:t>policies.</a:t>
            </a:r>
            <a:endParaRPr sz="2000" dirty="0">
              <a:latin typeface="Times New Roman"/>
              <a:cs typeface="Times New Roman"/>
            </a:endParaRPr>
          </a:p>
          <a:p>
            <a:pPr marL="469900" marR="5080" indent="-457200">
              <a:lnSpc>
                <a:spcPct val="100000"/>
              </a:lnSpc>
              <a:spcBef>
                <a:spcPts val="484"/>
              </a:spcBef>
              <a:buAutoNum type="arabicPeriod" startAt="4"/>
              <a:tabLst>
                <a:tab pos="469900" algn="l"/>
              </a:tabLst>
            </a:pPr>
            <a:r>
              <a:rPr sz="2000" dirty="0">
                <a:latin typeface="Times New Roman"/>
                <a:cs typeface="Times New Roman"/>
              </a:rPr>
              <a:t>Long-term</a:t>
            </a:r>
            <a:r>
              <a:rPr sz="2000" spc="-45" dirty="0">
                <a:latin typeface="Times New Roman"/>
                <a:cs typeface="Times New Roman"/>
              </a:rPr>
              <a:t> </a:t>
            </a:r>
            <a:r>
              <a:rPr sz="2000" dirty="0">
                <a:latin typeface="Times New Roman"/>
                <a:cs typeface="Times New Roman"/>
              </a:rPr>
              <a:t>sources</a:t>
            </a:r>
            <a:r>
              <a:rPr sz="2000" spc="-40"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finance</a:t>
            </a:r>
            <a:r>
              <a:rPr sz="2000" spc="-35" dirty="0">
                <a:latin typeface="Times New Roman"/>
                <a:cs typeface="Times New Roman"/>
              </a:rPr>
              <a:t> </a:t>
            </a:r>
            <a:r>
              <a:rPr sz="2000" spc="-20" dirty="0">
                <a:latin typeface="Times New Roman"/>
                <a:cs typeface="Times New Roman"/>
              </a:rPr>
              <a:t>must </a:t>
            </a:r>
            <a:r>
              <a:rPr sz="2000" dirty="0">
                <a:latin typeface="Times New Roman"/>
                <a:cs typeface="Times New Roman"/>
              </a:rPr>
              <a:t>be</a:t>
            </a:r>
            <a:r>
              <a:rPr sz="2000" spc="-15" dirty="0">
                <a:latin typeface="Times New Roman"/>
                <a:cs typeface="Times New Roman"/>
              </a:rPr>
              <a:t> </a:t>
            </a:r>
            <a:r>
              <a:rPr sz="2000" dirty="0">
                <a:latin typeface="Times New Roman"/>
                <a:cs typeface="Times New Roman"/>
              </a:rPr>
              <a:t>available</a:t>
            </a:r>
            <a:r>
              <a:rPr sz="2000" spc="-35" dirty="0">
                <a:latin typeface="Times New Roman"/>
                <a:cs typeface="Times New Roman"/>
              </a:rPr>
              <a:t> </a:t>
            </a:r>
            <a:r>
              <a:rPr sz="2000" dirty="0">
                <a:latin typeface="Times New Roman"/>
                <a:cs typeface="Times New Roman"/>
              </a:rPr>
              <a:t>for</a:t>
            </a:r>
            <a:r>
              <a:rPr sz="2000" spc="-40" dirty="0">
                <a:latin typeface="Times New Roman"/>
                <a:cs typeface="Times New Roman"/>
              </a:rPr>
              <a:t> </a:t>
            </a:r>
            <a:r>
              <a:rPr lang="en-US" sz="2000" spc="-40" dirty="0">
                <a:latin typeface="Times New Roman"/>
                <a:cs typeface="Times New Roman"/>
              </a:rPr>
              <a:t>the </a:t>
            </a:r>
            <a:r>
              <a:rPr sz="2000" dirty="0">
                <a:latin typeface="Times New Roman"/>
                <a:cs typeface="Times New Roman"/>
              </a:rPr>
              <a:t>achievement</a:t>
            </a:r>
            <a:r>
              <a:rPr sz="2000" spc="-30" dirty="0">
                <a:latin typeface="Times New Roman"/>
                <a:cs typeface="Times New Roman"/>
              </a:rPr>
              <a:t> </a:t>
            </a:r>
            <a:r>
              <a:rPr sz="2000" spc="-25" dirty="0">
                <a:latin typeface="Times New Roman"/>
                <a:cs typeface="Times New Roman"/>
              </a:rPr>
              <a:t>of </a:t>
            </a:r>
            <a:r>
              <a:rPr sz="2000" dirty="0">
                <a:latin typeface="Times New Roman"/>
                <a:cs typeface="Times New Roman"/>
              </a:rPr>
              <a:t>long-term</a:t>
            </a:r>
            <a:r>
              <a:rPr sz="2000" spc="-60" dirty="0">
                <a:latin typeface="Times New Roman"/>
                <a:cs typeface="Times New Roman"/>
              </a:rPr>
              <a:t> </a:t>
            </a:r>
            <a:r>
              <a:rPr sz="2000" dirty="0">
                <a:latin typeface="Times New Roman"/>
                <a:cs typeface="Times New Roman"/>
              </a:rPr>
              <a:t>goals,</a:t>
            </a:r>
            <a:r>
              <a:rPr sz="2000" spc="-35" dirty="0">
                <a:latin typeface="Times New Roman"/>
                <a:cs typeface="Times New Roman"/>
              </a:rPr>
              <a:t> </a:t>
            </a:r>
            <a:r>
              <a:rPr sz="2000" dirty="0">
                <a:latin typeface="Times New Roman"/>
                <a:cs typeface="Times New Roman"/>
              </a:rPr>
              <a:t>such</a:t>
            </a:r>
            <a:r>
              <a:rPr sz="2000" spc="-15" dirty="0">
                <a:latin typeface="Times New Roman"/>
                <a:cs typeface="Times New Roman"/>
              </a:rPr>
              <a:t> </a:t>
            </a:r>
            <a:r>
              <a:rPr sz="2000" spc="-25" dirty="0">
                <a:latin typeface="Times New Roman"/>
                <a:cs typeface="Times New Roman"/>
              </a:rPr>
              <a:t>as </a:t>
            </a:r>
            <a:r>
              <a:rPr sz="2000" dirty="0">
                <a:latin typeface="Times New Roman"/>
                <a:cs typeface="Times New Roman"/>
              </a:rPr>
              <a:t>purchasing</a:t>
            </a:r>
            <a:r>
              <a:rPr sz="2000" spc="-45" dirty="0">
                <a:latin typeface="Times New Roman"/>
                <a:cs typeface="Times New Roman"/>
              </a:rPr>
              <a:t> </a:t>
            </a:r>
            <a:r>
              <a:rPr sz="2000" dirty="0">
                <a:latin typeface="Times New Roman"/>
                <a:cs typeface="Times New Roman"/>
              </a:rPr>
              <a:t>new</a:t>
            </a:r>
            <a:r>
              <a:rPr sz="2000" spc="5" dirty="0">
                <a:latin typeface="Times New Roman"/>
                <a:cs typeface="Times New Roman"/>
              </a:rPr>
              <a:t> </a:t>
            </a:r>
            <a:r>
              <a:rPr sz="2000" spc="-10" dirty="0">
                <a:latin typeface="Times New Roman"/>
                <a:cs typeface="Times New Roman"/>
              </a:rPr>
              <a:t>machines.</a:t>
            </a:r>
            <a:endParaRPr sz="2000" dirty="0">
              <a:latin typeface="Times New Roman"/>
              <a:cs typeface="Times New Roman"/>
            </a:endParaRPr>
          </a:p>
        </p:txBody>
      </p:sp>
      <p:pic>
        <p:nvPicPr>
          <p:cNvPr id="4" name="object 4"/>
          <p:cNvPicPr/>
          <p:nvPr/>
        </p:nvPicPr>
        <p:blipFill>
          <a:blip r:embed="rId2" cstate="print"/>
          <a:stretch>
            <a:fillRect/>
          </a:stretch>
        </p:blipFill>
        <p:spPr>
          <a:xfrm>
            <a:off x="5181600" y="1981200"/>
            <a:ext cx="3886200" cy="4267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81000" y="1828800"/>
            <a:ext cx="4724399" cy="4321055"/>
          </a:xfrm>
          <a:prstGeom prst="rect">
            <a:avLst/>
          </a:prstGeom>
        </p:spPr>
        <p:txBody>
          <a:bodyPr vert="horz" wrap="square" lIns="0" tIns="12065" rIns="0" bIns="0" rtlCol="0">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Private Equity (PE)</a:t>
            </a:r>
            <a:r>
              <a:rPr lang="en-US" sz="2000" dirty="0">
                <a:latin typeface="Calibri" panose="020F0502020204030204" pitchFamily="34" charset="0"/>
                <a:ea typeface="Calibri" panose="020F0502020204030204" pitchFamily="34" charset="0"/>
                <a:cs typeface="Calibri" panose="020F0502020204030204" pitchFamily="34" charset="0"/>
              </a:rPr>
              <a:t> refers to investment funds that invest directly in private companies or buy out public companies to take them private. These investments are not traded on public stock exchanges and are usually made by private equity firms or wealthy individuals.</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The main goal of private equity is to invest in a company, improve its operations, increase its value, and eventually sell it for a profit. Private equity investments are typically long-term and involve active management, strategic guidance, and financial restructuring to enhance the company’s performance.</a:t>
            </a:r>
            <a:br>
              <a:rPr lang="en-US" sz="2000" dirty="0">
                <a:latin typeface="Calibri" panose="020F0502020204030204" pitchFamily="34" charset="0"/>
                <a:ea typeface="Calibri" panose="020F0502020204030204" pitchFamily="34" charset="0"/>
                <a:cs typeface="Calibri" panose="020F0502020204030204" pitchFamily="34" charset="0"/>
              </a:rPr>
            </a:br>
            <a:endParaRPr sz="2000"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B946A23C-3A0C-06B8-A073-9645550BCB09}"/>
              </a:ext>
            </a:extLst>
          </p:cNvPr>
          <p:cNvSpPr txBox="1"/>
          <p:nvPr/>
        </p:nvSpPr>
        <p:spPr>
          <a:xfrm>
            <a:off x="2514600" y="533400"/>
            <a:ext cx="4724400" cy="830997"/>
          </a:xfrm>
          <a:prstGeom prst="rect">
            <a:avLst/>
          </a:prstGeom>
          <a:noFill/>
        </p:spPr>
        <p:txBody>
          <a:bodyPr wrap="square" rtlCol="0">
            <a:spAutoFit/>
          </a:bodyPr>
          <a:lstStyle/>
          <a:p>
            <a:r>
              <a:rPr lang="en-US" sz="4800" b="1" dirty="0">
                <a:solidFill>
                  <a:srgbClr val="FFFF00"/>
                </a:solidFill>
                <a:latin typeface="Times New Roman" panose="02020603050405020304" pitchFamily="18" charset="0"/>
                <a:cs typeface="Times New Roman" panose="02020603050405020304" pitchFamily="18" charset="0"/>
              </a:rPr>
              <a:t>Private Equity</a:t>
            </a:r>
          </a:p>
        </p:txBody>
      </p:sp>
      <p:pic>
        <p:nvPicPr>
          <p:cNvPr id="5" name="Picture 4">
            <a:extLst>
              <a:ext uri="{FF2B5EF4-FFF2-40B4-BE49-F238E27FC236}">
                <a16:creationId xmlns:a16="http://schemas.microsoft.com/office/drawing/2014/main" id="{00B75D4E-F941-8629-96DA-F8A329814AAD}"/>
              </a:ext>
            </a:extLst>
          </p:cNvPr>
          <p:cNvPicPr>
            <a:picLocks noChangeAspect="1"/>
          </p:cNvPicPr>
          <p:nvPr/>
        </p:nvPicPr>
        <p:blipFill>
          <a:blip r:embed="rId2"/>
          <a:stretch>
            <a:fillRect/>
          </a:stretch>
        </p:blipFill>
        <p:spPr>
          <a:xfrm>
            <a:off x="5562600" y="2084327"/>
            <a:ext cx="3386667" cy="35052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45732" y="264779"/>
            <a:ext cx="7087193" cy="689932"/>
          </a:xfrm>
          <a:prstGeom prst="rect">
            <a:avLst/>
          </a:prstGeom>
        </p:spPr>
        <p:txBody>
          <a:bodyPr vert="horz" wrap="square" lIns="0" tIns="12700" rIns="0" bIns="0" rtlCol="0">
            <a:spAutoFit/>
          </a:bodyPr>
          <a:lstStyle/>
          <a:p>
            <a:pPr marL="12700">
              <a:lnSpc>
                <a:spcPct val="100000"/>
              </a:lnSpc>
              <a:spcBef>
                <a:spcPts val="100"/>
              </a:spcBef>
            </a:pPr>
            <a:r>
              <a:rPr sz="4400" b="1" dirty="0">
                <a:solidFill>
                  <a:srgbClr val="FFFF00"/>
                </a:solidFill>
                <a:uFill>
                  <a:solidFill>
                    <a:srgbClr val="001F5F"/>
                  </a:solidFill>
                </a:uFill>
                <a:latin typeface="Times New Roman"/>
                <a:cs typeface="Times New Roman"/>
              </a:rPr>
              <a:t>What</a:t>
            </a:r>
            <a:r>
              <a:rPr sz="4400" b="1" spc="-5" dirty="0">
                <a:solidFill>
                  <a:srgbClr val="FFFF00"/>
                </a:solidFill>
                <a:uFill>
                  <a:solidFill>
                    <a:srgbClr val="001F5F"/>
                  </a:solidFill>
                </a:uFill>
                <a:latin typeface="Times New Roman"/>
                <a:cs typeface="Times New Roman"/>
              </a:rPr>
              <a:t> </a:t>
            </a:r>
            <a:r>
              <a:rPr sz="4400" b="1" dirty="0">
                <a:solidFill>
                  <a:srgbClr val="FFFF00"/>
                </a:solidFill>
                <a:uFill>
                  <a:solidFill>
                    <a:srgbClr val="001F5F"/>
                  </a:solidFill>
                </a:uFill>
                <a:latin typeface="Times New Roman"/>
                <a:cs typeface="Times New Roman"/>
              </a:rPr>
              <a:t>drives</a:t>
            </a:r>
            <a:r>
              <a:rPr sz="4400" b="1" spc="-10" dirty="0">
                <a:solidFill>
                  <a:srgbClr val="FFFF00"/>
                </a:solidFill>
                <a:uFill>
                  <a:solidFill>
                    <a:srgbClr val="001F5F"/>
                  </a:solidFill>
                </a:uFill>
                <a:latin typeface="Times New Roman"/>
                <a:cs typeface="Times New Roman"/>
              </a:rPr>
              <a:t> </a:t>
            </a:r>
            <a:r>
              <a:rPr sz="4400" b="1" dirty="0">
                <a:solidFill>
                  <a:srgbClr val="FFFF00"/>
                </a:solidFill>
                <a:uFill>
                  <a:solidFill>
                    <a:srgbClr val="001F5F"/>
                  </a:solidFill>
                </a:uFill>
                <a:latin typeface="Times New Roman"/>
                <a:cs typeface="Times New Roman"/>
              </a:rPr>
              <a:t>private</a:t>
            </a:r>
            <a:r>
              <a:rPr sz="4400" b="1" spc="-20" dirty="0">
                <a:solidFill>
                  <a:srgbClr val="FFFF00"/>
                </a:solidFill>
                <a:uFill>
                  <a:solidFill>
                    <a:srgbClr val="001F5F"/>
                  </a:solidFill>
                </a:uFill>
                <a:latin typeface="Times New Roman"/>
                <a:cs typeface="Times New Roman"/>
              </a:rPr>
              <a:t> </a:t>
            </a:r>
            <a:r>
              <a:rPr sz="4400" b="1" spc="-10" dirty="0">
                <a:solidFill>
                  <a:srgbClr val="FFFF00"/>
                </a:solidFill>
                <a:uFill>
                  <a:solidFill>
                    <a:srgbClr val="001F5F"/>
                  </a:solidFill>
                </a:uFill>
                <a:latin typeface="Times New Roman"/>
                <a:cs typeface="Times New Roman"/>
              </a:rPr>
              <a:t>equity?</a:t>
            </a:r>
            <a:endParaRPr sz="4400" dirty="0">
              <a:solidFill>
                <a:srgbClr val="FFFF00"/>
              </a:solidFill>
              <a:latin typeface="Times New Roman"/>
              <a:cs typeface="Times New Roman"/>
            </a:endParaRPr>
          </a:p>
        </p:txBody>
      </p:sp>
      <p:grpSp>
        <p:nvGrpSpPr>
          <p:cNvPr id="3" name="object 3"/>
          <p:cNvGrpSpPr/>
          <p:nvPr/>
        </p:nvGrpSpPr>
        <p:grpSpPr>
          <a:xfrm>
            <a:off x="519616" y="1231342"/>
            <a:ext cx="3221990" cy="1758950"/>
            <a:chOff x="1207008" y="978408"/>
            <a:chExt cx="3221990" cy="1758950"/>
          </a:xfrm>
        </p:grpSpPr>
        <p:pic>
          <p:nvPicPr>
            <p:cNvPr id="4" name="object 4"/>
            <p:cNvPicPr/>
            <p:nvPr/>
          </p:nvPicPr>
          <p:blipFill>
            <a:blip r:embed="rId2" cstate="print"/>
            <a:stretch>
              <a:fillRect/>
            </a:stretch>
          </p:blipFill>
          <p:spPr>
            <a:xfrm>
              <a:off x="1219962" y="991362"/>
              <a:ext cx="3195828" cy="1732788"/>
            </a:xfrm>
            <a:prstGeom prst="rect">
              <a:avLst/>
            </a:prstGeom>
          </p:spPr>
        </p:pic>
        <p:sp>
          <p:nvSpPr>
            <p:cNvPr id="5" name="object 5"/>
            <p:cNvSpPr/>
            <p:nvPr/>
          </p:nvSpPr>
          <p:spPr>
            <a:xfrm>
              <a:off x="1219962" y="991362"/>
              <a:ext cx="3195955" cy="1732914"/>
            </a:xfrm>
            <a:custGeom>
              <a:avLst/>
              <a:gdLst/>
              <a:ahLst/>
              <a:cxnLst/>
              <a:rect l="l" t="t" r="r" b="b"/>
              <a:pathLst>
                <a:path w="3195954" h="1732914">
                  <a:moveTo>
                    <a:pt x="0" y="288798"/>
                  </a:moveTo>
                  <a:lnTo>
                    <a:pt x="3779" y="241950"/>
                  </a:lnTo>
                  <a:lnTo>
                    <a:pt x="14721" y="197510"/>
                  </a:lnTo>
                  <a:lnTo>
                    <a:pt x="32232" y="156072"/>
                  </a:lnTo>
                  <a:lnTo>
                    <a:pt x="55717" y="118231"/>
                  </a:lnTo>
                  <a:lnTo>
                    <a:pt x="84581" y="84581"/>
                  </a:lnTo>
                  <a:lnTo>
                    <a:pt x="118231" y="55717"/>
                  </a:lnTo>
                  <a:lnTo>
                    <a:pt x="156072" y="32232"/>
                  </a:lnTo>
                  <a:lnTo>
                    <a:pt x="197510" y="14721"/>
                  </a:lnTo>
                  <a:lnTo>
                    <a:pt x="241950" y="3779"/>
                  </a:lnTo>
                  <a:lnTo>
                    <a:pt x="288797" y="0"/>
                  </a:lnTo>
                  <a:lnTo>
                    <a:pt x="2907029" y="0"/>
                  </a:lnTo>
                  <a:lnTo>
                    <a:pt x="2953877" y="3779"/>
                  </a:lnTo>
                  <a:lnTo>
                    <a:pt x="2998317" y="14721"/>
                  </a:lnTo>
                  <a:lnTo>
                    <a:pt x="3039755" y="32232"/>
                  </a:lnTo>
                  <a:lnTo>
                    <a:pt x="3077596" y="55717"/>
                  </a:lnTo>
                  <a:lnTo>
                    <a:pt x="3111246" y="84582"/>
                  </a:lnTo>
                  <a:lnTo>
                    <a:pt x="3140110" y="118231"/>
                  </a:lnTo>
                  <a:lnTo>
                    <a:pt x="3163595" y="156072"/>
                  </a:lnTo>
                  <a:lnTo>
                    <a:pt x="3181106" y="197510"/>
                  </a:lnTo>
                  <a:lnTo>
                    <a:pt x="3192048" y="241950"/>
                  </a:lnTo>
                  <a:lnTo>
                    <a:pt x="3195828" y="288798"/>
                  </a:lnTo>
                  <a:lnTo>
                    <a:pt x="3195828" y="1443989"/>
                  </a:lnTo>
                  <a:lnTo>
                    <a:pt x="3192048" y="1490837"/>
                  </a:lnTo>
                  <a:lnTo>
                    <a:pt x="3181106" y="1535277"/>
                  </a:lnTo>
                  <a:lnTo>
                    <a:pt x="3163595" y="1576715"/>
                  </a:lnTo>
                  <a:lnTo>
                    <a:pt x="3140110" y="1614556"/>
                  </a:lnTo>
                  <a:lnTo>
                    <a:pt x="3111245" y="1648206"/>
                  </a:lnTo>
                  <a:lnTo>
                    <a:pt x="3077596" y="1677070"/>
                  </a:lnTo>
                  <a:lnTo>
                    <a:pt x="3039755" y="1700555"/>
                  </a:lnTo>
                  <a:lnTo>
                    <a:pt x="2998317" y="1718066"/>
                  </a:lnTo>
                  <a:lnTo>
                    <a:pt x="2953877" y="1729008"/>
                  </a:lnTo>
                  <a:lnTo>
                    <a:pt x="2907029" y="1732788"/>
                  </a:lnTo>
                  <a:lnTo>
                    <a:pt x="288797" y="1732788"/>
                  </a:lnTo>
                  <a:lnTo>
                    <a:pt x="241950" y="1729008"/>
                  </a:lnTo>
                  <a:lnTo>
                    <a:pt x="197510" y="1718066"/>
                  </a:lnTo>
                  <a:lnTo>
                    <a:pt x="156072" y="1700555"/>
                  </a:lnTo>
                  <a:lnTo>
                    <a:pt x="118231" y="1677070"/>
                  </a:lnTo>
                  <a:lnTo>
                    <a:pt x="84581" y="1648205"/>
                  </a:lnTo>
                  <a:lnTo>
                    <a:pt x="55717" y="1614556"/>
                  </a:lnTo>
                  <a:lnTo>
                    <a:pt x="32232" y="1576715"/>
                  </a:lnTo>
                  <a:lnTo>
                    <a:pt x="14721" y="1535277"/>
                  </a:lnTo>
                  <a:lnTo>
                    <a:pt x="3779" y="1490837"/>
                  </a:lnTo>
                  <a:lnTo>
                    <a:pt x="0" y="1443989"/>
                  </a:lnTo>
                  <a:lnTo>
                    <a:pt x="0" y="288798"/>
                  </a:lnTo>
                  <a:close/>
                </a:path>
              </a:pathLst>
            </a:custGeom>
            <a:ln w="25908">
              <a:solidFill>
                <a:srgbClr val="FFFFFF"/>
              </a:solidFill>
            </a:ln>
          </p:spPr>
          <p:txBody>
            <a:bodyPr wrap="square" lIns="0" tIns="0" rIns="0" bIns="0" rtlCol="0"/>
            <a:lstStyle/>
            <a:p>
              <a:endParaRPr dirty="0"/>
            </a:p>
          </p:txBody>
        </p:sp>
      </p:grpSp>
      <p:sp>
        <p:nvSpPr>
          <p:cNvPr id="6" name="object 6"/>
          <p:cNvSpPr txBox="1"/>
          <p:nvPr/>
        </p:nvSpPr>
        <p:spPr>
          <a:xfrm>
            <a:off x="1371600" y="3098165"/>
            <a:ext cx="1715770" cy="330835"/>
          </a:xfrm>
          <a:prstGeom prst="rect">
            <a:avLst/>
          </a:prstGeom>
        </p:spPr>
        <p:txBody>
          <a:bodyPr vert="horz" wrap="square" lIns="0" tIns="13335" rIns="0" bIns="0" rtlCol="0">
            <a:spAutoFit/>
          </a:bodyPr>
          <a:lstStyle/>
          <a:p>
            <a:pPr marL="12700">
              <a:lnSpc>
                <a:spcPct val="100000"/>
              </a:lnSpc>
              <a:spcBef>
                <a:spcPts val="105"/>
              </a:spcBef>
            </a:pPr>
            <a:r>
              <a:rPr sz="2000" b="1" dirty="0">
                <a:latin typeface="Times New Roman"/>
                <a:cs typeface="Times New Roman"/>
              </a:rPr>
              <a:t>Raising</a:t>
            </a:r>
            <a:r>
              <a:rPr sz="2000" b="1" spc="-40" dirty="0">
                <a:latin typeface="Times New Roman"/>
                <a:cs typeface="Times New Roman"/>
              </a:rPr>
              <a:t> </a:t>
            </a:r>
            <a:r>
              <a:rPr sz="2000" b="1" spc="-10" dirty="0">
                <a:latin typeface="Times New Roman"/>
                <a:cs typeface="Times New Roman"/>
              </a:rPr>
              <a:t>Capital</a:t>
            </a:r>
            <a:endParaRPr sz="2000" dirty="0">
              <a:latin typeface="Times New Roman"/>
              <a:cs typeface="Times New Roman"/>
            </a:endParaRPr>
          </a:p>
        </p:txBody>
      </p:sp>
      <p:grpSp>
        <p:nvGrpSpPr>
          <p:cNvPr id="7" name="object 7"/>
          <p:cNvGrpSpPr/>
          <p:nvPr/>
        </p:nvGrpSpPr>
        <p:grpSpPr>
          <a:xfrm>
            <a:off x="5140323" y="1244296"/>
            <a:ext cx="3192780" cy="1760220"/>
            <a:chOff x="5431535" y="1040891"/>
            <a:chExt cx="3192780" cy="1760220"/>
          </a:xfrm>
        </p:grpSpPr>
        <p:pic>
          <p:nvPicPr>
            <p:cNvPr id="8" name="object 8"/>
            <p:cNvPicPr/>
            <p:nvPr/>
          </p:nvPicPr>
          <p:blipFill>
            <a:blip r:embed="rId3" cstate="print"/>
            <a:stretch>
              <a:fillRect/>
            </a:stretch>
          </p:blipFill>
          <p:spPr>
            <a:xfrm>
              <a:off x="5444489" y="1053845"/>
              <a:ext cx="3166871" cy="1734312"/>
            </a:xfrm>
            <a:prstGeom prst="rect">
              <a:avLst/>
            </a:prstGeom>
          </p:spPr>
        </p:pic>
        <p:sp>
          <p:nvSpPr>
            <p:cNvPr id="9" name="object 9"/>
            <p:cNvSpPr/>
            <p:nvPr/>
          </p:nvSpPr>
          <p:spPr>
            <a:xfrm>
              <a:off x="5444489" y="1053845"/>
              <a:ext cx="3167380" cy="1734820"/>
            </a:xfrm>
            <a:custGeom>
              <a:avLst/>
              <a:gdLst/>
              <a:ahLst/>
              <a:cxnLst/>
              <a:rect l="l" t="t" r="r" b="b"/>
              <a:pathLst>
                <a:path w="3167379" h="1734820">
                  <a:moveTo>
                    <a:pt x="0" y="289051"/>
                  </a:moveTo>
                  <a:lnTo>
                    <a:pt x="3783" y="242166"/>
                  </a:lnTo>
                  <a:lnTo>
                    <a:pt x="14736" y="197689"/>
                  </a:lnTo>
                  <a:lnTo>
                    <a:pt x="32263" y="156215"/>
                  </a:lnTo>
                  <a:lnTo>
                    <a:pt x="55770" y="118341"/>
                  </a:lnTo>
                  <a:lnTo>
                    <a:pt x="84661" y="84661"/>
                  </a:lnTo>
                  <a:lnTo>
                    <a:pt x="118341" y="55770"/>
                  </a:lnTo>
                  <a:lnTo>
                    <a:pt x="156215" y="32263"/>
                  </a:lnTo>
                  <a:lnTo>
                    <a:pt x="197689" y="14736"/>
                  </a:lnTo>
                  <a:lnTo>
                    <a:pt x="242166" y="3783"/>
                  </a:lnTo>
                  <a:lnTo>
                    <a:pt x="289051" y="0"/>
                  </a:lnTo>
                  <a:lnTo>
                    <a:pt x="2877819" y="0"/>
                  </a:lnTo>
                  <a:lnTo>
                    <a:pt x="2924705" y="3783"/>
                  </a:lnTo>
                  <a:lnTo>
                    <a:pt x="2969182" y="14736"/>
                  </a:lnTo>
                  <a:lnTo>
                    <a:pt x="3010656" y="32263"/>
                  </a:lnTo>
                  <a:lnTo>
                    <a:pt x="3048530" y="55770"/>
                  </a:lnTo>
                  <a:lnTo>
                    <a:pt x="3082210" y="84661"/>
                  </a:lnTo>
                  <a:lnTo>
                    <a:pt x="3111101" y="118341"/>
                  </a:lnTo>
                  <a:lnTo>
                    <a:pt x="3134608" y="156215"/>
                  </a:lnTo>
                  <a:lnTo>
                    <a:pt x="3152135" y="197689"/>
                  </a:lnTo>
                  <a:lnTo>
                    <a:pt x="3163088" y="242166"/>
                  </a:lnTo>
                  <a:lnTo>
                    <a:pt x="3166871" y="289051"/>
                  </a:lnTo>
                  <a:lnTo>
                    <a:pt x="3166871" y="1445259"/>
                  </a:lnTo>
                  <a:lnTo>
                    <a:pt x="3163088" y="1492145"/>
                  </a:lnTo>
                  <a:lnTo>
                    <a:pt x="3152135" y="1536622"/>
                  </a:lnTo>
                  <a:lnTo>
                    <a:pt x="3134608" y="1578096"/>
                  </a:lnTo>
                  <a:lnTo>
                    <a:pt x="3111101" y="1615970"/>
                  </a:lnTo>
                  <a:lnTo>
                    <a:pt x="3082210" y="1649650"/>
                  </a:lnTo>
                  <a:lnTo>
                    <a:pt x="3048530" y="1678541"/>
                  </a:lnTo>
                  <a:lnTo>
                    <a:pt x="3010656" y="1702048"/>
                  </a:lnTo>
                  <a:lnTo>
                    <a:pt x="2969182" y="1719575"/>
                  </a:lnTo>
                  <a:lnTo>
                    <a:pt x="2924705" y="1730528"/>
                  </a:lnTo>
                  <a:lnTo>
                    <a:pt x="2877819" y="1734312"/>
                  </a:lnTo>
                  <a:lnTo>
                    <a:pt x="289051" y="1734312"/>
                  </a:lnTo>
                  <a:lnTo>
                    <a:pt x="242166" y="1730528"/>
                  </a:lnTo>
                  <a:lnTo>
                    <a:pt x="197689" y="1719575"/>
                  </a:lnTo>
                  <a:lnTo>
                    <a:pt x="156215" y="1702048"/>
                  </a:lnTo>
                  <a:lnTo>
                    <a:pt x="118341" y="1678541"/>
                  </a:lnTo>
                  <a:lnTo>
                    <a:pt x="84661" y="1649650"/>
                  </a:lnTo>
                  <a:lnTo>
                    <a:pt x="55770" y="1615970"/>
                  </a:lnTo>
                  <a:lnTo>
                    <a:pt x="32263" y="1578096"/>
                  </a:lnTo>
                  <a:lnTo>
                    <a:pt x="14736" y="1536622"/>
                  </a:lnTo>
                  <a:lnTo>
                    <a:pt x="3783" y="1492145"/>
                  </a:lnTo>
                  <a:lnTo>
                    <a:pt x="0" y="1445259"/>
                  </a:lnTo>
                  <a:lnTo>
                    <a:pt x="0" y="289051"/>
                  </a:lnTo>
                  <a:close/>
                </a:path>
              </a:pathLst>
            </a:custGeom>
            <a:ln w="25907">
              <a:solidFill>
                <a:srgbClr val="FFFFFF"/>
              </a:solidFill>
            </a:ln>
          </p:spPr>
          <p:txBody>
            <a:bodyPr wrap="square" lIns="0" tIns="0" rIns="0" bIns="0" rtlCol="0"/>
            <a:lstStyle/>
            <a:p>
              <a:endParaRPr dirty="0"/>
            </a:p>
          </p:txBody>
        </p:sp>
      </p:grpSp>
      <p:sp>
        <p:nvSpPr>
          <p:cNvPr id="10" name="object 10"/>
          <p:cNvSpPr txBox="1"/>
          <p:nvPr/>
        </p:nvSpPr>
        <p:spPr>
          <a:xfrm>
            <a:off x="5257800" y="3039786"/>
            <a:ext cx="2883788" cy="585159"/>
          </a:xfrm>
          <a:prstGeom prst="rect">
            <a:avLst/>
          </a:prstGeom>
        </p:spPr>
        <p:txBody>
          <a:bodyPr vert="horz" wrap="square" lIns="0" tIns="55244" rIns="0" bIns="0" rtlCol="0">
            <a:spAutoFit/>
          </a:bodyPr>
          <a:lstStyle/>
          <a:p>
            <a:pPr marL="12700" marR="5080" indent="-2540" algn="ctr">
              <a:lnSpc>
                <a:spcPct val="86200"/>
              </a:lnSpc>
              <a:spcBef>
                <a:spcPts val="434"/>
              </a:spcBef>
            </a:pPr>
            <a:r>
              <a:rPr sz="2000" b="1" spc="-10" dirty="0">
                <a:latin typeface="Times New Roman"/>
                <a:cs typeface="Times New Roman"/>
              </a:rPr>
              <a:t>Increasing </a:t>
            </a:r>
            <a:r>
              <a:rPr sz="2000" b="1" dirty="0">
                <a:latin typeface="Times New Roman"/>
                <a:cs typeface="Times New Roman"/>
              </a:rPr>
              <a:t>Regulation</a:t>
            </a:r>
            <a:r>
              <a:rPr sz="2000" b="1" spc="-45" dirty="0">
                <a:latin typeface="Times New Roman"/>
                <a:cs typeface="Times New Roman"/>
              </a:rPr>
              <a:t> </a:t>
            </a:r>
            <a:r>
              <a:rPr sz="2000" b="1" dirty="0">
                <a:latin typeface="Times New Roman"/>
                <a:cs typeface="Times New Roman"/>
              </a:rPr>
              <a:t>of</a:t>
            </a:r>
            <a:r>
              <a:rPr sz="2000" b="1" spc="10" dirty="0">
                <a:latin typeface="Times New Roman"/>
                <a:cs typeface="Times New Roman"/>
              </a:rPr>
              <a:t> </a:t>
            </a:r>
            <a:r>
              <a:rPr sz="2000" b="1" spc="-10" dirty="0">
                <a:latin typeface="Times New Roman"/>
                <a:cs typeface="Times New Roman"/>
              </a:rPr>
              <a:t>Public Markets</a:t>
            </a:r>
            <a:endParaRPr sz="2000" dirty="0">
              <a:latin typeface="Times New Roman"/>
              <a:cs typeface="Times New Roman"/>
            </a:endParaRPr>
          </a:p>
        </p:txBody>
      </p:sp>
      <p:grpSp>
        <p:nvGrpSpPr>
          <p:cNvPr id="11" name="object 11"/>
          <p:cNvGrpSpPr/>
          <p:nvPr/>
        </p:nvGrpSpPr>
        <p:grpSpPr>
          <a:xfrm>
            <a:off x="368808" y="3569208"/>
            <a:ext cx="3180715" cy="2303145"/>
            <a:chOff x="368808" y="3569208"/>
            <a:chExt cx="3180715" cy="2303145"/>
          </a:xfrm>
        </p:grpSpPr>
        <p:pic>
          <p:nvPicPr>
            <p:cNvPr id="12" name="object 12"/>
            <p:cNvPicPr/>
            <p:nvPr/>
          </p:nvPicPr>
          <p:blipFill>
            <a:blip r:embed="rId4" cstate="print"/>
            <a:stretch>
              <a:fillRect/>
            </a:stretch>
          </p:blipFill>
          <p:spPr>
            <a:xfrm>
              <a:off x="381762" y="3582162"/>
              <a:ext cx="3154679" cy="2276856"/>
            </a:xfrm>
            <a:prstGeom prst="rect">
              <a:avLst/>
            </a:prstGeom>
          </p:spPr>
        </p:pic>
        <p:sp>
          <p:nvSpPr>
            <p:cNvPr id="13" name="object 13"/>
            <p:cNvSpPr/>
            <p:nvPr/>
          </p:nvSpPr>
          <p:spPr>
            <a:xfrm>
              <a:off x="381762" y="3582162"/>
              <a:ext cx="3154680" cy="2277110"/>
            </a:xfrm>
            <a:custGeom>
              <a:avLst/>
              <a:gdLst/>
              <a:ahLst/>
              <a:cxnLst/>
              <a:rect l="l" t="t" r="r" b="b"/>
              <a:pathLst>
                <a:path w="3154679" h="2277110">
                  <a:moveTo>
                    <a:pt x="0" y="379475"/>
                  </a:moveTo>
                  <a:lnTo>
                    <a:pt x="2956" y="331881"/>
                  </a:lnTo>
                  <a:lnTo>
                    <a:pt x="11589" y="286048"/>
                  </a:lnTo>
                  <a:lnTo>
                    <a:pt x="25543" y="242334"/>
                  </a:lnTo>
                  <a:lnTo>
                    <a:pt x="44462" y="201095"/>
                  </a:lnTo>
                  <a:lnTo>
                    <a:pt x="67991" y="162685"/>
                  </a:lnTo>
                  <a:lnTo>
                    <a:pt x="95773" y="127462"/>
                  </a:lnTo>
                  <a:lnTo>
                    <a:pt x="127454" y="95781"/>
                  </a:lnTo>
                  <a:lnTo>
                    <a:pt x="162677" y="67997"/>
                  </a:lnTo>
                  <a:lnTo>
                    <a:pt x="201088" y="44467"/>
                  </a:lnTo>
                  <a:lnTo>
                    <a:pt x="242330" y="25546"/>
                  </a:lnTo>
                  <a:lnTo>
                    <a:pt x="286047" y="11591"/>
                  </a:lnTo>
                  <a:lnTo>
                    <a:pt x="331885" y="2957"/>
                  </a:lnTo>
                  <a:lnTo>
                    <a:pt x="379488" y="0"/>
                  </a:lnTo>
                  <a:lnTo>
                    <a:pt x="2775204" y="0"/>
                  </a:lnTo>
                  <a:lnTo>
                    <a:pt x="2822798" y="2957"/>
                  </a:lnTo>
                  <a:lnTo>
                    <a:pt x="2868631" y="11591"/>
                  </a:lnTo>
                  <a:lnTo>
                    <a:pt x="2912345" y="25546"/>
                  </a:lnTo>
                  <a:lnTo>
                    <a:pt x="2953584" y="44467"/>
                  </a:lnTo>
                  <a:lnTo>
                    <a:pt x="2991994" y="67997"/>
                  </a:lnTo>
                  <a:lnTo>
                    <a:pt x="3027217" y="95781"/>
                  </a:lnTo>
                  <a:lnTo>
                    <a:pt x="3058898" y="127462"/>
                  </a:lnTo>
                  <a:lnTo>
                    <a:pt x="3086682" y="162685"/>
                  </a:lnTo>
                  <a:lnTo>
                    <a:pt x="3110212" y="201095"/>
                  </a:lnTo>
                  <a:lnTo>
                    <a:pt x="3129133" y="242334"/>
                  </a:lnTo>
                  <a:lnTo>
                    <a:pt x="3143088" y="286048"/>
                  </a:lnTo>
                  <a:lnTo>
                    <a:pt x="3151722" y="331881"/>
                  </a:lnTo>
                  <a:lnTo>
                    <a:pt x="3154679" y="379475"/>
                  </a:lnTo>
                  <a:lnTo>
                    <a:pt x="3154679" y="1897379"/>
                  </a:lnTo>
                  <a:lnTo>
                    <a:pt x="3151722" y="1944979"/>
                  </a:lnTo>
                  <a:lnTo>
                    <a:pt x="3143088" y="1990815"/>
                  </a:lnTo>
                  <a:lnTo>
                    <a:pt x="3129133" y="2034531"/>
                  </a:lnTo>
                  <a:lnTo>
                    <a:pt x="3110212" y="2075772"/>
                  </a:lnTo>
                  <a:lnTo>
                    <a:pt x="3086682" y="2114181"/>
                  </a:lnTo>
                  <a:lnTo>
                    <a:pt x="3058898" y="2149403"/>
                  </a:lnTo>
                  <a:lnTo>
                    <a:pt x="3027217" y="2181083"/>
                  </a:lnTo>
                  <a:lnTo>
                    <a:pt x="2991994" y="2208865"/>
                  </a:lnTo>
                  <a:lnTo>
                    <a:pt x="2953584" y="2232393"/>
                  </a:lnTo>
                  <a:lnTo>
                    <a:pt x="2912345" y="2251312"/>
                  </a:lnTo>
                  <a:lnTo>
                    <a:pt x="2868631" y="2265266"/>
                  </a:lnTo>
                  <a:lnTo>
                    <a:pt x="2822798" y="2273899"/>
                  </a:lnTo>
                  <a:lnTo>
                    <a:pt x="2775204" y="2276856"/>
                  </a:lnTo>
                  <a:lnTo>
                    <a:pt x="379488" y="2276856"/>
                  </a:lnTo>
                  <a:lnTo>
                    <a:pt x="331885" y="2273899"/>
                  </a:lnTo>
                  <a:lnTo>
                    <a:pt x="286047" y="2265266"/>
                  </a:lnTo>
                  <a:lnTo>
                    <a:pt x="242330" y="2251312"/>
                  </a:lnTo>
                  <a:lnTo>
                    <a:pt x="201088" y="2232393"/>
                  </a:lnTo>
                  <a:lnTo>
                    <a:pt x="162677" y="2208865"/>
                  </a:lnTo>
                  <a:lnTo>
                    <a:pt x="127454" y="2181083"/>
                  </a:lnTo>
                  <a:lnTo>
                    <a:pt x="95773" y="2149403"/>
                  </a:lnTo>
                  <a:lnTo>
                    <a:pt x="67991" y="2114181"/>
                  </a:lnTo>
                  <a:lnTo>
                    <a:pt x="44462" y="2075772"/>
                  </a:lnTo>
                  <a:lnTo>
                    <a:pt x="25543" y="2034531"/>
                  </a:lnTo>
                  <a:lnTo>
                    <a:pt x="11589" y="1990815"/>
                  </a:lnTo>
                  <a:lnTo>
                    <a:pt x="2956" y="1944979"/>
                  </a:lnTo>
                  <a:lnTo>
                    <a:pt x="0" y="1897379"/>
                  </a:lnTo>
                  <a:lnTo>
                    <a:pt x="0" y="379475"/>
                  </a:lnTo>
                  <a:close/>
                </a:path>
              </a:pathLst>
            </a:custGeom>
            <a:ln w="25908">
              <a:solidFill>
                <a:srgbClr val="FFFFFF"/>
              </a:solidFill>
            </a:ln>
          </p:spPr>
          <p:txBody>
            <a:bodyPr wrap="square" lIns="0" tIns="0" rIns="0" bIns="0" rtlCol="0"/>
            <a:lstStyle/>
            <a:p>
              <a:endParaRPr dirty="0"/>
            </a:p>
          </p:txBody>
        </p:sp>
      </p:grpSp>
      <p:sp>
        <p:nvSpPr>
          <p:cNvPr id="14" name="object 14"/>
          <p:cNvSpPr txBox="1"/>
          <p:nvPr/>
        </p:nvSpPr>
        <p:spPr>
          <a:xfrm>
            <a:off x="1169059" y="5943600"/>
            <a:ext cx="2214271" cy="594995"/>
          </a:xfrm>
          <a:prstGeom prst="rect">
            <a:avLst/>
          </a:prstGeom>
        </p:spPr>
        <p:txBody>
          <a:bodyPr vert="horz" wrap="square" lIns="0" tIns="55879" rIns="0" bIns="0" rtlCol="0">
            <a:spAutoFit/>
          </a:bodyPr>
          <a:lstStyle/>
          <a:p>
            <a:pPr marL="421005" marR="5080" indent="-408940">
              <a:lnSpc>
                <a:spcPts val="2080"/>
              </a:lnSpc>
              <a:spcBef>
                <a:spcPts val="439"/>
              </a:spcBef>
            </a:pPr>
            <a:r>
              <a:rPr sz="2000" b="1" dirty="0">
                <a:latin typeface="Times New Roman"/>
                <a:cs typeface="Times New Roman"/>
              </a:rPr>
              <a:t>Effect</a:t>
            </a:r>
            <a:r>
              <a:rPr sz="2000" b="1" spc="-15" dirty="0">
                <a:latin typeface="Times New Roman"/>
                <a:cs typeface="Times New Roman"/>
              </a:rPr>
              <a:t> </a:t>
            </a:r>
            <a:r>
              <a:rPr sz="2000" b="1" dirty="0">
                <a:latin typeface="Times New Roman"/>
                <a:cs typeface="Times New Roman"/>
              </a:rPr>
              <a:t>on</a:t>
            </a:r>
            <a:r>
              <a:rPr sz="2000" b="1" spc="-5" dirty="0">
                <a:latin typeface="Times New Roman"/>
                <a:cs typeface="Times New Roman"/>
              </a:rPr>
              <a:t> </a:t>
            </a:r>
            <a:r>
              <a:rPr sz="2000" b="1" spc="-10" dirty="0">
                <a:latin typeface="Times New Roman"/>
                <a:cs typeface="Times New Roman"/>
              </a:rPr>
              <a:t>Public Markets</a:t>
            </a:r>
            <a:endParaRPr sz="2000" dirty="0">
              <a:latin typeface="Times New Roman"/>
              <a:cs typeface="Times New Roman"/>
            </a:endParaRPr>
          </a:p>
        </p:txBody>
      </p:sp>
      <p:grpSp>
        <p:nvGrpSpPr>
          <p:cNvPr id="15" name="object 15"/>
          <p:cNvGrpSpPr/>
          <p:nvPr/>
        </p:nvGrpSpPr>
        <p:grpSpPr>
          <a:xfrm>
            <a:off x="5027548" y="3765550"/>
            <a:ext cx="3418840" cy="1910080"/>
            <a:chOff x="4750308" y="3645408"/>
            <a:chExt cx="3418840" cy="1910080"/>
          </a:xfrm>
        </p:grpSpPr>
        <p:pic>
          <p:nvPicPr>
            <p:cNvPr id="16" name="object 16"/>
            <p:cNvPicPr/>
            <p:nvPr/>
          </p:nvPicPr>
          <p:blipFill>
            <a:blip r:embed="rId5" cstate="print"/>
            <a:stretch>
              <a:fillRect/>
            </a:stretch>
          </p:blipFill>
          <p:spPr>
            <a:xfrm>
              <a:off x="4763262" y="3658362"/>
              <a:ext cx="3392423" cy="1883664"/>
            </a:xfrm>
            <a:prstGeom prst="rect">
              <a:avLst/>
            </a:prstGeom>
          </p:spPr>
        </p:pic>
        <p:sp>
          <p:nvSpPr>
            <p:cNvPr id="17" name="object 17"/>
            <p:cNvSpPr/>
            <p:nvPr/>
          </p:nvSpPr>
          <p:spPr>
            <a:xfrm>
              <a:off x="4763262" y="3658362"/>
              <a:ext cx="3392804" cy="1884045"/>
            </a:xfrm>
            <a:custGeom>
              <a:avLst/>
              <a:gdLst/>
              <a:ahLst/>
              <a:cxnLst/>
              <a:rect l="l" t="t" r="r" b="b"/>
              <a:pathLst>
                <a:path w="3392804" h="1884045">
                  <a:moveTo>
                    <a:pt x="0" y="313944"/>
                  </a:moveTo>
                  <a:lnTo>
                    <a:pt x="3404" y="267558"/>
                  </a:lnTo>
                  <a:lnTo>
                    <a:pt x="13294" y="223284"/>
                  </a:lnTo>
                  <a:lnTo>
                    <a:pt x="29183" y="181606"/>
                  </a:lnTo>
                  <a:lnTo>
                    <a:pt x="50586" y="143012"/>
                  </a:lnTo>
                  <a:lnTo>
                    <a:pt x="77015" y="107986"/>
                  </a:lnTo>
                  <a:lnTo>
                    <a:pt x="107986" y="77015"/>
                  </a:lnTo>
                  <a:lnTo>
                    <a:pt x="143012" y="50586"/>
                  </a:lnTo>
                  <a:lnTo>
                    <a:pt x="181606" y="29183"/>
                  </a:lnTo>
                  <a:lnTo>
                    <a:pt x="223284" y="13294"/>
                  </a:lnTo>
                  <a:lnTo>
                    <a:pt x="267558" y="3404"/>
                  </a:lnTo>
                  <a:lnTo>
                    <a:pt x="313943" y="0"/>
                  </a:lnTo>
                  <a:lnTo>
                    <a:pt x="3078480" y="0"/>
                  </a:lnTo>
                  <a:lnTo>
                    <a:pt x="3124865" y="3404"/>
                  </a:lnTo>
                  <a:lnTo>
                    <a:pt x="3169139" y="13294"/>
                  </a:lnTo>
                  <a:lnTo>
                    <a:pt x="3210817" y="29183"/>
                  </a:lnTo>
                  <a:lnTo>
                    <a:pt x="3249411" y="50586"/>
                  </a:lnTo>
                  <a:lnTo>
                    <a:pt x="3284437" y="77015"/>
                  </a:lnTo>
                  <a:lnTo>
                    <a:pt x="3315408" y="107986"/>
                  </a:lnTo>
                  <a:lnTo>
                    <a:pt x="3341837" y="143012"/>
                  </a:lnTo>
                  <a:lnTo>
                    <a:pt x="3363240" y="181606"/>
                  </a:lnTo>
                  <a:lnTo>
                    <a:pt x="3379129" y="223284"/>
                  </a:lnTo>
                  <a:lnTo>
                    <a:pt x="3389019" y="267558"/>
                  </a:lnTo>
                  <a:lnTo>
                    <a:pt x="3392423" y="313944"/>
                  </a:lnTo>
                  <a:lnTo>
                    <a:pt x="3392423" y="1569720"/>
                  </a:lnTo>
                  <a:lnTo>
                    <a:pt x="3389019" y="1616105"/>
                  </a:lnTo>
                  <a:lnTo>
                    <a:pt x="3379129" y="1660379"/>
                  </a:lnTo>
                  <a:lnTo>
                    <a:pt x="3363240" y="1702057"/>
                  </a:lnTo>
                  <a:lnTo>
                    <a:pt x="3341837" y="1740651"/>
                  </a:lnTo>
                  <a:lnTo>
                    <a:pt x="3315408" y="1775677"/>
                  </a:lnTo>
                  <a:lnTo>
                    <a:pt x="3284437" y="1806648"/>
                  </a:lnTo>
                  <a:lnTo>
                    <a:pt x="3249411" y="1833077"/>
                  </a:lnTo>
                  <a:lnTo>
                    <a:pt x="3210817" y="1854480"/>
                  </a:lnTo>
                  <a:lnTo>
                    <a:pt x="3169139" y="1870369"/>
                  </a:lnTo>
                  <a:lnTo>
                    <a:pt x="3124865" y="1880259"/>
                  </a:lnTo>
                  <a:lnTo>
                    <a:pt x="3078480" y="1883664"/>
                  </a:lnTo>
                  <a:lnTo>
                    <a:pt x="313943" y="1883664"/>
                  </a:lnTo>
                  <a:lnTo>
                    <a:pt x="267558" y="1880259"/>
                  </a:lnTo>
                  <a:lnTo>
                    <a:pt x="223284" y="1870369"/>
                  </a:lnTo>
                  <a:lnTo>
                    <a:pt x="181606" y="1854480"/>
                  </a:lnTo>
                  <a:lnTo>
                    <a:pt x="143012" y="1833077"/>
                  </a:lnTo>
                  <a:lnTo>
                    <a:pt x="107986" y="1806648"/>
                  </a:lnTo>
                  <a:lnTo>
                    <a:pt x="77015" y="1775677"/>
                  </a:lnTo>
                  <a:lnTo>
                    <a:pt x="50586" y="1740651"/>
                  </a:lnTo>
                  <a:lnTo>
                    <a:pt x="29183" y="1702057"/>
                  </a:lnTo>
                  <a:lnTo>
                    <a:pt x="13294" y="1660379"/>
                  </a:lnTo>
                  <a:lnTo>
                    <a:pt x="3404" y="1616105"/>
                  </a:lnTo>
                  <a:lnTo>
                    <a:pt x="0" y="1569720"/>
                  </a:lnTo>
                  <a:lnTo>
                    <a:pt x="0" y="313944"/>
                  </a:lnTo>
                  <a:close/>
                </a:path>
              </a:pathLst>
            </a:custGeom>
            <a:ln w="25908">
              <a:solidFill>
                <a:srgbClr val="FFFFFF"/>
              </a:solidFill>
            </a:ln>
          </p:spPr>
          <p:txBody>
            <a:bodyPr wrap="square" lIns="0" tIns="0" rIns="0" bIns="0" rtlCol="0"/>
            <a:lstStyle/>
            <a:p>
              <a:endParaRPr dirty="0"/>
            </a:p>
          </p:txBody>
        </p:sp>
      </p:grpSp>
      <p:sp>
        <p:nvSpPr>
          <p:cNvPr id="18" name="object 18"/>
          <p:cNvSpPr txBox="1"/>
          <p:nvPr/>
        </p:nvSpPr>
        <p:spPr>
          <a:xfrm>
            <a:off x="5444489" y="5859018"/>
            <a:ext cx="2597659" cy="585159"/>
          </a:xfrm>
          <a:prstGeom prst="rect">
            <a:avLst/>
          </a:prstGeom>
        </p:spPr>
        <p:txBody>
          <a:bodyPr vert="horz" wrap="square" lIns="0" tIns="55244" rIns="0" bIns="0" rtlCol="0">
            <a:spAutoFit/>
          </a:bodyPr>
          <a:lstStyle/>
          <a:p>
            <a:pPr marL="12065" marR="5080" indent="2540" algn="ctr">
              <a:lnSpc>
                <a:spcPct val="86200"/>
              </a:lnSpc>
              <a:spcBef>
                <a:spcPts val="434"/>
              </a:spcBef>
            </a:pPr>
            <a:r>
              <a:rPr sz="2000" b="1" dirty="0">
                <a:latin typeface="Times New Roman"/>
                <a:cs typeface="Times New Roman"/>
              </a:rPr>
              <a:t>Financing</a:t>
            </a:r>
            <a:r>
              <a:rPr sz="2000" b="1" spc="-20" dirty="0">
                <a:latin typeface="Times New Roman"/>
                <a:cs typeface="Times New Roman"/>
              </a:rPr>
              <a:t> </a:t>
            </a:r>
            <a:r>
              <a:rPr sz="2000" b="1" spc="-25" dirty="0">
                <a:latin typeface="Times New Roman"/>
                <a:cs typeface="Times New Roman"/>
              </a:rPr>
              <a:t>the </a:t>
            </a:r>
            <a:r>
              <a:rPr sz="2000" b="1" dirty="0">
                <a:latin typeface="Times New Roman"/>
                <a:cs typeface="Times New Roman"/>
              </a:rPr>
              <a:t>Private</a:t>
            </a:r>
            <a:r>
              <a:rPr sz="2000" b="1" spc="-15" dirty="0">
                <a:latin typeface="Times New Roman"/>
                <a:cs typeface="Times New Roman"/>
              </a:rPr>
              <a:t> </a:t>
            </a:r>
            <a:r>
              <a:rPr sz="2000" b="1" spc="-10" dirty="0">
                <a:latin typeface="Times New Roman"/>
                <a:cs typeface="Times New Roman"/>
              </a:rPr>
              <a:t>Equity </a:t>
            </a:r>
            <a:r>
              <a:rPr sz="2000" b="1" spc="-20" dirty="0">
                <a:latin typeface="Times New Roman"/>
                <a:cs typeface="Times New Roman"/>
              </a:rPr>
              <a:t>Boom</a:t>
            </a:r>
            <a:endParaRPr sz="2000" dirty="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5105400" y="4495800"/>
            <a:ext cx="3886200" cy="2160403"/>
          </a:xfrm>
          <a:prstGeom prst="rect">
            <a:avLst/>
          </a:prstGeom>
        </p:spPr>
      </p:pic>
      <p:sp>
        <p:nvSpPr>
          <p:cNvPr id="4" name="object 4"/>
          <p:cNvSpPr txBox="1">
            <a:spLocks noGrp="1"/>
          </p:cNvSpPr>
          <p:nvPr>
            <p:ph type="title"/>
          </p:nvPr>
        </p:nvSpPr>
        <p:spPr>
          <a:xfrm>
            <a:off x="404567" y="271704"/>
            <a:ext cx="8610600" cy="1674176"/>
          </a:xfrm>
          <a:prstGeom prst="rect">
            <a:avLst/>
          </a:prstGeom>
        </p:spPr>
        <p:txBody>
          <a:bodyPr vert="horz" wrap="square" lIns="0" tIns="12065" rIns="0" bIns="0" rtlCol="0">
            <a:spAutoFit/>
          </a:bodyPr>
          <a:lstStyle/>
          <a:p>
            <a:pPr marL="12700">
              <a:lnSpc>
                <a:spcPct val="100000"/>
              </a:lnSpc>
              <a:spcBef>
                <a:spcPts val="95"/>
              </a:spcBef>
            </a:pPr>
            <a:r>
              <a:rPr sz="5400" b="1" dirty="0">
                <a:solidFill>
                  <a:srgbClr val="FFFF00"/>
                </a:solidFill>
                <a:uFill>
                  <a:solidFill>
                    <a:srgbClr val="001F5F"/>
                  </a:solidFill>
                </a:uFill>
                <a:latin typeface="Times New Roman"/>
                <a:cs typeface="Times New Roman"/>
              </a:rPr>
              <a:t>E</a:t>
            </a:r>
            <a:r>
              <a:rPr lang="en-US" sz="5400" b="1" dirty="0">
                <a:solidFill>
                  <a:srgbClr val="FFFF00"/>
                </a:solidFill>
                <a:uFill>
                  <a:solidFill>
                    <a:srgbClr val="001F5F"/>
                  </a:solidFill>
                </a:uFill>
                <a:latin typeface="Times New Roman"/>
                <a:cs typeface="Times New Roman"/>
              </a:rPr>
              <a:t>xit Routes in Private Equity</a:t>
            </a:r>
            <a:endParaRPr sz="5400" dirty="0">
              <a:solidFill>
                <a:srgbClr val="FFFF00"/>
              </a:solidFill>
              <a:latin typeface="Times New Roman"/>
              <a:cs typeface="Times New Roman"/>
            </a:endParaRPr>
          </a:p>
        </p:txBody>
      </p:sp>
      <p:sp>
        <p:nvSpPr>
          <p:cNvPr id="8" name="TextBox 7">
            <a:extLst>
              <a:ext uri="{FF2B5EF4-FFF2-40B4-BE49-F238E27FC236}">
                <a16:creationId xmlns:a16="http://schemas.microsoft.com/office/drawing/2014/main" id="{532E9807-7824-9138-6793-10EB6AF55FF6}"/>
              </a:ext>
            </a:extLst>
          </p:cNvPr>
          <p:cNvSpPr txBox="1"/>
          <p:nvPr/>
        </p:nvSpPr>
        <p:spPr>
          <a:xfrm>
            <a:off x="381000" y="1945880"/>
            <a:ext cx="8077200" cy="3139321"/>
          </a:xfrm>
          <a:prstGeom prst="rect">
            <a:avLst/>
          </a:prstGeom>
          <a:noFill/>
        </p:spPr>
        <p:txBody>
          <a:bodyPr wrap="square" rtlCol="0">
            <a:spAutoFit/>
          </a:bodyPr>
          <a:lstStyle/>
          <a:p>
            <a:pPr marL="285750" indent="-285750">
              <a:buFont typeface="Arial" panose="020B0604020202020204" pitchFamily="34" charset="0"/>
              <a:buChar char="•"/>
            </a:pPr>
            <a:r>
              <a:rPr lang="en-US" altLang="en-US" dirty="0">
                <a:latin typeface="Calibri" panose="020F0502020204030204" pitchFamily="34" charset="0"/>
                <a:ea typeface="Calibri" panose="020F0502020204030204" pitchFamily="34" charset="0"/>
                <a:cs typeface="Calibri" panose="020F0502020204030204" pitchFamily="34" charset="0"/>
              </a:rPr>
              <a:t>The company goes public through an </a:t>
            </a:r>
            <a:r>
              <a:rPr lang="en-US" altLang="en-US" b="1" dirty="0">
                <a:latin typeface="Calibri" panose="020F0502020204030204" pitchFamily="34" charset="0"/>
                <a:ea typeface="Calibri" panose="020F0502020204030204" pitchFamily="34" charset="0"/>
                <a:cs typeface="Calibri" panose="020F0502020204030204" pitchFamily="34" charset="0"/>
              </a:rPr>
              <a:t>Initial Public Offering (IPO)</a:t>
            </a:r>
            <a:r>
              <a:rPr lang="en-US" altLang="en-US" dirty="0">
                <a:latin typeface="Calibri" panose="020F0502020204030204" pitchFamily="34" charset="0"/>
                <a:ea typeface="Calibri" panose="020F0502020204030204" pitchFamily="34" charset="0"/>
                <a:cs typeface="Calibri" panose="020F0502020204030204" pitchFamily="34" charset="0"/>
              </a:rPr>
              <a:t>, allowing PE investors to sell their shares to public investors.</a:t>
            </a:r>
          </a:p>
          <a:p>
            <a:pPr marL="285750" indent="-285750">
              <a:buFont typeface="Arial" panose="020B0604020202020204" pitchFamily="34" charset="0"/>
              <a:buChar char="•"/>
            </a:pPr>
            <a:r>
              <a:rPr lang="en-US" altLang="en-US" dirty="0">
                <a:latin typeface="Calibri" panose="020F0502020204030204" pitchFamily="34" charset="0"/>
                <a:ea typeface="Calibri" panose="020F0502020204030204" pitchFamily="34" charset="0"/>
                <a:cs typeface="Calibri" panose="020F0502020204030204" pitchFamily="34" charset="0"/>
              </a:rPr>
              <a:t>The company is sold to another company or strategic buyer in a </a:t>
            </a:r>
            <a:r>
              <a:rPr lang="en-US" altLang="en-US" b="1" dirty="0">
                <a:latin typeface="Calibri" panose="020F0502020204030204" pitchFamily="34" charset="0"/>
                <a:ea typeface="Calibri" panose="020F0502020204030204" pitchFamily="34" charset="0"/>
                <a:cs typeface="Calibri" panose="020F0502020204030204" pitchFamily="34" charset="0"/>
              </a:rPr>
              <a:t>trade sale</a:t>
            </a:r>
            <a:r>
              <a:rPr lang="en-US" altLang="en-US" dirty="0">
                <a:latin typeface="Calibri" panose="020F0502020204030204" pitchFamily="34" charset="0"/>
                <a:ea typeface="Calibri" panose="020F0502020204030204" pitchFamily="34" charset="0"/>
                <a:cs typeface="Calibri" panose="020F0502020204030204" pitchFamily="34" charset="0"/>
              </a:rPr>
              <a:t>, often for synergies or expansion.</a:t>
            </a:r>
          </a:p>
          <a:p>
            <a:pPr marL="285750" indent="-285750">
              <a:buFont typeface="Arial" panose="020B0604020202020204" pitchFamily="34" charset="0"/>
              <a:buChar char="•"/>
            </a:pPr>
            <a:r>
              <a:rPr lang="en-US" altLang="en-US" dirty="0">
                <a:latin typeface="Calibri" panose="020F0502020204030204" pitchFamily="34" charset="0"/>
                <a:ea typeface="Calibri" panose="020F0502020204030204" pitchFamily="34" charset="0"/>
                <a:cs typeface="Calibri" panose="020F0502020204030204" pitchFamily="34" charset="0"/>
              </a:rPr>
              <a:t>The PE firm sells its stake to another private equity firm or financial investor in a </a:t>
            </a:r>
            <a:r>
              <a:rPr lang="en-US" altLang="en-US" b="1" dirty="0">
                <a:latin typeface="Calibri" panose="020F0502020204030204" pitchFamily="34" charset="0"/>
                <a:ea typeface="Calibri" panose="020F0502020204030204" pitchFamily="34" charset="0"/>
                <a:cs typeface="Calibri" panose="020F0502020204030204" pitchFamily="34" charset="0"/>
              </a:rPr>
              <a:t>secondary sale</a:t>
            </a:r>
            <a:r>
              <a:rPr lang="en-US" altLang="en-US" dirty="0">
                <a:latin typeface="Calibri" panose="020F0502020204030204" pitchFamily="34" charset="0"/>
                <a:ea typeface="Calibri" panose="020F0502020204030204" pitchFamily="34" charset="0"/>
                <a:cs typeface="Calibri" panose="020F0502020204030204" pitchFamily="34" charset="0"/>
              </a:rPr>
              <a:t>.</a:t>
            </a:r>
          </a:p>
          <a:p>
            <a:pPr marL="285750" indent="-285750">
              <a:buFont typeface="Arial" panose="020B0604020202020204" pitchFamily="34" charset="0"/>
              <a:buChar char="•"/>
            </a:pPr>
            <a:r>
              <a:rPr lang="en-US" altLang="en-US" dirty="0">
                <a:latin typeface="Calibri" panose="020F0502020204030204" pitchFamily="34" charset="0"/>
                <a:ea typeface="Calibri" panose="020F0502020204030204" pitchFamily="34" charset="0"/>
                <a:cs typeface="Calibri" panose="020F0502020204030204" pitchFamily="34" charset="0"/>
              </a:rPr>
              <a:t>The original owners or management team buy back the equity stake from PE investors in a </a:t>
            </a:r>
            <a:r>
              <a:rPr lang="en-US" altLang="en-US" b="1" dirty="0">
                <a:latin typeface="Calibri" panose="020F0502020204030204" pitchFamily="34" charset="0"/>
                <a:ea typeface="Calibri" panose="020F0502020204030204" pitchFamily="34" charset="0"/>
                <a:cs typeface="Calibri" panose="020F0502020204030204" pitchFamily="34" charset="0"/>
              </a:rPr>
              <a:t>management buyout (MBO)</a:t>
            </a:r>
            <a:r>
              <a:rPr lang="en-US" altLang="en-US" dirty="0">
                <a:latin typeface="Calibri" panose="020F0502020204030204" pitchFamily="34" charset="0"/>
                <a:ea typeface="Calibri" panose="020F0502020204030204" pitchFamily="34" charset="0"/>
                <a:cs typeface="Calibri" panose="020F0502020204030204" pitchFamily="34" charset="0"/>
              </a:rPr>
              <a:t>.</a:t>
            </a:r>
          </a:p>
          <a:p>
            <a:pPr marL="285750" indent="-285750">
              <a:buFont typeface="Arial" panose="020B0604020202020204" pitchFamily="34" charset="0"/>
              <a:buChar char="•"/>
            </a:pPr>
            <a:r>
              <a:rPr lang="en-US" altLang="en-US" dirty="0">
                <a:latin typeface="Calibri" panose="020F0502020204030204" pitchFamily="34" charset="0"/>
                <a:ea typeface="Calibri" panose="020F0502020204030204" pitchFamily="34" charset="0"/>
                <a:cs typeface="Calibri" panose="020F0502020204030204" pitchFamily="34" charset="0"/>
              </a:rPr>
              <a:t>In rare cases, the company may be </a:t>
            </a:r>
            <a:r>
              <a:rPr lang="en-US" altLang="en-US" b="1" dirty="0">
                <a:latin typeface="Calibri" panose="020F0502020204030204" pitchFamily="34" charset="0"/>
                <a:ea typeface="Calibri" panose="020F0502020204030204" pitchFamily="34" charset="0"/>
                <a:cs typeface="Calibri" panose="020F0502020204030204" pitchFamily="34" charset="0"/>
              </a:rPr>
              <a:t>liquidated</a:t>
            </a:r>
            <a:r>
              <a:rPr lang="en-US" altLang="en-US" dirty="0">
                <a:latin typeface="Calibri" panose="020F0502020204030204" pitchFamily="34" charset="0"/>
                <a:ea typeface="Calibri" panose="020F0502020204030204" pitchFamily="34" charset="0"/>
                <a:cs typeface="Calibri" panose="020F0502020204030204" pitchFamily="34" charset="0"/>
              </a:rPr>
              <a:t>, and its assets are sold to return capital to investors</a:t>
            </a:r>
            <a:endParaRPr lang="en-US" dirty="0">
              <a:latin typeface="Calibri" panose="020F0502020204030204" pitchFamily="34" charset="0"/>
              <a:ea typeface="Calibri" panose="020F0502020204030204" pitchFamily="34" charset="0"/>
              <a:cs typeface="Calibri" panose="020F0502020204030204" pitchFamily="34" charset="0"/>
            </a:endParaRP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55201" y="909453"/>
            <a:ext cx="3217713" cy="629018"/>
          </a:xfrm>
          <a:prstGeom prst="rect">
            <a:avLst/>
          </a:prstGeom>
        </p:spPr>
        <p:txBody>
          <a:bodyPr vert="horz" wrap="square" lIns="0" tIns="13335" rIns="0" bIns="0" rtlCol="0">
            <a:spAutoFit/>
          </a:bodyPr>
          <a:lstStyle/>
          <a:p>
            <a:pPr marL="12700">
              <a:lnSpc>
                <a:spcPct val="100000"/>
              </a:lnSpc>
              <a:spcBef>
                <a:spcPts val="105"/>
              </a:spcBef>
            </a:pPr>
            <a:r>
              <a:rPr sz="4000" b="1" spc="-10" dirty="0">
                <a:solidFill>
                  <a:srgbClr val="FFFF00"/>
                </a:solidFill>
                <a:latin typeface="Times New Roman"/>
                <a:cs typeface="Times New Roman"/>
              </a:rPr>
              <a:t>Disadvantages</a:t>
            </a:r>
            <a:endParaRPr sz="4000" dirty="0">
              <a:solidFill>
                <a:srgbClr val="FFFF00"/>
              </a:solidFill>
              <a:latin typeface="Times New Roman"/>
              <a:cs typeface="Times New Roman"/>
            </a:endParaRPr>
          </a:p>
        </p:txBody>
      </p:sp>
      <p:sp>
        <p:nvSpPr>
          <p:cNvPr id="11" name="object 11"/>
          <p:cNvSpPr txBox="1">
            <a:spLocks noGrp="1"/>
          </p:cNvSpPr>
          <p:nvPr>
            <p:ph type="title"/>
          </p:nvPr>
        </p:nvSpPr>
        <p:spPr>
          <a:xfrm>
            <a:off x="296658" y="652956"/>
            <a:ext cx="2624514" cy="629018"/>
          </a:xfrm>
          <a:prstGeom prst="rect">
            <a:avLst/>
          </a:prstGeom>
        </p:spPr>
        <p:txBody>
          <a:bodyPr vert="horz" wrap="square" lIns="0" tIns="13335" rIns="0" bIns="0" rtlCol="0">
            <a:spAutoFit/>
          </a:bodyPr>
          <a:lstStyle/>
          <a:p>
            <a:pPr marL="12700">
              <a:lnSpc>
                <a:spcPct val="100000"/>
              </a:lnSpc>
              <a:spcBef>
                <a:spcPts val="105"/>
              </a:spcBef>
            </a:pPr>
            <a:r>
              <a:rPr sz="4000" b="1" u="none" spc="-10" dirty="0">
                <a:solidFill>
                  <a:srgbClr val="FFFF00"/>
                </a:solidFill>
                <a:latin typeface="Times New Roman" panose="02020603050405020304" pitchFamily="18" charset="0"/>
                <a:cs typeface="Times New Roman" panose="02020603050405020304" pitchFamily="18" charset="0"/>
              </a:rPr>
              <a:t>Advantages</a:t>
            </a:r>
            <a:endParaRPr sz="4000" dirty="0">
              <a:solidFill>
                <a:srgbClr val="FFFF00"/>
              </a:solidFill>
              <a:latin typeface="Times New Roman" panose="02020603050405020304" pitchFamily="18" charset="0"/>
              <a:cs typeface="Times New Roman" panose="02020603050405020304" pitchFamily="18" charset="0"/>
            </a:endParaRPr>
          </a:p>
        </p:txBody>
      </p:sp>
      <p:pic>
        <p:nvPicPr>
          <p:cNvPr id="12" name="object 12"/>
          <p:cNvPicPr/>
          <p:nvPr/>
        </p:nvPicPr>
        <p:blipFill>
          <a:blip r:embed="rId2" cstate="print"/>
          <a:stretch>
            <a:fillRect/>
          </a:stretch>
        </p:blipFill>
        <p:spPr>
          <a:xfrm>
            <a:off x="3048000" y="437782"/>
            <a:ext cx="1109841" cy="943343"/>
          </a:xfrm>
          <a:prstGeom prst="rect">
            <a:avLst/>
          </a:prstGeom>
        </p:spPr>
      </p:pic>
      <p:pic>
        <p:nvPicPr>
          <p:cNvPr id="13" name="object 13"/>
          <p:cNvPicPr/>
          <p:nvPr/>
        </p:nvPicPr>
        <p:blipFill>
          <a:blip r:embed="rId3" cstate="print"/>
          <a:stretch>
            <a:fillRect/>
          </a:stretch>
        </p:blipFill>
        <p:spPr>
          <a:xfrm>
            <a:off x="4411497" y="846654"/>
            <a:ext cx="990048" cy="943343"/>
          </a:xfrm>
          <a:prstGeom prst="rect">
            <a:avLst/>
          </a:prstGeom>
        </p:spPr>
      </p:pic>
      <p:sp>
        <p:nvSpPr>
          <p:cNvPr id="15" name="TextBox 14">
            <a:extLst>
              <a:ext uri="{FF2B5EF4-FFF2-40B4-BE49-F238E27FC236}">
                <a16:creationId xmlns:a16="http://schemas.microsoft.com/office/drawing/2014/main" id="{9FB0141F-4F10-C016-5A84-C05370716CE7}"/>
              </a:ext>
            </a:extLst>
          </p:cNvPr>
          <p:cNvSpPr txBox="1"/>
          <p:nvPr/>
        </p:nvSpPr>
        <p:spPr>
          <a:xfrm>
            <a:off x="271086" y="1676400"/>
            <a:ext cx="3996114" cy="4524315"/>
          </a:xfrm>
          <a:prstGeom prst="rect">
            <a:avLst/>
          </a:prstGeom>
          <a:noFill/>
        </p:spPr>
        <p:txBody>
          <a:bodyPr wrap="square" rtlCol="0">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Provides </a:t>
            </a:r>
            <a:r>
              <a:rPr lang="en-US" altLang="en-US" b="1" dirty="0">
                <a:latin typeface="Arial" panose="020B0604020202020204" pitchFamily="34" charset="0"/>
              </a:rPr>
              <a:t>long-term capital</a:t>
            </a:r>
            <a:r>
              <a:rPr lang="en-US" altLang="en-US" dirty="0">
                <a:latin typeface="Arial" panose="020B0604020202020204" pitchFamily="34" charset="0"/>
              </a:rPr>
              <a:t> to companies for growth and expansion.</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Offers </a:t>
            </a:r>
            <a:r>
              <a:rPr lang="en-US" altLang="en-US" b="1" dirty="0">
                <a:latin typeface="Arial" panose="020B0604020202020204" pitchFamily="34" charset="0"/>
              </a:rPr>
              <a:t>strategic guidance and expertise</a:t>
            </a:r>
            <a:r>
              <a:rPr lang="en-US" altLang="en-US" dirty="0">
                <a:latin typeface="Arial" panose="020B0604020202020204" pitchFamily="34" charset="0"/>
              </a:rPr>
              <a:t> from experienced private equity investors.</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Can </a:t>
            </a:r>
            <a:r>
              <a:rPr lang="en-US" altLang="en-US" b="1" dirty="0">
                <a:latin typeface="Arial" panose="020B0604020202020204" pitchFamily="34" charset="0"/>
              </a:rPr>
              <a:t>improve company performance</a:t>
            </a:r>
            <a:r>
              <a:rPr lang="en-US" altLang="en-US" dirty="0">
                <a:latin typeface="Arial" panose="020B0604020202020204" pitchFamily="34" charset="0"/>
              </a:rPr>
              <a:t> through better management, restructuring, and operational efficiency.</a:t>
            </a:r>
          </a:p>
          <a:p>
            <a:pPr marL="285750" lvl="0" indent="-285750" defTabSz="91440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Flexible financing</a:t>
            </a:r>
            <a:r>
              <a:rPr lang="en-US" altLang="en-US" dirty="0">
                <a:latin typeface="Arial" panose="020B0604020202020204" pitchFamily="34" charset="0"/>
              </a:rPr>
              <a:t> compared to traditional loans, without regular interest payments.</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Potential for </a:t>
            </a:r>
            <a:r>
              <a:rPr lang="en-US" altLang="en-US" b="1" dirty="0">
                <a:latin typeface="Arial" panose="020B0604020202020204" pitchFamily="34" charset="0"/>
              </a:rPr>
              <a:t>high returns</a:t>
            </a:r>
            <a:r>
              <a:rPr lang="en-US" altLang="en-US" dirty="0">
                <a:latin typeface="Arial" panose="020B0604020202020204" pitchFamily="34" charset="0"/>
              </a:rPr>
              <a:t> for both investors and the company’s stakeholders</a:t>
            </a:r>
            <a:endParaRPr lang="en-US" dirty="0"/>
          </a:p>
        </p:txBody>
      </p:sp>
      <p:sp>
        <p:nvSpPr>
          <p:cNvPr id="18" name="TextBox 17">
            <a:extLst>
              <a:ext uri="{FF2B5EF4-FFF2-40B4-BE49-F238E27FC236}">
                <a16:creationId xmlns:a16="http://schemas.microsoft.com/office/drawing/2014/main" id="{D2F42975-396E-5858-215F-1EADD3D61851}"/>
              </a:ext>
            </a:extLst>
          </p:cNvPr>
          <p:cNvSpPr txBox="1"/>
          <p:nvPr/>
        </p:nvSpPr>
        <p:spPr>
          <a:xfrm>
            <a:off x="4724400" y="2057400"/>
            <a:ext cx="4148514" cy="4247317"/>
          </a:xfrm>
          <a:prstGeom prst="rect">
            <a:avLst/>
          </a:prstGeom>
          <a:noFill/>
        </p:spPr>
        <p:txBody>
          <a:bodyPr wrap="square" rtlCol="0">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High risk</a:t>
            </a:r>
            <a:r>
              <a:rPr lang="en-US" altLang="en-US" dirty="0">
                <a:latin typeface="Arial" panose="020B0604020202020204" pitchFamily="34" charset="0"/>
              </a:rPr>
              <a:t> due to illiquidity and dependence on company performance.</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Investors often require </a:t>
            </a:r>
            <a:r>
              <a:rPr lang="en-US" altLang="en-US" b="1" dirty="0">
                <a:latin typeface="Arial" panose="020B0604020202020204" pitchFamily="34" charset="0"/>
              </a:rPr>
              <a:t>significant control or influence</a:t>
            </a:r>
            <a:r>
              <a:rPr lang="en-US" altLang="en-US" dirty="0">
                <a:latin typeface="Arial" panose="020B0604020202020204" pitchFamily="34" charset="0"/>
              </a:rPr>
              <a:t>, which may limit management freedom.</a:t>
            </a:r>
          </a:p>
          <a:p>
            <a:pPr marL="285750" lvl="0" indent="-285750" defTabSz="91440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Long-term investment horizon</a:t>
            </a:r>
            <a:r>
              <a:rPr lang="en-US" altLang="en-US" dirty="0">
                <a:latin typeface="Arial" panose="020B0604020202020204" pitchFamily="34" charset="0"/>
              </a:rPr>
              <a:t> may not suit all investors.</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Potential for </a:t>
            </a:r>
            <a:r>
              <a:rPr lang="en-US" altLang="en-US" b="1" dirty="0">
                <a:latin typeface="Arial" panose="020B0604020202020204" pitchFamily="34" charset="0"/>
              </a:rPr>
              <a:t>conflicts of interest</a:t>
            </a:r>
            <a:r>
              <a:rPr lang="en-US" altLang="en-US" dirty="0">
                <a:latin typeface="Arial" panose="020B0604020202020204" pitchFamily="34" charset="0"/>
              </a:rPr>
              <a:t> between investors and management.</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PE funding can be </a:t>
            </a:r>
            <a:r>
              <a:rPr lang="en-US" altLang="en-US" b="1" dirty="0">
                <a:latin typeface="Arial" panose="020B0604020202020204" pitchFamily="34" charset="0"/>
              </a:rPr>
              <a:t>expensive</a:t>
            </a:r>
            <a:r>
              <a:rPr lang="en-US" altLang="en-US" dirty="0">
                <a:latin typeface="Arial" panose="020B0604020202020204" pitchFamily="34" charset="0"/>
              </a:rPr>
              <a:t> due to high expected returns and fees charged by PE firms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6264" y="263663"/>
            <a:ext cx="8480425" cy="1121461"/>
          </a:xfrm>
          <a:prstGeom prst="rect">
            <a:avLst/>
          </a:prstGeom>
        </p:spPr>
        <p:txBody>
          <a:bodyPr vert="horz" wrap="square" lIns="0" tIns="13335" rIns="0" bIns="0" rtlCol="0">
            <a:spAutoFit/>
          </a:bodyPr>
          <a:lstStyle/>
          <a:p>
            <a:pPr marL="292100">
              <a:lnSpc>
                <a:spcPct val="100000"/>
              </a:lnSpc>
              <a:spcBef>
                <a:spcPts val="105"/>
              </a:spcBef>
            </a:pPr>
            <a:r>
              <a:rPr sz="3600" b="1" dirty="0">
                <a:solidFill>
                  <a:srgbClr val="FFFF00"/>
                </a:solidFill>
                <a:uFill>
                  <a:solidFill>
                    <a:srgbClr val="17375E"/>
                  </a:solidFill>
                </a:uFill>
                <a:latin typeface="Times New Roman" panose="02020603050405020304" pitchFamily="18" charset="0"/>
                <a:cs typeface="Times New Roman" panose="02020603050405020304" pitchFamily="18" charset="0"/>
              </a:rPr>
              <a:t>Application</a:t>
            </a:r>
            <a:r>
              <a:rPr sz="3600" b="1" spc="-25" dirty="0">
                <a:solidFill>
                  <a:srgbClr val="FFFF00"/>
                </a:solidFill>
                <a:uFill>
                  <a:solidFill>
                    <a:srgbClr val="17375E"/>
                  </a:solidFill>
                </a:uFill>
                <a:latin typeface="Times New Roman" panose="02020603050405020304" pitchFamily="18" charset="0"/>
                <a:cs typeface="Times New Roman" panose="02020603050405020304" pitchFamily="18" charset="0"/>
              </a:rPr>
              <a:t> </a:t>
            </a:r>
            <a:r>
              <a:rPr sz="3600" b="1" dirty="0">
                <a:solidFill>
                  <a:srgbClr val="FFFF00"/>
                </a:solidFill>
                <a:uFill>
                  <a:solidFill>
                    <a:srgbClr val="17375E"/>
                  </a:solidFill>
                </a:uFill>
                <a:latin typeface="Times New Roman" panose="02020603050405020304" pitchFamily="18" charset="0"/>
                <a:cs typeface="Times New Roman" panose="02020603050405020304" pitchFamily="18" charset="0"/>
              </a:rPr>
              <a:t>of</a:t>
            </a:r>
            <a:r>
              <a:rPr sz="3600" b="1" spc="-60" dirty="0">
                <a:solidFill>
                  <a:srgbClr val="FFFF00"/>
                </a:solidFill>
                <a:uFill>
                  <a:solidFill>
                    <a:srgbClr val="17375E"/>
                  </a:solidFill>
                </a:uFill>
                <a:latin typeface="Times New Roman" panose="02020603050405020304" pitchFamily="18" charset="0"/>
                <a:cs typeface="Times New Roman" panose="02020603050405020304" pitchFamily="18" charset="0"/>
              </a:rPr>
              <a:t> </a:t>
            </a:r>
            <a:r>
              <a:rPr lang="en-US" sz="3600" b="1" spc="-60" dirty="0">
                <a:solidFill>
                  <a:srgbClr val="FFFF00"/>
                </a:solidFill>
                <a:uFill>
                  <a:solidFill>
                    <a:srgbClr val="17375E"/>
                  </a:solidFill>
                </a:uFill>
                <a:latin typeface="Times New Roman" panose="02020603050405020304" pitchFamily="18" charset="0"/>
                <a:cs typeface="Times New Roman" panose="02020603050405020304" pitchFamily="18" charset="0"/>
              </a:rPr>
              <a:t>P</a:t>
            </a:r>
            <a:r>
              <a:rPr sz="3600" b="1" dirty="0">
                <a:solidFill>
                  <a:srgbClr val="FFFF00"/>
                </a:solidFill>
                <a:uFill>
                  <a:solidFill>
                    <a:srgbClr val="17375E"/>
                  </a:solidFill>
                </a:uFill>
                <a:latin typeface="Times New Roman" panose="02020603050405020304" pitchFamily="18" charset="0"/>
                <a:cs typeface="Times New Roman" panose="02020603050405020304" pitchFamily="18" charset="0"/>
              </a:rPr>
              <a:t>rivate</a:t>
            </a:r>
            <a:r>
              <a:rPr sz="3600" b="1" spc="-50" dirty="0">
                <a:solidFill>
                  <a:srgbClr val="FFFF00"/>
                </a:solidFill>
                <a:uFill>
                  <a:solidFill>
                    <a:srgbClr val="17375E"/>
                  </a:solidFill>
                </a:uFill>
                <a:latin typeface="Times New Roman" panose="02020603050405020304" pitchFamily="18" charset="0"/>
                <a:cs typeface="Times New Roman" panose="02020603050405020304" pitchFamily="18" charset="0"/>
              </a:rPr>
              <a:t> </a:t>
            </a:r>
            <a:r>
              <a:rPr lang="en-US" sz="3600" b="1" spc="-50" dirty="0">
                <a:solidFill>
                  <a:srgbClr val="FFFF00"/>
                </a:solidFill>
                <a:uFill>
                  <a:solidFill>
                    <a:srgbClr val="17375E"/>
                  </a:solidFill>
                </a:uFill>
                <a:latin typeface="Times New Roman" panose="02020603050405020304" pitchFamily="18" charset="0"/>
                <a:cs typeface="Times New Roman" panose="02020603050405020304" pitchFamily="18" charset="0"/>
              </a:rPr>
              <a:t>E</a:t>
            </a:r>
            <a:r>
              <a:rPr sz="3600" b="1" dirty="0">
                <a:solidFill>
                  <a:srgbClr val="FFFF00"/>
                </a:solidFill>
                <a:uFill>
                  <a:solidFill>
                    <a:srgbClr val="17375E"/>
                  </a:solidFill>
                </a:uFill>
                <a:latin typeface="Times New Roman" panose="02020603050405020304" pitchFamily="18" charset="0"/>
                <a:cs typeface="Times New Roman" panose="02020603050405020304" pitchFamily="18" charset="0"/>
              </a:rPr>
              <a:t>quity</a:t>
            </a:r>
            <a:r>
              <a:rPr sz="3600" b="1" spc="-35" dirty="0">
                <a:solidFill>
                  <a:srgbClr val="FFFF00"/>
                </a:solidFill>
                <a:uFill>
                  <a:solidFill>
                    <a:srgbClr val="17375E"/>
                  </a:solidFill>
                </a:uFill>
                <a:latin typeface="Times New Roman" panose="02020603050405020304" pitchFamily="18" charset="0"/>
                <a:cs typeface="Times New Roman" panose="02020603050405020304" pitchFamily="18" charset="0"/>
              </a:rPr>
              <a:t> </a:t>
            </a:r>
            <a:r>
              <a:rPr sz="3600" b="1" dirty="0">
                <a:solidFill>
                  <a:srgbClr val="FFFF00"/>
                </a:solidFill>
                <a:uFill>
                  <a:solidFill>
                    <a:srgbClr val="17375E"/>
                  </a:solidFill>
                </a:uFill>
                <a:latin typeface="Times New Roman" panose="02020603050405020304" pitchFamily="18" charset="0"/>
                <a:cs typeface="Times New Roman" panose="02020603050405020304" pitchFamily="18" charset="0"/>
              </a:rPr>
              <a:t>(</a:t>
            </a:r>
            <a:r>
              <a:rPr lang="en-US" sz="3600" b="1" dirty="0">
                <a:solidFill>
                  <a:srgbClr val="FFFF00"/>
                </a:solidFill>
                <a:uFill>
                  <a:solidFill>
                    <a:srgbClr val="17375E"/>
                  </a:solidFill>
                </a:uFill>
                <a:latin typeface="Times New Roman" panose="02020603050405020304" pitchFamily="18" charset="0"/>
                <a:cs typeface="Times New Roman" panose="02020603050405020304" pitchFamily="18" charset="0"/>
              </a:rPr>
              <a:t>W</a:t>
            </a:r>
            <a:r>
              <a:rPr sz="3600" b="1" dirty="0">
                <a:solidFill>
                  <a:srgbClr val="FFFF00"/>
                </a:solidFill>
                <a:uFill>
                  <a:solidFill>
                    <a:srgbClr val="17375E"/>
                  </a:solidFill>
                </a:uFill>
                <a:latin typeface="Times New Roman" panose="02020603050405020304" pitchFamily="18" charset="0"/>
                <a:cs typeface="Times New Roman" panose="02020603050405020304" pitchFamily="18" charset="0"/>
              </a:rPr>
              <a:t>ith</a:t>
            </a:r>
            <a:r>
              <a:rPr lang="en-US" sz="3600" b="1" spc="-50" dirty="0">
                <a:solidFill>
                  <a:srgbClr val="FFFF00"/>
                </a:solidFill>
                <a:uFill>
                  <a:solidFill>
                    <a:srgbClr val="17375E"/>
                  </a:solidFill>
                </a:uFill>
                <a:latin typeface="Times New Roman" panose="02020603050405020304" pitchFamily="18" charset="0"/>
                <a:cs typeface="Times New Roman" panose="02020603050405020304" pitchFamily="18" charset="0"/>
              </a:rPr>
              <a:t> R</a:t>
            </a:r>
            <a:r>
              <a:rPr lang="en-US" sz="3600" b="1" dirty="0">
                <a:solidFill>
                  <a:srgbClr val="FFFF00"/>
                </a:solidFill>
                <a:uFill>
                  <a:solidFill>
                    <a:srgbClr val="17375E"/>
                  </a:solidFill>
                </a:uFill>
                <a:latin typeface="Times New Roman" panose="02020603050405020304" pitchFamily="18" charset="0"/>
                <a:cs typeface="Times New Roman" panose="02020603050405020304" pitchFamily="18" charset="0"/>
              </a:rPr>
              <a:t>eal-Life</a:t>
            </a:r>
            <a:r>
              <a:rPr sz="3600" b="1" spc="-50" dirty="0">
                <a:solidFill>
                  <a:srgbClr val="FFFF00"/>
                </a:solidFill>
                <a:uFill>
                  <a:solidFill>
                    <a:srgbClr val="17375E"/>
                  </a:solidFill>
                </a:uFill>
                <a:latin typeface="Times New Roman" panose="02020603050405020304" pitchFamily="18" charset="0"/>
                <a:cs typeface="Times New Roman" panose="02020603050405020304" pitchFamily="18" charset="0"/>
              </a:rPr>
              <a:t> </a:t>
            </a:r>
            <a:r>
              <a:rPr lang="en-US" sz="3600" b="1" spc="-10" dirty="0">
                <a:solidFill>
                  <a:srgbClr val="FFFF00"/>
                </a:solidFill>
                <a:uFill>
                  <a:solidFill>
                    <a:srgbClr val="17375E"/>
                  </a:solidFill>
                </a:uFill>
                <a:latin typeface="Times New Roman" panose="02020603050405020304" pitchFamily="18" charset="0"/>
                <a:cs typeface="Times New Roman" panose="02020603050405020304" pitchFamily="18" charset="0"/>
              </a:rPr>
              <a:t>E</a:t>
            </a:r>
            <a:r>
              <a:rPr sz="3600" b="1" spc="-10" dirty="0">
                <a:solidFill>
                  <a:srgbClr val="FFFF00"/>
                </a:solidFill>
                <a:uFill>
                  <a:solidFill>
                    <a:srgbClr val="17375E"/>
                  </a:solidFill>
                </a:uFill>
                <a:latin typeface="Times New Roman" panose="02020603050405020304" pitchFamily="18" charset="0"/>
                <a:cs typeface="Times New Roman" panose="02020603050405020304" pitchFamily="18" charset="0"/>
              </a:rPr>
              <a:t>xample)</a:t>
            </a:r>
            <a:endParaRPr sz="3600" b="1" dirty="0">
              <a:solidFill>
                <a:srgbClr val="FFFF00"/>
              </a:solidFill>
              <a:latin typeface="Times New Roman" panose="02020603050405020304" pitchFamily="18" charset="0"/>
              <a:cs typeface="Times New Roman" panose="02020603050405020304" pitchFamily="18" charset="0"/>
            </a:endParaRPr>
          </a:p>
        </p:txBody>
      </p:sp>
      <p:grpSp>
        <p:nvGrpSpPr>
          <p:cNvPr id="3" name="object 3"/>
          <p:cNvGrpSpPr/>
          <p:nvPr/>
        </p:nvGrpSpPr>
        <p:grpSpPr>
          <a:xfrm>
            <a:off x="381762" y="1600200"/>
            <a:ext cx="8277528" cy="2085213"/>
            <a:chOff x="294131" y="1130808"/>
            <a:chExt cx="8592820" cy="2554605"/>
          </a:xfrm>
        </p:grpSpPr>
        <p:sp>
          <p:nvSpPr>
            <p:cNvPr id="4" name="object 4"/>
            <p:cNvSpPr/>
            <p:nvPr/>
          </p:nvSpPr>
          <p:spPr>
            <a:xfrm>
              <a:off x="3438905" y="1232154"/>
              <a:ext cx="5434965" cy="2352040"/>
            </a:xfrm>
            <a:custGeom>
              <a:avLst/>
              <a:gdLst/>
              <a:ahLst/>
              <a:cxnLst/>
              <a:rect l="l" t="t" r="r" b="b"/>
              <a:pathLst>
                <a:path w="5434965" h="2352040">
                  <a:moveTo>
                    <a:pt x="5042662" y="0"/>
                  </a:moveTo>
                  <a:lnTo>
                    <a:pt x="0" y="0"/>
                  </a:lnTo>
                  <a:lnTo>
                    <a:pt x="0" y="2351532"/>
                  </a:lnTo>
                  <a:lnTo>
                    <a:pt x="5042662" y="2351532"/>
                  </a:lnTo>
                  <a:lnTo>
                    <a:pt x="5091815" y="2348477"/>
                  </a:lnTo>
                  <a:lnTo>
                    <a:pt x="5139148" y="2339559"/>
                  </a:lnTo>
                  <a:lnTo>
                    <a:pt x="5184295" y="2325145"/>
                  </a:lnTo>
                  <a:lnTo>
                    <a:pt x="5226886" y="2305603"/>
                  </a:lnTo>
                  <a:lnTo>
                    <a:pt x="5266556" y="2281300"/>
                  </a:lnTo>
                  <a:lnTo>
                    <a:pt x="5302935" y="2252604"/>
                  </a:lnTo>
                  <a:lnTo>
                    <a:pt x="5335656" y="2219883"/>
                  </a:lnTo>
                  <a:lnTo>
                    <a:pt x="5364352" y="2183504"/>
                  </a:lnTo>
                  <a:lnTo>
                    <a:pt x="5388655" y="2143834"/>
                  </a:lnTo>
                  <a:lnTo>
                    <a:pt x="5408197" y="2101243"/>
                  </a:lnTo>
                  <a:lnTo>
                    <a:pt x="5422611" y="2056096"/>
                  </a:lnTo>
                  <a:lnTo>
                    <a:pt x="5431529" y="2008763"/>
                  </a:lnTo>
                  <a:lnTo>
                    <a:pt x="5434584" y="1959610"/>
                  </a:lnTo>
                  <a:lnTo>
                    <a:pt x="5434584" y="391922"/>
                  </a:lnTo>
                  <a:lnTo>
                    <a:pt x="5431529" y="342768"/>
                  </a:lnTo>
                  <a:lnTo>
                    <a:pt x="5422611" y="295435"/>
                  </a:lnTo>
                  <a:lnTo>
                    <a:pt x="5408197" y="250288"/>
                  </a:lnTo>
                  <a:lnTo>
                    <a:pt x="5388655" y="207697"/>
                  </a:lnTo>
                  <a:lnTo>
                    <a:pt x="5364352" y="168027"/>
                  </a:lnTo>
                  <a:lnTo>
                    <a:pt x="5335656" y="131648"/>
                  </a:lnTo>
                  <a:lnTo>
                    <a:pt x="5302935" y="98927"/>
                  </a:lnTo>
                  <a:lnTo>
                    <a:pt x="5266556" y="70231"/>
                  </a:lnTo>
                  <a:lnTo>
                    <a:pt x="5226886" y="45928"/>
                  </a:lnTo>
                  <a:lnTo>
                    <a:pt x="5184295" y="26386"/>
                  </a:lnTo>
                  <a:lnTo>
                    <a:pt x="5139148" y="11972"/>
                  </a:lnTo>
                  <a:lnTo>
                    <a:pt x="5091815" y="3054"/>
                  </a:lnTo>
                  <a:lnTo>
                    <a:pt x="5042662" y="0"/>
                  </a:lnTo>
                  <a:close/>
                </a:path>
              </a:pathLst>
            </a:custGeom>
            <a:solidFill>
              <a:srgbClr val="D0D7E8">
                <a:alpha val="90194"/>
              </a:srgbClr>
            </a:solidFill>
          </p:spPr>
          <p:txBody>
            <a:bodyPr wrap="square" lIns="0" tIns="0" rIns="0" bIns="0" rtlCol="0"/>
            <a:lstStyle/>
            <a:p>
              <a:endParaRPr dirty="0"/>
            </a:p>
          </p:txBody>
        </p:sp>
        <p:sp>
          <p:nvSpPr>
            <p:cNvPr id="5" name="object 5"/>
            <p:cNvSpPr/>
            <p:nvPr/>
          </p:nvSpPr>
          <p:spPr>
            <a:xfrm>
              <a:off x="3438905" y="1232154"/>
              <a:ext cx="5434965" cy="2352040"/>
            </a:xfrm>
            <a:custGeom>
              <a:avLst/>
              <a:gdLst/>
              <a:ahLst/>
              <a:cxnLst/>
              <a:rect l="l" t="t" r="r" b="b"/>
              <a:pathLst>
                <a:path w="5434965" h="2352040">
                  <a:moveTo>
                    <a:pt x="5434584" y="391922"/>
                  </a:moveTo>
                  <a:lnTo>
                    <a:pt x="5434584" y="1959610"/>
                  </a:lnTo>
                  <a:lnTo>
                    <a:pt x="5431529" y="2008763"/>
                  </a:lnTo>
                  <a:lnTo>
                    <a:pt x="5422611" y="2056096"/>
                  </a:lnTo>
                  <a:lnTo>
                    <a:pt x="5408197" y="2101243"/>
                  </a:lnTo>
                  <a:lnTo>
                    <a:pt x="5388655" y="2143834"/>
                  </a:lnTo>
                  <a:lnTo>
                    <a:pt x="5364352" y="2183504"/>
                  </a:lnTo>
                  <a:lnTo>
                    <a:pt x="5335656" y="2219883"/>
                  </a:lnTo>
                  <a:lnTo>
                    <a:pt x="5302935" y="2252604"/>
                  </a:lnTo>
                  <a:lnTo>
                    <a:pt x="5266556" y="2281300"/>
                  </a:lnTo>
                  <a:lnTo>
                    <a:pt x="5226886" y="2305603"/>
                  </a:lnTo>
                  <a:lnTo>
                    <a:pt x="5184295" y="2325145"/>
                  </a:lnTo>
                  <a:lnTo>
                    <a:pt x="5139148" y="2339559"/>
                  </a:lnTo>
                  <a:lnTo>
                    <a:pt x="5091815" y="2348477"/>
                  </a:lnTo>
                  <a:lnTo>
                    <a:pt x="5042662" y="2351532"/>
                  </a:lnTo>
                  <a:lnTo>
                    <a:pt x="0" y="2351532"/>
                  </a:lnTo>
                  <a:lnTo>
                    <a:pt x="0" y="0"/>
                  </a:lnTo>
                  <a:lnTo>
                    <a:pt x="5042662" y="0"/>
                  </a:lnTo>
                  <a:lnTo>
                    <a:pt x="5091815" y="3054"/>
                  </a:lnTo>
                  <a:lnTo>
                    <a:pt x="5139148" y="11972"/>
                  </a:lnTo>
                  <a:lnTo>
                    <a:pt x="5184295" y="26386"/>
                  </a:lnTo>
                  <a:lnTo>
                    <a:pt x="5226886" y="45928"/>
                  </a:lnTo>
                  <a:lnTo>
                    <a:pt x="5266556" y="70231"/>
                  </a:lnTo>
                  <a:lnTo>
                    <a:pt x="5302935" y="98927"/>
                  </a:lnTo>
                  <a:lnTo>
                    <a:pt x="5335656" y="131648"/>
                  </a:lnTo>
                  <a:lnTo>
                    <a:pt x="5364352" y="168027"/>
                  </a:lnTo>
                  <a:lnTo>
                    <a:pt x="5388655" y="207697"/>
                  </a:lnTo>
                  <a:lnTo>
                    <a:pt x="5408197" y="250288"/>
                  </a:lnTo>
                  <a:lnTo>
                    <a:pt x="5422611" y="295435"/>
                  </a:lnTo>
                  <a:lnTo>
                    <a:pt x="5431529" y="342768"/>
                  </a:lnTo>
                  <a:lnTo>
                    <a:pt x="5434584" y="391922"/>
                  </a:lnTo>
                  <a:close/>
                </a:path>
              </a:pathLst>
            </a:custGeom>
            <a:ln w="25908">
              <a:solidFill>
                <a:srgbClr val="D0D7E8"/>
              </a:solidFill>
            </a:ln>
          </p:spPr>
          <p:txBody>
            <a:bodyPr wrap="square" lIns="0" tIns="0" rIns="0" bIns="0" rtlCol="0"/>
            <a:lstStyle/>
            <a:p>
              <a:endParaRPr dirty="0"/>
            </a:p>
          </p:txBody>
        </p:sp>
        <p:sp>
          <p:nvSpPr>
            <p:cNvPr id="6" name="object 6"/>
            <p:cNvSpPr/>
            <p:nvPr/>
          </p:nvSpPr>
          <p:spPr>
            <a:xfrm>
              <a:off x="381761" y="1143762"/>
              <a:ext cx="3057525" cy="2528570"/>
            </a:xfrm>
            <a:custGeom>
              <a:avLst/>
              <a:gdLst/>
              <a:ahLst/>
              <a:cxnLst/>
              <a:rect l="l" t="t" r="r" b="b"/>
              <a:pathLst>
                <a:path w="3057525" h="2528570">
                  <a:moveTo>
                    <a:pt x="0" y="421386"/>
                  </a:moveTo>
                  <a:lnTo>
                    <a:pt x="2834" y="372254"/>
                  </a:lnTo>
                  <a:lnTo>
                    <a:pt x="11129" y="324785"/>
                  </a:lnTo>
                  <a:lnTo>
                    <a:pt x="24566" y="279294"/>
                  </a:lnTo>
                  <a:lnTo>
                    <a:pt x="42830" y="236097"/>
                  </a:lnTo>
                  <a:lnTo>
                    <a:pt x="65604" y="195512"/>
                  </a:lnTo>
                  <a:lnTo>
                    <a:pt x="92574" y="157856"/>
                  </a:lnTo>
                  <a:lnTo>
                    <a:pt x="123421" y="123444"/>
                  </a:lnTo>
                  <a:lnTo>
                    <a:pt x="157831" y="92592"/>
                  </a:lnTo>
                  <a:lnTo>
                    <a:pt x="195488" y="65619"/>
                  </a:lnTo>
                  <a:lnTo>
                    <a:pt x="236074" y="42840"/>
                  </a:lnTo>
                  <a:lnTo>
                    <a:pt x="279275" y="24572"/>
                  </a:lnTo>
                  <a:lnTo>
                    <a:pt x="324773" y="11132"/>
                  </a:lnTo>
                  <a:lnTo>
                    <a:pt x="372253" y="2835"/>
                  </a:lnTo>
                  <a:lnTo>
                    <a:pt x="421398" y="0"/>
                  </a:lnTo>
                  <a:lnTo>
                    <a:pt x="2635758" y="0"/>
                  </a:lnTo>
                  <a:lnTo>
                    <a:pt x="2684889" y="2835"/>
                  </a:lnTo>
                  <a:lnTo>
                    <a:pt x="2732358" y="11132"/>
                  </a:lnTo>
                  <a:lnTo>
                    <a:pt x="2777849" y="24572"/>
                  </a:lnTo>
                  <a:lnTo>
                    <a:pt x="2821046" y="42840"/>
                  </a:lnTo>
                  <a:lnTo>
                    <a:pt x="2861631" y="65619"/>
                  </a:lnTo>
                  <a:lnTo>
                    <a:pt x="2899287" y="92592"/>
                  </a:lnTo>
                  <a:lnTo>
                    <a:pt x="2933699" y="123444"/>
                  </a:lnTo>
                  <a:lnTo>
                    <a:pt x="2964551" y="157856"/>
                  </a:lnTo>
                  <a:lnTo>
                    <a:pt x="2991524" y="195512"/>
                  </a:lnTo>
                  <a:lnTo>
                    <a:pt x="3014303" y="236097"/>
                  </a:lnTo>
                  <a:lnTo>
                    <a:pt x="3032571" y="279294"/>
                  </a:lnTo>
                  <a:lnTo>
                    <a:pt x="3046011" y="324785"/>
                  </a:lnTo>
                  <a:lnTo>
                    <a:pt x="3054308" y="372254"/>
                  </a:lnTo>
                  <a:lnTo>
                    <a:pt x="3057143" y="421386"/>
                  </a:lnTo>
                  <a:lnTo>
                    <a:pt x="3057143" y="2106929"/>
                  </a:lnTo>
                  <a:lnTo>
                    <a:pt x="3054308" y="2156061"/>
                  </a:lnTo>
                  <a:lnTo>
                    <a:pt x="3046011" y="2203530"/>
                  </a:lnTo>
                  <a:lnTo>
                    <a:pt x="3032571" y="2249021"/>
                  </a:lnTo>
                  <a:lnTo>
                    <a:pt x="3014303" y="2292218"/>
                  </a:lnTo>
                  <a:lnTo>
                    <a:pt x="2991524" y="2332803"/>
                  </a:lnTo>
                  <a:lnTo>
                    <a:pt x="2964551" y="2370459"/>
                  </a:lnTo>
                  <a:lnTo>
                    <a:pt x="2933699" y="2404871"/>
                  </a:lnTo>
                  <a:lnTo>
                    <a:pt x="2899287" y="2435723"/>
                  </a:lnTo>
                  <a:lnTo>
                    <a:pt x="2861631" y="2462696"/>
                  </a:lnTo>
                  <a:lnTo>
                    <a:pt x="2821046" y="2485475"/>
                  </a:lnTo>
                  <a:lnTo>
                    <a:pt x="2777849" y="2503743"/>
                  </a:lnTo>
                  <a:lnTo>
                    <a:pt x="2732358" y="2517183"/>
                  </a:lnTo>
                  <a:lnTo>
                    <a:pt x="2684889" y="2525480"/>
                  </a:lnTo>
                  <a:lnTo>
                    <a:pt x="2635758" y="2528316"/>
                  </a:lnTo>
                  <a:lnTo>
                    <a:pt x="421398" y="2528316"/>
                  </a:lnTo>
                  <a:lnTo>
                    <a:pt x="372253" y="2525480"/>
                  </a:lnTo>
                  <a:lnTo>
                    <a:pt x="324773" y="2517183"/>
                  </a:lnTo>
                  <a:lnTo>
                    <a:pt x="279275" y="2503743"/>
                  </a:lnTo>
                  <a:lnTo>
                    <a:pt x="236074" y="2485475"/>
                  </a:lnTo>
                  <a:lnTo>
                    <a:pt x="195488" y="2462696"/>
                  </a:lnTo>
                  <a:lnTo>
                    <a:pt x="157831" y="2435723"/>
                  </a:lnTo>
                  <a:lnTo>
                    <a:pt x="123421" y="2404871"/>
                  </a:lnTo>
                  <a:lnTo>
                    <a:pt x="92574" y="2370459"/>
                  </a:lnTo>
                  <a:lnTo>
                    <a:pt x="65604" y="2332803"/>
                  </a:lnTo>
                  <a:lnTo>
                    <a:pt x="42830" y="2292218"/>
                  </a:lnTo>
                  <a:lnTo>
                    <a:pt x="24566" y="2249021"/>
                  </a:lnTo>
                  <a:lnTo>
                    <a:pt x="11129" y="2203530"/>
                  </a:lnTo>
                  <a:lnTo>
                    <a:pt x="2834" y="2156061"/>
                  </a:lnTo>
                  <a:lnTo>
                    <a:pt x="0" y="2106929"/>
                  </a:lnTo>
                  <a:lnTo>
                    <a:pt x="0" y="421386"/>
                  </a:lnTo>
                  <a:close/>
                </a:path>
              </a:pathLst>
            </a:custGeom>
            <a:ln w="25907">
              <a:solidFill>
                <a:srgbClr val="FFFFFF"/>
              </a:solidFill>
            </a:ln>
          </p:spPr>
          <p:txBody>
            <a:bodyPr wrap="square" lIns="0" tIns="0" rIns="0" bIns="0" rtlCol="0"/>
            <a:lstStyle/>
            <a:p>
              <a:endParaRPr dirty="0"/>
            </a:p>
          </p:txBody>
        </p:sp>
        <p:pic>
          <p:nvPicPr>
            <p:cNvPr id="7" name="object 7"/>
            <p:cNvPicPr/>
            <p:nvPr/>
          </p:nvPicPr>
          <p:blipFill>
            <a:blip r:embed="rId2" cstate="print"/>
            <a:stretch>
              <a:fillRect/>
            </a:stretch>
          </p:blipFill>
          <p:spPr>
            <a:xfrm>
              <a:off x="294131" y="1143000"/>
              <a:ext cx="3150108" cy="2362200"/>
            </a:xfrm>
            <a:prstGeom prst="rect">
              <a:avLst/>
            </a:prstGeom>
          </p:spPr>
        </p:pic>
      </p:grpSp>
      <p:sp>
        <p:nvSpPr>
          <p:cNvPr id="8" name="object 8"/>
          <p:cNvSpPr txBox="1"/>
          <p:nvPr/>
        </p:nvSpPr>
        <p:spPr>
          <a:xfrm>
            <a:off x="1316227" y="1895982"/>
            <a:ext cx="6967220" cy="1268937"/>
          </a:xfrm>
          <a:prstGeom prst="rect">
            <a:avLst/>
          </a:prstGeom>
        </p:spPr>
        <p:txBody>
          <a:bodyPr vert="horz" wrap="square" lIns="0" tIns="37465" rIns="0" bIns="0" rtlCol="0">
            <a:spAutoFit/>
          </a:bodyPr>
          <a:lstStyle/>
          <a:p>
            <a:pPr marL="2540635" marR="77470" indent="-171450">
              <a:lnSpc>
                <a:spcPts val="1750"/>
              </a:lnSpc>
              <a:spcBef>
                <a:spcPts val="295"/>
              </a:spcBef>
              <a:buChar char="•"/>
              <a:tabLst>
                <a:tab pos="2541905" algn="l"/>
              </a:tabLst>
            </a:pPr>
            <a:r>
              <a:rPr sz="1600" dirty="0">
                <a:solidFill>
                  <a:schemeClr val="tx2">
                    <a:lumMod val="10000"/>
                  </a:schemeClr>
                </a:solidFill>
                <a:latin typeface="Calibri"/>
                <a:cs typeface="Calibri"/>
              </a:rPr>
              <a:t>In</a:t>
            </a:r>
            <a:r>
              <a:rPr sz="1600" spc="-40" dirty="0">
                <a:solidFill>
                  <a:schemeClr val="tx2">
                    <a:lumMod val="10000"/>
                  </a:schemeClr>
                </a:solidFill>
                <a:latin typeface="Calibri"/>
                <a:cs typeface="Calibri"/>
              </a:rPr>
              <a:t> </a:t>
            </a:r>
            <a:r>
              <a:rPr sz="1600" dirty="0">
                <a:solidFill>
                  <a:schemeClr val="tx2">
                    <a:lumMod val="10000"/>
                  </a:schemeClr>
                </a:solidFill>
                <a:latin typeface="Calibri"/>
                <a:cs typeface="Calibri"/>
              </a:rPr>
              <a:t>2006,</a:t>
            </a:r>
            <a:r>
              <a:rPr sz="1600" spc="-20" dirty="0">
                <a:solidFill>
                  <a:schemeClr val="tx2">
                    <a:lumMod val="10000"/>
                  </a:schemeClr>
                </a:solidFill>
                <a:latin typeface="Calibri"/>
                <a:cs typeface="Calibri"/>
              </a:rPr>
              <a:t> </a:t>
            </a:r>
            <a:r>
              <a:rPr sz="1600" dirty="0">
                <a:solidFill>
                  <a:schemeClr val="tx2">
                    <a:lumMod val="10000"/>
                  </a:schemeClr>
                </a:solidFill>
                <a:latin typeface="Calibri"/>
                <a:cs typeface="Calibri"/>
              </a:rPr>
              <a:t>TPG</a:t>
            </a:r>
            <a:r>
              <a:rPr sz="1600" spc="-25" dirty="0">
                <a:solidFill>
                  <a:schemeClr val="tx2">
                    <a:lumMod val="10000"/>
                  </a:schemeClr>
                </a:solidFill>
                <a:latin typeface="Calibri"/>
                <a:cs typeface="Calibri"/>
              </a:rPr>
              <a:t> </a:t>
            </a:r>
            <a:r>
              <a:rPr lang="en-US" sz="1600" dirty="0">
                <a:solidFill>
                  <a:schemeClr val="tx2">
                    <a:lumMod val="10000"/>
                  </a:schemeClr>
                </a:solidFill>
                <a:latin typeface="Calibri"/>
                <a:cs typeface="Calibri"/>
              </a:rPr>
              <a:t>made a private equity investment of $100 million into “Shriram City Union Finance</a:t>
            </a:r>
            <a:r>
              <a:rPr sz="1600" spc="-10" dirty="0">
                <a:solidFill>
                  <a:schemeClr val="tx2">
                    <a:lumMod val="10000"/>
                  </a:schemeClr>
                </a:solidFill>
                <a:latin typeface="Calibri"/>
                <a:cs typeface="Calibri"/>
              </a:rPr>
              <a:t>”.</a:t>
            </a:r>
            <a:endParaRPr sz="1600" dirty="0">
              <a:solidFill>
                <a:schemeClr val="tx2">
                  <a:lumMod val="10000"/>
                </a:schemeClr>
              </a:solidFill>
              <a:latin typeface="Calibri"/>
              <a:cs typeface="Calibri"/>
            </a:endParaRPr>
          </a:p>
          <a:p>
            <a:pPr marL="2540635" marR="5080" indent="-171450">
              <a:lnSpc>
                <a:spcPts val="1750"/>
              </a:lnSpc>
              <a:spcBef>
                <a:spcPts val="305"/>
              </a:spcBef>
              <a:buChar char="•"/>
              <a:tabLst>
                <a:tab pos="2541905" algn="l"/>
              </a:tabLst>
            </a:pPr>
            <a:r>
              <a:rPr sz="1600" dirty="0">
                <a:solidFill>
                  <a:schemeClr val="tx2">
                    <a:lumMod val="10000"/>
                  </a:schemeClr>
                </a:solidFill>
                <a:latin typeface="Calibri"/>
                <a:cs typeface="Calibri"/>
              </a:rPr>
              <a:t>In</a:t>
            </a:r>
            <a:r>
              <a:rPr sz="1600" spc="-30" dirty="0">
                <a:solidFill>
                  <a:schemeClr val="tx2">
                    <a:lumMod val="10000"/>
                  </a:schemeClr>
                </a:solidFill>
                <a:latin typeface="Calibri"/>
                <a:cs typeface="Calibri"/>
              </a:rPr>
              <a:t> </a:t>
            </a:r>
            <a:r>
              <a:rPr sz="1600" dirty="0">
                <a:solidFill>
                  <a:schemeClr val="tx2">
                    <a:lumMod val="10000"/>
                  </a:schemeClr>
                </a:solidFill>
                <a:latin typeface="Calibri"/>
                <a:cs typeface="Calibri"/>
              </a:rPr>
              <a:t>2008,</a:t>
            </a:r>
            <a:r>
              <a:rPr sz="1600" spc="-5" dirty="0">
                <a:solidFill>
                  <a:schemeClr val="tx2">
                    <a:lumMod val="10000"/>
                  </a:schemeClr>
                </a:solidFill>
                <a:latin typeface="Calibri"/>
                <a:cs typeface="Calibri"/>
              </a:rPr>
              <a:t> </a:t>
            </a:r>
            <a:r>
              <a:rPr sz="1600" dirty="0">
                <a:solidFill>
                  <a:schemeClr val="tx2">
                    <a:lumMod val="10000"/>
                  </a:schemeClr>
                </a:solidFill>
                <a:latin typeface="Calibri"/>
                <a:cs typeface="Calibri"/>
              </a:rPr>
              <a:t>TPG</a:t>
            </a:r>
            <a:r>
              <a:rPr sz="1600" spc="-15" dirty="0">
                <a:solidFill>
                  <a:schemeClr val="tx2">
                    <a:lumMod val="10000"/>
                  </a:schemeClr>
                </a:solidFill>
                <a:latin typeface="Calibri"/>
                <a:cs typeface="Calibri"/>
              </a:rPr>
              <a:t> </a:t>
            </a:r>
            <a:r>
              <a:rPr sz="1600" dirty="0">
                <a:solidFill>
                  <a:schemeClr val="tx2">
                    <a:lumMod val="10000"/>
                  </a:schemeClr>
                </a:solidFill>
                <a:latin typeface="Calibri"/>
                <a:cs typeface="Calibri"/>
              </a:rPr>
              <a:t>earned</a:t>
            </a:r>
            <a:r>
              <a:rPr sz="1600" spc="-15" dirty="0">
                <a:solidFill>
                  <a:schemeClr val="tx2">
                    <a:lumMod val="10000"/>
                  </a:schemeClr>
                </a:solidFill>
                <a:latin typeface="Calibri"/>
                <a:cs typeface="Calibri"/>
              </a:rPr>
              <a:t> </a:t>
            </a:r>
            <a:r>
              <a:rPr sz="1600" dirty="0">
                <a:solidFill>
                  <a:schemeClr val="tx2">
                    <a:lumMod val="10000"/>
                  </a:schemeClr>
                </a:solidFill>
                <a:latin typeface="Calibri"/>
                <a:cs typeface="Calibri"/>
              </a:rPr>
              <a:t>4</a:t>
            </a:r>
            <a:r>
              <a:rPr sz="1600" spc="-25" dirty="0">
                <a:solidFill>
                  <a:schemeClr val="tx2">
                    <a:lumMod val="10000"/>
                  </a:schemeClr>
                </a:solidFill>
                <a:latin typeface="Calibri"/>
                <a:cs typeface="Calibri"/>
              </a:rPr>
              <a:t> </a:t>
            </a:r>
            <a:r>
              <a:rPr sz="1600" dirty="0">
                <a:solidFill>
                  <a:schemeClr val="tx2">
                    <a:lumMod val="10000"/>
                  </a:schemeClr>
                </a:solidFill>
                <a:latin typeface="Calibri"/>
                <a:cs typeface="Calibri"/>
              </a:rPr>
              <a:t>times</a:t>
            </a:r>
            <a:r>
              <a:rPr sz="1600" spc="-25" dirty="0">
                <a:solidFill>
                  <a:schemeClr val="tx2">
                    <a:lumMod val="10000"/>
                  </a:schemeClr>
                </a:solidFill>
                <a:latin typeface="Calibri"/>
                <a:cs typeface="Calibri"/>
              </a:rPr>
              <a:t> </a:t>
            </a:r>
            <a:r>
              <a:rPr lang="en-US" sz="1600" dirty="0">
                <a:solidFill>
                  <a:schemeClr val="tx2">
                    <a:lumMod val="10000"/>
                  </a:schemeClr>
                </a:solidFill>
                <a:latin typeface="Calibri"/>
                <a:cs typeface="Calibri"/>
              </a:rPr>
              <a:t>its original investment by selling a 20% stake to the Apax Group</a:t>
            </a:r>
            <a:r>
              <a:rPr sz="1600" spc="-10" dirty="0">
                <a:latin typeface="Calibri"/>
                <a:cs typeface="Calibri"/>
              </a:rPr>
              <a:t>.</a:t>
            </a:r>
            <a:endParaRPr sz="1600" dirty="0">
              <a:latin typeface="Calibri"/>
              <a:cs typeface="Calibri"/>
            </a:endParaRPr>
          </a:p>
          <a:p>
            <a:pPr marL="12700">
              <a:lnSpc>
                <a:spcPts val="2050"/>
              </a:lnSpc>
            </a:pPr>
            <a:r>
              <a:rPr sz="1800" spc="-45" dirty="0">
                <a:solidFill>
                  <a:srgbClr val="001F5F"/>
                </a:solidFill>
                <a:latin typeface="Calibri"/>
                <a:cs typeface="Calibri"/>
              </a:rPr>
              <a:t>Texas </a:t>
            </a:r>
            <a:r>
              <a:rPr lang="en-US" sz="1800" dirty="0">
                <a:solidFill>
                  <a:srgbClr val="001F5F"/>
                </a:solidFill>
                <a:latin typeface="Calibri"/>
                <a:cs typeface="Calibri"/>
              </a:rPr>
              <a:t>Pacific Group</a:t>
            </a:r>
            <a:endParaRPr sz="1800" dirty="0">
              <a:latin typeface="Calibri"/>
              <a:cs typeface="Calibri"/>
            </a:endParaRPr>
          </a:p>
        </p:txBody>
      </p:sp>
      <p:grpSp>
        <p:nvGrpSpPr>
          <p:cNvPr id="9" name="object 9"/>
          <p:cNvGrpSpPr/>
          <p:nvPr/>
        </p:nvGrpSpPr>
        <p:grpSpPr>
          <a:xfrm>
            <a:off x="3424365" y="3964243"/>
            <a:ext cx="5338636" cy="2217672"/>
            <a:chOff x="3424364" y="3941000"/>
            <a:chExt cx="5459095" cy="2240915"/>
          </a:xfrm>
        </p:grpSpPr>
        <p:sp>
          <p:nvSpPr>
            <p:cNvPr id="10" name="object 10"/>
            <p:cNvSpPr/>
            <p:nvPr/>
          </p:nvSpPr>
          <p:spPr>
            <a:xfrm>
              <a:off x="3437382" y="3954018"/>
              <a:ext cx="5433060" cy="2214880"/>
            </a:xfrm>
            <a:custGeom>
              <a:avLst/>
              <a:gdLst/>
              <a:ahLst/>
              <a:cxnLst/>
              <a:rect l="l" t="t" r="r" b="b"/>
              <a:pathLst>
                <a:path w="5433059" h="2214879">
                  <a:moveTo>
                    <a:pt x="5063997" y="0"/>
                  </a:moveTo>
                  <a:lnTo>
                    <a:pt x="0" y="0"/>
                  </a:lnTo>
                  <a:lnTo>
                    <a:pt x="0" y="2214371"/>
                  </a:lnTo>
                  <a:lnTo>
                    <a:pt x="5063997" y="2214371"/>
                  </a:lnTo>
                  <a:lnTo>
                    <a:pt x="5110293" y="2211496"/>
                  </a:lnTo>
                  <a:lnTo>
                    <a:pt x="5154873" y="2203100"/>
                  </a:lnTo>
                  <a:lnTo>
                    <a:pt x="5197390" y="2189529"/>
                  </a:lnTo>
                  <a:lnTo>
                    <a:pt x="5237499" y="2171129"/>
                  </a:lnTo>
                  <a:lnTo>
                    <a:pt x="5274854" y="2148247"/>
                  </a:lnTo>
                  <a:lnTo>
                    <a:pt x="5309109" y="2121227"/>
                  </a:lnTo>
                  <a:lnTo>
                    <a:pt x="5339919" y="2090416"/>
                  </a:lnTo>
                  <a:lnTo>
                    <a:pt x="5366938" y="2056160"/>
                  </a:lnTo>
                  <a:lnTo>
                    <a:pt x="5389820" y="2018805"/>
                  </a:lnTo>
                  <a:lnTo>
                    <a:pt x="5408218" y="1978697"/>
                  </a:lnTo>
                  <a:lnTo>
                    <a:pt x="5421788" y="1936181"/>
                  </a:lnTo>
                  <a:lnTo>
                    <a:pt x="5430184" y="1891603"/>
                  </a:lnTo>
                  <a:lnTo>
                    <a:pt x="5433060" y="1845309"/>
                  </a:lnTo>
                  <a:lnTo>
                    <a:pt x="5433060" y="369061"/>
                  </a:lnTo>
                  <a:lnTo>
                    <a:pt x="5430184" y="322766"/>
                  </a:lnTo>
                  <a:lnTo>
                    <a:pt x="5421788" y="278186"/>
                  </a:lnTo>
                  <a:lnTo>
                    <a:pt x="5408218" y="235669"/>
                  </a:lnTo>
                  <a:lnTo>
                    <a:pt x="5389820" y="195560"/>
                  </a:lnTo>
                  <a:lnTo>
                    <a:pt x="5366938" y="158205"/>
                  </a:lnTo>
                  <a:lnTo>
                    <a:pt x="5339919" y="123950"/>
                  </a:lnTo>
                  <a:lnTo>
                    <a:pt x="5309109" y="93140"/>
                  </a:lnTo>
                  <a:lnTo>
                    <a:pt x="5274854" y="66121"/>
                  </a:lnTo>
                  <a:lnTo>
                    <a:pt x="5237499" y="43239"/>
                  </a:lnTo>
                  <a:lnTo>
                    <a:pt x="5197390" y="24841"/>
                  </a:lnTo>
                  <a:lnTo>
                    <a:pt x="5154873" y="11271"/>
                  </a:lnTo>
                  <a:lnTo>
                    <a:pt x="5110293" y="2875"/>
                  </a:lnTo>
                  <a:lnTo>
                    <a:pt x="5063997" y="0"/>
                  </a:lnTo>
                  <a:close/>
                </a:path>
              </a:pathLst>
            </a:custGeom>
            <a:solidFill>
              <a:srgbClr val="D0D7E8">
                <a:alpha val="90194"/>
              </a:srgbClr>
            </a:solidFill>
          </p:spPr>
          <p:txBody>
            <a:bodyPr wrap="square" lIns="0" tIns="0" rIns="0" bIns="0" rtlCol="0"/>
            <a:lstStyle/>
            <a:p>
              <a:endParaRPr dirty="0"/>
            </a:p>
          </p:txBody>
        </p:sp>
        <p:sp>
          <p:nvSpPr>
            <p:cNvPr id="11" name="object 11"/>
            <p:cNvSpPr/>
            <p:nvPr/>
          </p:nvSpPr>
          <p:spPr>
            <a:xfrm>
              <a:off x="3437382" y="3954018"/>
              <a:ext cx="5433060" cy="2214880"/>
            </a:xfrm>
            <a:custGeom>
              <a:avLst/>
              <a:gdLst/>
              <a:ahLst/>
              <a:cxnLst/>
              <a:rect l="l" t="t" r="r" b="b"/>
              <a:pathLst>
                <a:path w="5433059" h="2214879">
                  <a:moveTo>
                    <a:pt x="5433060" y="369061"/>
                  </a:moveTo>
                  <a:lnTo>
                    <a:pt x="5433060" y="1845309"/>
                  </a:lnTo>
                  <a:lnTo>
                    <a:pt x="5430184" y="1891603"/>
                  </a:lnTo>
                  <a:lnTo>
                    <a:pt x="5421788" y="1936181"/>
                  </a:lnTo>
                  <a:lnTo>
                    <a:pt x="5408218" y="1978697"/>
                  </a:lnTo>
                  <a:lnTo>
                    <a:pt x="5389820" y="2018805"/>
                  </a:lnTo>
                  <a:lnTo>
                    <a:pt x="5366938" y="2056160"/>
                  </a:lnTo>
                  <a:lnTo>
                    <a:pt x="5339919" y="2090416"/>
                  </a:lnTo>
                  <a:lnTo>
                    <a:pt x="5309109" y="2121227"/>
                  </a:lnTo>
                  <a:lnTo>
                    <a:pt x="5274854" y="2148247"/>
                  </a:lnTo>
                  <a:lnTo>
                    <a:pt x="5237499" y="2171129"/>
                  </a:lnTo>
                  <a:lnTo>
                    <a:pt x="5197390" y="2189529"/>
                  </a:lnTo>
                  <a:lnTo>
                    <a:pt x="5154873" y="2203100"/>
                  </a:lnTo>
                  <a:lnTo>
                    <a:pt x="5110293" y="2211496"/>
                  </a:lnTo>
                  <a:lnTo>
                    <a:pt x="5063997" y="2214371"/>
                  </a:lnTo>
                  <a:lnTo>
                    <a:pt x="0" y="2214371"/>
                  </a:lnTo>
                  <a:lnTo>
                    <a:pt x="0" y="0"/>
                  </a:lnTo>
                  <a:lnTo>
                    <a:pt x="5063997" y="0"/>
                  </a:lnTo>
                  <a:lnTo>
                    <a:pt x="5110293" y="2875"/>
                  </a:lnTo>
                  <a:lnTo>
                    <a:pt x="5154873" y="11271"/>
                  </a:lnTo>
                  <a:lnTo>
                    <a:pt x="5197390" y="24841"/>
                  </a:lnTo>
                  <a:lnTo>
                    <a:pt x="5237499" y="43239"/>
                  </a:lnTo>
                  <a:lnTo>
                    <a:pt x="5274854" y="66121"/>
                  </a:lnTo>
                  <a:lnTo>
                    <a:pt x="5309109" y="93140"/>
                  </a:lnTo>
                  <a:lnTo>
                    <a:pt x="5339919" y="123950"/>
                  </a:lnTo>
                  <a:lnTo>
                    <a:pt x="5366938" y="158205"/>
                  </a:lnTo>
                  <a:lnTo>
                    <a:pt x="5389820" y="195560"/>
                  </a:lnTo>
                  <a:lnTo>
                    <a:pt x="5408218" y="235669"/>
                  </a:lnTo>
                  <a:lnTo>
                    <a:pt x="5421788" y="278186"/>
                  </a:lnTo>
                  <a:lnTo>
                    <a:pt x="5430184" y="322766"/>
                  </a:lnTo>
                  <a:lnTo>
                    <a:pt x="5433060" y="369061"/>
                  </a:lnTo>
                  <a:close/>
                </a:path>
              </a:pathLst>
            </a:custGeom>
            <a:ln w="25908">
              <a:solidFill>
                <a:srgbClr val="D0D7E8"/>
              </a:solidFill>
            </a:ln>
          </p:spPr>
          <p:txBody>
            <a:bodyPr wrap="square" lIns="0" tIns="0" rIns="0" bIns="0" rtlCol="0"/>
            <a:lstStyle/>
            <a:p>
              <a:endParaRPr dirty="0"/>
            </a:p>
          </p:txBody>
        </p:sp>
      </p:grpSp>
      <p:sp>
        <p:nvSpPr>
          <p:cNvPr id="12" name="object 12"/>
          <p:cNvSpPr txBox="1"/>
          <p:nvPr/>
        </p:nvSpPr>
        <p:spPr>
          <a:xfrm>
            <a:off x="3666713" y="4395447"/>
            <a:ext cx="4853940" cy="1204817"/>
          </a:xfrm>
          <a:prstGeom prst="rect">
            <a:avLst/>
          </a:prstGeom>
        </p:spPr>
        <p:txBody>
          <a:bodyPr vert="horz" wrap="square" lIns="0" tIns="37465" rIns="0" bIns="0" rtlCol="0">
            <a:spAutoFit/>
          </a:bodyPr>
          <a:lstStyle/>
          <a:p>
            <a:pPr marL="183515" marR="5080" indent="-171450">
              <a:lnSpc>
                <a:spcPts val="1750"/>
              </a:lnSpc>
              <a:spcBef>
                <a:spcPts val="295"/>
              </a:spcBef>
              <a:buChar char="•"/>
              <a:tabLst>
                <a:tab pos="184785" algn="l"/>
              </a:tabLst>
            </a:pPr>
            <a:r>
              <a:rPr sz="1600" spc="-20" dirty="0">
                <a:solidFill>
                  <a:schemeClr val="tx2">
                    <a:lumMod val="10000"/>
                  </a:schemeClr>
                </a:solidFill>
                <a:latin typeface="Calibri"/>
                <a:cs typeface="Calibri"/>
              </a:rPr>
              <a:t>APAX</a:t>
            </a:r>
            <a:r>
              <a:rPr sz="1600" spc="-30" dirty="0">
                <a:solidFill>
                  <a:schemeClr val="tx2">
                    <a:lumMod val="10000"/>
                  </a:schemeClr>
                </a:solidFill>
                <a:latin typeface="Calibri"/>
                <a:cs typeface="Calibri"/>
              </a:rPr>
              <a:t> </a:t>
            </a:r>
            <a:r>
              <a:rPr sz="1600" spc="-10" dirty="0">
                <a:solidFill>
                  <a:schemeClr val="tx2">
                    <a:lumMod val="10000"/>
                  </a:schemeClr>
                </a:solidFill>
                <a:latin typeface="Calibri"/>
                <a:cs typeface="Calibri"/>
              </a:rPr>
              <a:t>entered</a:t>
            </a:r>
            <a:r>
              <a:rPr sz="1600" spc="-30" dirty="0">
                <a:solidFill>
                  <a:schemeClr val="tx2">
                    <a:lumMod val="10000"/>
                  </a:schemeClr>
                </a:solidFill>
                <a:latin typeface="Calibri"/>
                <a:cs typeface="Calibri"/>
              </a:rPr>
              <a:t> </a:t>
            </a:r>
            <a:r>
              <a:rPr lang="en-US" sz="1600" dirty="0">
                <a:solidFill>
                  <a:schemeClr val="tx2">
                    <a:lumMod val="10000"/>
                  </a:schemeClr>
                </a:solidFill>
                <a:latin typeface="Calibri"/>
                <a:cs typeface="Calibri"/>
              </a:rPr>
              <a:t>the Indian market in 2007 and made an investment of $104 million in the </a:t>
            </a:r>
            <a:r>
              <a:rPr sz="1600" dirty="0">
                <a:solidFill>
                  <a:schemeClr val="tx2">
                    <a:lumMod val="10000"/>
                  </a:schemeClr>
                </a:solidFill>
                <a:latin typeface="Calibri"/>
                <a:cs typeface="Calibri"/>
              </a:rPr>
              <a:t>health</a:t>
            </a:r>
            <a:r>
              <a:rPr sz="1600" spc="-25" dirty="0">
                <a:solidFill>
                  <a:schemeClr val="tx2">
                    <a:lumMod val="10000"/>
                  </a:schemeClr>
                </a:solidFill>
                <a:latin typeface="Calibri"/>
                <a:cs typeface="Calibri"/>
              </a:rPr>
              <a:t> </a:t>
            </a:r>
            <a:r>
              <a:rPr sz="1600" dirty="0">
                <a:solidFill>
                  <a:schemeClr val="tx2">
                    <a:lumMod val="10000"/>
                  </a:schemeClr>
                </a:solidFill>
                <a:latin typeface="Calibri"/>
                <a:cs typeface="Calibri"/>
              </a:rPr>
              <a:t>care</a:t>
            </a:r>
            <a:r>
              <a:rPr sz="1600" spc="-20" dirty="0">
                <a:solidFill>
                  <a:schemeClr val="tx2">
                    <a:lumMod val="10000"/>
                  </a:schemeClr>
                </a:solidFill>
                <a:latin typeface="Calibri"/>
                <a:cs typeface="Calibri"/>
              </a:rPr>
              <a:t> </a:t>
            </a:r>
            <a:r>
              <a:rPr sz="1600" spc="-10" dirty="0">
                <a:solidFill>
                  <a:schemeClr val="tx2">
                    <a:lumMod val="10000"/>
                  </a:schemeClr>
                </a:solidFill>
                <a:latin typeface="Calibri"/>
                <a:cs typeface="Calibri"/>
              </a:rPr>
              <a:t>industry.</a:t>
            </a:r>
            <a:endParaRPr sz="1600" dirty="0">
              <a:solidFill>
                <a:schemeClr val="tx2">
                  <a:lumMod val="10000"/>
                </a:schemeClr>
              </a:solidFill>
              <a:latin typeface="Calibri"/>
              <a:cs typeface="Calibri"/>
            </a:endParaRPr>
          </a:p>
          <a:p>
            <a:pPr marL="184150" indent="-171450">
              <a:lnSpc>
                <a:spcPts val="1835"/>
              </a:lnSpc>
              <a:spcBef>
                <a:spcPts val="105"/>
              </a:spcBef>
              <a:buChar char="•"/>
              <a:tabLst>
                <a:tab pos="184150" algn="l"/>
              </a:tabLst>
            </a:pPr>
            <a:r>
              <a:rPr sz="1600" spc="-20" dirty="0">
                <a:solidFill>
                  <a:schemeClr val="tx2">
                    <a:lumMod val="10000"/>
                  </a:schemeClr>
                </a:solidFill>
                <a:latin typeface="Calibri"/>
                <a:cs typeface="Calibri"/>
              </a:rPr>
              <a:t>APAX </a:t>
            </a:r>
            <a:r>
              <a:rPr sz="1600" dirty="0">
                <a:solidFill>
                  <a:schemeClr val="tx2">
                    <a:lumMod val="10000"/>
                  </a:schemeClr>
                </a:solidFill>
                <a:latin typeface="Calibri"/>
                <a:cs typeface="Calibri"/>
              </a:rPr>
              <a:t>earned</a:t>
            </a:r>
            <a:r>
              <a:rPr sz="1600" spc="-20" dirty="0">
                <a:solidFill>
                  <a:schemeClr val="tx2">
                    <a:lumMod val="10000"/>
                  </a:schemeClr>
                </a:solidFill>
                <a:latin typeface="Calibri"/>
                <a:cs typeface="Calibri"/>
              </a:rPr>
              <a:t> </a:t>
            </a:r>
            <a:r>
              <a:rPr sz="1600" dirty="0">
                <a:solidFill>
                  <a:schemeClr val="tx2">
                    <a:lumMod val="10000"/>
                  </a:schemeClr>
                </a:solidFill>
                <a:latin typeface="Calibri"/>
                <a:cs typeface="Calibri"/>
              </a:rPr>
              <a:t>$4</a:t>
            </a:r>
            <a:r>
              <a:rPr sz="1600" spc="-25" dirty="0">
                <a:solidFill>
                  <a:schemeClr val="tx2">
                    <a:lumMod val="10000"/>
                  </a:schemeClr>
                </a:solidFill>
                <a:latin typeface="Calibri"/>
                <a:cs typeface="Calibri"/>
              </a:rPr>
              <a:t> </a:t>
            </a:r>
            <a:r>
              <a:rPr sz="1600" dirty="0">
                <a:solidFill>
                  <a:schemeClr val="tx2">
                    <a:lumMod val="10000"/>
                  </a:schemeClr>
                </a:solidFill>
                <a:latin typeface="Calibri"/>
                <a:cs typeface="Calibri"/>
              </a:rPr>
              <a:t>billion</a:t>
            </a:r>
            <a:r>
              <a:rPr sz="1600" spc="-35" dirty="0">
                <a:solidFill>
                  <a:schemeClr val="tx2">
                    <a:lumMod val="10000"/>
                  </a:schemeClr>
                </a:solidFill>
                <a:latin typeface="Calibri"/>
                <a:cs typeface="Calibri"/>
              </a:rPr>
              <a:t> </a:t>
            </a:r>
            <a:r>
              <a:rPr sz="1600" dirty="0">
                <a:solidFill>
                  <a:schemeClr val="tx2">
                    <a:lumMod val="10000"/>
                  </a:schemeClr>
                </a:solidFill>
                <a:latin typeface="Calibri"/>
                <a:cs typeface="Calibri"/>
              </a:rPr>
              <a:t>upon</a:t>
            </a:r>
            <a:r>
              <a:rPr sz="1600" spc="-15" dirty="0">
                <a:solidFill>
                  <a:schemeClr val="tx2">
                    <a:lumMod val="10000"/>
                  </a:schemeClr>
                </a:solidFill>
                <a:latin typeface="Calibri"/>
                <a:cs typeface="Calibri"/>
              </a:rPr>
              <a:t> </a:t>
            </a:r>
            <a:r>
              <a:rPr sz="1600" dirty="0">
                <a:solidFill>
                  <a:schemeClr val="tx2">
                    <a:lumMod val="10000"/>
                  </a:schemeClr>
                </a:solidFill>
                <a:latin typeface="Calibri"/>
                <a:cs typeface="Calibri"/>
              </a:rPr>
              <a:t>the</a:t>
            </a:r>
            <a:r>
              <a:rPr sz="1600" spc="-30" dirty="0">
                <a:solidFill>
                  <a:schemeClr val="tx2">
                    <a:lumMod val="10000"/>
                  </a:schemeClr>
                </a:solidFill>
                <a:latin typeface="Calibri"/>
                <a:cs typeface="Calibri"/>
              </a:rPr>
              <a:t> </a:t>
            </a:r>
            <a:r>
              <a:rPr sz="1600" dirty="0">
                <a:solidFill>
                  <a:schemeClr val="tx2">
                    <a:lumMod val="10000"/>
                  </a:schemeClr>
                </a:solidFill>
                <a:latin typeface="Calibri"/>
                <a:cs typeface="Calibri"/>
              </a:rPr>
              <a:t>sale</a:t>
            </a:r>
            <a:r>
              <a:rPr sz="1600" spc="-25" dirty="0">
                <a:solidFill>
                  <a:schemeClr val="tx2">
                    <a:lumMod val="10000"/>
                  </a:schemeClr>
                </a:solidFill>
                <a:latin typeface="Calibri"/>
                <a:cs typeface="Calibri"/>
              </a:rPr>
              <a:t> </a:t>
            </a:r>
            <a:r>
              <a:rPr sz="1600" dirty="0">
                <a:solidFill>
                  <a:schemeClr val="tx2">
                    <a:lumMod val="10000"/>
                  </a:schemeClr>
                </a:solidFill>
                <a:latin typeface="Calibri"/>
                <a:cs typeface="Calibri"/>
              </a:rPr>
              <a:t>of</a:t>
            </a:r>
            <a:r>
              <a:rPr sz="1600" spc="-30" dirty="0">
                <a:solidFill>
                  <a:schemeClr val="tx2">
                    <a:lumMod val="10000"/>
                  </a:schemeClr>
                </a:solidFill>
                <a:latin typeface="Calibri"/>
                <a:cs typeface="Calibri"/>
              </a:rPr>
              <a:t> </a:t>
            </a:r>
            <a:r>
              <a:rPr sz="1600" dirty="0">
                <a:solidFill>
                  <a:schemeClr val="tx2">
                    <a:lumMod val="10000"/>
                  </a:schemeClr>
                </a:solidFill>
                <a:latin typeface="Calibri"/>
                <a:cs typeface="Calibri"/>
              </a:rPr>
              <a:t>IT</a:t>
            </a:r>
            <a:r>
              <a:rPr sz="1600" spc="-30" dirty="0">
                <a:solidFill>
                  <a:schemeClr val="tx2">
                    <a:lumMod val="10000"/>
                  </a:schemeClr>
                </a:solidFill>
                <a:latin typeface="Calibri"/>
                <a:cs typeface="Calibri"/>
              </a:rPr>
              <a:t> </a:t>
            </a:r>
            <a:r>
              <a:rPr sz="1600" dirty="0">
                <a:solidFill>
                  <a:schemeClr val="tx2">
                    <a:lumMod val="10000"/>
                  </a:schemeClr>
                </a:solidFill>
                <a:latin typeface="Calibri"/>
                <a:cs typeface="Calibri"/>
              </a:rPr>
              <a:t>firm</a:t>
            </a:r>
            <a:r>
              <a:rPr sz="1600" spc="-30" dirty="0">
                <a:solidFill>
                  <a:schemeClr val="tx2">
                    <a:lumMod val="10000"/>
                  </a:schemeClr>
                </a:solidFill>
                <a:latin typeface="Calibri"/>
                <a:cs typeface="Calibri"/>
              </a:rPr>
              <a:t> </a:t>
            </a:r>
            <a:r>
              <a:rPr lang="en-US" sz="1600" dirty="0">
                <a:solidFill>
                  <a:schemeClr val="tx2">
                    <a:lumMod val="10000"/>
                  </a:schemeClr>
                </a:solidFill>
                <a:latin typeface="Calibri"/>
                <a:cs typeface="Calibri"/>
              </a:rPr>
              <a:t>IGATE</a:t>
            </a:r>
            <a:endParaRPr sz="1600" dirty="0">
              <a:solidFill>
                <a:schemeClr val="tx2">
                  <a:lumMod val="10000"/>
                </a:schemeClr>
              </a:solidFill>
              <a:latin typeface="Calibri"/>
              <a:cs typeface="Calibri"/>
            </a:endParaRPr>
          </a:p>
          <a:p>
            <a:pPr marL="184785">
              <a:lnSpc>
                <a:spcPts val="1835"/>
              </a:lnSpc>
            </a:pPr>
            <a:r>
              <a:rPr lang="en-US" sz="1600" dirty="0">
                <a:solidFill>
                  <a:schemeClr val="tx2">
                    <a:lumMod val="10000"/>
                  </a:schemeClr>
                </a:solidFill>
                <a:latin typeface="Calibri"/>
                <a:cs typeface="Calibri"/>
              </a:rPr>
              <a:t>A</a:t>
            </a:r>
            <a:r>
              <a:rPr sz="1600" dirty="0">
                <a:solidFill>
                  <a:schemeClr val="tx2">
                    <a:lumMod val="10000"/>
                  </a:schemeClr>
                </a:solidFill>
                <a:latin typeface="Calibri"/>
                <a:cs typeface="Calibri"/>
              </a:rPr>
              <a:t>nd</a:t>
            </a:r>
            <a:r>
              <a:rPr sz="1600" spc="-35" dirty="0">
                <a:solidFill>
                  <a:schemeClr val="tx2">
                    <a:lumMod val="10000"/>
                  </a:schemeClr>
                </a:solidFill>
                <a:latin typeface="Calibri"/>
                <a:cs typeface="Calibri"/>
              </a:rPr>
              <a:t> </a:t>
            </a:r>
            <a:r>
              <a:rPr lang="en-US" sz="1600" dirty="0">
                <a:solidFill>
                  <a:schemeClr val="tx2">
                    <a:lumMod val="10000"/>
                  </a:schemeClr>
                </a:solidFill>
                <a:latin typeface="Calibri"/>
                <a:cs typeface="Calibri"/>
              </a:rPr>
              <a:t>enabled</a:t>
            </a:r>
            <a:r>
              <a:rPr sz="1600" spc="-35" dirty="0">
                <a:solidFill>
                  <a:schemeClr val="tx2">
                    <a:lumMod val="10000"/>
                  </a:schemeClr>
                </a:solidFill>
                <a:latin typeface="Calibri"/>
                <a:cs typeface="Calibri"/>
              </a:rPr>
              <a:t> </a:t>
            </a:r>
            <a:r>
              <a:rPr lang="en-US" sz="1600" spc="-35" dirty="0">
                <a:solidFill>
                  <a:schemeClr val="tx2">
                    <a:lumMod val="10000"/>
                  </a:schemeClr>
                </a:solidFill>
                <a:latin typeface="Calibri"/>
                <a:cs typeface="Calibri"/>
              </a:rPr>
              <a:t>a </a:t>
            </a:r>
            <a:r>
              <a:rPr sz="1600" dirty="0">
                <a:solidFill>
                  <a:schemeClr val="tx2">
                    <a:lumMod val="10000"/>
                  </a:schemeClr>
                </a:solidFill>
                <a:latin typeface="Calibri"/>
                <a:cs typeface="Calibri"/>
              </a:rPr>
              <a:t>return</a:t>
            </a:r>
            <a:r>
              <a:rPr sz="1600" spc="-15" dirty="0">
                <a:solidFill>
                  <a:schemeClr val="tx2">
                    <a:lumMod val="10000"/>
                  </a:schemeClr>
                </a:solidFill>
                <a:latin typeface="Calibri"/>
                <a:cs typeface="Calibri"/>
              </a:rPr>
              <a:t> </a:t>
            </a:r>
            <a:r>
              <a:rPr sz="1600" dirty="0">
                <a:solidFill>
                  <a:schemeClr val="tx2">
                    <a:lumMod val="10000"/>
                  </a:schemeClr>
                </a:solidFill>
                <a:latin typeface="Calibri"/>
                <a:cs typeface="Calibri"/>
              </a:rPr>
              <a:t>of</a:t>
            </a:r>
            <a:r>
              <a:rPr sz="1600" spc="-30" dirty="0">
                <a:solidFill>
                  <a:schemeClr val="tx2">
                    <a:lumMod val="10000"/>
                  </a:schemeClr>
                </a:solidFill>
                <a:latin typeface="Calibri"/>
                <a:cs typeface="Calibri"/>
              </a:rPr>
              <a:t> </a:t>
            </a:r>
            <a:r>
              <a:rPr lang="en-US" sz="1600" dirty="0">
                <a:solidFill>
                  <a:schemeClr val="tx2">
                    <a:lumMod val="10000"/>
                  </a:schemeClr>
                </a:solidFill>
                <a:latin typeface="Calibri"/>
                <a:cs typeface="Calibri"/>
              </a:rPr>
              <a:t>$1.3</a:t>
            </a:r>
            <a:r>
              <a:rPr sz="1600" spc="-30" dirty="0">
                <a:solidFill>
                  <a:schemeClr val="tx2">
                    <a:lumMod val="10000"/>
                  </a:schemeClr>
                </a:solidFill>
                <a:latin typeface="Calibri"/>
                <a:cs typeface="Calibri"/>
              </a:rPr>
              <a:t> </a:t>
            </a:r>
            <a:r>
              <a:rPr sz="1600" dirty="0">
                <a:solidFill>
                  <a:schemeClr val="tx2">
                    <a:lumMod val="10000"/>
                  </a:schemeClr>
                </a:solidFill>
                <a:latin typeface="Calibri"/>
                <a:cs typeface="Calibri"/>
              </a:rPr>
              <a:t>billion</a:t>
            </a:r>
            <a:r>
              <a:rPr sz="1600" spc="-45" dirty="0">
                <a:solidFill>
                  <a:schemeClr val="tx2">
                    <a:lumMod val="10000"/>
                  </a:schemeClr>
                </a:solidFill>
                <a:latin typeface="Calibri"/>
                <a:cs typeface="Calibri"/>
              </a:rPr>
              <a:t> </a:t>
            </a:r>
            <a:r>
              <a:rPr sz="1600" dirty="0">
                <a:solidFill>
                  <a:schemeClr val="tx2">
                    <a:lumMod val="10000"/>
                  </a:schemeClr>
                </a:solidFill>
                <a:latin typeface="Calibri"/>
                <a:cs typeface="Calibri"/>
              </a:rPr>
              <a:t>on</a:t>
            </a:r>
            <a:r>
              <a:rPr sz="1600" spc="-25" dirty="0">
                <a:solidFill>
                  <a:schemeClr val="tx2">
                    <a:lumMod val="10000"/>
                  </a:schemeClr>
                </a:solidFill>
                <a:latin typeface="Calibri"/>
                <a:cs typeface="Calibri"/>
              </a:rPr>
              <a:t> </a:t>
            </a:r>
            <a:r>
              <a:rPr lang="en-US" sz="1600" spc="-25" dirty="0">
                <a:solidFill>
                  <a:schemeClr val="tx2">
                    <a:lumMod val="10000"/>
                  </a:schemeClr>
                </a:solidFill>
                <a:latin typeface="Calibri"/>
                <a:cs typeface="Calibri"/>
              </a:rPr>
              <a:t>the </a:t>
            </a:r>
            <a:r>
              <a:rPr sz="1600" dirty="0">
                <a:solidFill>
                  <a:schemeClr val="tx2">
                    <a:lumMod val="10000"/>
                  </a:schemeClr>
                </a:solidFill>
                <a:latin typeface="Calibri"/>
                <a:cs typeface="Calibri"/>
              </a:rPr>
              <a:t>2011</a:t>
            </a:r>
            <a:r>
              <a:rPr sz="1600" spc="-20" dirty="0">
                <a:solidFill>
                  <a:schemeClr val="tx2">
                    <a:lumMod val="10000"/>
                  </a:schemeClr>
                </a:solidFill>
                <a:latin typeface="Calibri"/>
                <a:cs typeface="Calibri"/>
              </a:rPr>
              <a:t> </a:t>
            </a:r>
            <a:r>
              <a:rPr sz="1600" spc="-10" dirty="0">
                <a:solidFill>
                  <a:schemeClr val="tx2">
                    <a:lumMod val="10000"/>
                  </a:schemeClr>
                </a:solidFill>
                <a:latin typeface="Calibri"/>
                <a:cs typeface="Calibri"/>
              </a:rPr>
              <a:t>investment</a:t>
            </a:r>
            <a:r>
              <a:rPr sz="1600" spc="-10" dirty="0">
                <a:latin typeface="Calibri"/>
                <a:cs typeface="Calibri"/>
              </a:rPr>
              <a:t>.</a:t>
            </a:r>
            <a:endParaRPr sz="1600" dirty="0">
              <a:latin typeface="Calibri"/>
              <a:cs typeface="Calibri"/>
            </a:endParaRPr>
          </a:p>
        </p:txBody>
      </p:sp>
      <p:grpSp>
        <p:nvGrpSpPr>
          <p:cNvPr id="13" name="object 13"/>
          <p:cNvGrpSpPr/>
          <p:nvPr/>
        </p:nvGrpSpPr>
        <p:grpSpPr>
          <a:xfrm>
            <a:off x="152400" y="3972536"/>
            <a:ext cx="3298063" cy="2191907"/>
            <a:chOff x="368808" y="3784091"/>
            <a:chExt cx="3081655" cy="2554605"/>
          </a:xfrm>
        </p:grpSpPr>
        <p:sp>
          <p:nvSpPr>
            <p:cNvPr id="14" name="object 14"/>
            <p:cNvSpPr/>
            <p:nvPr/>
          </p:nvSpPr>
          <p:spPr>
            <a:xfrm>
              <a:off x="381762" y="3797045"/>
              <a:ext cx="3055620" cy="2528570"/>
            </a:xfrm>
            <a:custGeom>
              <a:avLst/>
              <a:gdLst/>
              <a:ahLst/>
              <a:cxnLst/>
              <a:rect l="l" t="t" r="r" b="b"/>
              <a:pathLst>
                <a:path w="3055620" h="2528570">
                  <a:moveTo>
                    <a:pt x="0" y="421385"/>
                  </a:moveTo>
                  <a:lnTo>
                    <a:pt x="2834" y="372254"/>
                  </a:lnTo>
                  <a:lnTo>
                    <a:pt x="11129" y="324785"/>
                  </a:lnTo>
                  <a:lnTo>
                    <a:pt x="24566" y="279294"/>
                  </a:lnTo>
                  <a:lnTo>
                    <a:pt x="42830" y="236097"/>
                  </a:lnTo>
                  <a:lnTo>
                    <a:pt x="65604" y="195512"/>
                  </a:lnTo>
                  <a:lnTo>
                    <a:pt x="92574" y="157856"/>
                  </a:lnTo>
                  <a:lnTo>
                    <a:pt x="123421" y="123443"/>
                  </a:lnTo>
                  <a:lnTo>
                    <a:pt x="157831" y="92592"/>
                  </a:lnTo>
                  <a:lnTo>
                    <a:pt x="195488" y="65619"/>
                  </a:lnTo>
                  <a:lnTo>
                    <a:pt x="236074" y="42840"/>
                  </a:lnTo>
                  <a:lnTo>
                    <a:pt x="279275" y="24572"/>
                  </a:lnTo>
                  <a:lnTo>
                    <a:pt x="324773" y="11132"/>
                  </a:lnTo>
                  <a:lnTo>
                    <a:pt x="372253" y="2835"/>
                  </a:lnTo>
                  <a:lnTo>
                    <a:pt x="421398" y="0"/>
                  </a:lnTo>
                  <a:lnTo>
                    <a:pt x="2634234" y="0"/>
                  </a:lnTo>
                  <a:lnTo>
                    <a:pt x="2683365" y="2835"/>
                  </a:lnTo>
                  <a:lnTo>
                    <a:pt x="2730834" y="11132"/>
                  </a:lnTo>
                  <a:lnTo>
                    <a:pt x="2776325" y="24572"/>
                  </a:lnTo>
                  <a:lnTo>
                    <a:pt x="2819522" y="42840"/>
                  </a:lnTo>
                  <a:lnTo>
                    <a:pt x="2860107" y="65619"/>
                  </a:lnTo>
                  <a:lnTo>
                    <a:pt x="2897763" y="92592"/>
                  </a:lnTo>
                  <a:lnTo>
                    <a:pt x="2932176" y="123443"/>
                  </a:lnTo>
                  <a:lnTo>
                    <a:pt x="2963027" y="157856"/>
                  </a:lnTo>
                  <a:lnTo>
                    <a:pt x="2990000" y="195512"/>
                  </a:lnTo>
                  <a:lnTo>
                    <a:pt x="3012779" y="236097"/>
                  </a:lnTo>
                  <a:lnTo>
                    <a:pt x="3031047" y="279294"/>
                  </a:lnTo>
                  <a:lnTo>
                    <a:pt x="3044487" y="324785"/>
                  </a:lnTo>
                  <a:lnTo>
                    <a:pt x="3052784" y="372254"/>
                  </a:lnTo>
                  <a:lnTo>
                    <a:pt x="3055620" y="421385"/>
                  </a:lnTo>
                  <a:lnTo>
                    <a:pt x="3055620" y="2106917"/>
                  </a:lnTo>
                  <a:lnTo>
                    <a:pt x="3052784" y="2156060"/>
                  </a:lnTo>
                  <a:lnTo>
                    <a:pt x="3044487" y="2203538"/>
                  </a:lnTo>
                  <a:lnTo>
                    <a:pt x="3031047" y="2249035"/>
                  </a:lnTo>
                  <a:lnTo>
                    <a:pt x="3012779" y="2292235"/>
                  </a:lnTo>
                  <a:lnTo>
                    <a:pt x="2990000" y="2332822"/>
                  </a:lnTo>
                  <a:lnTo>
                    <a:pt x="2963027" y="2370478"/>
                  </a:lnTo>
                  <a:lnTo>
                    <a:pt x="2932175" y="2404889"/>
                  </a:lnTo>
                  <a:lnTo>
                    <a:pt x="2897763" y="2435737"/>
                  </a:lnTo>
                  <a:lnTo>
                    <a:pt x="2860107" y="2462708"/>
                  </a:lnTo>
                  <a:lnTo>
                    <a:pt x="2819522" y="2485483"/>
                  </a:lnTo>
                  <a:lnTo>
                    <a:pt x="2776325" y="2503748"/>
                  </a:lnTo>
                  <a:lnTo>
                    <a:pt x="2730834" y="2517186"/>
                  </a:lnTo>
                  <a:lnTo>
                    <a:pt x="2683365" y="2525480"/>
                  </a:lnTo>
                  <a:lnTo>
                    <a:pt x="2634234" y="2528316"/>
                  </a:lnTo>
                  <a:lnTo>
                    <a:pt x="421398" y="2528316"/>
                  </a:lnTo>
                  <a:lnTo>
                    <a:pt x="372253" y="2525480"/>
                  </a:lnTo>
                  <a:lnTo>
                    <a:pt x="324773" y="2517186"/>
                  </a:lnTo>
                  <a:lnTo>
                    <a:pt x="279275" y="2503748"/>
                  </a:lnTo>
                  <a:lnTo>
                    <a:pt x="236074" y="2485483"/>
                  </a:lnTo>
                  <a:lnTo>
                    <a:pt x="195488" y="2462708"/>
                  </a:lnTo>
                  <a:lnTo>
                    <a:pt x="157831" y="2435737"/>
                  </a:lnTo>
                  <a:lnTo>
                    <a:pt x="123421" y="2404889"/>
                  </a:lnTo>
                  <a:lnTo>
                    <a:pt x="92574" y="2370478"/>
                  </a:lnTo>
                  <a:lnTo>
                    <a:pt x="65604" y="2332822"/>
                  </a:lnTo>
                  <a:lnTo>
                    <a:pt x="42830" y="2292235"/>
                  </a:lnTo>
                  <a:lnTo>
                    <a:pt x="24566" y="2249035"/>
                  </a:lnTo>
                  <a:lnTo>
                    <a:pt x="11129" y="2203538"/>
                  </a:lnTo>
                  <a:lnTo>
                    <a:pt x="2834" y="2156060"/>
                  </a:lnTo>
                  <a:lnTo>
                    <a:pt x="0" y="2106917"/>
                  </a:lnTo>
                  <a:lnTo>
                    <a:pt x="0" y="421385"/>
                  </a:lnTo>
                  <a:close/>
                </a:path>
              </a:pathLst>
            </a:custGeom>
            <a:ln w="25908">
              <a:solidFill>
                <a:srgbClr val="FFFFFF"/>
              </a:solidFill>
            </a:ln>
          </p:spPr>
          <p:txBody>
            <a:bodyPr wrap="square" lIns="0" tIns="0" rIns="0" bIns="0" rtlCol="0"/>
            <a:lstStyle/>
            <a:p>
              <a:endParaRPr dirty="0"/>
            </a:p>
          </p:txBody>
        </p:sp>
        <p:pic>
          <p:nvPicPr>
            <p:cNvPr id="15" name="object 15"/>
            <p:cNvPicPr/>
            <p:nvPr/>
          </p:nvPicPr>
          <p:blipFill>
            <a:blip r:embed="rId3" cstate="print"/>
            <a:stretch>
              <a:fillRect/>
            </a:stretch>
          </p:blipFill>
          <p:spPr>
            <a:xfrm>
              <a:off x="384048" y="4648199"/>
              <a:ext cx="2971800" cy="1289304"/>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1571" y="195072"/>
            <a:ext cx="5340858" cy="936795"/>
          </a:xfrm>
          <a:prstGeom prst="rect">
            <a:avLst/>
          </a:prstGeom>
        </p:spPr>
        <p:txBody>
          <a:bodyPr vert="horz" wrap="square" lIns="0" tIns="13335" rIns="0" bIns="0" rtlCol="0">
            <a:spAutoFit/>
          </a:bodyPr>
          <a:lstStyle/>
          <a:p>
            <a:pPr marL="12700">
              <a:lnSpc>
                <a:spcPct val="100000"/>
              </a:lnSpc>
              <a:spcBef>
                <a:spcPts val="105"/>
              </a:spcBef>
            </a:pPr>
            <a:r>
              <a:rPr sz="6000" b="1" spc="-45" dirty="0">
                <a:solidFill>
                  <a:srgbClr val="FFFF00"/>
                </a:solidFill>
                <a:uFill>
                  <a:solidFill>
                    <a:srgbClr val="17375E"/>
                  </a:solidFill>
                </a:uFill>
                <a:latin typeface="Times New Roman"/>
                <a:cs typeface="Times New Roman"/>
              </a:rPr>
              <a:t>Venture</a:t>
            </a:r>
            <a:r>
              <a:rPr sz="6000" b="1" spc="-220" dirty="0">
                <a:solidFill>
                  <a:srgbClr val="FFFF00"/>
                </a:solidFill>
                <a:uFill>
                  <a:solidFill>
                    <a:srgbClr val="17375E"/>
                  </a:solidFill>
                </a:uFill>
                <a:latin typeface="Times New Roman"/>
                <a:cs typeface="Times New Roman"/>
              </a:rPr>
              <a:t> </a:t>
            </a:r>
            <a:r>
              <a:rPr sz="6000" b="1" spc="-10" dirty="0">
                <a:solidFill>
                  <a:srgbClr val="FFFF00"/>
                </a:solidFill>
                <a:uFill>
                  <a:solidFill>
                    <a:srgbClr val="17375E"/>
                  </a:solidFill>
                </a:uFill>
                <a:latin typeface="Times New Roman"/>
                <a:cs typeface="Times New Roman"/>
              </a:rPr>
              <a:t>Capital</a:t>
            </a:r>
            <a:endParaRPr sz="6000" b="1" dirty="0">
              <a:solidFill>
                <a:srgbClr val="FFFF00"/>
              </a:solidFill>
              <a:latin typeface="Times New Roman"/>
              <a:cs typeface="Times New Roman"/>
            </a:endParaRPr>
          </a:p>
        </p:txBody>
      </p:sp>
      <p:sp>
        <p:nvSpPr>
          <p:cNvPr id="3" name="object 3"/>
          <p:cNvSpPr txBox="1"/>
          <p:nvPr/>
        </p:nvSpPr>
        <p:spPr>
          <a:xfrm>
            <a:off x="558800" y="1425578"/>
            <a:ext cx="8026400" cy="2228815"/>
          </a:xfrm>
          <a:prstGeom prst="rect">
            <a:avLst/>
          </a:prstGeom>
        </p:spPr>
        <p:txBody>
          <a:bodyPr vert="horz" wrap="square" lIns="0" tIns="12700" rIns="0" bIns="0" rtlCol="0">
            <a:spAutoFit/>
          </a:bodyPr>
          <a:lstStyle/>
          <a:p>
            <a:pPr marL="12700" marR="5080">
              <a:lnSpc>
                <a:spcPct val="100000"/>
              </a:lnSpc>
              <a:spcBef>
                <a:spcPts val="100"/>
              </a:spcBef>
              <a:tabLst>
                <a:tab pos="355600" algn="l"/>
              </a:tabLst>
            </a:pPr>
            <a:r>
              <a:rPr lang="en-US" sz="2000" b="1" dirty="0">
                <a:latin typeface="Calibri" panose="020F0502020204030204" pitchFamily="34" charset="0"/>
                <a:ea typeface="Calibri" panose="020F0502020204030204" pitchFamily="34" charset="0"/>
                <a:cs typeface="Calibri" panose="020F0502020204030204" pitchFamily="34" charset="0"/>
              </a:rPr>
              <a:t>Venture Capital</a:t>
            </a:r>
            <a:r>
              <a:rPr lang="en-US" sz="2000" dirty="0">
                <a:latin typeface="Calibri" panose="020F0502020204030204" pitchFamily="34" charset="0"/>
                <a:ea typeface="Calibri" panose="020F0502020204030204" pitchFamily="34" charset="0"/>
                <a:cs typeface="Calibri" panose="020F0502020204030204" pitchFamily="34" charset="0"/>
              </a:rPr>
              <a:t> is a type of private equity financing provided by investors to startup companies and small businesses with high growth potential. Unlike traditional loans, venture capital does not require repayment; instead, investors receive equity (ownership) in the Company.</a:t>
            </a:r>
            <a:r>
              <a:rPr sz="2000" spc="-25" dirty="0">
                <a:latin typeface="Calibri" panose="020F0502020204030204" pitchFamily="34" charset="0"/>
                <a:ea typeface="Calibri" panose="020F0502020204030204" pitchFamily="34" charset="0"/>
                <a:cs typeface="Calibri" panose="020F0502020204030204" pitchFamily="34" charset="0"/>
              </a:rPr>
              <a:t> Venture</a:t>
            </a:r>
            <a:r>
              <a:rPr sz="2000" spc="-30"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investment</a:t>
            </a:r>
            <a:r>
              <a:rPr sz="2000" spc="-35"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is</a:t>
            </a:r>
            <a:r>
              <a:rPr sz="2000" spc="-25"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most</a:t>
            </a:r>
            <a:r>
              <a:rPr sz="2000" spc="-5"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often</a:t>
            </a:r>
            <a:r>
              <a:rPr sz="2000" spc="-25"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found</a:t>
            </a:r>
            <a:r>
              <a:rPr sz="2000" spc="-10"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in</a:t>
            </a:r>
            <a:r>
              <a:rPr sz="2000" spc="-30"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the</a:t>
            </a:r>
            <a:r>
              <a:rPr sz="2000" spc="-35"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application</a:t>
            </a:r>
            <a:r>
              <a:rPr sz="2000" spc="-55" dirty="0">
                <a:latin typeface="Calibri" panose="020F0502020204030204" pitchFamily="34" charset="0"/>
                <a:ea typeface="Calibri" panose="020F0502020204030204" pitchFamily="34" charset="0"/>
                <a:cs typeface="Calibri" panose="020F0502020204030204" pitchFamily="34" charset="0"/>
              </a:rPr>
              <a:t> </a:t>
            </a:r>
            <a:r>
              <a:rPr sz="2000" spc="-25" dirty="0">
                <a:latin typeface="Calibri" panose="020F0502020204030204" pitchFamily="34" charset="0"/>
                <a:ea typeface="Calibri" panose="020F0502020204030204" pitchFamily="34" charset="0"/>
                <a:cs typeface="Calibri" panose="020F0502020204030204" pitchFamily="34" charset="0"/>
              </a:rPr>
              <a:t>of </a:t>
            </a:r>
            <a:r>
              <a:rPr sz="2000" dirty="0">
                <a:latin typeface="Calibri" panose="020F0502020204030204" pitchFamily="34" charset="0"/>
                <a:ea typeface="Calibri" panose="020F0502020204030204" pitchFamily="34" charset="0"/>
                <a:cs typeface="Calibri" panose="020F0502020204030204" pitchFamily="34" charset="0"/>
              </a:rPr>
              <a:t>new</a:t>
            </a:r>
            <a:r>
              <a:rPr sz="2000" spc="-25" dirty="0">
                <a:latin typeface="Calibri" panose="020F0502020204030204" pitchFamily="34" charset="0"/>
                <a:ea typeface="Calibri" panose="020F0502020204030204" pitchFamily="34" charset="0"/>
                <a:cs typeface="Calibri" panose="020F0502020204030204" pitchFamily="34" charset="0"/>
              </a:rPr>
              <a:t> </a:t>
            </a:r>
            <a:r>
              <a:rPr sz="2000" spc="-10" dirty="0">
                <a:latin typeface="Calibri" panose="020F0502020204030204" pitchFamily="34" charset="0"/>
                <a:ea typeface="Calibri" panose="020F0502020204030204" pitchFamily="34" charset="0"/>
                <a:cs typeface="Calibri" panose="020F0502020204030204" pitchFamily="34" charset="0"/>
              </a:rPr>
              <a:t>technology,</a:t>
            </a:r>
            <a:r>
              <a:rPr sz="2000" spc="-50"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new</a:t>
            </a:r>
            <a:r>
              <a:rPr sz="2000" spc="-20"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marketing</a:t>
            </a:r>
            <a:r>
              <a:rPr sz="2000" spc="-35"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concepts</a:t>
            </a:r>
            <a:r>
              <a:rPr sz="2000" spc="-45"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and</a:t>
            </a:r>
            <a:r>
              <a:rPr sz="2000" spc="-30"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new</a:t>
            </a:r>
            <a:r>
              <a:rPr sz="2000" spc="-20" dirty="0">
                <a:latin typeface="Calibri" panose="020F0502020204030204" pitchFamily="34" charset="0"/>
                <a:ea typeface="Calibri" panose="020F0502020204030204" pitchFamily="34" charset="0"/>
                <a:cs typeface="Calibri" panose="020F0502020204030204" pitchFamily="34" charset="0"/>
              </a:rPr>
              <a:t> </a:t>
            </a:r>
            <a:r>
              <a:rPr sz="2000" spc="-10" dirty="0">
                <a:latin typeface="Calibri" panose="020F0502020204030204" pitchFamily="34" charset="0"/>
                <a:ea typeface="Calibri" panose="020F0502020204030204" pitchFamily="34" charset="0"/>
                <a:cs typeface="Calibri" panose="020F0502020204030204" pitchFamily="34" charset="0"/>
              </a:rPr>
              <a:t>products </a:t>
            </a:r>
            <a:r>
              <a:rPr sz="2000" dirty="0">
                <a:latin typeface="Calibri" panose="020F0502020204030204" pitchFamily="34" charset="0"/>
                <a:ea typeface="Calibri" panose="020F0502020204030204" pitchFamily="34" charset="0"/>
                <a:cs typeface="Calibri" panose="020F0502020204030204" pitchFamily="34" charset="0"/>
              </a:rPr>
              <a:t>that</a:t>
            </a:r>
            <a:r>
              <a:rPr sz="2000" spc="-25"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do not</a:t>
            </a:r>
            <a:r>
              <a:rPr sz="2000" spc="-15"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have</a:t>
            </a:r>
            <a:r>
              <a:rPr sz="2000" spc="-10"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a</a:t>
            </a:r>
            <a:r>
              <a:rPr sz="2000" spc="-5"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proven track</a:t>
            </a:r>
            <a:r>
              <a:rPr sz="2000" spc="-25"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record</a:t>
            </a:r>
            <a:r>
              <a:rPr sz="2000" spc="-25"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or stable</a:t>
            </a:r>
            <a:r>
              <a:rPr sz="2000" spc="-25" dirty="0">
                <a:latin typeface="Calibri" panose="020F0502020204030204" pitchFamily="34" charset="0"/>
                <a:ea typeface="Calibri" panose="020F0502020204030204" pitchFamily="34" charset="0"/>
                <a:cs typeface="Calibri" panose="020F0502020204030204" pitchFamily="34" charset="0"/>
              </a:rPr>
              <a:t> </a:t>
            </a:r>
            <a:r>
              <a:rPr sz="2000" spc="-10" dirty="0">
                <a:latin typeface="Calibri" panose="020F0502020204030204" pitchFamily="34" charset="0"/>
                <a:ea typeface="Calibri" panose="020F0502020204030204" pitchFamily="34" charset="0"/>
                <a:cs typeface="Calibri" panose="020F0502020204030204" pitchFamily="34" charset="0"/>
              </a:rPr>
              <a:t>revenue streams</a:t>
            </a:r>
            <a:r>
              <a:rPr sz="2400" spc="-10" dirty="0">
                <a:latin typeface="Times New Roman"/>
                <a:cs typeface="Times New Roman"/>
              </a:rPr>
              <a:t>.</a:t>
            </a:r>
            <a:endParaRPr sz="2400" dirty="0">
              <a:latin typeface="Times New Roman"/>
              <a:cs typeface="Times New Roman"/>
            </a:endParaRPr>
          </a:p>
        </p:txBody>
      </p:sp>
      <p:pic>
        <p:nvPicPr>
          <p:cNvPr id="4" name="object 4"/>
          <p:cNvPicPr/>
          <p:nvPr/>
        </p:nvPicPr>
        <p:blipFill>
          <a:blip r:embed="rId2" cstate="print"/>
          <a:stretch>
            <a:fillRect/>
          </a:stretch>
        </p:blipFill>
        <p:spPr>
          <a:xfrm>
            <a:off x="1524000" y="3917624"/>
            <a:ext cx="6787896" cy="2667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0"/>
            <a:ext cx="9448800" cy="1316641"/>
          </a:xfrm>
          <a:prstGeom prst="rect">
            <a:avLst/>
          </a:prstGeom>
        </p:spPr>
        <p:txBody>
          <a:bodyPr vert="horz" wrap="square" lIns="0" tIns="572388" rIns="0" bIns="0" rtlCol="0">
            <a:spAutoFit/>
          </a:bodyPr>
          <a:lstStyle/>
          <a:p>
            <a:pPr marL="627380">
              <a:lnSpc>
                <a:spcPct val="100000"/>
              </a:lnSpc>
              <a:spcBef>
                <a:spcPts val="105"/>
              </a:spcBef>
            </a:pPr>
            <a:r>
              <a:rPr sz="4800" b="1" spc="-35" dirty="0">
                <a:solidFill>
                  <a:srgbClr val="FFFF00"/>
                </a:solidFill>
                <a:uFill>
                  <a:solidFill>
                    <a:srgbClr val="000000"/>
                  </a:solidFill>
                </a:uFill>
                <a:latin typeface="Times New Roman"/>
                <a:cs typeface="Times New Roman"/>
              </a:rPr>
              <a:t>I</a:t>
            </a:r>
            <a:r>
              <a:rPr lang="en-US" sz="4800" b="1" spc="-35" dirty="0">
                <a:solidFill>
                  <a:srgbClr val="FFFF00"/>
                </a:solidFill>
                <a:uFill>
                  <a:solidFill>
                    <a:srgbClr val="000000"/>
                  </a:solidFill>
                </a:uFill>
                <a:latin typeface="Times New Roman"/>
                <a:cs typeface="Times New Roman"/>
              </a:rPr>
              <a:t>mportance of Venture Capital</a:t>
            </a:r>
            <a:endParaRPr sz="4800" b="1" dirty="0">
              <a:solidFill>
                <a:srgbClr val="FFFF00"/>
              </a:solidFill>
              <a:latin typeface="Times New Roman"/>
              <a:cs typeface="Times New Roman"/>
            </a:endParaRPr>
          </a:p>
        </p:txBody>
      </p:sp>
      <p:sp>
        <p:nvSpPr>
          <p:cNvPr id="3" name="object 3"/>
          <p:cNvSpPr txBox="1"/>
          <p:nvPr/>
        </p:nvSpPr>
        <p:spPr>
          <a:xfrm>
            <a:off x="685800" y="1744133"/>
            <a:ext cx="4190365" cy="4292841"/>
          </a:xfrm>
          <a:prstGeom prst="rect">
            <a:avLst/>
          </a:prstGeom>
        </p:spPr>
        <p:txBody>
          <a:bodyPr vert="horz" wrap="square" lIns="0" tIns="52704" rIns="0" bIns="0" rtlCol="0">
            <a:spAutoFit/>
          </a:bodyPr>
          <a:lstStyle/>
          <a:p>
            <a:pPr marL="527685" indent="-514984">
              <a:lnSpc>
                <a:spcPct val="100000"/>
              </a:lnSpc>
              <a:spcBef>
                <a:spcPts val="414"/>
              </a:spcBef>
              <a:buFont typeface="Arial" panose="020B0604020202020204" pitchFamily="34" charset="0"/>
              <a:buChar char="•"/>
              <a:tabLst>
                <a:tab pos="527685" algn="l"/>
              </a:tabLst>
            </a:pPr>
            <a:r>
              <a:rPr sz="2600" dirty="0">
                <a:latin typeface="Times New Roman"/>
                <a:cs typeface="Times New Roman"/>
              </a:rPr>
              <a:t>Promotes</a:t>
            </a:r>
            <a:r>
              <a:rPr sz="2600" spc="-10" dirty="0">
                <a:latin typeface="Times New Roman"/>
                <a:cs typeface="Times New Roman"/>
              </a:rPr>
              <a:t> entrepreneurs</a:t>
            </a:r>
            <a:endParaRPr sz="2600" dirty="0">
              <a:latin typeface="Times New Roman"/>
              <a:cs typeface="Times New Roman"/>
            </a:endParaRPr>
          </a:p>
          <a:p>
            <a:pPr marL="527685" indent="-514984">
              <a:lnSpc>
                <a:spcPct val="100000"/>
              </a:lnSpc>
              <a:spcBef>
                <a:spcPts val="315"/>
              </a:spcBef>
              <a:buFont typeface="Arial" panose="020B0604020202020204" pitchFamily="34" charset="0"/>
              <a:buChar char="•"/>
              <a:tabLst>
                <a:tab pos="527685" algn="l"/>
              </a:tabLst>
            </a:pPr>
            <a:r>
              <a:rPr sz="2600" dirty="0">
                <a:latin typeface="Times New Roman"/>
                <a:cs typeface="Times New Roman"/>
              </a:rPr>
              <a:t>Promotes</a:t>
            </a:r>
            <a:r>
              <a:rPr sz="2600" spc="-20" dirty="0">
                <a:latin typeface="Times New Roman"/>
                <a:cs typeface="Times New Roman"/>
              </a:rPr>
              <a:t> </a:t>
            </a:r>
            <a:r>
              <a:rPr sz="2600" spc="-10" dirty="0">
                <a:latin typeface="Times New Roman"/>
                <a:cs typeface="Times New Roman"/>
              </a:rPr>
              <a:t>products</a:t>
            </a:r>
            <a:endParaRPr sz="2600" dirty="0">
              <a:latin typeface="Times New Roman"/>
              <a:cs typeface="Times New Roman"/>
            </a:endParaRPr>
          </a:p>
          <a:p>
            <a:pPr marL="527685" indent="-514984">
              <a:lnSpc>
                <a:spcPct val="100000"/>
              </a:lnSpc>
              <a:spcBef>
                <a:spcPts val="310"/>
              </a:spcBef>
              <a:buFont typeface="Arial" panose="020B0604020202020204" pitchFamily="34" charset="0"/>
              <a:buChar char="•"/>
              <a:tabLst>
                <a:tab pos="527685" algn="l"/>
              </a:tabLst>
            </a:pPr>
            <a:r>
              <a:rPr sz="2600" dirty="0">
                <a:latin typeface="Times New Roman"/>
                <a:cs typeface="Times New Roman"/>
              </a:rPr>
              <a:t>Encourages</a:t>
            </a:r>
            <a:r>
              <a:rPr sz="2600" spc="-45" dirty="0">
                <a:latin typeface="Times New Roman"/>
                <a:cs typeface="Times New Roman"/>
              </a:rPr>
              <a:t> </a:t>
            </a:r>
            <a:r>
              <a:rPr sz="2600" spc="-10" dirty="0">
                <a:latin typeface="Times New Roman"/>
                <a:cs typeface="Times New Roman"/>
              </a:rPr>
              <a:t>customers</a:t>
            </a:r>
            <a:endParaRPr sz="2600" dirty="0">
              <a:latin typeface="Times New Roman"/>
              <a:cs typeface="Times New Roman"/>
            </a:endParaRPr>
          </a:p>
          <a:p>
            <a:pPr marL="527685" indent="-514984">
              <a:lnSpc>
                <a:spcPct val="100000"/>
              </a:lnSpc>
              <a:spcBef>
                <a:spcPts val="310"/>
              </a:spcBef>
              <a:buFont typeface="Arial" panose="020B0604020202020204" pitchFamily="34" charset="0"/>
              <a:buChar char="•"/>
              <a:tabLst>
                <a:tab pos="527685" algn="l"/>
              </a:tabLst>
            </a:pPr>
            <a:r>
              <a:rPr sz="2600" dirty="0">
                <a:latin typeface="Times New Roman"/>
                <a:cs typeface="Times New Roman"/>
              </a:rPr>
              <a:t>Brings</a:t>
            </a:r>
            <a:r>
              <a:rPr sz="2600" spc="-30" dirty="0">
                <a:latin typeface="Times New Roman"/>
                <a:cs typeface="Times New Roman"/>
              </a:rPr>
              <a:t> </a:t>
            </a:r>
            <a:r>
              <a:rPr sz="2600" dirty="0">
                <a:latin typeface="Times New Roman"/>
                <a:cs typeface="Times New Roman"/>
              </a:rPr>
              <a:t>out</a:t>
            </a:r>
            <a:r>
              <a:rPr sz="2600" spc="-10" dirty="0">
                <a:latin typeface="Times New Roman"/>
                <a:cs typeface="Times New Roman"/>
              </a:rPr>
              <a:t> </a:t>
            </a:r>
            <a:r>
              <a:rPr sz="2600" dirty="0">
                <a:latin typeface="Times New Roman"/>
                <a:cs typeface="Times New Roman"/>
              </a:rPr>
              <a:t>latent</a:t>
            </a:r>
            <a:r>
              <a:rPr sz="2600" spc="-5" dirty="0">
                <a:latin typeface="Times New Roman"/>
                <a:cs typeface="Times New Roman"/>
              </a:rPr>
              <a:t> </a:t>
            </a:r>
            <a:r>
              <a:rPr sz="2600" spc="-10" dirty="0">
                <a:latin typeface="Times New Roman"/>
                <a:cs typeface="Times New Roman"/>
              </a:rPr>
              <a:t>talent</a:t>
            </a:r>
            <a:endParaRPr sz="2600" dirty="0">
              <a:latin typeface="Times New Roman"/>
              <a:cs typeface="Times New Roman"/>
            </a:endParaRPr>
          </a:p>
          <a:p>
            <a:pPr marL="527685" marR="171450" indent="-515620">
              <a:lnSpc>
                <a:spcPts val="2810"/>
              </a:lnSpc>
              <a:spcBef>
                <a:spcPts val="660"/>
              </a:spcBef>
              <a:buFont typeface="Arial" panose="020B0604020202020204" pitchFamily="34" charset="0"/>
              <a:buChar char="•"/>
              <a:tabLst>
                <a:tab pos="527685" algn="l"/>
              </a:tabLst>
            </a:pPr>
            <a:r>
              <a:rPr sz="2600" dirty="0">
                <a:latin typeface="Times New Roman"/>
                <a:cs typeface="Times New Roman"/>
              </a:rPr>
              <a:t>Creates</a:t>
            </a:r>
            <a:r>
              <a:rPr sz="2600" spc="-30" dirty="0">
                <a:latin typeface="Times New Roman"/>
                <a:cs typeface="Times New Roman"/>
              </a:rPr>
              <a:t> </a:t>
            </a:r>
            <a:r>
              <a:rPr sz="2600" dirty="0">
                <a:latin typeface="Times New Roman"/>
                <a:cs typeface="Times New Roman"/>
              </a:rPr>
              <a:t>more</a:t>
            </a:r>
            <a:r>
              <a:rPr sz="2600" spc="-15" dirty="0">
                <a:latin typeface="Times New Roman"/>
                <a:cs typeface="Times New Roman"/>
              </a:rPr>
              <a:t> </a:t>
            </a:r>
            <a:r>
              <a:rPr sz="2600" spc="-10" dirty="0">
                <a:latin typeface="Times New Roman"/>
                <a:cs typeface="Times New Roman"/>
              </a:rPr>
              <a:t>employment opportunities</a:t>
            </a:r>
            <a:endParaRPr sz="2600" dirty="0">
              <a:latin typeface="Times New Roman"/>
              <a:cs typeface="Times New Roman"/>
            </a:endParaRPr>
          </a:p>
          <a:p>
            <a:pPr marL="527685" indent="-514984">
              <a:lnSpc>
                <a:spcPct val="100000"/>
              </a:lnSpc>
              <a:spcBef>
                <a:spcPts val="270"/>
              </a:spcBef>
              <a:buFont typeface="Arial" panose="020B0604020202020204" pitchFamily="34" charset="0"/>
              <a:buChar char="•"/>
              <a:tabLst>
                <a:tab pos="527685" algn="l"/>
              </a:tabLst>
            </a:pPr>
            <a:r>
              <a:rPr sz="2600" dirty="0">
                <a:latin typeface="Times New Roman"/>
                <a:cs typeface="Times New Roman"/>
              </a:rPr>
              <a:t>Brings</a:t>
            </a:r>
            <a:r>
              <a:rPr sz="2600" spc="-40" dirty="0">
                <a:latin typeface="Times New Roman"/>
                <a:cs typeface="Times New Roman"/>
              </a:rPr>
              <a:t> </a:t>
            </a:r>
            <a:r>
              <a:rPr sz="2600" dirty="0">
                <a:latin typeface="Times New Roman"/>
                <a:cs typeface="Times New Roman"/>
              </a:rPr>
              <a:t>financial</a:t>
            </a:r>
            <a:r>
              <a:rPr sz="2600" spc="-25" dirty="0">
                <a:latin typeface="Times New Roman"/>
                <a:cs typeface="Times New Roman"/>
              </a:rPr>
              <a:t> </a:t>
            </a:r>
            <a:r>
              <a:rPr sz="2600" spc="-10" dirty="0">
                <a:latin typeface="Times New Roman"/>
                <a:cs typeface="Times New Roman"/>
              </a:rPr>
              <a:t>viability</a:t>
            </a:r>
            <a:endParaRPr sz="2600" dirty="0">
              <a:latin typeface="Times New Roman"/>
              <a:cs typeface="Times New Roman"/>
            </a:endParaRPr>
          </a:p>
          <a:p>
            <a:pPr marL="527685" indent="-514984">
              <a:lnSpc>
                <a:spcPct val="100000"/>
              </a:lnSpc>
              <a:spcBef>
                <a:spcPts val="315"/>
              </a:spcBef>
              <a:buFont typeface="Arial" panose="020B0604020202020204" pitchFamily="34" charset="0"/>
              <a:buChar char="•"/>
              <a:tabLst>
                <a:tab pos="527685" algn="l"/>
              </a:tabLst>
            </a:pPr>
            <a:r>
              <a:rPr sz="2600" dirty="0">
                <a:latin typeface="Times New Roman"/>
                <a:cs typeface="Times New Roman"/>
              </a:rPr>
              <a:t>Helps</a:t>
            </a:r>
            <a:r>
              <a:rPr sz="2600" spc="-20" dirty="0">
                <a:latin typeface="Times New Roman"/>
                <a:cs typeface="Times New Roman"/>
              </a:rPr>
              <a:t> </a:t>
            </a:r>
            <a:r>
              <a:rPr sz="2600" dirty="0">
                <a:latin typeface="Times New Roman"/>
                <a:cs typeface="Times New Roman"/>
              </a:rPr>
              <a:t>technological</a:t>
            </a:r>
            <a:r>
              <a:rPr sz="2600" spc="-40" dirty="0">
                <a:latin typeface="Times New Roman"/>
                <a:cs typeface="Times New Roman"/>
              </a:rPr>
              <a:t> </a:t>
            </a:r>
            <a:r>
              <a:rPr sz="2600" spc="-10" dirty="0">
                <a:latin typeface="Times New Roman"/>
                <a:cs typeface="Times New Roman"/>
              </a:rPr>
              <a:t>growth</a:t>
            </a:r>
            <a:endParaRPr sz="2600" dirty="0">
              <a:latin typeface="Times New Roman"/>
              <a:cs typeface="Times New Roman"/>
            </a:endParaRPr>
          </a:p>
          <a:p>
            <a:pPr marL="527685" indent="-514984">
              <a:lnSpc>
                <a:spcPct val="100000"/>
              </a:lnSpc>
              <a:spcBef>
                <a:spcPts val="310"/>
              </a:spcBef>
              <a:buFont typeface="Arial" panose="020B0604020202020204" pitchFamily="34" charset="0"/>
              <a:buChar char="•"/>
              <a:tabLst>
                <a:tab pos="527685" algn="l"/>
              </a:tabLst>
            </a:pPr>
            <a:r>
              <a:rPr sz="2600" dirty="0">
                <a:latin typeface="Times New Roman"/>
                <a:cs typeface="Times New Roman"/>
              </a:rPr>
              <a:t>Helps</a:t>
            </a:r>
            <a:r>
              <a:rPr sz="2600" spc="-20" dirty="0">
                <a:latin typeface="Times New Roman"/>
                <a:cs typeface="Times New Roman"/>
              </a:rPr>
              <a:t> </a:t>
            </a:r>
            <a:r>
              <a:rPr lang="en-US" sz="2600" spc="-20" dirty="0">
                <a:latin typeface="Times New Roman"/>
                <a:cs typeface="Times New Roman"/>
              </a:rPr>
              <a:t>the </a:t>
            </a:r>
            <a:r>
              <a:rPr sz="2600" dirty="0">
                <a:latin typeface="Times New Roman"/>
                <a:cs typeface="Times New Roman"/>
              </a:rPr>
              <a:t>growth</a:t>
            </a:r>
            <a:r>
              <a:rPr sz="2600" spc="-20" dirty="0">
                <a:latin typeface="Times New Roman"/>
                <a:cs typeface="Times New Roman"/>
              </a:rPr>
              <a:t> </a:t>
            </a:r>
            <a:r>
              <a:rPr sz="2600" dirty="0">
                <a:latin typeface="Times New Roman"/>
                <a:cs typeface="Times New Roman"/>
              </a:rPr>
              <a:t>of</a:t>
            </a:r>
            <a:r>
              <a:rPr sz="2600" spc="-10" dirty="0">
                <a:latin typeface="Times New Roman"/>
                <a:cs typeface="Times New Roman"/>
              </a:rPr>
              <a:t> </a:t>
            </a:r>
            <a:r>
              <a:rPr lang="en-US" sz="2600" spc="-10" dirty="0">
                <a:latin typeface="Times New Roman"/>
                <a:cs typeface="Times New Roman"/>
              </a:rPr>
              <a:t>the </a:t>
            </a:r>
            <a:r>
              <a:rPr sz="2600" spc="-10" dirty="0">
                <a:latin typeface="Times New Roman"/>
                <a:cs typeface="Times New Roman"/>
              </a:rPr>
              <a:t>economy</a:t>
            </a:r>
            <a:endParaRPr sz="2600" dirty="0">
              <a:latin typeface="Times New Roman"/>
              <a:cs typeface="Times New Roman"/>
            </a:endParaRPr>
          </a:p>
        </p:txBody>
      </p:sp>
      <p:pic>
        <p:nvPicPr>
          <p:cNvPr id="4" name="object 4"/>
          <p:cNvPicPr/>
          <p:nvPr/>
        </p:nvPicPr>
        <p:blipFill>
          <a:blip r:embed="rId2" cstate="print"/>
          <a:stretch>
            <a:fillRect/>
          </a:stretch>
        </p:blipFill>
        <p:spPr>
          <a:xfrm>
            <a:off x="5562600" y="1909353"/>
            <a:ext cx="3047999" cy="3962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80999" y="515620"/>
            <a:ext cx="8305801" cy="5826759"/>
            <a:chOff x="181355" y="0"/>
            <a:chExt cx="8595360" cy="6741159"/>
          </a:xfrm>
        </p:grpSpPr>
        <p:pic>
          <p:nvPicPr>
            <p:cNvPr id="3" name="object 3"/>
            <p:cNvPicPr/>
            <p:nvPr/>
          </p:nvPicPr>
          <p:blipFill>
            <a:blip r:embed="rId2" cstate="print"/>
            <a:stretch>
              <a:fillRect/>
            </a:stretch>
          </p:blipFill>
          <p:spPr>
            <a:xfrm>
              <a:off x="885139" y="0"/>
              <a:ext cx="7285939" cy="5212080"/>
            </a:xfrm>
            <a:prstGeom prst="rect">
              <a:avLst/>
            </a:prstGeom>
          </p:spPr>
        </p:pic>
        <p:sp>
          <p:nvSpPr>
            <p:cNvPr id="4" name="object 4"/>
            <p:cNvSpPr/>
            <p:nvPr/>
          </p:nvSpPr>
          <p:spPr>
            <a:xfrm>
              <a:off x="194309" y="2202942"/>
              <a:ext cx="3505200" cy="4343400"/>
            </a:xfrm>
            <a:custGeom>
              <a:avLst/>
              <a:gdLst/>
              <a:ahLst/>
              <a:cxnLst/>
              <a:rect l="l" t="t" r="r" b="b"/>
              <a:pathLst>
                <a:path w="3505200" h="4343400">
                  <a:moveTo>
                    <a:pt x="2921000" y="0"/>
                  </a:moveTo>
                  <a:lnTo>
                    <a:pt x="584212" y="0"/>
                  </a:lnTo>
                  <a:lnTo>
                    <a:pt x="536297" y="1937"/>
                  </a:lnTo>
                  <a:lnTo>
                    <a:pt x="489449" y="7647"/>
                  </a:lnTo>
                  <a:lnTo>
                    <a:pt x="443818" y="16982"/>
                  </a:lnTo>
                  <a:lnTo>
                    <a:pt x="399554" y="29789"/>
                  </a:lnTo>
                  <a:lnTo>
                    <a:pt x="356808" y="45918"/>
                  </a:lnTo>
                  <a:lnTo>
                    <a:pt x="315731" y="65219"/>
                  </a:lnTo>
                  <a:lnTo>
                    <a:pt x="276472" y="87542"/>
                  </a:lnTo>
                  <a:lnTo>
                    <a:pt x="239182" y="112735"/>
                  </a:lnTo>
                  <a:lnTo>
                    <a:pt x="204011" y="140649"/>
                  </a:lnTo>
                  <a:lnTo>
                    <a:pt x="171110" y="171132"/>
                  </a:lnTo>
                  <a:lnTo>
                    <a:pt x="140628" y="204035"/>
                  </a:lnTo>
                  <a:lnTo>
                    <a:pt x="112717" y="239207"/>
                  </a:lnTo>
                  <a:lnTo>
                    <a:pt x="87527" y="276497"/>
                  </a:lnTo>
                  <a:lnTo>
                    <a:pt x="65207" y="315755"/>
                  </a:lnTo>
                  <a:lnTo>
                    <a:pt x="45909" y="356830"/>
                  </a:lnTo>
                  <a:lnTo>
                    <a:pt x="29783" y="399572"/>
                  </a:lnTo>
                  <a:lnTo>
                    <a:pt x="16978" y="443831"/>
                  </a:lnTo>
                  <a:lnTo>
                    <a:pt x="7646" y="489455"/>
                  </a:lnTo>
                  <a:lnTo>
                    <a:pt x="1936" y="536295"/>
                  </a:lnTo>
                  <a:lnTo>
                    <a:pt x="0" y="584200"/>
                  </a:lnTo>
                  <a:lnTo>
                    <a:pt x="0" y="3759187"/>
                  </a:lnTo>
                  <a:lnTo>
                    <a:pt x="1936" y="3807102"/>
                  </a:lnTo>
                  <a:lnTo>
                    <a:pt x="7646" y="3853950"/>
                  </a:lnTo>
                  <a:lnTo>
                    <a:pt x="16978" y="3899581"/>
                  </a:lnTo>
                  <a:lnTo>
                    <a:pt x="29783" y="3943845"/>
                  </a:lnTo>
                  <a:lnTo>
                    <a:pt x="45909" y="3986591"/>
                  </a:lnTo>
                  <a:lnTo>
                    <a:pt x="65207" y="4027668"/>
                  </a:lnTo>
                  <a:lnTo>
                    <a:pt x="87527" y="4066927"/>
                  </a:lnTo>
                  <a:lnTo>
                    <a:pt x="112717" y="4104217"/>
                  </a:lnTo>
                  <a:lnTo>
                    <a:pt x="140628" y="4139388"/>
                  </a:lnTo>
                  <a:lnTo>
                    <a:pt x="171110" y="4172289"/>
                  </a:lnTo>
                  <a:lnTo>
                    <a:pt x="204011" y="4202771"/>
                  </a:lnTo>
                  <a:lnTo>
                    <a:pt x="239182" y="4230682"/>
                  </a:lnTo>
                  <a:lnTo>
                    <a:pt x="276472" y="4255872"/>
                  </a:lnTo>
                  <a:lnTo>
                    <a:pt x="315731" y="4278192"/>
                  </a:lnTo>
                  <a:lnTo>
                    <a:pt x="356808" y="4297490"/>
                  </a:lnTo>
                  <a:lnTo>
                    <a:pt x="399554" y="4313616"/>
                  </a:lnTo>
                  <a:lnTo>
                    <a:pt x="443818" y="4326421"/>
                  </a:lnTo>
                  <a:lnTo>
                    <a:pt x="489449" y="4335753"/>
                  </a:lnTo>
                  <a:lnTo>
                    <a:pt x="536297" y="4341463"/>
                  </a:lnTo>
                  <a:lnTo>
                    <a:pt x="584212" y="4343400"/>
                  </a:lnTo>
                  <a:lnTo>
                    <a:pt x="2921000" y="4343400"/>
                  </a:lnTo>
                  <a:lnTo>
                    <a:pt x="2968904" y="4341463"/>
                  </a:lnTo>
                  <a:lnTo>
                    <a:pt x="3015744" y="4335753"/>
                  </a:lnTo>
                  <a:lnTo>
                    <a:pt x="3061368" y="4326421"/>
                  </a:lnTo>
                  <a:lnTo>
                    <a:pt x="3105627" y="4313616"/>
                  </a:lnTo>
                  <a:lnTo>
                    <a:pt x="3148369" y="4297490"/>
                  </a:lnTo>
                  <a:lnTo>
                    <a:pt x="3189444" y="4278192"/>
                  </a:lnTo>
                  <a:lnTo>
                    <a:pt x="3228702" y="4255872"/>
                  </a:lnTo>
                  <a:lnTo>
                    <a:pt x="3265992" y="4230682"/>
                  </a:lnTo>
                  <a:lnTo>
                    <a:pt x="3301164" y="4202771"/>
                  </a:lnTo>
                  <a:lnTo>
                    <a:pt x="3334067" y="4172289"/>
                  </a:lnTo>
                  <a:lnTo>
                    <a:pt x="3364550" y="4139388"/>
                  </a:lnTo>
                  <a:lnTo>
                    <a:pt x="3392464" y="4104217"/>
                  </a:lnTo>
                  <a:lnTo>
                    <a:pt x="3417657" y="4066927"/>
                  </a:lnTo>
                  <a:lnTo>
                    <a:pt x="3439980" y="4027668"/>
                  </a:lnTo>
                  <a:lnTo>
                    <a:pt x="3459281" y="3986591"/>
                  </a:lnTo>
                  <a:lnTo>
                    <a:pt x="3475410" y="3943845"/>
                  </a:lnTo>
                  <a:lnTo>
                    <a:pt x="3488217" y="3899581"/>
                  </a:lnTo>
                  <a:lnTo>
                    <a:pt x="3497552" y="3853950"/>
                  </a:lnTo>
                  <a:lnTo>
                    <a:pt x="3503262" y="3807102"/>
                  </a:lnTo>
                  <a:lnTo>
                    <a:pt x="3505200" y="3759187"/>
                  </a:lnTo>
                  <a:lnTo>
                    <a:pt x="3505200" y="584200"/>
                  </a:lnTo>
                  <a:lnTo>
                    <a:pt x="3503262" y="536295"/>
                  </a:lnTo>
                  <a:lnTo>
                    <a:pt x="3497552" y="489455"/>
                  </a:lnTo>
                  <a:lnTo>
                    <a:pt x="3488217" y="443831"/>
                  </a:lnTo>
                  <a:lnTo>
                    <a:pt x="3475410" y="399572"/>
                  </a:lnTo>
                  <a:lnTo>
                    <a:pt x="3459281" y="356830"/>
                  </a:lnTo>
                  <a:lnTo>
                    <a:pt x="3439980" y="315755"/>
                  </a:lnTo>
                  <a:lnTo>
                    <a:pt x="3417657" y="276497"/>
                  </a:lnTo>
                  <a:lnTo>
                    <a:pt x="3392464" y="239207"/>
                  </a:lnTo>
                  <a:lnTo>
                    <a:pt x="3364550" y="204035"/>
                  </a:lnTo>
                  <a:lnTo>
                    <a:pt x="3334067" y="171132"/>
                  </a:lnTo>
                  <a:lnTo>
                    <a:pt x="3301164" y="140649"/>
                  </a:lnTo>
                  <a:lnTo>
                    <a:pt x="3265992" y="112735"/>
                  </a:lnTo>
                  <a:lnTo>
                    <a:pt x="3228702" y="87542"/>
                  </a:lnTo>
                  <a:lnTo>
                    <a:pt x="3189444" y="65219"/>
                  </a:lnTo>
                  <a:lnTo>
                    <a:pt x="3148369" y="45918"/>
                  </a:lnTo>
                  <a:lnTo>
                    <a:pt x="3105627" y="29789"/>
                  </a:lnTo>
                  <a:lnTo>
                    <a:pt x="3061368" y="16982"/>
                  </a:lnTo>
                  <a:lnTo>
                    <a:pt x="3015744" y="7647"/>
                  </a:lnTo>
                  <a:lnTo>
                    <a:pt x="2968904" y="1937"/>
                  </a:lnTo>
                  <a:lnTo>
                    <a:pt x="2921000" y="0"/>
                  </a:lnTo>
                  <a:close/>
                </a:path>
              </a:pathLst>
            </a:custGeom>
            <a:solidFill>
              <a:srgbClr val="FFFFFF"/>
            </a:solidFill>
          </p:spPr>
          <p:txBody>
            <a:bodyPr wrap="square" lIns="0" tIns="0" rIns="0" bIns="0" rtlCol="0"/>
            <a:lstStyle/>
            <a:p>
              <a:endParaRPr dirty="0"/>
            </a:p>
          </p:txBody>
        </p:sp>
        <p:sp>
          <p:nvSpPr>
            <p:cNvPr id="5" name="object 5"/>
            <p:cNvSpPr/>
            <p:nvPr/>
          </p:nvSpPr>
          <p:spPr>
            <a:xfrm>
              <a:off x="194309" y="2202942"/>
              <a:ext cx="3505200" cy="4343400"/>
            </a:xfrm>
            <a:custGeom>
              <a:avLst/>
              <a:gdLst/>
              <a:ahLst/>
              <a:cxnLst/>
              <a:rect l="l" t="t" r="r" b="b"/>
              <a:pathLst>
                <a:path w="3505200" h="4343400">
                  <a:moveTo>
                    <a:pt x="0" y="584200"/>
                  </a:moveTo>
                  <a:lnTo>
                    <a:pt x="1936" y="536295"/>
                  </a:lnTo>
                  <a:lnTo>
                    <a:pt x="7646" y="489455"/>
                  </a:lnTo>
                  <a:lnTo>
                    <a:pt x="16978" y="443831"/>
                  </a:lnTo>
                  <a:lnTo>
                    <a:pt x="29783" y="399572"/>
                  </a:lnTo>
                  <a:lnTo>
                    <a:pt x="45909" y="356830"/>
                  </a:lnTo>
                  <a:lnTo>
                    <a:pt x="65207" y="315755"/>
                  </a:lnTo>
                  <a:lnTo>
                    <a:pt x="87527" y="276497"/>
                  </a:lnTo>
                  <a:lnTo>
                    <a:pt x="112717" y="239207"/>
                  </a:lnTo>
                  <a:lnTo>
                    <a:pt x="140628" y="204035"/>
                  </a:lnTo>
                  <a:lnTo>
                    <a:pt x="171110" y="171132"/>
                  </a:lnTo>
                  <a:lnTo>
                    <a:pt x="204011" y="140649"/>
                  </a:lnTo>
                  <a:lnTo>
                    <a:pt x="239182" y="112735"/>
                  </a:lnTo>
                  <a:lnTo>
                    <a:pt x="276472" y="87542"/>
                  </a:lnTo>
                  <a:lnTo>
                    <a:pt x="315731" y="65219"/>
                  </a:lnTo>
                  <a:lnTo>
                    <a:pt x="356808" y="45918"/>
                  </a:lnTo>
                  <a:lnTo>
                    <a:pt x="399554" y="29789"/>
                  </a:lnTo>
                  <a:lnTo>
                    <a:pt x="443818" y="16982"/>
                  </a:lnTo>
                  <a:lnTo>
                    <a:pt x="489449" y="7647"/>
                  </a:lnTo>
                  <a:lnTo>
                    <a:pt x="536297" y="1937"/>
                  </a:lnTo>
                  <a:lnTo>
                    <a:pt x="584212" y="0"/>
                  </a:lnTo>
                  <a:lnTo>
                    <a:pt x="2921000" y="0"/>
                  </a:lnTo>
                  <a:lnTo>
                    <a:pt x="2968904" y="1937"/>
                  </a:lnTo>
                  <a:lnTo>
                    <a:pt x="3015744" y="7647"/>
                  </a:lnTo>
                  <a:lnTo>
                    <a:pt x="3061368" y="16982"/>
                  </a:lnTo>
                  <a:lnTo>
                    <a:pt x="3105627" y="29789"/>
                  </a:lnTo>
                  <a:lnTo>
                    <a:pt x="3148369" y="45918"/>
                  </a:lnTo>
                  <a:lnTo>
                    <a:pt x="3189444" y="65219"/>
                  </a:lnTo>
                  <a:lnTo>
                    <a:pt x="3228702" y="87542"/>
                  </a:lnTo>
                  <a:lnTo>
                    <a:pt x="3265992" y="112735"/>
                  </a:lnTo>
                  <a:lnTo>
                    <a:pt x="3301164" y="140649"/>
                  </a:lnTo>
                  <a:lnTo>
                    <a:pt x="3334067" y="171132"/>
                  </a:lnTo>
                  <a:lnTo>
                    <a:pt x="3364550" y="204035"/>
                  </a:lnTo>
                  <a:lnTo>
                    <a:pt x="3392464" y="239207"/>
                  </a:lnTo>
                  <a:lnTo>
                    <a:pt x="3417657" y="276497"/>
                  </a:lnTo>
                  <a:lnTo>
                    <a:pt x="3439980" y="315755"/>
                  </a:lnTo>
                  <a:lnTo>
                    <a:pt x="3459281" y="356830"/>
                  </a:lnTo>
                  <a:lnTo>
                    <a:pt x="3475410" y="399572"/>
                  </a:lnTo>
                  <a:lnTo>
                    <a:pt x="3488217" y="443831"/>
                  </a:lnTo>
                  <a:lnTo>
                    <a:pt x="3497552" y="489455"/>
                  </a:lnTo>
                  <a:lnTo>
                    <a:pt x="3503262" y="536295"/>
                  </a:lnTo>
                  <a:lnTo>
                    <a:pt x="3505200" y="584200"/>
                  </a:lnTo>
                  <a:lnTo>
                    <a:pt x="3505200" y="3759187"/>
                  </a:lnTo>
                  <a:lnTo>
                    <a:pt x="3503262" y="3807102"/>
                  </a:lnTo>
                  <a:lnTo>
                    <a:pt x="3497552" y="3853950"/>
                  </a:lnTo>
                  <a:lnTo>
                    <a:pt x="3488217" y="3899581"/>
                  </a:lnTo>
                  <a:lnTo>
                    <a:pt x="3475410" y="3943845"/>
                  </a:lnTo>
                  <a:lnTo>
                    <a:pt x="3459281" y="3986591"/>
                  </a:lnTo>
                  <a:lnTo>
                    <a:pt x="3439980" y="4027668"/>
                  </a:lnTo>
                  <a:lnTo>
                    <a:pt x="3417657" y="4066927"/>
                  </a:lnTo>
                  <a:lnTo>
                    <a:pt x="3392464" y="4104217"/>
                  </a:lnTo>
                  <a:lnTo>
                    <a:pt x="3364550" y="4139388"/>
                  </a:lnTo>
                  <a:lnTo>
                    <a:pt x="3334067" y="4172289"/>
                  </a:lnTo>
                  <a:lnTo>
                    <a:pt x="3301164" y="4202771"/>
                  </a:lnTo>
                  <a:lnTo>
                    <a:pt x="3265992" y="4230682"/>
                  </a:lnTo>
                  <a:lnTo>
                    <a:pt x="3228702" y="4255872"/>
                  </a:lnTo>
                  <a:lnTo>
                    <a:pt x="3189444" y="4278192"/>
                  </a:lnTo>
                  <a:lnTo>
                    <a:pt x="3148369" y="4297490"/>
                  </a:lnTo>
                  <a:lnTo>
                    <a:pt x="3105627" y="4313616"/>
                  </a:lnTo>
                  <a:lnTo>
                    <a:pt x="3061368" y="4326421"/>
                  </a:lnTo>
                  <a:lnTo>
                    <a:pt x="3015744" y="4335753"/>
                  </a:lnTo>
                  <a:lnTo>
                    <a:pt x="2968904" y="4341463"/>
                  </a:lnTo>
                  <a:lnTo>
                    <a:pt x="2921000" y="4343400"/>
                  </a:lnTo>
                  <a:lnTo>
                    <a:pt x="584212" y="4343400"/>
                  </a:lnTo>
                  <a:lnTo>
                    <a:pt x="536297" y="4341463"/>
                  </a:lnTo>
                  <a:lnTo>
                    <a:pt x="489449" y="4335753"/>
                  </a:lnTo>
                  <a:lnTo>
                    <a:pt x="443818" y="4326421"/>
                  </a:lnTo>
                  <a:lnTo>
                    <a:pt x="399554" y="4313616"/>
                  </a:lnTo>
                  <a:lnTo>
                    <a:pt x="356808" y="4297490"/>
                  </a:lnTo>
                  <a:lnTo>
                    <a:pt x="315731" y="4278192"/>
                  </a:lnTo>
                  <a:lnTo>
                    <a:pt x="276472" y="4255872"/>
                  </a:lnTo>
                  <a:lnTo>
                    <a:pt x="239182" y="4230682"/>
                  </a:lnTo>
                  <a:lnTo>
                    <a:pt x="204011" y="4202771"/>
                  </a:lnTo>
                  <a:lnTo>
                    <a:pt x="171110" y="4172289"/>
                  </a:lnTo>
                  <a:lnTo>
                    <a:pt x="140628" y="4139388"/>
                  </a:lnTo>
                  <a:lnTo>
                    <a:pt x="112717" y="4104217"/>
                  </a:lnTo>
                  <a:lnTo>
                    <a:pt x="87527" y="4066927"/>
                  </a:lnTo>
                  <a:lnTo>
                    <a:pt x="65207" y="4027668"/>
                  </a:lnTo>
                  <a:lnTo>
                    <a:pt x="45909" y="3986591"/>
                  </a:lnTo>
                  <a:lnTo>
                    <a:pt x="29783" y="3943845"/>
                  </a:lnTo>
                  <a:lnTo>
                    <a:pt x="16978" y="3899581"/>
                  </a:lnTo>
                  <a:lnTo>
                    <a:pt x="7646" y="3853950"/>
                  </a:lnTo>
                  <a:lnTo>
                    <a:pt x="1936" y="3807102"/>
                  </a:lnTo>
                  <a:lnTo>
                    <a:pt x="0" y="3759187"/>
                  </a:lnTo>
                  <a:lnTo>
                    <a:pt x="0" y="584200"/>
                  </a:lnTo>
                  <a:close/>
                </a:path>
              </a:pathLst>
            </a:custGeom>
            <a:ln w="25908">
              <a:solidFill>
                <a:srgbClr val="F79546"/>
              </a:solidFill>
            </a:ln>
          </p:spPr>
          <p:txBody>
            <a:bodyPr wrap="square" lIns="0" tIns="0" rIns="0" bIns="0" rtlCol="0"/>
            <a:lstStyle/>
            <a:p>
              <a:endParaRPr dirty="0"/>
            </a:p>
          </p:txBody>
        </p:sp>
        <p:pic>
          <p:nvPicPr>
            <p:cNvPr id="6" name="object 6"/>
            <p:cNvPicPr/>
            <p:nvPr/>
          </p:nvPicPr>
          <p:blipFill>
            <a:blip r:embed="rId3" cstate="print"/>
            <a:stretch>
              <a:fillRect/>
            </a:stretch>
          </p:blipFill>
          <p:spPr>
            <a:xfrm>
              <a:off x="466344" y="2840735"/>
              <a:ext cx="2810256" cy="2773679"/>
            </a:xfrm>
            <a:prstGeom prst="rect">
              <a:avLst/>
            </a:prstGeom>
          </p:spPr>
        </p:pic>
        <p:sp>
          <p:nvSpPr>
            <p:cNvPr id="7" name="object 7"/>
            <p:cNvSpPr/>
            <p:nvPr/>
          </p:nvSpPr>
          <p:spPr>
            <a:xfrm>
              <a:off x="5791961" y="2384298"/>
              <a:ext cx="2971800" cy="4343400"/>
            </a:xfrm>
            <a:custGeom>
              <a:avLst/>
              <a:gdLst/>
              <a:ahLst/>
              <a:cxnLst/>
              <a:rect l="l" t="t" r="r" b="b"/>
              <a:pathLst>
                <a:path w="2971800" h="4343400">
                  <a:moveTo>
                    <a:pt x="2476499" y="0"/>
                  </a:moveTo>
                  <a:lnTo>
                    <a:pt x="495300" y="0"/>
                  </a:lnTo>
                  <a:lnTo>
                    <a:pt x="447597" y="2267"/>
                  </a:lnTo>
                  <a:lnTo>
                    <a:pt x="401178" y="8930"/>
                  </a:lnTo>
                  <a:lnTo>
                    <a:pt x="356249" y="19782"/>
                  </a:lnTo>
                  <a:lnTo>
                    <a:pt x="313019" y="34615"/>
                  </a:lnTo>
                  <a:lnTo>
                    <a:pt x="271695" y="53222"/>
                  </a:lnTo>
                  <a:lnTo>
                    <a:pt x="232484" y="75394"/>
                  </a:lnTo>
                  <a:lnTo>
                    <a:pt x="195594" y="100925"/>
                  </a:lnTo>
                  <a:lnTo>
                    <a:pt x="161233" y="129607"/>
                  </a:lnTo>
                  <a:lnTo>
                    <a:pt x="129607" y="161233"/>
                  </a:lnTo>
                  <a:lnTo>
                    <a:pt x="100925" y="195594"/>
                  </a:lnTo>
                  <a:lnTo>
                    <a:pt x="75394" y="232484"/>
                  </a:lnTo>
                  <a:lnTo>
                    <a:pt x="53222" y="271695"/>
                  </a:lnTo>
                  <a:lnTo>
                    <a:pt x="34615" y="313019"/>
                  </a:lnTo>
                  <a:lnTo>
                    <a:pt x="19782" y="356249"/>
                  </a:lnTo>
                  <a:lnTo>
                    <a:pt x="8930" y="401178"/>
                  </a:lnTo>
                  <a:lnTo>
                    <a:pt x="2267" y="447597"/>
                  </a:lnTo>
                  <a:lnTo>
                    <a:pt x="0" y="495300"/>
                  </a:lnTo>
                  <a:lnTo>
                    <a:pt x="0" y="3848087"/>
                  </a:lnTo>
                  <a:lnTo>
                    <a:pt x="2267" y="3895789"/>
                  </a:lnTo>
                  <a:lnTo>
                    <a:pt x="8930" y="3942209"/>
                  </a:lnTo>
                  <a:lnTo>
                    <a:pt x="19782" y="3987138"/>
                  </a:lnTo>
                  <a:lnTo>
                    <a:pt x="34615" y="4030369"/>
                  </a:lnTo>
                  <a:lnTo>
                    <a:pt x="53222" y="4071694"/>
                  </a:lnTo>
                  <a:lnTo>
                    <a:pt x="75394" y="4110906"/>
                  </a:lnTo>
                  <a:lnTo>
                    <a:pt x="100925" y="4147796"/>
                  </a:lnTo>
                  <a:lnTo>
                    <a:pt x="129607" y="4182159"/>
                  </a:lnTo>
                  <a:lnTo>
                    <a:pt x="161233" y="4213786"/>
                  </a:lnTo>
                  <a:lnTo>
                    <a:pt x="195594" y="4242469"/>
                  </a:lnTo>
                  <a:lnTo>
                    <a:pt x="232484" y="4268001"/>
                  </a:lnTo>
                  <a:lnTo>
                    <a:pt x="271695" y="4290175"/>
                  </a:lnTo>
                  <a:lnTo>
                    <a:pt x="313019" y="4308782"/>
                  </a:lnTo>
                  <a:lnTo>
                    <a:pt x="356249" y="4323616"/>
                  </a:lnTo>
                  <a:lnTo>
                    <a:pt x="401178" y="4334468"/>
                  </a:lnTo>
                  <a:lnTo>
                    <a:pt x="447597" y="4341132"/>
                  </a:lnTo>
                  <a:lnTo>
                    <a:pt x="495300" y="4343400"/>
                  </a:lnTo>
                  <a:lnTo>
                    <a:pt x="2476499" y="4343400"/>
                  </a:lnTo>
                  <a:lnTo>
                    <a:pt x="2524202" y="4341132"/>
                  </a:lnTo>
                  <a:lnTo>
                    <a:pt x="2570621" y="4334468"/>
                  </a:lnTo>
                  <a:lnTo>
                    <a:pt x="2615550" y="4323616"/>
                  </a:lnTo>
                  <a:lnTo>
                    <a:pt x="2658780" y="4308782"/>
                  </a:lnTo>
                  <a:lnTo>
                    <a:pt x="2700104" y="4290175"/>
                  </a:lnTo>
                  <a:lnTo>
                    <a:pt x="2739315" y="4268001"/>
                  </a:lnTo>
                  <a:lnTo>
                    <a:pt x="2776205" y="4242469"/>
                  </a:lnTo>
                  <a:lnTo>
                    <a:pt x="2810566" y="4213786"/>
                  </a:lnTo>
                  <a:lnTo>
                    <a:pt x="2842192" y="4182159"/>
                  </a:lnTo>
                  <a:lnTo>
                    <a:pt x="2870874" y="4147796"/>
                  </a:lnTo>
                  <a:lnTo>
                    <a:pt x="2896405" y="4110906"/>
                  </a:lnTo>
                  <a:lnTo>
                    <a:pt x="2918577" y="4071694"/>
                  </a:lnTo>
                  <a:lnTo>
                    <a:pt x="2937184" y="4030369"/>
                  </a:lnTo>
                  <a:lnTo>
                    <a:pt x="2952017" y="3987138"/>
                  </a:lnTo>
                  <a:lnTo>
                    <a:pt x="2962869" y="3942209"/>
                  </a:lnTo>
                  <a:lnTo>
                    <a:pt x="2969532" y="3895789"/>
                  </a:lnTo>
                  <a:lnTo>
                    <a:pt x="2971799" y="3848087"/>
                  </a:lnTo>
                  <a:lnTo>
                    <a:pt x="2971799" y="495300"/>
                  </a:lnTo>
                  <a:lnTo>
                    <a:pt x="2969532" y="447597"/>
                  </a:lnTo>
                  <a:lnTo>
                    <a:pt x="2962869" y="401178"/>
                  </a:lnTo>
                  <a:lnTo>
                    <a:pt x="2952017" y="356249"/>
                  </a:lnTo>
                  <a:lnTo>
                    <a:pt x="2937184" y="313019"/>
                  </a:lnTo>
                  <a:lnTo>
                    <a:pt x="2918577" y="271695"/>
                  </a:lnTo>
                  <a:lnTo>
                    <a:pt x="2896405" y="232484"/>
                  </a:lnTo>
                  <a:lnTo>
                    <a:pt x="2870874" y="195594"/>
                  </a:lnTo>
                  <a:lnTo>
                    <a:pt x="2842192" y="161233"/>
                  </a:lnTo>
                  <a:lnTo>
                    <a:pt x="2810566" y="129607"/>
                  </a:lnTo>
                  <a:lnTo>
                    <a:pt x="2776205" y="100925"/>
                  </a:lnTo>
                  <a:lnTo>
                    <a:pt x="2739315" y="75394"/>
                  </a:lnTo>
                  <a:lnTo>
                    <a:pt x="2700104" y="53222"/>
                  </a:lnTo>
                  <a:lnTo>
                    <a:pt x="2658780" y="34615"/>
                  </a:lnTo>
                  <a:lnTo>
                    <a:pt x="2615550" y="19782"/>
                  </a:lnTo>
                  <a:lnTo>
                    <a:pt x="2570621" y="8930"/>
                  </a:lnTo>
                  <a:lnTo>
                    <a:pt x="2524202" y="2267"/>
                  </a:lnTo>
                  <a:lnTo>
                    <a:pt x="2476499" y="0"/>
                  </a:lnTo>
                  <a:close/>
                </a:path>
              </a:pathLst>
            </a:custGeom>
            <a:solidFill>
              <a:srgbClr val="FFFFFF"/>
            </a:solidFill>
          </p:spPr>
          <p:txBody>
            <a:bodyPr wrap="square" lIns="0" tIns="0" rIns="0" bIns="0" rtlCol="0"/>
            <a:lstStyle/>
            <a:p>
              <a:endParaRPr dirty="0"/>
            </a:p>
          </p:txBody>
        </p:sp>
        <p:sp>
          <p:nvSpPr>
            <p:cNvPr id="8" name="object 8"/>
            <p:cNvSpPr/>
            <p:nvPr/>
          </p:nvSpPr>
          <p:spPr>
            <a:xfrm>
              <a:off x="5791961" y="2384298"/>
              <a:ext cx="2971800" cy="4343400"/>
            </a:xfrm>
            <a:custGeom>
              <a:avLst/>
              <a:gdLst/>
              <a:ahLst/>
              <a:cxnLst/>
              <a:rect l="l" t="t" r="r" b="b"/>
              <a:pathLst>
                <a:path w="2971800" h="4343400">
                  <a:moveTo>
                    <a:pt x="0" y="495300"/>
                  </a:moveTo>
                  <a:lnTo>
                    <a:pt x="2267" y="447597"/>
                  </a:lnTo>
                  <a:lnTo>
                    <a:pt x="8930" y="401178"/>
                  </a:lnTo>
                  <a:lnTo>
                    <a:pt x="19782" y="356249"/>
                  </a:lnTo>
                  <a:lnTo>
                    <a:pt x="34615" y="313019"/>
                  </a:lnTo>
                  <a:lnTo>
                    <a:pt x="53222" y="271695"/>
                  </a:lnTo>
                  <a:lnTo>
                    <a:pt x="75394" y="232484"/>
                  </a:lnTo>
                  <a:lnTo>
                    <a:pt x="100925" y="195594"/>
                  </a:lnTo>
                  <a:lnTo>
                    <a:pt x="129607" y="161233"/>
                  </a:lnTo>
                  <a:lnTo>
                    <a:pt x="161233" y="129607"/>
                  </a:lnTo>
                  <a:lnTo>
                    <a:pt x="195594" y="100925"/>
                  </a:lnTo>
                  <a:lnTo>
                    <a:pt x="232484" y="75394"/>
                  </a:lnTo>
                  <a:lnTo>
                    <a:pt x="271695" y="53222"/>
                  </a:lnTo>
                  <a:lnTo>
                    <a:pt x="313019" y="34615"/>
                  </a:lnTo>
                  <a:lnTo>
                    <a:pt x="356249" y="19782"/>
                  </a:lnTo>
                  <a:lnTo>
                    <a:pt x="401178" y="8930"/>
                  </a:lnTo>
                  <a:lnTo>
                    <a:pt x="447597" y="2267"/>
                  </a:lnTo>
                  <a:lnTo>
                    <a:pt x="495300" y="0"/>
                  </a:lnTo>
                  <a:lnTo>
                    <a:pt x="2476499" y="0"/>
                  </a:lnTo>
                  <a:lnTo>
                    <a:pt x="2524202" y="2267"/>
                  </a:lnTo>
                  <a:lnTo>
                    <a:pt x="2570621" y="8930"/>
                  </a:lnTo>
                  <a:lnTo>
                    <a:pt x="2615550" y="19782"/>
                  </a:lnTo>
                  <a:lnTo>
                    <a:pt x="2658780" y="34615"/>
                  </a:lnTo>
                  <a:lnTo>
                    <a:pt x="2700104" y="53222"/>
                  </a:lnTo>
                  <a:lnTo>
                    <a:pt x="2739315" y="75394"/>
                  </a:lnTo>
                  <a:lnTo>
                    <a:pt x="2776205" y="100925"/>
                  </a:lnTo>
                  <a:lnTo>
                    <a:pt x="2810566" y="129607"/>
                  </a:lnTo>
                  <a:lnTo>
                    <a:pt x="2842192" y="161233"/>
                  </a:lnTo>
                  <a:lnTo>
                    <a:pt x="2870874" y="195594"/>
                  </a:lnTo>
                  <a:lnTo>
                    <a:pt x="2896405" y="232484"/>
                  </a:lnTo>
                  <a:lnTo>
                    <a:pt x="2918577" y="271695"/>
                  </a:lnTo>
                  <a:lnTo>
                    <a:pt x="2937184" y="313019"/>
                  </a:lnTo>
                  <a:lnTo>
                    <a:pt x="2952017" y="356249"/>
                  </a:lnTo>
                  <a:lnTo>
                    <a:pt x="2962869" y="401178"/>
                  </a:lnTo>
                  <a:lnTo>
                    <a:pt x="2969532" y="447597"/>
                  </a:lnTo>
                  <a:lnTo>
                    <a:pt x="2971799" y="495300"/>
                  </a:lnTo>
                  <a:lnTo>
                    <a:pt x="2971799" y="3848087"/>
                  </a:lnTo>
                  <a:lnTo>
                    <a:pt x="2969532" y="3895789"/>
                  </a:lnTo>
                  <a:lnTo>
                    <a:pt x="2962869" y="3942209"/>
                  </a:lnTo>
                  <a:lnTo>
                    <a:pt x="2952017" y="3987138"/>
                  </a:lnTo>
                  <a:lnTo>
                    <a:pt x="2937184" y="4030369"/>
                  </a:lnTo>
                  <a:lnTo>
                    <a:pt x="2918577" y="4071694"/>
                  </a:lnTo>
                  <a:lnTo>
                    <a:pt x="2896405" y="4110906"/>
                  </a:lnTo>
                  <a:lnTo>
                    <a:pt x="2870874" y="4147796"/>
                  </a:lnTo>
                  <a:lnTo>
                    <a:pt x="2842192" y="4182159"/>
                  </a:lnTo>
                  <a:lnTo>
                    <a:pt x="2810566" y="4213786"/>
                  </a:lnTo>
                  <a:lnTo>
                    <a:pt x="2776205" y="4242469"/>
                  </a:lnTo>
                  <a:lnTo>
                    <a:pt x="2739315" y="4268001"/>
                  </a:lnTo>
                  <a:lnTo>
                    <a:pt x="2700104" y="4290175"/>
                  </a:lnTo>
                  <a:lnTo>
                    <a:pt x="2658780" y="4308782"/>
                  </a:lnTo>
                  <a:lnTo>
                    <a:pt x="2615550" y="4323616"/>
                  </a:lnTo>
                  <a:lnTo>
                    <a:pt x="2570621" y="4334468"/>
                  </a:lnTo>
                  <a:lnTo>
                    <a:pt x="2524202" y="4341132"/>
                  </a:lnTo>
                  <a:lnTo>
                    <a:pt x="2476499" y="4343400"/>
                  </a:lnTo>
                  <a:lnTo>
                    <a:pt x="495300" y="4343400"/>
                  </a:lnTo>
                  <a:lnTo>
                    <a:pt x="447597" y="4341132"/>
                  </a:lnTo>
                  <a:lnTo>
                    <a:pt x="401178" y="4334468"/>
                  </a:lnTo>
                  <a:lnTo>
                    <a:pt x="356249" y="4323616"/>
                  </a:lnTo>
                  <a:lnTo>
                    <a:pt x="313019" y="4308782"/>
                  </a:lnTo>
                  <a:lnTo>
                    <a:pt x="271695" y="4290175"/>
                  </a:lnTo>
                  <a:lnTo>
                    <a:pt x="232484" y="4268001"/>
                  </a:lnTo>
                  <a:lnTo>
                    <a:pt x="195594" y="4242469"/>
                  </a:lnTo>
                  <a:lnTo>
                    <a:pt x="161233" y="4213786"/>
                  </a:lnTo>
                  <a:lnTo>
                    <a:pt x="129607" y="4182159"/>
                  </a:lnTo>
                  <a:lnTo>
                    <a:pt x="100925" y="4147796"/>
                  </a:lnTo>
                  <a:lnTo>
                    <a:pt x="75394" y="4110906"/>
                  </a:lnTo>
                  <a:lnTo>
                    <a:pt x="53222" y="4071694"/>
                  </a:lnTo>
                  <a:lnTo>
                    <a:pt x="34615" y="4030369"/>
                  </a:lnTo>
                  <a:lnTo>
                    <a:pt x="19782" y="3987138"/>
                  </a:lnTo>
                  <a:lnTo>
                    <a:pt x="8930" y="3942209"/>
                  </a:lnTo>
                  <a:lnTo>
                    <a:pt x="2267" y="3895789"/>
                  </a:lnTo>
                  <a:lnTo>
                    <a:pt x="0" y="3848087"/>
                  </a:lnTo>
                  <a:lnTo>
                    <a:pt x="0" y="495300"/>
                  </a:lnTo>
                  <a:close/>
                </a:path>
              </a:pathLst>
            </a:custGeom>
            <a:ln w="25908">
              <a:solidFill>
                <a:srgbClr val="F79546"/>
              </a:solidFill>
            </a:ln>
          </p:spPr>
          <p:txBody>
            <a:bodyPr wrap="square" lIns="0" tIns="0" rIns="0" bIns="0" rtlCol="0"/>
            <a:lstStyle/>
            <a:p>
              <a:endParaRPr dirty="0"/>
            </a:p>
          </p:txBody>
        </p:sp>
        <p:pic>
          <p:nvPicPr>
            <p:cNvPr id="9" name="object 9"/>
            <p:cNvPicPr/>
            <p:nvPr/>
          </p:nvPicPr>
          <p:blipFill>
            <a:blip r:embed="rId4" cstate="print"/>
            <a:stretch>
              <a:fillRect/>
            </a:stretch>
          </p:blipFill>
          <p:spPr>
            <a:xfrm>
              <a:off x="6036564" y="3203448"/>
              <a:ext cx="2436876" cy="2459736"/>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1" y="-480094"/>
            <a:ext cx="8915400" cy="1813572"/>
          </a:xfrm>
          <a:prstGeom prst="rect">
            <a:avLst/>
          </a:prstGeom>
        </p:spPr>
        <p:txBody>
          <a:bodyPr vert="horz" wrap="square" lIns="0" tIns="698753" rIns="0" bIns="0" rtlCol="0">
            <a:spAutoFit/>
          </a:bodyPr>
          <a:lstStyle/>
          <a:p>
            <a:pPr marL="417195">
              <a:lnSpc>
                <a:spcPct val="100000"/>
              </a:lnSpc>
              <a:spcBef>
                <a:spcPts val="95"/>
              </a:spcBef>
            </a:pPr>
            <a:r>
              <a:rPr sz="3600" b="1" dirty="0">
                <a:solidFill>
                  <a:srgbClr val="FFFF00"/>
                </a:solidFill>
                <a:uFill>
                  <a:solidFill>
                    <a:srgbClr val="17375E"/>
                  </a:solidFill>
                </a:uFill>
                <a:latin typeface="Times New Roman" panose="02020603050405020304" pitchFamily="18" charset="0"/>
                <a:cs typeface="Times New Roman" panose="02020603050405020304" pitchFamily="18" charset="0"/>
              </a:rPr>
              <a:t>Application</a:t>
            </a:r>
            <a:r>
              <a:rPr sz="3600" b="1" spc="-70" dirty="0">
                <a:solidFill>
                  <a:srgbClr val="FFFF00"/>
                </a:solidFill>
                <a:uFill>
                  <a:solidFill>
                    <a:srgbClr val="17375E"/>
                  </a:solidFill>
                </a:uFill>
                <a:latin typeface="Times New Roman" panose="02020603050405020304" pitchFamily="18" charset="0"/>
                <a:cs typeface="Times New Roman" panose="02020603050405020304" pitchFamily="18" charset="0"/>
              </a:rPr>
              <a:t> </a:t>
            </a:r>
            <a:r>
              <a:rPr sz="3600" b="1" dirty="0">
                <a:solidFill>
                  <a:srgbClr val="FFFF00"/>
                </a:solidFill>
                <a:uFill>
                  <a:solidFill>
                    <a:srgbClr val="17375E"/>
                  </a:solidFill>
                </a:uFill>
                <a:latin typeface="Times New Roman" panose="02020603050405020304" pitchFamily="18" charset="0"/>
                <a:cs typeface="Times New Roman" panose="02020603050405020304" pitchFamily="18" charset="0"/>
              </a:rPr>
              <a:t>of</a:t>
            </a:r>
            <a:r>
              <a:rPr sz="3600" b="1" spc="-90" dirty="0">
                <a:solidFill>
                  <a:srgbClr val="FFFF00"/>
                </a:solidFill>
                <a:uFill>
                  <a:solidFill>
                    <a:srgbClr val="17375E"/>
                  </a:solidFill>
                </a:uFill>
                <a:latin typeface="Times New Roman" panose="02020603050405020304" pitchFamily="18" charset="0"/>
                <a:cs typeface="Times New Roman" panose="02020603050405020304" pitchFamily="18" charset="0"/>
              </a:rPr>
              <a:t> </a:t>
            </a:r>
            <a:r>
              <a:rPr lang="en-US" sz="3600" b="1" spc="-90" dirty="0">
                <a:solidFill>
                  <a:srgbClr val="FFFF00"/>
                </a:solidFill>
                <a:uFill>
                  <a:solidFill>
                    <a:srgbClr val="17375E"/>
                  </a:solidFill>
                </a:uFill>
                <a:latin typeface="Times New Roman" panose="02020603050405020304" pitchFamily="18" charset="0"/>
                <a:cs typeface="Times New Roman" panose="02020603050405020304" pitchFamily="18" charset="0"/>
              </a:rPr>
              <a:t>V</a:t>
            </a:r>
            <a:r>
              <a:rPr sz="3600" b="1" dirty="0">
                <a:solidFill>
                  <a:srgbClr val="FFFF00"/>
                </a:solidFill>
                <a:uFill>
                  <a:solidFill>
                    <a:srgbClr val="17375E"/>
                  </a:solidFill>
                </a:uFill>
                <a:latin typeface="Times New Roman" panose="02020603050405020304" pitchFamily="18" charset="0"/>
                <a:cs typeface="Times New Roman" panose="02020603050405020304" pitchFamily="18" charset="0"/>
              </a:rPr>
              <a:t>enture</a:t>
            </a:r>
            <a:r>
              <a:rPr sz="3600" b="1" spc="-80" dirty="0">
                <a:solidFill>
                  <a:srgbClr val="FFFF00"/>
                </a:solidFill>
                <a:uFill>
                  <a:solidFill>
                    <a:srgbClr val="17375E"/>
                  </a:solidFill>
                </a:uFill>
                <a:latin typeface="Times New Roman" panose="02020603050405020304" pitchFamily="18" charset="0"/>
                <a:cs typeface="Times New Roman" panose="02020603050405020304" pitchFamily="18" charset="0"/>
              </a:rPr>
              <a:t> </a:t>
            </a:r>
            <a:r>
              <a:rPr lang="en-US" sz="3600" b="1" spc="-10" dirty="0">
                <a:solidFill>
                  <a:srgbClr val="FFFF00"/>
                </a:solidFill>
                <a:uFill>
                  <a:solidFill>
                    <a:srgbClr val="17375E"/>
                  </a:solidFill>
                </a:uFill>
                <a:latin typeface="Times New Roman" panose="02020603050405020304" pitchFamily="18" charset="0"/>
                <a:cs typeface="Times New Roman" panose="02020603050405020304" pitchFamily="18" charset="0"/>
              </a:rPr>
              <a:t>C</a:t>
            </a:r>
            <a:r>
              <a:rPr sz="3600" b="1" spc="-10" dirty="0">
                <a:solidFill>
                  <a:srgbClr val="FFFF00"/>
                </a:solidFill>
                <a:uFill>
                  <a:solidFill>
                    <a:srgbClr val="17375E"/>
                  </a:solidFill>
                </a:uFill>
                <a:latin typeface="Times New Roman" panose="02020603050405020304" pitchFamily="18" charset="0"/>
                <a:cs typeface="Times New Roman" panose="02020603050405020304" pitchFamily="18" charset="0"/>
              </a:rPr>
              <a:t>apital</a:t>
            </a:r>
            <a:r>
              <a:rPr lang="en-US" sz="3600" b="1" spc="-10" dirty="0">
                <a:solidFill>
                  <a:srgbClr val="FFFF00"/>
                </a:solidFill>
                <a:uFill>
                  <a:solidFill>
                    <a:srgbClr val="17375E"/>
                  </a:solidFill>
                </a:uFill>
                <a:latin typeface="Times New Roman" panose="02020603050405020304" pitchFamily="18" charset="0"/>
                <a:cs typeface="Times New Roman" panose="02020603050405020304" pitchFamily="18" charset="0"/>
              </a:rPr>
              <a:t> </a:t>
            </a:r>
            <a:r>
              <a:rPr sz="3600" b="1" spc="-10" dirty="0">
                <a:solidFill>
                  <a:srgbClr val="FFFF00"/>
                </a:solidFill>
                <a:uFill>
                  <a:solidFill>
                    <a:srgbClr val="17375E"/>
                  </a:solidFill>
                </a:uFill>
                <a:latin typeface="Times New Roman" panose="02020603050405020304" pitchFamily="18" charset="0"/>
                <a:cs typeface="Times New Roman" panose="02020603050405020304" pitchFamily="18" charset="0"/>
              </a:rPr>
              <a:t>(</a:t>
            </a:r>
            <a:r>
              <a:rPr lang="en-US" sz="3600" b="1" spc="-10" dirty="0">
                <a:solidFill>
                  <a:srgbClr val="FFFF00"/>
                </a:solidFill>
                <a:uFill>
                  <a:solidFill>
                    <a:srgbClr val="17375E"/>
                  </a:solidFill>
                </a:uFill>
                <a:latin typeface="Times New Roman" panose="02020603050405020304" pitchFamily="18" charset="0"/>
                <a:cs typeface="Times New Roman" panose="02020603050405020304" pitchFamily="18" charset="0"/>
              </a:rPr>
              <a:t>W</a:t>
            </a:r>
            <a:r>
              <a:rPr sz="3600" b="1" spc="-10" dirty="0">
                <a:solidFill>
                  <a:srgbClr val="FFFF00"/>
                </a:solidFill>
                <a:uFill>
                  <a:solidFill>
                    <a:srgbClr val="17375E"/>
                  </a:solidFill>
                </a:uFill>
                <a:latin typeface="Times New Roman" panose="02020603050405020304" pitchFamily="18" charset="0"/>
                <a:cs typeface="Times New Roman" panose="02020603050405020304" pitchFamily="18" charset="0"/>
              </a:rPr>
              <a:t>ith</a:t>
            </a:r>
            <a:r>
              <a:rPr sz="3600" b="1" spc="-85" dirty="0">
                <a:solidFill>
                  <a:srgbClr val="FFFF00"/>
                </a:solidFill>
                <a:uFill>
                  <a:solidFill>
                    <a:srgbClr val="17375E"/>
                  </a:solidFill>
                </a:uFill>
                <a:latin typeface="Times New Roman" panose="02020603050405020304" pitchFamily="18" charset="0"/>
                <a:cs typeface="Times New Roman" panose="02020603050405020304" pitchFamily="18" charset="0"/>
              </a:rPr>
              <a:t> </a:t>
            </a:r>
            <a:r>
              <a:rPr lang="en-US" sz="3600" b="1" dirty="0">
                <a:solidFill>
                  <a:srgbClr val="FFFF00"/>
                </a:solidFill>
                <a:uFill>
                  <a:solidFill>
                    <a:srgbClr val="17375E"/>
                  </a:solidFill>
                </a:uFill>
                <a:latin typeface="Times New Roman" panose="02020603050405020304" pitchFamily="18" charset="0"/>
                <a:cs typeface="Times New Roman" panose="02020603050405020304" pitchFamily="18" charset="0"/>
              </a:rPr>
              <a:t>a</a:t>
            </a:r>
            <a:r>
              <a:rPr sz="3600" b="1" spc="-85" dirty="0">
                <a:solidFill>
                  <a:srgbClr val="FFFF00"/>
                </a:solidFill>
                <a:uFill>
                  <a:solidFill>
                    <a:srgbClr val="17375E"/>
                  </a:solidFill>
                </a:uFill>
                <a:latin typeface="Times New Roman" panose="02020603050405020304" pitchFamily="18" charset="0"/>
                <a:cs typeface="Times New Roman" panose="02020603050405020304" pitchFamily="18" charset="0"/>
              </a:rPr>
              <a:t> </a:t>
            </a:r>
            <a:r>
              <a:rPr lang="en-US" sz="3600" b="1" spc="-85" dirty="0">
                <a:solidFill>
                  <a:srgbClr val="FFFF00"/>
                </a:solidFill>
                <a:uFill>
                  <a:solidFill>
                    <a:srgbClr val="17375E"/>
                  </a:solidFill>
                </a:uFill>
                <a:latin typeface="Times New Roman" panose="02020603050405020304" pitchFamily="18" charset="0"/>
                <a:cs typeface="Times New Roman" panose="02020603050405020304" pitchFamily="18" charset="0"/>
              </a:rPr>
              <a:t>R</a:t>
            </a:r>
            <a:r>
              <a:rPr lang="en-US" sz="3600" b="1" dirty="0">
                <a:solidFill>
                  <a:srgbClr val="FFFF00"/>
                </a:solidFill>
                <a:uFill>
                  <a:solidFill>
                    <a:srgbClr val="17375E"/>
                  </a:solidFill>
                </a:uFill>
                <a:latin typeface="Times New Roman" panose="02020603050405020304" pitchFamily="18" charset="0"/>
                <a:cs typeface="Times New Roman" panose="02020603050405020304" pitchFamily="18" charset="0"/>
              </a:rPr>
              <a:t>eal-Life</a:t>
            </a:r>
            <a:r>
              <a:rPr sz="3600" b="1" spc="-90" dirty="0">
                <a:solidFill>
                  <a:srgbClr val="FFFF00"/>
                </a:solidFill>
                <a:uFill>
                  <a:solidFill>
                    <a:srgbClr val="17375E"/>
                  </a:solidFill>
                </a:uFill>
                <a:latin typeface="Times New Roman" panose="02020603050405020304" pitchFamily="18" charset="0"/>
                <a:cs typeface="Times New Roman" panose="02020603050405020304" pitchFamily="18" charset="0"/>
              </a:rPr>
              <a:t> </a:t>
            </a:r>
            <a:r>
              <a:rPr lang="en-US" sz="3600" b="1" spc="-10" dirty="0">
                <a:solidFill>
                  <a:srgbClr val="FFFF00"/>
                </a:solidFill>
                <a:uFill>
                  <a:solidFill>
                    <a:srgbClr val="17375E"/>
                  </a:solidFill>
                </a:uFill>
                <a:latin typeface="Times New Roman" panose="02020603050405020304" pitchFamily="18" charset="0"/>
                <a:cs typeface="Times New Roman" panose="02020603050405020304" pitchFamily="18" charset="0"/>
              </a:rPr>
              <a:t>E</a:t>
            </a:r>
            <a:r>
              <a:rPr sz="3600" b="1" spc="-10" dirty="0">
                <a:solidFill>
                  <a:srgbClr val="FFFF00"/>
                </a:solidFill>
                <a:uFill>
                  <a:solidFill>
                    <a:srgbClr val="17375E"/>
                  </a:solidFill>
                </a:uFill>
                <a:latin typeface="Times New Roman" panose="02020603050405020304" pitchFamily="18" charset="0"/>
                <a:cs typeface="Times New Roman" panose="02020603050405020304" pitchFamily="18" charset="0"/>
              </a:rPr>
              <a:t>xample)</a:t>
            </a:r>
            <a:endParaRPr sz="3600" b="1" dirty="0">
              <a:solidFill>
                <a:srgbClr val="FFFF00"/>
              </a:solidFill>
              <a:latin typeface="Times New Roman" panose="02020603050405020304" pitchFamily="18" charset="0"/>
              <a:cs typeface="Times New Roman" panose="02020603050405020304" pitchFamily="18" charset="0"/>
            </a:endParaRPr>
          </a:p>
        </p:txBody>
      </p:sp>
      <p:grpSp>
        <p:nvGrpSpPr>
          <p:cNvPr id="3" name="object 3"/>
          <p:cNvGrpSpPr/>
          <p:nvPr/>
        </p:nvGrpSpPr>
        <p:grpSpPr>
          <a:xfrm>
            <a:off x="4533901" y="1764006"/>
            <a:ext cx="3970654" cy="2254250"/>
            <a:chOff x="4802060" y="1822640"/>
            <a:chExt cx="3970654" cy="2254250"/>
          </a:xfrm>
        </p:grpSpPr>
        <p:sp>
          <p:nvSpPr>
            <p:cNvPr id="4" name="object 4"/>
            <p:cNvSpPr/>
            <p:nvPr/>
          </p:nvSpPr>
          <p:spPr>
            <a:xfrm>
              <a:off x="4815077" y="1835657"/>
              <a:ext cx="3944620" cy="2228215"/>
            </a:xfrm>
            <a:custGeom>
              <a:avLst/>
              <a:gdLst/>
              <a:ahLst/>
              <a:cxnLst/>
              <a:rect l="l" t="t" r="r" b="b"/>
              <a:pathLst>
                <a:path w="3944620" h="2228215">
                  <a:moveTo>
                    <a:pt x="3572764" y="0"/>
                  </a:moveTo>
                  <a:lnTo>
                    <a:pt x="0" y="0"/>
                  </a:lnTo>
                  <a:lnTo>
                    <a:pt x="0" y="2228087"/>
                  </a:lnTo>
                  <a:lnTo>
                    <a:pt x="3572764" y="2228087"/>
                  </a:lnTo>
                  <a:lnTo>
                    <a:pt x="3619348" y="2225194"/>
                  </a:lnTo>
                  <a:lnTo>
                    <a:pt x="3664204" y="2216747"/>
                  </a:lnTo>
                  <a:lnTo>
                    <a:pt x="3706985" y="2203093"/>
                  </a:lnTo>
                  <a:lnTo>
                    <a:pt x="3747343" y="2184581"/>
                  </a:lnTo>
                  <a:lnTo>
                    <a:pt x="3784929" y="2161558"/>
                  </a:lnTo>
                  <a:lnTo>
                    <a:pt x="3819397" y="2134373"/>
                  </a:lnTo>
                  <a:lnTo>
                    <a:pt x="3850397" y="2103373"/>
                  </a:lnTo>
                  <a:lnTo>
                    <a:pt x="3877582" y="2068905"/>
                  </a:lnTo>
                  <a:lnTo>
                    <a:pt x="3900605" y="2031319"/>
                  </a:lnTo>
                  <a:lnTo>
                    <a:pt x="3919117" y="1990961"/>
                  </a:lnTo>
                  <a:lnTo>
                    <a:pt x="3932771" y="1948180"/>
                  </a:lnTo>
                  <a:lnTo>
                    <a:pt x="3941218" y="1903324"/>
                  </a:lnTo>
                  <a:lnTo>
                    <a:pt x="3944112" y="1856739"/>
                  </a:lnTo>
                  <a:lnTo>
                    <a:pt x="3944112" y="371347"/>
                  </a:lnTo>
                  <a:lnTo>
                    <a:pt x="3941218" y="324763"/>
                  </a:lnTo>
                  <a:lnTo>
                    <a:pt x="3932771" y="279907"/>
                  </a:lnTo>
                  <a:lnTo>
                    <a:pt x="3919117" y="237126"/>
                  </a:lnTo>
                  <a:lnTo>
                    <a:pt x="3900605" y="196768"/>
                  </a:lnTo>
                  <a:lnTo>
                    <a:pt x="3877582" y="159182"/>
                  </a:lnTo>
                  <a:lnTo>
                    <a:pt x="3850397" y="124714"/>
                  </a:lnTo>
                  <a:lnTo>
                    <a:pt x="3819397" y="93714"/>
                  </a:lnTo>
                  <a:lnTo>
                    <a:pt x="3784929" y="66529"/>
                  </a:lnTo>
                  <a:lnTo>
                    <a:pt x="3747343" y="43506"/>
                  </a:lnTo>
                  <a:lnTo>
                    <a:pt x="3706985" y="24994"/>
                  </a:lnTo>
                  <a:lnTo>
                    <a:pt x="3664204" y="11340"/>
                  </a:lnTo>
                  <a:lnTo>
                    <a:pt x="3619348" y="2893"/>
                  </a:lnTo>
                  <a:lnTo>
                    <a:pt x="3572764" y="0"/>
                  </a:lnTo>
                  <a:close/>
                </a:path>
              </a:pathLst>
            </a:custGeom>
            <a:solidFill>
              <a:srgbClr val="D0D7E8">
                <a:alpha val="90194"/>
              </a:srgbClr>
            </a:solidFill>
          </p:spPr>
          <p:txBody>
            <a:bodyPr wrap="square" lIns="0" tIns="0" rIns="0" bIns="0" rtlCol="0"/>
            <a:lstStyle/>
            <a:p>
              <a:endParaRPr dirty="0"/>
            </a:p>
          </p:txBody>
        </p:sp>
        <p:sp>
          <p:nvSpPr>
            <p:cNvPr id="5" name="object 5"/>
            <p:cNvSpPr/>
            <p:nvPr/>
          </p:nvSpPr>
          <p:spPr>
            <a:xfrm>
              <a:off x="4815077" y="1835657"/>
              <a:ext cx="3944620" cy="2228215"/>
            </a:xfrm>
            <a:custGeom>
              <a:avLst/>
              <a:gdLst/>
              <a:ahLst/>
              <a:cxnLst/>
              <a:rect l="l" t="t" r="r" b="b"/>
              <a:pathLst>
                <a:path w="3944620" h="2228215">
                  <a:moveTo>
                    <a:pt x="3944112" y="371347"/>
                  </a:moveTo>
                  <a:lnTo>
                    <a:pt x="3944112" y="1856739"/>
                  </a:lnTo>
                  <a:lnTo>
                    <a:pt x="3941218" y="1903324"/>
                  </a:lnTo>
                  <a:lnTo>
                    <a:pt x="3932771" y="1948180"/>
                  </a:lnTo>
                  <a:lnTo>
                    <a:pt x="3919117" y="1990961"/>
                  </a:lnTo>
                  <a:lnTo>
                    <a:pt x="3900605" y="2031319"/>
                  </a:lnTo>
                  <a:lnTo>
                    <a:pt x="3877582" y="2068905"/>
                  </a:lnTo>
                  <a:lnTo>
                    <a:pt x="3850397" y="2103373"/>
                  </a:lnTo>
                  <a:lnTo>
                    <a:pt x="3819397" y="2134373"/>
                  </a:lnTo>
                  <a:lnTo>
                    <a:pt x="3784929" y="2161558"/>
                  </a:lnTo>
                  <a:lnTo>
                    <a:pt x="3747343" y="2184581"/>
                  </a:lnTo>
                  <a:lnTo>
                    <a:pt x="3706985" y="2203093"/>
                  </a:lnTo>
                  <a:lnTo>
                    <a:pt x="3664204" y="2216747"/>
                  </a:lnTo>
                  <a:lnTo>
                    <a:pt x="3619348" y="2225194"/>
                  </a:lnTo>
                  <a:lnTo>
                    <a:pt x="3572764" y="2228087"/>
                  </a:lnTo>
                  <a:lnTo>
                    <a:pt x="0" y="2228087"/>
                  </a:lnTo>
                  <a:lnTo>
                    <a:pt x="0" y="0"/>
                  </a:lnTo>
                  <a:lnTo>
                    <a:pt x="3572764" y="0"/>
                  </a:lnTo>
                  <a:lnTo>
                    <a:pt x="3619348" y="2893"/>
                  </a:lnTo>
                  <a:lnTo>
                    <a:pt x="3664204" y="11340"/>
                  </a:lnTo>
                  <a:lnTo>
                    <a:pt x="3706985" y="24994"/>
                  </a:lnTo>
                  <a:lnTo>
                    <a:pt x="3747343" y="43506"/>
                  </a:lnTo>
                  <a:lnTo>
                    <a:pt x="3784929" y="66529"/>
                  </a:lnTo>
                  <a:lnTo>
                    <a:pt x="3819397" y="93714"/>
                  </a:lnTo>
                  <a:lnTo>
                    <a:pt x="3850397" y="124714"/>
                  </a:lnTo>
                  <a:lnTo>
                    <a:pt x="3877582" y="159182"/>
                  </a:lnTo>
                  <a:lnTo>
                    <a:pt x="3900605" y="196768"/>
                  </a:lnTo>
                  <a:lnTo>
                    <a:pt x="3919117" y="237126"/>
                  </a:lnTo>
                  <a:lnTo>
                    <a:pt x="3932771" y="279907"/>
                  </a:lnTo>
                  <a:lnTo>
                    <a:pt x="3941218" y="324763"/>
                  </a:lnTo>
                  <a:lnTo>
                    <a:pt x="3944112" y="371347"/>
                  </a:lnTo>
                  <a:close/>
                </a:path>
              </a:pathLst>
            </a:custGeom>
            <a:ln w="25908">
              <a:solidFill>
                <a:srgbClr val="D0D7E8"/>
              </a:solidFill>
            </a:ln>
          </p:spPr>
          <p:txBody>
            <a:bodyPr wrap="square" lIns="0" tIns="0" rIns="0" bIns="0" rtlCol="0"/>
            <a:lstStyle/>
            <a:p>
              <a:endParaRPr dirty="0"/>
            </a:p>
          </p:txBody>
        </p:sp>
      </p:grpSp>
      <p:sp>
        <p:nvSpPr>
          <p:cNvPr id="6" name="object 6"/>
          <p:cNvSpPr txBox="1"/>
          <p:nvPr/>
        </p:nvSpPr>
        <p:spPr>
          <a:xfrm>
            <a:off x="4724400" y="2103196"/>
            <a:ext cx="3441952" cy="1661993"/>
          </a:xfrm>
          <a:prstGeom prst="rect">
            <a:avLst/>
          </a:prstGeom>
        </p:spPr>
        <p:txBody>
          <a:bodyPr vert="horz" wrap="square" lIns="0" tIns="12700" rIns="0" bIns="0" rtlCol="0">
            <a:spAutoFit/>
          </a:bodyPr>
          <a:lstStyle/>
          <a:p>
            <a:pPr marL="185420" indent="-172720">
              <a:lnSpc>
                <a:spcPts val="2065"/>
              </a:lnSpc>
              <a:spcBef>
                <a:spcPts val="100"/>
              </a:spcBef>
              <a:buChar char="•"/>
              <a:tabLst>
                <a:tab pos="185420" algn="l"/>
              </a:tabLst>
            </a:pPr>
            <a:r>
              <a:rPr sz="1800" dirty="0">
                <a:latin typeface="Calibri"/>
                <a:cs typeface="Calibri"/>
              </a:rPr>
              <a:t>Alibaba</a:t>
            </a:r>
            <a:r>
              <a:rPr sz="1800" spc="-45" dirty="0">
                <a:latin typeface="Calibri"/>
                <a:cs typeface="Calibri"/>
              </a:rPr>
              <a:t> </a:t>
            </a:r>
            <a:r>
              <a:rPr sz="1800" dirty="0">
                <a:latin typeface="Calibri"/>
                <a:cs typeface="Calibri"/>
              </a:rPr>
              <a:t>and</a:t>
            </a:r>
            <a:r>
              <a:rPr sz="1800" spc="-55" dirty="0">
                <a:latin typeface="Calibri"/>
                <a:cs typeface="Calibri"/>
              </a:rPr>
              <a:t> </a:t>
            </a:r>
            <a:r>
              <a:rPr lang="en-US" sz="1800" dirty="0">
                <a:latin typeface="Calibri"/>
                <a:cs typeface="Calibri"/>
              </a:rPr>
              <a:t>Saif Partners</a:t>
            </a:r>
            <a:r>
              <a:rPr sz="1800" spc="-45" dirty="0">
                <a:latin typeface="Calibri"/>
                <a:cs typeface="Calibri"/>
              </a:rPr>
              <a:t> </a:t>
            </a:r>
            <a:r>
              <a:rPr sz="1800" spc="-10" dirty="0">
                <a:latin typeface="Calibri"/>
                <a:cs typeface="Calibri"/>
              </a:rPr>
              <a:t>invested</a:t>
            </a:r>
            <a:endParaRPr sz="1800" dirty="0">
              <a:latin typeface="Calibri"/>
              <a:cs typeface="Calibri"/>
            </a:endParaRPr>
          </a:p>
          <a:p>
            <a:pPr marL="184785">
              <a:lnSpc>
                <a:spcPts val="2065"/>
              </a:lnSpc>
            </a:pPr>
            <a:r>
              <a:rPr sz="1800" dirty="0">
                <a:latin typeface="Calibri"/>
                <a:cs typeface="Calibri"/>
              </a:rPr>
              <a:t>$200</a:t>
            </a:r>
            <a:r>
              <a:rPr sz="1800" spc="-35" dirty="0">
                <a:latin typeface="Calibri"/>
                <a:cs typeface="Calibri"/>
              </a:rPr>
              <a:t> </a:t>
            </a:r>
            <a:r>
              <a:rPr sz="1800" dirty="0">
                <a:latin typeface="Calibri"/>
                <a:cs typeface="Calibri"/>
              </a:rPr>
              <a:t>million</a:t>
            </a:r>
            <a:r>
              <a:rPr sz="1800" spc="-20" dirty="0">
                <a:latin typeface="Calibri"/>
                <a:cs typeface="Calibri"/>
              </a:rPr>
              <a:t> </a:t>
            </a:r>
            <a:r>
              <a:rPr sz="1800" dirty="0">
                <a:latin typeface="Calibri"/>
                <a:cs typeface="Calibri"/>
              </a:rPr>
              <a:t>in</a:t>
            </a:r>
            <a:r>
              <a:rPr sz="1800" spc="-30" dirty="0">
                <a:latin typeface="Calibri"/>
                <a:cs typeface="Calibri"/>
              </a:rPr>
              <a:t> </a:t>
            </a:r>
            <a:r>
              <a:rPr lang="en-US" sz="1800" spc="-10" dirty="0">
                <a:latin typeface="Calibri"/>
                <a:cs typeface="Calibri"/>
              </a:rPr>
              <a:t>Paytm</a:t>
            </a:r>
            <a:r>
              <a:rPr sz="1800" spc="-10" dirty="0">
                <a:latin typeface="Calibri"/>
                <a:cs typeface="Calibri"/>
              </a:rPr>
              <a:t>.</a:t>
            </a:r>
            <a:endParaRPr sz="1800" dirty="0">
              <a:latin typeface="Calibri"/>
              <a:cs typeface="Calibri"/>
            </a:endParaRPr>
          </a:p>
          <a:p>
            <a:pPr>
              <a:lnSpc>
                <a:spcPct val="100000"/>
              </a:lnSpc>
              <a:spcBef>
                <a:spcPts val="480"/>
              </a:spcBef>
            </a:pPr>
            <a:endParaRPr sz="1800" dirty="0">
              <a:latin typeface="Calibri"/>
              <a:cs typeface="Calibri"/>
            </a:endParaRPr>
          </a:p>
          <a:p>
            <a:pPr marL="184785" marR="77470" indent="-172720" algn="just">
              <a:lnSpc>
                <a:spcPts val="1980"/>
              </a:lnSpc>
              <a:buChar char="•"/>
              <a:tabLst>
                <a:tab pos="184785" algn="l"/>
              </a:tabLst>
            </a:pPr>
            <a:r>
              <a:rPr sz="1800" dirty="0">
                <a:latin typeface="Calibri"/>
                <a:cs typeface="Calibri"/>
              </a:rPr>
              <a:t>Alibaba</a:t>
            </a:r>
            <a:r>
              <a:rPr sz="1800" spc="-35" dirty="0">
                <a:latin typeface="Calibri"/>
                <a:cs typeface="Calibri"/>
              </a:rPr>
              <a:t> </a:t>
            </a:r>
            <a:r>
              <a:rPr sz="1800" dirty="0">
                <a:latin typeface="Calibri"/>
                <a:cs typeface="Calibri"/>
              </a:rPr>
              <a:t>has</a:t>
            </a:r>
            <a:r>
              <a:rPr sz="1800" spc="-35" dirty="0">
                <a:latin typeface="Calibri"/>
                <a:cs typeface="Calibri"/>
              </a:rPr>
              <a:t> </a:t>
            </a:r>
            <a:r>
              <a:rPr sz="1800" dirty="0">
                <a:latin typeface="Calibri"/>
                <a:cs typeface="Calibri"/>
              </a:rPr>
              <a:t>a</a:t>
            </a:r>
            <a:r>
              <a:rPr sz="1800" spc="-40" dirty="0">
                <a:latin typeface="Calibri"/>
                <a:cs typeface="Calibri"/>
              </a:rPr>
              <a:t> </a:t>
            </a:r>
            <a:r>
              <a:rPr sz="1800" dirty="0">
                <a:latin typeface="Calibri"/>
                <a:cs typeface="Calibri"/>
              </a:rPr>
              <a:t>goal</a:t>
            </a:r>
            <a:r>
              <a:rPr sz="1800" spc="-35" dirty="0">
                <a:latin typeface="Calibri"/>
                <a:cs typeface="Calibri"/>
              </a:rPr>
              <a:t> </a:t>
            </a:r>
            <a:r>
              <a:rPr sz="1800" dirty="0">
                <a:latin typeface="Calibri"/>
                <a:cs typeface="Calibri"/>
              </a:rPr>
              <a:t>of</a:t>
            </a:r>
            <a:r>
              <a:rPr sz="1800" spc="-50" dirty="0">
                <a:latin typeface="Calibri"/>
                <a:cs typeface="Calibri"/>
              </a:rPr>
              <a:t> </a:t>
            </a:r>
            <a:r>
              <a:rPr sz="1800" dirty="0">
                <a:latin typeface="Calibri"/>
                <a:cs typeface="Calibri"/>
              </a:rPr>
              <a:t>deriving</a:t>
            </a:r>
            <a:r>
              <a:rPr sz="1800" spc="-35" dirty="0">
                <a:latin typeface="Calibri"/>
                <a:cs typeface="Calibri"/>
              </a:rPr>
              <a:t> </a:t>
            </a:r>
            <a:r>
              <a:rPr sz="1800" spc="-25" dirty="0">
                <a:latin typeface="Calibri"/>
                <a:cs typeface="Calibri"/>
              </a:rPr>
              <a:t>20- </a:t>
            </a:r>
            <a:r>
              <a:rPr sz="1800" dirty="0">
                <a:latin typeface="Calibri"/>
                <a:cs typeface="Calibri"/>
              </a:rPr>
              <a:t>30%</a:t>
            </a:r>
            <a:r>
              <a:rPr sz="1800" spc="-45" dirty="0">
                <a:latin typeface="Calibri"/>
                <a:cs typeface="Calibri"/>
              </a:rPr>
              <a:t> </a:t>
            </a:r>
            <a:r>
              <a:rPr sz="1800" spc="-10" dirty="0">
                <a:latin typeface="Calibri"/>
                <a:cs typeface="Calibri"/>
              </a:rPr>
              <a:t>revenue</a:t>
            </a:r>
            <a:r>
              <a:rPr sz="1800" spc="-55" dirty="0">
                <a:latin typeface="Calibri"/>
                <a:cs typeface="Calibri"/>
              </a:rPr>
              <a:t> </a:t>
            </a:r>
            <a:r>
              <a:rPr sz="1800" dirty="0">
                <a:latin typeface="Calibri"/>
                <a:cs typeface="Calibri"/>
              </a:rPr>
              <a:t>from</a:t>
            </a:r>
            <a:r>
              <a:rPr sz="1800" spc="-35" dirty="0">
                <a:latin typeface="Calibri"/>
                <a:cs typeface="Calibri"/>
              </a:rPr>
              <a:t> </a:t>
            </a:r>
            <a:r>
              <a:rPr lang="en-US" sz="1800" dirty="0">
                <a:latin typeface="Calibri"/>
                <a:cs typeface="Calibri"/>
              </a:rPr>
              <a:t>India</a:t>
            </a:r>
            <a:r>
              <a:rPr sz="1800" spc="-40" dirty="0">
                <a:latin typeface="Calibri"/>
                <a:cs typeface="Calibri"/>
              </a:rPr>
              <a:t> </a:t>
            </a:r>
            <a:r>
              <a:rPr sz="1800" dirty="0">
                <a:latin typeface="Calibri"/>
                <a:cs typeface="Calibri"/>
              </a:rPr>
              <a:t>with</a:t>
            </a:r>
            <a:r>
              <a:rPr sz="1800" spc="-35" dirty="0">
                <a:latin typeface="Calibri"/>
                <a:cs typeface="Calibri"/>
              </a:rPr>
              <a:t> </a:t>
            </a:r>
            <a:r>
              <a:rPr sz="1800" spc="-20" dirty="0">
                <a:latin typeface="Calibri"/>
                <a:cs typeface="Calibri"/>
              </a:rPr>
              <a:t>this </a:t>
            </a:r>
            <a:r>
              <a:rPr sz="1800" spc="-10" dirty="0">
                <a:latin typeface="Calibri"/>
                <a:cs typeface="Calibri"/>
              </a:rPr>
              <a:t>investment.</a:t>
            </a:r>
            <a:endParaRPr sz="1800" dirty="0">
              <a:latin typeface="Calibri"/>
              <a:cs typeface="Calibri"/>
            </a:endParaRPr>
          </a:p>
        </p:txBody>
      </p:sp>
      <p:grpSp>
        <p:nvGrpSpPr>
          <p:cNvPr id="7" name="object 7"/>
          <p:cNvGrpSpPr/>
          <p:nvPr/>
        </p:nvGrpSpPr>
        <p:grpSpPr>
          <a:xfrm>
            <a:off x="481808" y="1797873"/>
            <a:ext cx="3864049" cy="2265999"/>
            <a:chOff x="457962" y="1753361"/>
            <a:chExt cx="4357370" cy="2394585"/>
          </a:xfrm>
        </p:grpSpPr>
        <p:sp>
          <p:nvSpPr>
            <p:cNvPr id="8" name="object 8"/>
            <p:cNvSpPr/>
            <p:nvPr/>
          </p:nvSpPr>
          <p:spPr>
            <a:xfrm>
              <a:off x="457962" y="1753361"/>
              <a:ext cx="4357370" cy="2394585"/>
            </a:xfrm>
            <a:custGeom>
              <a:avLst/>
              <a:gdLst/>
              <a:ahLst/>
              <a:cxnLst/>
              <a:rect l="l" t="t" r="r" b="b"/>
              <a:pathLst>
                <a:path w="4357370" h="2394585">
                  <a:moveTo>
                    <a:pt x="0" y="399034"/>
                  </a:moveTo>
                  <a:lnTo>
                    <a:pt x="2684" y="352504"/>
                  </a:lnTo>
                  <a:lnTo>
                    <a:pt x="10538" y="307550"/>
                  </a:lnTo>
                  <a:lnTo>
                    <a:pt x="23262" y="264470"/>
                  </a:lnTo>
                  <a:lnTo>
                    <a:pt x="40557" y="223564"/>
                  </a:lnTo>
                  <a:lnTo>
                    <a:pt x="62124" y="185132"/>
                  </a:lnTo>
                  <a:lnTo>
                    <a:pt x="87662" y="149473"/>
                  </a:lnTo>
                  <a:lnTo>
                    <a:pt x="116873" y="116887"/>
                  </a:lnTo>
                  <a:lnTo>
                    <a:pt x="149457" y="87674"/>
                  </a:lnTo>
                  <a:lnTo>
                    <a:pt x="185115" y="62133"/>
                  </a:lnTo>
                  <a:lnTo>
                    <a:pt x="223547" y="40564"/>
                  </a:lnTo>
                  <a:lnTo>
                    <a:pt x="264455" y="23266"/>
                  </a:lnTo>
                  <a:lnTo>
                    <a:pt x="307538" y="10540"/>
                  </a:lnTo>
                  <a:lnTo>
                    <a:pt x="352497" y="2685"/>
                  </a:lnTo>
                  <a:lnTo>
                    <a:pt x="399034" y="0"/>
                  </a:lnTo>
                  <a:lnTo>
                    <a:pt x="3958082" y="0"/>
                  </a:lnTo>
                  <a:lnTo>
                    <a:pt x="4004611" y="2685"/>
                  </a:lnTo>
                  <a:lnTo>
                    <a:pt x="4049565" y="10540"/>
                  </a:lnTo>
                  <a:lnTo>
                    <a:pt x="4092645" y="23266"/>
                  </a:lnTo>
                  <a:lnTo>
                    <a:pt x="4133551" y="40564"/>
                  </a:lnTo>
                  <a:lnTo>
                    <a:pt x="4171983" y="62133"/>
                  </a:lnTo>
                  <a:lnTo>
                    <a:pt x="4207642" y="87674"/>
                  </a:lnTo>
                  <a:lnTo>
                    <a:pt x="4240228" y="116887"/>
                  </a:lnTo>
                  <a:lnTo>
                    <a:pt x="4269441" y="149473"/>
                  </a:lnTo>
                  <a:lnTo>
                    <a:pt x="4294982" y="185132"/>
                  </a:lnTo>
                  <a:lnTo>
                    <a:pt x="4316551" y="223564"/>
                  </a:lnTo>
                  <a:lnTo>
                    <a:pt x="4333849" y="264470"/>
                  </a:lnTo>
                  <a:lnTo>
                    <a:pt x="4346575" y="307550"/>
                  </a:lnTo>
                  <a:lnTo>
                    <a:pt x="4354430" y="352504"/>
                  </a:lnTo>
                  <a:lnTo>
                    <a:pt x="4357116" y="399034"/>
                  </a:lnTo>
                  <a:lnTo>
                    <a:pt x="4357116" y="1995170"/>
                  </a:lnTo>
                  <a:lnTo>
                    <a:pt x="4354430" y="2041699"/>
                  </a:lnTo>
                  <a:lnTo>
                    <a:pt x="4346575" y="2086653"/>
                  </a:lnTo>
                  <a:lnTo>
                    <a:pt x="4333849" y="2129733"/>
                  </a:lnTo>
                  <a:lnTo>
                    <a:pt x="4316551" y="2170639"/>
                  </a:lnTo>
                  <a:lnTo>
                    <a:pt x="4294982" y="2209071"/>
                  </a:lnTo>
                  <a:lnTo>
                    <a:pt x="4269441" y="2244730"/>
                  </a:lnTo>
                  <a:lnTo>
                    <a:pt x="4240228" y="2277316"/>
                  </a:lnTo>
                  <a:lnTo>
                    <a:pt x="4207642" y="2306529"/>
                  </a:lnTo>
                  <a:lnTo>
                    <a:pt x="4171983" y="2332070"/>
                  </a:lnTo>
                  <a:lnTo>
                    <a:pt x="4133551" y="2353639"/>
                  </a:lnTo>
                  <a:lnTo>
                    <a:pt x="4092645" y="2370937"/>
                  </a:lnTo>
                  <a:lnTo>
                    <a:pt x="4049565" y="2383663"/>
                  </a:lnTo>
                  <a:lnTo>
                    <a:pt x="4004611" y="2391518"/>
                  </a:lnTo>
                  <a:lnTo>
                    <a:pt x="3958082" y="2394204"/>
                  </a:lnTo>
                  <a:lnTo>
                    <a:pt x="399034" y="2394204"/>
                  </a:lnTo>
                  <a:lnTo>
                    <a:pt x="352497" y="2391518"/>
                  </a:lnTo>
                  <a:lnTo>
                    <a:pt x="307538" y="2383663"/>
                  </a:lnTo>
                  <a:lnTo>
                    <a:pt x="264455" y="2370937"/>
                  </a:lnTo>
                  <a:lnTo>
                    <a:pt x="223547" y="2353639"/>
                  </a:lnTo>
                  <a:lnTo>
                    <a:pt x="185115" y="2332070"/>
                  </a:lnTo>
                  <a:lnTo>
                    <a:pt x="149457" y="2306529"/>
                  </a:lnTo>
                  <a:lnTo>
                    <a:pt x="116873" y="2277316"/>
                  </a:lnTo>
                  <a:lnTo>
                    <a:pt x="87662" y="2244730"/>
                  </a:lnTo>
                  <a:lnTo>
                    <a:pt x="62124" y="2209071"/>
                  </a:lnTo>
                  <a:lnTo>
                    <a:pt x="40557" y="2170639"/>
                  </a:lnTo>
                  <a:lnTo>
                    <a:pt x="23262" y="2129733"/>
                  </a:lnTo>
                  <a:lnTo>
                    <a:pt x="10538" y="2086653"/>
                  </a:lnTo>
                  <a:lnTo>
                    <a:pt x="2684" y="2041699"/>
                  </a:lnTo>
                  <a:lnTo>
                    <a:pt x="0" y="1995170"/>
                  </a:lnTo>
                  <a:lnTo>
                    <a:pt x="0" y="399034"/>
                  </a:lnTo>
                  <a:close/>
                </a:path>
              </a:pathLst>
            </a:custGeom>
            <a:ln w="25908">
              <a:solidFill>
                <a:srgbClr val="FFFFFF"/>
              </a:solidFill>
            </a:ln>
          </p:spPr>
          <p:txBody>
            <a:bodyPr wrap="square" lIns="0" tIns="0" rIns="0" bIns="0" rtlCol="0"/>
            <a:lstStyle/>
            <a:p>
              <a:endParaRPr dirty="0"/>
            </a:p>
          </p:txBody>
        </p:sp>
        <p:pic>
          <p:nvPicPr>
            <p:cNvPr id="9" name="object 9"/>
            <p:cNvPicPr/>
            <p:nvPr/>
          </p:nvPicPr>
          <p:blipFill>
            <a:blip r:embed="rId2" cstate="print"/>
            <a:stretch>
              <a:fillRect/>
            </a:stretch>
          </p:blipFill>
          <p:spPr>
            <a:xfrm>
              <a:off x="685140" y="2173885"/>
              <a:ext cx="2288517" cy="1341090"/>
            </a:xfrm>
            <a:prstGeom prst="rect">
              <a:avLst/>
            </a:prstGeom>
          </p:spPr>
        </p:pic>
        <p:pic>
          <p:nvPicPr>
            <p:cNvPr id="10" name="object 10"/>
            <p:cNvPicPr/>
            <p:nvPr/>
          </p:nvPicPr>
          <p:blipFill>
            <a:blip r:embed="rId3" cstate="print"/>
            <a:stretch>
              <a:fillRect/>
            </a:stretch>
          </p:blipFill>
          <p:spPr>
            <a:xfrm>
              <a:off x="3168538" y="2526732"/>
              <a:ext cx="1451914" cy="595457"/>
            </a:xfrm>
            <a:prstGeom prst="rect">
              <a:avLst/>
            </a:prstGeom>
          </p:spPr>
        </p:pic>
      </p:grpSp>
      <p:grpSp>
        <p:nvGrpSpPr>
          <p:cNvPr id="11" name="object 11"/>
          <p:cNvGrpSpPr/>
          <p:nvPr/>
        </p:nvGrpSpPr>
        <p:grpSpPr>
          <a:xfrm>
            <a:off x="4617656" y="4331144"/>
            <a:ext cx="4159250" cy="2159635"/>
            <a:chOff x="4617656" y="4331144"/>
            <a:chExt cx="4159250" cy="2159635"/>
          </a:xfrm>
        </p:grpSpPr>
        <p:sp>
          <p:nvSpPr>
            <p:cNvPr id="12" name="object 12"/>
            <p:cNvSpPr/>
            <p:nvPr/>
          </p:nvSpPr>
          <p:spPr>
            <a:xfrm>
              <a:off x="4630674" y="4344162"/>
              <a:ext cx="4133215" cy="2133600"/>
            </a:xfrm>
            <a:custGeom>
              <a:avLst/>
              <a:gdLst/>
              <a:ahLst/>
              <a:cxnLst/>
              <a:rect l="l" t="t" r="r" b="b"/>
              <a:pathLst>
                <a:path w="4133215" h="2133600">
                  <a:moveTo>
                    <a:pt x="3777487" y="0"/>
                  </a:moveTo>
                  <a:lnTo>
                    <a:pt x="0" y="0"/>
                  </a:lnTo>
                  <a:lnTo>
                    <a:pt x="0" y="2133600"/>
                  </a:lnTo>
                  <a:lnTo>
                    <a:pt x="3777487" y="2133600"/>
                  </a:lnTo>
                  <a:lnTo>
                    <a:pt x="3825730" y="2130353"/>
                  </a:lnTo>
                  <a:lnTo>
                    <a:pt x="3872003" y="2120897"/>
                  </a:lnTo>
                  <a:lnTo>
                    <a:pt x="3915882" y="2105655"/>
                  </a:lnTo>
                  <a:lnTo>
                    <a:pt x="3956943" y="2085049"/>
                  </a:lnTo>
                  <a:lnTo>
                    <a:pt x="3994763" y="2059505"/>
                  </a:lnTo>
                  <a:lnTo>
                    <a:pt x="4028916" y="2029445"/>
                  </a:lnTo>
                  <a:lnTo>
                    <a:pt x="4058978" y="1995294"/>
                  </a:lnTo>
                  <a:lnTo>
                    <a:pt x="4084526" y="1957474"/>
                  </a:lnTo>
                  <a:lnTo>
                    <a:pt x="4105136" y="1916410"/>
                  </a:lnTo>
                  <a:lnTo>
                    <a:pt x="4120382" y="1872525"/>
                  </a:lnTo>
                  <a:lnTo>
                    <a:pt x="4129840" y="1826243"/>
                  </a:lnTo>
                  <a:lnTo>
                    <a:pt x="4133087" y="1777987"/>
                  </a:lnTo>
                  <a:lnTo>
                    <a:pt x="4133087" y="355600"/>
                  </a:lnTo>
                  <a:lnTo>
                    <a:pt x="4129840" y="307357"/>
                  </a:lnTo>
                  <a:lnTo>
                    <a:pt x="4120382" y="261084"/>
                  </a:lnTo>
                  <a:lnTo>
                    <a:pt x="4105136" y="217205"/>
                  </a:lnTo>
                  <a:lnTo>
                    <a:pt x="4084526" y="176144"/>
                  </a:lnTo>
                  <a:lnTo>
                    <a:pt x="4058978" y="138324"/>
                  </a:lnTo>
                  <a:lnTo>
                    <a:pt x="4028916" y="104171"/>
                  </a:lnTo>
                  <a:lnTo>
                    <a:pt x="3994763" y="74109"/>
                  </a:lnTo>
                  <a:lnTo>
                    <a:pt x="3956943" y="48561"/>
                  </a:lnTo>
                  <a:lnTo>
                    <a:pt x="3915882" y="27951"/>
                  </a:lnTo>
                  <a:lnTo>
                    <a:pt x="3872003" y="12705"/>
                  </a:lnTo>
                  <a:lnTo>
                    <a:pt x="3825730" y="3247"/>
                  </a:lnTo>
                  <a:lnTo>
                    <a:pt x="3777487" y="0"/>
                  </a:lnTo>
                  <a:close/>
                </a:path>
              </a:pathLst>
            </a:custGeom>
            <a:solidFill>
              <a:srgbClr val="D0D7E8">
                <a:alpha val="90194"/>
              </a:srgbClr>
            </a:solidFill>
          </p:spPr>
          <p:txBody>
            <a:bodyPr wrap="square" lIns="0" tIns="0" rIns="0" bIns="0" rtlCol="0"/>
            <a:lstStyle/>
            <a:p>
              <a:endParaRPr dirty="0"/>
            </a:p>
          </p:txBody>
        </p:sp>
        <p:sp>
          <p:nvSpPr>
            <p:cNvPr id="13" name="object 13"/>
            <p:cNvSpPr/>
            <p:nvPr/>
          </p:nvSpPr>
          <p:spPr>
            <a:xfrm>
              <a:off x="4630674" y="4344162"/>
              <a:ext cx="4133215" cy="2133600"/>
            </a:xfrm>
            <a:custGeom>
              <a:avLst/>
              <a:gdLst/>
              <a:ahLst/>
              <a:cxnLst/>
              <a:rect l="l" t="t" r="r" b="b"/>
              <a:pathLst>
                <a:path w="4133215" h="2133600">
                  <a:moveTo>
                    <a:pt x="4133087" y="355600"/>
                  </a:moveTo>
                  <a:lnTo>
                    <a:pt x="4133087" y="1777987"/>
                  </a:lnTo>
                  <a:lnTo>
                    <a:pt x="4129840" y="1826243"/>
                  </a:lnTo>
                  <a:lnTo>
                    <a:pt x="4120382" y="1872525"/>
                  </a:lnTo>
                  <a:lnTo>
                    <a:pt x="4105136" y="1916410"/>
                  </a:lnTo>
                  <a:lnTo>
                    <a:pt x="4084526" y="1957474"/>
                  </a:lnTo>
                  <a:lnTo>
                    <a:pt x="4058978" y="1995294"/>
                  </a:lnTo>
                  <a:lnTo>
                    <a:pt x="4028916" y="2029445"/>
                  </a:lnTo>
                  <a:lnTo>
                    <a:pt x="3994763" y="2059505"/>
                  </a:lnTo>
                  <a:lnTo>
                    <a:pt x="3956943" y="2085049"/>
                  </a:lnTo>
                  <a:lnTo>
                    <a:pt x="3915882" y="2105655"/>
                  </a:lnTo>
                  <a:lnTo>
                    <a:pt x="3872003" y="2120897"/>
                  </a:lnTo>
                  <a:lnTo>
                    <a:pt x="3825730" y="2130353"/>
                  </a:lnTo>
                  <a:lnTo>
                    <a:pt x="3777487" y="2133600"/>
                  </a:lnTo>
                  <a:lnTo>
                    <a:pt x="0" y="2133600"/>
                  </a:lnTo>
                  <a:lnTo>
                    <a:pt x="0" y="0"/>
                  </a:lnTo>
                  <a:lnTo>
                    <a:pt x="3777487" y="0"/>
                  </a:lnTo>
                  <a:lnTo>
                    <a:pt x="3825730" y="3247"/>
                  </a:lnTo>
                  <a:lnTo>
                    <a:pt x="3872003" y="12705"/>
                  </a:lnTo>
                  <a:lnTo>
                    <a:pt x="3915882" y="27951"/>
                  </a:lnTo>
                  <a:lnTo>
                    <a:pt x="3956943" y="48561"/>
                  </a:lnTo>
                  <a:lnTo>
                    <a:pt x="3994763" y="74109"/>
                  </a:lnTo>
                  <a:lnTo>
                    <a:pt x="4028916" y="104171"/>
                  </a:lnTo>
                  <a:lnTo>
                    <a:pt x="4058978" y="138324"/>
                  </a:lnTo>
                  <a:lnTo>
                    <a:pt x="4084526" y="176144"/>
                  </a:lnTo>
                  <a:lnTo>
                    <a:pt x="4105136" y="217205"/>
                  </a:lnTo>
                  <a:lnTo>
                    <a:pt x="4120382" y="261084"/>
                  </a:lnTo>
                  <a:lnTo>
                    <a:pt x="4129840" y="307357"/>
                  </a:lnTo>
                  <a:lnTo>
                    <a:pt x="4133087" y="355600"/>
                  </a:lnTo>
                  <a:close/>
                </a:path>
              </a:pathLst>
            </a:custGeom>
            <a:ln w="25908">
              <a:solidFill>
                <a:srgbClr val="D0D7E8"/>
              </a:solidFill>
            </a:ln>
          </p:spPr>
          <p:txBody>
            <a:bodyPr wrap="square" lIns="0" tIns="0" rIns="0" bIns="0" rtlCol="0"/>
            <a:lstStyle/>
            <a:p>
              <a:endParaRPr dirty="0"/>
            </a:p>
          </p:txBody>
        </p:sp>
      </p:grpSp>
      <p:sp>
        <p:nvSpPr>
          <p:cNvPr id="14" name="object 14"/>
          <p:cNvSpPr txBox="1"/>
          <p:nvPr/>
        </p:nvSpPr>
        <p:spPr>
          <a:xfrm>
            <a:off x="4865623" y="4585461"/>
            <a:ext cx="3625915" cy="1587358"/>
          </a:xfrm>
          <a:prstGeom prst="rect">
            <a:avLst/>
          </a:prstGeom>
        </p:spPr>
        <p:txBody>
          <a:bodyPr vert="horz" wrap="square" lIns="0" tIns="36195" rIns="0" bIns="0" rtlCol="0">
            <a:spAutoFit/>
          </a:bodyPr>
          <a:lstStyle/>
          <a:p>
            <a:pPr marL="184785" marR="109220" indent="-172720">
              <a:lnSpc>
                <a:spcPct val="91400"/>
              </a:lnSpc>
              <a:spcBef>
                <a:spcPts val="285"/>
              </a:spcBef>
              <a:buChar char="•"/>
              <a:tabLst>
                <a:tab pos="184785" algn="l"/>
              </a:tabLst>
            </a:pPr>
            <a:r>
              <a:rPr sz="1800" dirty="0">
                <a:latin typeface="Calibri"/>
                <a:cs typeface="Calibri"/>
              </a:rPr>
              <a:t>In</a:t>
            </a:r>
            <a:r>
              <a:rPr sz="1800" spc="-30" dirty="0">
                <a:latin typeface="Calibri"/>
                <a:cs typeface="Calibri"/>
              </a:rPr>
              <a:t> </a:t>
            </a:r>
            <a:r>
              <a:rPr lang="en-US" spc="-10" dirty="0">
                <a:latin typeface="Calibri"/>
                <a:cs typeface="Calibri"/>
              </a:rPr>
              <a:t>S</a:t>
            </a:r>
            <a:r>
              <a:rPr sz="1800" spc="-10" dirty="0">
                <a:latin typeface="Calibri"/>
                <a:cs typeface="Calibri"/>
              </a:rPr>
              <a:t>eptember</a:t>
            </a:r>
            <a:r>
              <a:rPr sz="1800" spc="-15" dirty="0">
                <a:latin typeface="Calibri"/>
                <a:cs typeface="Calibri"/>
              </a:rPr>
              <a:t> </a:t>
            </a:r>
            <a:r>
              <a:rPr sz="1800" dirty="0">
                <a:latin typeface="Calibri"/>
                <a:cs typeface="Calibri"/>
              </a:rPr>
              <a:t>2008,</a:t>
            </a:r>
            <a:r>
              <a:rPr sz="1800" spc="-30" dirty="0">
                <a:latin typeface="Calibri"/>
                <a:cs typeface="Calibri"/>
              </a:rPr>
              <a:t> </a:t>
            </a:r>
            <a:r>
              <a:rPr lang="en-US" spc="-30" dirty="0">
                <a:latin typeface="Calibri"/>
                <a:cs typeface="Calibri"/>
              </a:rPr>
              <a:t>Policy Bazaar</a:t>
            </a:r>
            <a:r>
              <a:rPr sz="1800" spc="-20" dirty="0">
                <a:latin typeface="Calibri"/>
                <a:cs typeface="Calibri"/>
              </a:rPr>
              <a:t> </a:t>
            </a:r>
            <a:r>
              <a:rPr lang="en-US" sz="1800" spc="-10" dirty="0">
                <a:latin typeface="Calibri"/>
                <a:cs typeface="Calibri"/>
              </a:rPr>
              <a:t>received</a:t>
            </a:r>
            <a:r>
              <a:rPr sz="1800" spc="-10" dirty="0">
                <a:latin typeface="Calibri"/>
                <a:cs typeface="Calibri"/>
              </a:rPr>
              <a:t> </a:t>
            </a:r>
            <a:r>
              <a:rPr sz="1800" dirty="0">
                <a:latin typeface="Calibri"/>
                <a:cs typeface="Calibri"/>
              </a:rPr>
              <a:t>venture</a:t>
            </a:r>
            <a:r>
              <a:rPr sz="1800" spc="-80" dirty="0">
                <a:latin typeface="Calibri"/>
                <a:cs typeface="Calibri"/>
              </a:rPr>
              <a:t> </a:t>
            </a:r>
            <a:r>
              <a:rPr sz="1800" dirty="0">
                <a:latin typeface="Calibri"/>
                <a:cs typeface="Calibri"/>
              </a:rPr>
              <a:t>capital</a:t>
            </a:r>
            <a:r>
              <a:rPr sz="1800" spc="-60" dirty="0">
                <a:latin typeface="Calibri"/>
                <a:cs typeface="Calibri"/>
              </a:rPr>
              <a:t> </a:t>
            </a:r>
            <a:r>
              <a:rPr sz="1800" spc="-10" dirty="0">
                <a:latin typeface="Calibri"/>
                <a:cs typeface="Calibri"/>
              </a:rPr>
              <a:t>investment</a:t>
            </a:r>
            <a:r>
              <a:rPr sz="1800" spc="-90" dirty="0">
                <a:latin typeface="Calibri"/>
                <a:cs typeface="Calibri"/>
              </a:rPr>
              <a:t> </a:t>
            </a:r>
            <a:r>
              <a:rPr sz="1800" dirty="0">
                <a:latin typeface="Calibri"/>
                <a:cs typeface="Calibri"/>
              </a:rPr>
              <a:t>of</a:t>
            </a:r>
            <a:r>
              <a:rPr sz="1800" spc="-65" dirty="0">
                <a:latin typeface="Calibri"/>
                <a:cs typeface="Calibri"/>
              </a:rPr>
              <a:t> </a:t>
            </a:r>
            <a:r>
              <a:rPr sz="1800" spc="-25" dirty="0">
                <a:latin typeface="Calibri"/>
                <a:cs typeface="Calibri"/>
              </a:rPr>
              <a:t>20 </a:t>
            </a:r>
            <a:r>
              <a:rPr sz="1800" dirty="0">
                <a:latin typeface="Calibri"/>
                <a:cs typeface="Calibri"/>
              </a:rPr>
              <a:t>crores</a:t>
            </a:r>
            <a:r>
              <a:rPr sz="1800" spc="-75" dirty="0">
                <a:latin typeface="Calibri"/>
                <a:cs typeface="Calibri"/>
              </a:rPr>
              <a:t> </a:t>
            </a:r>
            <a:r>
              <a:rPr sz="1800" dirty="0">
                <a:latin typeface="Calibri"/>
                <a:cs typeface="Calibri"/>
              </a:rPr>
              <a:t>from</a:t>
            </a:r>
            <a:r>
              <a:rPr sz="1800" spc="-80" dirty="0">
                <a:latin typeface="Calibri"/>
                <a:cs typeface="Calibri"/>
              </a:rPr>
              <a:t> </a:t>
            </a:r>
            <a:r>
              <a:rPr sz="1800" spc="-10" dirty="0">
                <a:latin typeface="Calibri"/>
                <a:cs typeface="Calibri"/>
              </a:rPr>
              <a:t>Infoedge.</a:t>
            </a:r>
            <a:endParaRPr sz="1800" dirty="0">
              <a:latin typeface="Calibri"/>
              <a:cs typeface="Calibri"/>
            </a:endParaRPr>
          </a:p>
          <a:p>
            <a:pPr marL="184785" marR="5080" indent="-172720">
              <a:lnSpc>
                <a:spcPct val="91400"/>
              </a:lnSpc>
              <a:spcBef>
                <a:spcPts val="340"/>
              </a:spcBef>
              <a:buChar char="•"/>
              <a:tabLst>
                <a:tab pos="184785" algn="l"/>
              </a:tabLst>
            </a:pPr>
            <a:r>
              <a:rPr sz="1800" dirty="0">
                <a:latin typeface="Calibri"/>
                <a:cs typeface="Calibri"/>
              </a:rPr>
              <a:t>It</a:t>
            </a:r>
            <a:r>
              <a:rPr sz="1800" spc="-45" dirty="0">
                <a:latin typeface="Calibri"/>
                <a:cs typeface="Calibri"/>
              </a:rPr>
              <a:t> </a:t>
            </a:r>
            <a:r>
              <a:rPr sz="1800" dirty="0">
                <a:latin typeface="Calibri"/>
                <a:cs typeface="Calibri"/>
              </a:rPr>
              <a:t>again</a:t>
            </a:r>
            <a:r>
              <a:rPr sz="1800" spc="-40" dirty="0">
                <a:latin typeface="Calibri"/>
                <a:cs typeface="Calibri"/>
              </a:rPr>
              <a:t> </a:t>
            </a:r>
            <a:r>
              <a:rPr sz="1800" spc="-10" dirty="0">
                <a:latin typeface="Calibri"/>
                <a:cs typeface="Calibri"/>
              </a:rPr>
              <a:t>receives</a:t>
            </a:r>
            <a:r>
              <a:rPr sz="1800" spc="-55" dirty="0">
                <a:latin typeface="Calibri"/>
                <a:cs typeface="Calibri"/>
              </a:rPr>
              <a:t> </a:t>
            </a:r>
            <a:r>
              <a:rPr sz="1800" spc="-10" dirty="0">
                <a:latin typeface="Calibri"/>
                <a:cs typeface="Calibri"/>
              </a:rPr>
              <a:t>investment</a:t>
            </a:r>
            <a:r>
              <a:rPr sz="1800" spc="-65" dirty="0">
                <a:latin typeface="Calibri"/>
                <a:cs typeface="Calibri"/>
              </a:rPr>
              <a:t> </a:t>
            </a:r>
            <a:r>
              <a:rPr sz="1800" dirty="0">
                <a:latin typeface="Calibri"/>
                <a:cs typeface="Calibri"/>
              </a:rPr>
              <a:t>of</a:t>
            </a:r>
            <a:r>
              <a:rPr sz="1800" spc="-40" dirty="0">
                <a:latin typeface="Calibri"/>
                <a:cs typeface="Calibri"/>
              </a:rPr>
              <a:t> </a:t>
            </a:r>
            <a:r>
              <a:rPr sz="1800" spc="-25" dirty="0">
                <a:latin typeface="Calibri"/>
                <a:cs typeface="Calibri"/>
              </a:rPr>
              <a:t>67 </a:t>
            </a:r>
            <a:r>
              <a:rPr sz="1800" dirty="0">
                <a:latin typeface="Calibri"/>
                <a:cs typeface="Calibri"/>
              </a:rPr>
              <a:t>crores</a:t>
            </a:r>
            <a:r>
              <a:rPr sz="1800" spc="-60" dirty="0">
                <a:latin typeface="Calibri"/>
                <a:cs typeface="Calibri"/>
              </a:rPr>
              <a:t> </a:t>
            </a:r>
            <a:r>
              <a:rPr sz="1800" dirty="0">
                <a:latin typeface="Calibri"/>
                <a:cs typeface="Calibri"/>
              </a:rPr>
              <a:t>from</a:t>
            </a:r>
            <a:r>
              <a:rPr sz="1800" spc="-70" dirty="0">
                <a:latin typeface="Calibri"/>
                <a:cs typeface="Calibri"/>
              </a:rPr>
              <a:t> </a:t>
            </a:r>
            <a:r>
              <a:rPr sz="1800" dirty="0">
                <a:latin typeface="Calibri"/>
                <a:cs typeface="Calibri"/>
              </a:rPr>
              <a:t>Intel</a:t>
            </a:r>
            <a:r>
              <a:rPr sz="1800" spc="-60" dirty="0">
                <a:latin typeface="Calibri"/>
                <a:cs typeface="Calibri"/>
              </a:rPr>
              <a:t> </a:t>
            </a:r>
            <a:r>
              <a:rPr lang="en-US" sz="1800" dirty="0">
                <a:latin typeface="Calibri"/>
                <a:cs typeface="Calibri"/>
              </a:rPr>
              <a:t>Capital and Inventus Capital</a:t>
            </a:r>
            <a:r>
              <a:rPr sz="1800" spc="-10" dirty="0">
                <a:latin typeface="Calibri"/>
                <a:cs typeface="Calibri"/>
              </a:rPr>
              <a:t>.</a:t>
            </a:r>
            <a:endParaRPr sz="1800" dirty="0">
              <a:latin typeface="Calibri"/>
              <a:cs typeface="Calibri"/>
            </a:endParaRPr>
          </a:p>
        </p:txBody>
      </p:sp>
      <p:grpSp>
        <p:nvGrpSpPr>
          <p:cNvPr id="15" name="object 15"/>
          <p:cNvGrpSpPr/>
          <p:nvPr/>
        </p:nvGrpSpPr>
        <p:grpSpPr>
          <a:xfrm>
            <a:off x="379984" y="4344162"/>
            <a:ext cx="4133215" cy="2133600"/>
            <a:chOff x="457962" y="4266438"/>
            <a:chExt cx="4173220" cy="2394585"/>
          </a:xfrm>
        </p:grpSpPr>
        <p:sp>
          <p:nvSpPr>
            <p:cNvPr id="16" name="object 16"/>
            <p:cNvSpPr/>
            <p:nvPr/>
          </p:nvSpPr>
          <p:spPr>
            <a:xfrm>
              <a:off x="457962" y="4266438"/>
              <a:ext cx="4173220" cy="2394585"/>
            </a:xfrm>
            <a:custGeom>
              <a:avLst/>
              <a:gdLst/>
              <a:ahLst/>
              <a:cxnLst/>
              <a:rect l="l" t="t" r="r" b="b"/>
              <a:pathLst>
                <a:path w="4173220" h="2394584">
                  <a:moveTo>
                    <a:pt x="0" y="399034"/>
                  </a:moveTo>
                  <a:lnTo>
                    <a:pt x="2684" y="352504"/>
                  </a:lnTo>
                  <a:lnTo>
                    <a:pt x="10538" y="307550"/>
                  </a:lnTo>
                  <a:lnTo>
                    <a:pt x="23262" y="264470"/>
                  </a:lnTo>
                  <a:lnTo>
                    <a:pt x="40558" y="223564"/>
                  </a:lnTo>
                  <a:lnTo>
                    <a:pt x="62124" y="185132"/>
                  </a:lnTo>
                  <a:lnTo>
                    <a:pt x="87663" y="149473"/>
                  </a:lnTo>
                  <a:lnTo>
                    <a:pt x="116874" y="116887"/>
                  </a:lnTo>
                  <a:lnTo>
                    <a:pt x="149459" y="87674"/>
                  </a:lnTo>
                  <a:lnTo>
                    <a:pt x="185118" y="62133"/>
                  </a:lnTo>
                  <a:lnTo>
                    <a:pt x="223552" y="40564"/>
                  </a:lnTo>
                  <a:lnTo>
                    <a:pt x="264461" y="23266"/>
                  </a:lnTo>
                  <a:lnTo>
                    <a:pt x="307546" y="10540"/>
                  </a:lnTo>
                  <a:lnTo>
                    <a:pt x="352507" y="2685"/>
                  </a:lnTo>
                  <a:lnTo>
                    <a:pt x="399046" y="0"/>
                  </a:lnTo>
                  <a:lnTo>
                    <a:pt x="3773678" y="0"/>
                  </a:lnTo>
                  <a:lnTo>
                    <a:pt x="3820207" y="2685"/>
                  </a:lnTo>
                  <a:lnTo>
                    <a:pt x="3865161" y="10540"/>
                  </a:lnTo>
                  <a:lnTo>
                    <a:pt x="3908241" y="23266"/>
                  </a:lnTo>
                  <a:lnTo>
                    <a:pt x="3949147" y="40564"/>
                  </a:lnTo>
                  <a:lnTo>
                    <a:pt x="3987579" y="62133"/>
                  </a:lnTo>
                  <a:lnTo>
                    <a:pt x="4023238" y="87674"/>
                  </a:lnTo>
                  <a:lnTo>
                    <a:pt x="4055824" y="116887"/>
                  </a:lnTo>
                  <a:lnTo>
                    <a:pt x="4085037" y="149473"/>
                  </a:lnTo>
                  <a:lnTo>
                    <a:pt x="4110578" y="185132"/>
                  </a:lnTo>
                  <a:lnTo>
                    <a:pt x="4132147" y="223564"/>
                  </a:lnTo>
                  <a:lnTo>
                    <a:pt x="4149445" y="264470"/>
                  </a:lnTo>
                  <a:lnTo>
                    <a:pt x="4162171" y="307550"/>
                  </a:lnTo>
                  <a:lnTo>
                    <a:pt x="4170026" y="352504"/>
                  </a:lnTo>
                  <a:lnTo>
                    <a:pt x="4172712" y="399034"/>
                  </a:lnTo>
                  <a:lnTo>
                    <a:pt x="4172712" y="1995157"/>
                  </a:lnTo>
                  <a:lnTo>
                    <a:pt x="4170026" y="2041696"/>
                  </a:lnTo>
                  <a:lnTo>
                    <a:pt x="4162171" y="2086657"/>
                  </a:lnTo>
                  <a:lnTo>
                    <a:pt x="4149445" y="2129742"/>
                  </a:lnTo>
                  <a:lnTo>
                    <a:pt x="4132147" y="2170651"/>
                  </a:lnTo>
                  <a:lnTo>
                    <a:pt x="4110578" y="2209085"/>
                  </a:lnTo>
                  <a:lnTo>
                    <a:pt x="4085037" y="2244744"/>
                  </a:lnTo>
                  <a:lnTo>
                    <a:pt x="4055824" y="2277329"/>
                  </a:lnTo>
                  <a:lnTo>
                    <a:pt x="4023238" y="2306540"/>
                  </a:lnTo>
                  <a:lnTo>
                    <a:pt x="3987579" y="2332079"/>
                  </a:lnTo>
                  <a:lnTo>
                    <a:pt x="3949147" y="2353645"/>
                  </a:lnTo>
                  <a:lnTo>
                    <a:pt x="3908241" y="2370941"/>
                  </a:lnTo>
                  <a:lnTo>
                    <a:pt x="3865161" y="2383665"/>
                  </a:lnTo>
                  <a:lnTo>
                    <a:pt x="3820207" y="2391519"/>
                  </a:lnTo>
                  <a:lnTo>
                    <a:pt x="3773678" y="2394204"/>
                  </a:lnTo>
                  <a:lnTo>
                    <a:pt x="399046" y="2394204"/>
                  </a:lnTo>
                  <a:lnTo>
                    <a:pt x="352507" y="2391519"/>
                  </a:lnTo>
                  <a:lnTo>
                    <a:pt x="307546" y="2383665"/>
                  </a:lnTo>
                  <a:lnTo>
                    <a:pt x="264461" y="2370941"/>
                  </a:lnTo>
                  <a:lnTo>
                    <a:pt x="223552" y="2353645"/>
                  </a:lnTo>
                  <a:lnTo>
                    <a:pt x="185118" y="2332079"/>
                  </a:lnTo>
                  <a:lnTo>
                    <a:pt x="149459" y="2306540"/>
                  </a:lnTo>
                  <a:lnTo>
                    <a:pt x="116874" y="2277329"/>
                  </a:lnTo>
                  <a:lnTo>
                    <a:pt x="87663" y="2244744"/>
                  </a:lnTo>
                  <a:lnTo>
                    <a:pt x="62124" y="2209085"/>
                  </a:lnTo>
                  <a:lnTo>
                    <a:pt x="40558" y="2170651"/>
                  </a:lnTo>
                  <a:lnTo>
                    <a:pt x="23262" y="2129742"/>
                  </a:lnTo>
                  <a:lnTo>
                    <a:pt x="10538" y="2086657"/>
                  </a:lnTo>
                  <a:lnTo>
                    <a:pt x="2684" y="2041696"/>
                  </a:lnTo>
                  <a:lnTo>
                    <a:pt x="0" y="1995157"/>
                  </a:lnTo>
                  <a:lnTo>
                    <a:pt x="0" y="399034"/>
                  </a:lnTo>
                  <a:close/>
                </a:path>
              </a:pathLst>
            </a:custGeom>
            <a:ln w="25908">
              <a:solidFill>
                <a:srgbClr val="FFFFFF"/>
              </a:solidFill>
            </a:ln>
          </p:spPr>
          <p:txBody>
            <a:bodyPr wrap="square" lIns="0" tIns="0" rIns="0" bIns="0" rtlCol="0"/>
            <a:lstStyle/>
            <a:p>
              <a:endParaRPr dirty="0"/>
            </a:p>
          </p:txBody>
        </p:sp>
        <p:pic>
          <p:nvPicPr>
            <p:cNvPr id="17" name="object 17"/>
            <p:cNvPicPr/>
            <p:nvPr/>
          </p:nvPicPr>
          <p:blipFill>
            <a:blip r:embed="rId4" cstate="print"/>
            <a:stretch>
              <a:fillRect/>
            </a:stretch>
          </p:blipFill>
          <p:spPr>
            <a:xfrm>
              <a:off x="838200" y="4648200"/>
              <a:ext cx="3194937" cy="1488948"/>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701" y="92113"/>
            <a:ext cx="7055380" cy="1400530"/>
          </a:xfrm>
          <a:prstGeom prst="rect">
            <a:avLst/>
          </a:prstGeom>
        </p:spPr>
        <p:txBody>
          <a:bodyPr vert="horz" wrap="square" lIns="0" tIns="474852" rIns="0" bIns="0" rtlCol="0">
            <a:spAutoFit/>
          </a:bodyPr>
          <a:lstStyle/>
          <a:p>
            <a:pPr marL="2813050">
              <a:lnSpc>
                <a:spcPct val="100000"/>
              </a:lnSpc>
              <a:spcBef>
                <a:spcPts val="105"/>
              </a:spcBef>
            </a:pPr>
            <a:r>
              <a:rPr sz="4400" b="1" u="none" spc="-10" dirty="0">
                <a:solidFill>
                  <a:srgbClr val="FFFF00"/>
                </a:solidFill>
                <a:latin typeface="Times New Roman"/>
                <a:cs typeface="Times New Roman"/>
              </a:rPr>
              <a:t>Difference</a:t>
            </a:r>
            <a:endParaRPr sz="4400" b="1" dirty="0">
              <a:solidFill>
                <a:srgbClr val="FFFF00"/>
              </a:solidFill>
              <a:latin typeface="Times New Roman"/>
              <a:cs typeface="Times New Roman"/>
            </a:endParaRPr>
          </a:p>
        </p:txBody>
      </p:sp>
      <p:grpSp>
        <p:nvGrpSpPr>
          <p:cNvPr id="3" name="object 3"/>
          <p:cNvGrpSpPr/>
          <p:nvPr/>
        </p:nvGrpSpPr>
        <p:grpSpPr>
          <a:xfrm>
            <a:off x="457200" y="1964689"/>
            <a:ext cx="8229600" cy="1195070"/>
            <a:chOff x="457200" y="1964689"/>
            <a:chExt cx="8229600" cy="1195070"/>
          </a:xfrm>
        </p:grpSpPr>
        <p:sp>
          <p:nvSpPr>
            <p:cNvPr id="4" name="object 4"/>
            <p:cNvSpPr/>
            <p:nvPr/>
          </p:nvSpPr>
          <p:spPr>
            <a:xfrm>
              <a:off x="457200" y="1971052"/>
              <a:ext cx="8229600" cy="1188720"/>
            </a:xfrm>
            <a:custGeom>
              <a:avLst/>
              <a:gdLst/>
              <a:ahLst/>
              <a:cxnLst/>
              <a:rect l="l" t="t" r="r" b="b"/>
              <a:pathLst>
                <a:path w="8229600" h="1188720">
                  <a:moveTo>
                    <a:pt x="8229600" y="0"/>
                  </a:moveTo>
                  <a:lnTo>
                    <a:pt x="5486400" y="0"/>
                  </a:lnTo>
                  <a:lnTo>
                    <a:pt x="2971800" y="0"/>
                  </a:lnTo>
                  <a:lnTo>
                    <a:pt x="990600" y="0"/>
                  </a:lnTo>
                  <a:lnTo>
                    <a:pt x="0" y="0"/>
                  </a:lnTo>
                  <a:lnTo>
                    <a:pt x="0" y="1188707"/>
                  </a:lnTo>
                  <a:lnTo>
                    <a:pt x="990600" y="1188707"/>
                  </a:lnTo>
                  <a:lnTo>
                    <a:pt x="2971800" y="1188707"/>
                  </a:lnTo>
                  <a:lnTo>
                    <a:pt x="5486400" y="1188707"/>
                  </a:lnTo>
                  <a:lnTo>
                    <a:pt x="8229600" y="1188707"/>
                  </a:lnTo>
                  <a:lnTo>
                    <a:pt x="8229600" y="0"/>
                  </a:lnTo>
                  <a:close/>
                </a:path>
              </a:pathLst>
            </a:custGeom>
            <a:solidFill>
              <a:srgbClr val="4AACC5">
                <a:alpha val="19999"/>
              </a:srgbClr>
            </a:solidFill>
          </p:spPr>
          <p:txBody>
            <a:bodyPr wrap="square" lIns="0" tIns="0" rIns="0" bIns="0" rtlCol="0"/>
            <a:lstStyle/>
            <a:p>
              <a:endParaRPr dirty="0"/>
            </a:p>
          </p:txBody>
        </p:sp>
        <p:sp>
          <p:nvSpPr>
            <p:cNvPr id="5" name="object 5"/>
            <p:cNvSpPr/>
            <p:nvPr/>
          </p:nvSpPr>
          <p:spPr>
            <a:xfrm>
              <a:off x="457200" y="1971039"/>
              <a:ext cx="8229600" cy="0"/>
            </a:xfrm>
            <a:custGeom>
              <a:avLst/>
              <a:gdLst/>
              <a:ahLst/>
              <a:cxnLst/>
              <a:rect l="l" t="t" r="r" b="b"/>
              <a:pathLst>
                <a:path w="8229600">
                  <a:moveTo>
                    <a:pt x="0" y="0"/>
                  </a:moveTo>
                  <a:lnTo>
                    <a:pt x="8229600" y="0"/>
                  </a:lnTo>
                </a:path>
              </a:pathLst>
            </a:custGeom>
            <a:ln w="12700">
              <a:solidFill>
                <a:srgbClr val="4AACC5"/>
              </a:solidFill>
            </a:ln>
          </p:spPr>
          <p:txBody>
            <a:bodyPr wrap="square" lIns="0" tIns="0" rIns="0" bIns="0" rtlCol="0"/>
            <a:lstStyle/>
            <a:p>
              <a:endParaRPr dirty="0"/>
            </a:p>
          </p:txBody>
        </p:sp>
      </p:grpSp>
      <p:grpSp>
        <p:nvGrpSpPr>
          <p:cNvPr id="6" name="object 6"/>
          <p:cNvGrpSpPr/>
          <p:nvPr/>
        </p:nvGrpSpPr>
        <p:grpSpPr>
          <a:xfrm>
            <a:off x="457200" y="4622800"/>
            <a:ext cx="8229600" cy="2018030"/>
            <a:chOff x="457200" y="4622800"/>
            <a:chExt cx="8229600" cy="2018030"/>
          </a:xfrm>
        </p:grpSpPr>
        <p:sp>
          <p:nvSpPr>
            <p:cNvPr id="7" name="object 7"/>
            <p:cNvSpPr/>
            <p:nvPr/>
          </p:nvSpPr>
          <p:spPr>
            <a:xfrm>
              <a:off x="457200" y="4622799"/>
              <a:ext cx="8229600" cy="2011680"/>
            </a:xfrm>
            <a:custGeom>
              <a:avLst/>
              <a:gdLst/>
              <a:ahLst/>
              <a:cxnLst/>
              <a:rect l="l" t="t" r="r" b="b"/>
              <a:pathLst>
                <a:path w="8229600" h="2011679">
                  <a:moveTo>
                    <a:pt x="8229600" y="0"/>
                  </a:moveTo>
                  <a:lnTo>
                    <a:pt x="5486400" y="0"/>
                  </a:lnTo>
                  <a:lnTo>
                    <a:pt x="2971800" y="0"/>
                  </a:lnTo>
                  <a:lnTo>
                    <a:pt x="990600" y="0"/>
                  </a:lnTo>
                  <a:lnTo>
                    <a:pt x="0" y="0"/>
                  </a:lnTo>
                  <a:lnTo>
                    <a:pt x="0" y="2011680"/>
                  </a:lnTo>
                  <a:lnTo>
                    <a:pt x="990600" y="2011680"/>
                  </a:lnTo>
                  <a:lnTo>
                    <a:pt x="2971800" y="2011680"/>
                  </a:lnTo>
                  <a:lnTo>
                    <a:pt x="5486400" y="2011680"/>
                  </a:lnTo>
                  <a:lnTo>
                    <a:pt x="8229600" y="2011680"/>
                  </a:lnTo>
                  <a:lnTo>
                    <a:pt x="8229600" y="0"/>
                  </a:lnTo>
                  <a:close/>
                </a:path>
              </a:pathLst>
            </a:custGeom>
            <a:solidFill>
              <a:srgbClr val="4AACC5">
                <a:alpha val="19999"/>
              </a:srgbClr>
            </a:solidFill>
          </p:spPr>
          <p:txBody>
            <a:bodyPr wrap="square" lIns="0" tIns="0" rIns="0" bIns="0" rtlCol="0"/>
            <a:lstStyle/>
            <a:p>
              <a:endParaRPr dirty="0"/>
            </a:p>
          </p:txBody>
        </p:sp>
        <p:sp>
          <p:nvSpPr>
            <p:cNvPr id="8" name="object 8"/>
            <p:cNvSpPr/>
            <p:nvPr/>
          </p:nvSpPr>
          <p:spPr>
            <a:xfrm>
              <a:off x="457200" y="6634479"/>
              <a:ext cx="8229600" cy="0"/>
            </a:xfrm>
            <a:custGeom>
              <a:avLst/>
              <a:gdLst/>
              <a:ahLst/>
              <a:cxnLst/>
              <a:rect l="l" t="t" r="r" b="b"/>
              <a:pathLst>
                <a:path w="8229600">
                  <a:moveTo>
                    <a:pt x="0" y="0"/>
                  </a:moveTo>
                  <a:lnTo>
                    <a:pt x="8229600" y="0"/>
                  </a:lnTo>
                </a:path>
              </a:pathLst>
            </a:custGeom>
            <a:ln w="12700">
              <a:solidFill>
                <a:srgbClr val="4AACC5"/>
              </a:solidFill>
            </a:ln>
          </p:spPr>
          <p:txBody>
            <a:bodyPr wrap="square" lIns="0" tIns="0" rIns="0" bIns="0" rtlCol="0"/>
            <a:lstStyle/>
            <a:p>
              <a:endParaRPr dirty="0"/>
            </a:p>
          </p:txBody>
        </p:sp>
      </p:grpSp>
      <p:sp>
        <p:nvSpPr>
          <p:cNvPr id="9" name="object 9"/>
          <p:cNvSpPr/>
          <p:nvPr/>
        </p:nvSpPr>
        <p:spPr>
          <a:xfrm>
            <a:off x="457200" y="1600200"/>
            <a:ext cx="8229600" cy="0"/>
          </a:xfrm>
          <a:custGeom>
            <a:avLst/>
            <a:gdLst/>
            <a:ahLst/>
            <a:cxnLst/>
            <a:rect l="l" t="t" r="r" b="b"/>
            <a:pathLst>
              <a:path w="8229600">
                <a:moveTo>
                  <a:pt x="0" y="0"/>
                </a:moveTo>
                <a:lnTo>
                  <a:pt x="8229600" y="0"/>
                </a:lnTo>
              </a:path>
            </a:pathLst>
          </a:custGeom>
          <a:ln w="12700">
            <a:solidFill>
              <a:srgbClr val="4AACC5"/>
            </a:solidFill>
          </a:ln>
        </p:spPr>
        <p:txBody>
          <a:bodyPr wrap="square" lIns="0" tIns="0" rIns="0" bIns="0" rtlCol="0"/>
          <a:lstStyle/>
          <a:p>
            <a:endParaRPr dirty="0"/>
          </a:p>
        </p:txBody>
      </p:sp>
      <p:sp>
        <p:nvSpPr>
          <p:cNvPr id="10" name="object 10"/>
          <p:cNvSpPr txBox="1"/>
          <p:nvPr/>
        </p:nvSpPr>
        <p:spPr>
          <a:xfrm>
            <a:off x="609701" y="1625853"/>
            <a:ext cx="683895" cy="299720"/>
          </a:xfrm>
          <a:prstGeom prst="rect">
            <a:avLst/>
          </a:prstGeom>
        </p:spPr>
        <p:txBody>
          <a:bodyPr vert="horz" wrap="square" lIns="0" tIns="12700" rIns="0" bIns="0" rtlCol="0">
            <a:spAutoFit/>
          </a:bodyPr>
          <a:lstStyle/>
          <a:p>
            <a:pPr marL="12700">
              <a:lnSpc>
                <a:spcPct val="100000"/>
              </a:lnSpc>
              <a:spcBef>
                <a:spcPts val="100"/>
              </a:spcBef>
            </a:pPr>
            <a:r>
              <a:rPr sz="1800" b="1" spc="-40" dirty="0">
                <a:latin typeface="Times New Roman"/>
                <a:cs typeface="Times New Roman"/>
              </a:rPr>
              <a:t>Sr.</a:t>
            </a:r>
            <a:r>
              <a:rPr sz="1800" b="1" spc="-65" dirty="0">
                <a:latin typeface="Times New Roman"/>
                <a:cs typeface="Times New Roman"/>
              </a:rPr>
              <a:t> </a:t>
            </a:r>
            <a:r>
              <a:rPr sz="1800" b="1" spc="-25" dirty="0">
                <a:latin typeface="Times New Roman"/>
                <a:cs typeface="Times New Roman"/>
              </a:rPr>
              <a:t>No.</a:t>
            </a:r>
            <a:endParaRPr sz="1800" dirty="0">
              <a:latin typeface="Times New Roman"/>
              <a:cs typeface="Times New Roman"/>
            </a:endParaRPr>
          </a:p>
        </p:txBody>
      </p:sp>
      <p:sp>
        <p:nvSpPr>
          <p:cNvPr id="11" name="object 11"/>
          <p:cNvSpPr txBox="1"/>
          <p:nvPr/>
        </p:nvSpPr>
        <p:spPr>
          <a:xfrm>
            <a:off x="3958590" y="1625853"/>
            <a:ext cx="145351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Private</a:t>
            </a:r>
            <a:r>
              <a:rPr sz="1800" b="1" spc="-70" dirty="0">
                <a:latin typeface="Times New Roman"/>
                <a:cs typeface="Times New Roman"/>
              </a:rPr>
              <a:t> </a:t>
            </a:r>
            <a:r>
              <a:rPr sz="1800" b="1" spc="-10" dirty="0">
                <a:latin typeface="Times New Roman"/>
                <a:cs typeface="Times New Roman"/>
              </a:rPr>
              <a:t>Equity</a:t>
            </a:r>
            <a:endParaRPr sz="1800" dirty="0">
              <a:latin typeface="Times New Roman"/>
              <a:cs typeface="Times New Roman"/>
            </a:endParaRPr>
          </a:p>
        </p:txBody>
      </p:sp>
      <p:sp>
        <p:nvSpPr>
          <p:cNvPr id="12" name="object 12"/>
          <p:cNvSpPr txBox="1"/>
          <p:nvPr/>
        </p:nvSpPr>
        <p:spPr>
          <a:xfrm>
            <a:off x="6525259" y="1625853"/>
            <a:ext cx="1580515" cy="299720"/>
          </a:xfrm>
          <a:prstGeom prst="rect">
            <a:avLst/>
          </a:prstGeom>
        </p:spPr>
        <p:txBody>
          <a:bodyPr vert="horz" wrap="square" lIns="0" tIns="12700" rIns="0" bIns="0" rtlCol="0">
            <a:spAutoFit/>
          </a:bodyPr>
          <a:lstStyle/>
          <a:p>
            <a:pPr marL="12700">
              <a:lnSpc>
                <a:spcPct val="100000"/>
              </a:lnSpc>
              <a:spcBef>
                <a:spcPts val="100"/>
              </a:spcBef>
            </a:pPr>
            <a:r>
              <a:rPr sz="1800" b="1" spc="-25" dirty="0">
                <a:latin typeface="Times New Roman"/>
                <a:cs typeface="Times New Roman"/>
              </a:rPr>
              <a:t>Venture</a:t>
            </a:r>
            <a:r>
              <a:rPr sz="1800" b="1" spc="-65" dirty="0">
                <a:latin typeface="Times New Roman"/>
                <a:cs typeface="Times New Roman"/>
              </a:rPr>
              <a:t> </a:t>
            </a:r>
            <a:r>
              <a:rPr sz="1800" b="1" spc="-10" dirty="0">
                <a:latin typeface="Times New Roman"/>
                <a:cs typeface="Times New Roman"/>
              </a:rPr>
              <a:t>Capital</a:t>
            </a:r>
            <a:endParaRPr sz="1800" dirty="0">
              <a:latin typeface="Times New Roman"/>
              <a:cs typeface="Times New Roman"/>
            </a:endParaRPr>
          </a:p>
        </p:txBody>
      </p:sp>
      <p:sp>
        <p:nvSpPr>
          <p:cNvPr id="13" name="object 13"/>
          <p:cNvSpPr txBox="1"/>
          <p:nvPr/>
        </p:nvSpPr>
        <p:spPr>
          <a:xfrm>
            <a:off x="855878" y="1995297"/>
            <a:ext cx="205104" cy="330835"/>
          </a:xfrm>
          <a:prstGeom prst="rect">
            <a:avLst/>
          </a:prstGeom>
        </p:spPr>
        <p:txBody>
          <a:bodyPr vert="horz" wrap="square" lIns="0" tIns="13335" rIns="0" bIns="0" rtlCol="0">
            <a:spAutoFit/>
          </a:bodyPr>
          <a:lstStyle/>
          <a:p>
            <a:pPr>
              <a:lnSpc>
                <a:spcPct val="100000"/>
              </a:lnSpc>
              <a:spcBef>
                <a:spcPts val="105"/>
              </a:spcBef>
            </a:pPr>
            <a:r>
              <a:rPr sz="2000" b="1" spc="-25" dirty="0">
                <a:latin typeface="Times New Roman"/>
                <a:cs typeface="Times New Roman"/>
              </a:rPr>
              <a:t>1.</a:t>
            </a:r>
            <a:endParaRPr sz="2000" dirty="0">
              <a:latin typeface="Times New Roman"/>
              <a:cs typeface="Times New Roman"/>
            </a:endParaRPr>
          </a:p>
        </p:txBody>
      </p:sp>
      <p:sp>
        <p:nvSpPr>
          <p:cNvPr id="14" name="object 14"/>
          <p:cNvSpPr txBox="1"/>
          <p:nvPr/>
        </p:nvSpPr>
        <p:spPr>
          <a:xfrm>
            <a:off x="1829689" y="1995297"/>
            <a:ext cx="1230630" cy="635635"/>
          </a:xfrm>
          <a:prstGeom prst="rect">
            <a:avLst/>
          </a:prstGeom>
        </p:spPr>
        <p:txBody>
          <a:bodyPr vert="horz" wrap="square" lIns="0" tIns="13335" rIns="0" bIns="0" rtlCol="0">
            <a:spAutoFit/>
          </a:bodyPr>
          <a:lstStyle/>
          <a:p>
            <a:pPr marR="5080" indent="251460">
              <a:lnSpc>
                <a:spcPct val="100000"/>
              </a:lnSpc>
              <a:spcBef>
                <a:spcPts val="105"/>
              </a:spcBef>
            </a:pPr>
            <a:r>
              <a:rPr sz="2000" b="1" spc="-10" dirty="0">
                <a:latin typeface="Times New Roman"/>
                <a:cs typeface="Times New Roman"/>
              </a:rPr>
              <a:t>Target Companies</a:t>
            </a:r>
            <a:endParaRPr sz="2000" dirty="0">
              <a:latin typeface="Times New Roman"/>
              <a:cs typeface="Times New Roman"/>
            </a:endParaRPr>
          </a:p>
        </p:txBody>
      </p:sp>
      <p:sp>
        <p:nvSpPr>
          <p:cNvPr id="15" name="object 15"/>
          <p:cNvSpPr txBox="1"/>
          <p:nvPr/>
        </p:nvSpPr>
        <p:spPr>
          <a:xfrm>
            <a:off x="3546094" y="1996821"/>
            <a:ext cx="2292985" cy="848994"/>
          </a:xfrm>
          <a:prstGeom prst="rect">
            <a:avLst/>
          </a:prstGeom>
        </p:spPr>
        <p:txBody>
          <a:bodyPr vert="horz" wrap="square" lIns="0" tIns="12700" rIns="0" bIns="0" rtlCol="0">
            <a:spAutoFit/>
          </a:bodyPr>
          <a:lstStyle/>
          <a:p>
            <a:pPr marR="5080" algn="ctr">
              <a:lnSpc>
                <a:spcPct val="100000"/>
              </a:lnSpc>
              <a:spcBef>
                <a:spcPts val="100"/>
              </a:spcBef>
            </a:pPr>
            <a:r>
              <a:rPr sz="1800" dirty="0">
                <a:latin typeface="Times New Roman"/>
                <a:cs typeface="Times New Roman"/>
              </a:rPr>
              <a:t>Mature</a:t>
            </a:r>
            <a:r>
              <a:rPr sz="1800" spc="-60" dirty="0">
                <a:latin typeface="Times New Roman"/>
                <a:cs typeface="Times New Roman"/>
              </a:rPr>
              <a:t> </a:t>
            </a:r>
            <a:r>
              <a:rPr sz="1800" dirty="0">
                <a:latin typeface="Times New Roman"/>
                <a:cs typeface="Times New Roman"/>
              </a:rPr>
              <a:t>companies,</a:t>
            </a:r>
            <a:r>
              <a:rPr sz="1800" spc="-60" dirty="0">
                <a:latin typeface="Times New Roman"/>
                <a:cs typeface="Times New Roman"/>
              </a:rPr>
              <a:t> </a:t>
            </a:r>
            <a:r>
              <a:rPr sz="1800" spc="-10" dirty="0">
                <a:latin typeface="Times New Roman"/>
                <a:cs typeface="Times New Roman"/>
              </a:rPr>
              <a:t>often </a:t>
            </a:r>
            <a:r>
              <a:rPr sz="1800" spc="-20" dirty="0">
                <a:latin typeface="Times New Roman"/>
                <a:cs typeface="Times New Roman"/>
              </a:rPr>
              <a:t>under-</a:t>
            </a:r>
            <a:r>
              <a:rPr sz="1800" dirty="0">
                <a:latin typeface="Times New Roman"/>
                <a:cs typeface="Times New Roman"/>
              </a:rPr>
              <a:t>performing</a:t>
            </a:r>
            <a:r>
              <a:rPr sz="1800" spc="-30" dirty="0">
                <a:latin typeface="Times New Roman"/>
                <a:cs typeface="Times New Roman"/>
              </a:rPr>
              <a:t> </a:t>
            </a:r>
            <a:r>
              <a:rPr sz="1800" spc="-25" dirty="0">
                <a:latin typeface="Times New Roman"/>
                <a:cs typeface="Times New Roman"/>
              </a:rPr>
              <a:t>or </a:t>
            </a:r>
            <a:r>
              <a:rPr sz="1800" spc="-10" dirty="0">
                <a:latin typeface="Times New Roman"/>
                <a:cs typeface="Times New Roman"/>
              </a:rPr>
              <a:t>under-valued</a:t>
            </a:r>
            <a:endParaRPr sz="1800" dirty="0">
              <a:latin typeface="Times New Roman"/>
              <a:cs typeface="Times New Roman"/>
            </a:endParaRPr>
          </a:p>
        </p:txBody>
      </p:sp>
      <p:sp>
        <p:nvSpPr>
          <p:cNvPr id="16" name="object 16"/>
          <p:cNvSpPr txBox="1"/>
          <p:nvPr/>
        </p:nvSpPr>
        <p:spPr>
          <a:xfrm>
            <a:off x="6225540" y="1996821"/>
            <a:ext cx="2192655" cy="848994"/>
          </a:xfrm>
          <a:prstGeom prst="rect">
            <a:avLst/>
          </a:prstGeom>
        </p:spPr>
        <p:txBody>
          <a:bodyPr vert="horz" wrap="square" lIns="0" tIns="12700" rIns="0" bIns="0" rtlCol="0">
            <a:spAutoFit/>
          </a:bodyPr>
          <a:lstStyle/>
          <a:p>
            <a:pPr marR="5080" indent="-635" algn="ctr">
              <a:lnSpc>
                <a:spcPct val="100000"/>
              </a:lnSpc>
              <a:spcBef>
                <a:spcPts val="100"/>
              </a:spcBef>
            </a:pPr>
            <a:r>
              <a:rPr sz="1800" dirty="0">
                <a:latin typeface="Times New Roman"/>
                <a:cs typeface="Times New Roman"/>
              </a:rPr>
              <a:t>Startups,</a:t>
            </a:r>
            <a:r>
              <a:rPr sz="1800" spc="15" dirty="0">
                <a:latin typeface="Times New Roman"/>
                <a:cs typeface="Times New Roman"/>
              </a:rPr>
              <a:t> </a:t>
            </a:r>
            <a:r>
              <a:rPr sz="1800" spc="-10" dirty="0">
                <a:latin typeface="Times New Roman"/>
                <a:cs typeface="Times New Roman"/>
              </a:rPr>
              <a:t>early-stage </a:t>
            </a:r>
            <a:r>
              <a:rPr sz="1800" dirty="0">
                <a:latin typeface="Times New Roman"/>
                <a:cs typeface="Times New Roman"/>
              </a:rPr>
              <a:t>companies,</a:t>
            </a:r>
            <a:r>
              <a:rPr sz="1800" spc="-50" dirty="0">
                <a:latin typeface="Times New Roman"/>
                <a:cs typeface="Times New Roman"/>
              </a:rPr>
              <a:t> </a:t>
            </a:r>
            <a:r>
              <a:rPr sz="1800" dirty="0">
                <a:latin typeface="Times New Roman"/>
                <a:cs typeface="Times New Roman"/>
              </a:rPr>
              <a:t>usually</a:t>
            </a:r>
            <a:r>
              <a:rPr sz="1800" spc="-55" dirty="0">
                <a:latin typeface="Times New Roman"/>
                <a:cs typeface="Times New Roman"/>
              </a:rPr>
              <a:t> </a:t>
            </a:r>
            <a:r>
              <a:rPr sz="1800" spc="-20" dirty="0">
                <a:latin typeface="Times New Roman"/>
                <a:cs typeface="Times New Roman"/>
              </a:rPr>
              <a:t>pre- </a:t>
            </a:r>
            <a:r>
              <a:rPr sz="1800" spc="-10" dirty="0">
                <a:latin typeface="Times New Roman"/>
                <a:cs typeface="Times New Roman"/>
              </a:rPr>
              <a:t>revenue</a:t>
            </a:r>
            <a:endParaRPr sz="1800" dirty="0">
              <a:latin typeface="Times New Roman"/>
              <a:cs typeface="Times New Roman"/>
            </a:endParaRPr>
          </a:p>
        </p:txBody>
      </p:sp>
      <p:sp>
        <p:nvSpPr>
          <p:cNvPr id="17" name="object 17"/>
          <p:cNvSpPr txBox="1"/>
          <p:nvPr/>
        </p:nvSpPr>
        <p:spPr>
          <a:xfrm>
            <a:off x="843178" y="3184398"/>
            <a:ext cx="217804" cy="330835"/>
          </a:xfrm>
          <a:prstGeom prst="rect">
            <a:avLst/>
          </a:prstGeom>
        </p:spPr>
        <p:txBody>
          <a:bodyPr vert="horz" wrap="square" lIns="0" tIns="13335" rIns="0" bIns="0" rtlCol="0">
            <a:spAutoFit/>
          </a:bodyPr>
          <a:lstStyle/>
          <a:p>
            <a:pPr marL="12700">
              <a:lnSpc>
                <a:spcPct val="100000"/>
              </a:lnSpc>
              <a:spcBef>
                <a:spcPts val="105"/>
              </a:spcBef>
            </a:pPr>
            <a:r>
              <a:rPr sz="2000" b="1" spc="-25" dirty="0">
                <a:latin typeface="Times New Roman"/>
                <a:cs typeface="Times New Roman"/>
              </a:rPr>
              <a:t>2.</a:t>
            </a:r>
            <a:endParaRPr sz="2000" dirty="0">
              <a:latin typeface="Times New Roman"/>
              <a:cs typeface="Times New Roman"/>
            </a:endParaRPr>
          </a:p>
        </p:txBody>
      </p:sp>
      <p:sp>
        <p:nvSpPr>
          <p:cNvPr id="18" name="object 18"/>
          <p:cNvSpPr txBox="1"/>
          <p:nvPr/>
        </p:nvSpPr>
        <p:spPr>
          <a:xfrm>
            <a:off x="1873376" y="3184398"/>
            <a:ext cx="1129665" cy="635635"/>
          </a:xfrm>
          <a:prstGeom prst="rect">
            <a:avLst/>
          </a:prstGeom>
        </p:spPr>
        <p:txBody>
          <a:bodyPr vert="horz" wrap="square" lIns="0" tIns="13335" rIns="0" bIns="0" rtlCol="0">
            <a:spAutoFit/>
          </a:bodyPr>
          <a:lstStyle/>
          <a:p>
            <a:pPr marL="12700" marR="5080" indent="194945">
              <a:lnSpc>
                <a:spcPct val="100000"/>
              </a:lnSpc>
              <a:spcBef>
                <a:spcPts val="105"/>
              </a:spcBef>
            </a:pPr>
            <a:r>
              <a:rPr sz="2000" b="1" spc="-10" dirty="0">
                <a:latin typeface="Times New Roman"/>
                <a:cs typeface="Times New Roman"/>
              </a:rPr>
              <a:t>Target Industries</a:t>
            </a:r>
            <a:endParaRPr sz="2000" dirty="0">
              <a:latin typeface="Times New Roman"/>
              <a:cs typeface="Times New Roman"/>
            </a:endParaRPr>
          </a:p>
        </p:txBody>
      </p:sp>
      <p:sp>
        <p:nvSpPr>
          <p:cNvPr id="19" name="object 19"/>
          <p:cNvSpPr txBox="1"/>
          <p:nvPr/>
        </p:nvSpPr>
        <p:spPr>
          <a:xfrm>
            <a:off x="3665982" y="3185921"/>
            <a:ext cx="2038350" cy="1123315"/>
          </a:xfrm>
          <a:prstGeom prst="rect">
            <a:avLst/>
          </a:prstGeom>
        </p:spPr>
        <p:txBody>
          <a:bodyPr vert="horz" wrap="square" lIns="0" tIns="12700" rIns="0" bIns="0" rtlCol="0">
            <a:spAutoFit/>
          </a:bodyPr>
          <a:lstStyle/>
          <a:p>
            <a:pPr marL="12700" marR="5080" algn="ctr">
              <a:lnSpc>
                <a:spcPct val="100000"/>
              </a:lnSpc>
              <a:spcBef>
                <a:spcPts val="100"/>
              </a:spcBef>
            </a:pPr>
            <a:r>
              <a:rPr sz="1800" dirty="0">
                <a:latin typeface="Times New Roman"/>
                <a:cs typeface="Times New Roman"/>
              </a:rPr>
              <a:t>All</a:t>
            </a:r>
            <a:r>
              <a:rPr sz="1800" spc="-30" dirty="0">
                <a:latin typeface="Times New Roman"/>
                <a:cs typeface="Times New Roman"/>
              </a:rPr>
              <a:t> </a:t>
            </a:r>
            <a:r>
              <a:rPr sz="1800" dirty="0">
                <a:latin typeface="Times New Roman"/>
                <a:cs typeface="Times New Roman"/>
              </a:rPr>
              <a:t>industries,</a:t>
            </a:r>
            <a:r>
              <a:rPr sz="1800" spc="-50" dirty="0">
                <a:latin typeface="Times New Roman"/>
                <a:cs typeface="Times New Roman"/>
              </a:rPr>
              <a:t> </a:t>
            </a:r>
            <a:r>
              <a:rPr sz="1800" spc="-10" dirty="0">
                <a:latin typeface="Times New Roman"/>
                <a:cs typeface="Times New Roman"/>
              </a:rPr>
              <a:t>usually </a:t>
            </a:r>
            <a:r>
              <a:rPr sz="1800" dirty="0">
                <a:latin typeface="Times New Roman"/>
                <a:cs typeface="Times New Roman"/>
              </a:rPr>
              <a:t>with </a:t>
            </a:r>
            <a:r>
              <a:rPr sz="1800" spc="-10" dirty="0">
                <a:latin typeface="Times New Roman"/>
                <a:cs typeface="Times New Roman"/>
              </a:rPr>
              <a:t>established </a:t>
            </a:r>
            <a:r>
              <a:rPr sz="1800" dirty="0">
                <a:latin typeface="Times New Roman"/>
                <a:cs typeface="Times New Roman"/>
              </a:rPr>
              <a:t>marketplace</a:t>
            </a:r>
            <a:r>
              <a:rPr sz="1800" spc="-65" dirty="0">
                <a:latin typeface="Times New Roman"/>
                <a:cs typeface="Times New Roman"/>
              </a:rPr>
              <a:t> </a:t>
            </a:r>
            <a:r>
              <a:rPr sz="1800" dirty="0">
                <a:latin typeface="Times New Roman"/>
                <a:cs typeface="Times New Roman"/>
              </a:rPr>
              <a:t>for</a:t>
            </a:r>
            <a:r>
              <a:rPr sz="1800" spc="-45" dirty="0">
                <a:latin typeface="Times New Roman"/>
                <a:cs typeface="Times New Roman"/>
              </a:rPr>
              <a:t> </a:t>
            </a:r>
            <a:r>
              <a:rPr sz="1800" spc="-25" dirty="0">
                <a:latin typeface="Times New Roman"/>
                <a:cs typeface="Times New Roman"/>
              </a:rPr>
              <a:t>the </a:t>
            </a:r>
            <a:r>
              <a:rPr sz="1800" dirty="0">
                <a:latin typeface="Times New Roman"/>
                <a:cs typeface="Times New Roman"/>
              </a:rPr>
              <a:t>product</a:t>
            </a:r>
            <a:r>
              <a:rPr sz="1800" spc="-10" dirty="0">
                <a:latin typeface="Times New Roman"/>
                <a:cs typeface="Times New Roman"/>
              </a:rPr>
              <a:t> </a:t>
            </a:r>
            <a:r>
              <a:rPr sz="1800" dirty="0">
                <a:latin typeface="Times New Roman"/>
                <a:cs typeface="Times New Roman"/>
              </a:rPr>
              <a:t>or</a:t>
            </a:r>
            <a:r>
              <a:rPr sz="1800" spc="-10" dirty="0">
                <a:latin typeface="Times New Roman"/>
                <a:cs typeface="Times New Roman"/>
              </a:rPr>
              <a:t> service</a:t>
            </a:r>
            <a:endParaRPr sz="1800" dirty="0">
              <a:latin typeface="Times New Roman"/>
              <a:cs typeface="Times New Roman"/>
            </a:endParaRPr>
          </a:p>
        </p:txBody>
      </p:sp>
      <p:sp>
        <p:nvSpPr>
          <p:cNvPr id="20" name="object 20"/>
          <p:cNvSpPr txBox="1"/>
          <p:nvPr/>
        </p:nvSpPr>
        <p:spPr>
          <a:xfrm>
            <a:off x="6039103" y="3185921"/>
            <a:ext cx="2552700" cy="848360"/>
          </a:xfrm>
          <a:prstGeom prst="rect">
            <a:avLst/>
          </a:prstGeom>
        </p:spPr>
        <p:txBody>
          <a:bodyPr vert="horz" wrap="square" lIns="0" tIns="12700" rIns="0" bIns="0" rtlCol="0">
            <a:spAutoFit/>
          </a:bodyPr>
          <a:lstStyle/>
          <a:p>
            <a:pPr marL="12700" marR="5080" algn="ctr">
              <a:lnSpc>
                <a:spcPct val="100000"/>
              </a:lnSpc>
              <a:spcBef>
                <a:spcPts val="100"/>
              </a:spcBef>
            </a:pPr>
            <a:r>
              <a:rPr sz="1800" spc="-10" dirty="0">
                <a:latin typeface="Times New Roman"/>
                <a:cs typeface="Times New Roman"/>
              </a:rPr>
              <a:t>High-</a:t>
            </a:r>
            <a:r>
              <a:rPr sz="1800" dirty="0">
                <a:latin typeface="Times New Roman"/>
                <a:cs typeface="Times New Roman"/>
              </a:rPr>
              <a:t>growth</a:t>
            </a:r>
            <a:r>
              <a:rPr sz="1800" spc="-25" dirty="0">
                <a:latin typeface="Times New Roman"/>
                <a:cs typeface="Times New Roman"/>
              </a:rPr>
              <a:t> </a:t>
            </a:r>
            <a:r>
              <a:rPr sz="1800" dirty="0">
                <a:latin typeface="Times New Roman"/>
                <a:cs typeface="Times New Roman"/>
              </a:rPr>
              <a:t>industries</a:t>
            </a:r>
            <a:r>
              <a:rPr sz="1800" spc="-30" dirty="0">
                <a:latin typeface="Times New Roman"/>
                <a:cs typeface="Times New Roman"/>
              </a:rPr>
              <a:t> </a:t>
            </a:r>
            <a:r>
              <a:rPr sz="1800" spc="-20" dirty="0">
                <a:latin typeface="Times New Roman"/>
                <a:cs typeface="Times New Roman"/>
              </a:rPr>
              <a:t>like </a:t>
            </a:r>
            <a:r>
              <a:rPr sz="1800" spc="-10" dirty="0">
                <a:latin typeface="Times New Roman"/>
                <a:cs typeface="Times New Roman"/>
              </a:rPr>
              <a:t>high-</a:t>
            </a:r>
            <a:r>
              <a:rPr sz="1800" dirty="0">
                <a:latin typeface="Times New Roman"/>
                <a:cs typeface="Times New Roman"/>
              </a:rPr>
              <a:t>tech, </a:t>
            </a:r>
            <a:r>
              <a:rPr sz="1800" spc="-10" dirty="0">
                <a:latin typeface="Times New Roman"/>
                <a:cs typeface="Times New Roman"/>
              </a:rPr>
              <a:t>biomedical, </a:t>
            </a:r>
            <a:r>
              <a:rPr sz="1800" dirty="0">
                <a:latin typeface="Times New Roman"/>
                <a:cs typeface="Times New Roman"/>
              </a:rPr>
              <a:t>alternative</a:t>
            </a:r>
            <a:r>
              <a:rPr sz="1800" spc="-85" dirty="0">
                <a:latin typeface="Times New Roman"/>
                <a:cs typeface="Times New Roman"/>
              </a:rPr>
              <a:t> </a:t>
            </a:r>
            <a:r>
              <a:rPr sz="1800" spc="-10" dirty="0">
                <a:latin typeface="Times New Roman"/>
                <a:cs typeface="Times New Roman"/>
              </a:rPr>
              <a:t>energy</a:t>
            </a:r>
            <a:endParaRPr sz="1800" dirty="0">
              <a:latin typeface="Times New Roman"/>
              <a:cs typeface="Times New Roman"/>
            </a:endParaRPr>
          </a:p>
        </p:txBody>
      </p:sp>
      <p:sp>
        <p:nvSpPr>
          <p:cNvPr id="21" name="object 21"/>
          <p:cNvSpPr txBox="1"/>
          <p:nvPr/>
        </p:nvSpPr>
        <p:spPr>
          <a:xfrm>
            <a:off x="855878" y="4647691"/>
            <a:ext cx="205104" cy="330835"/>
          </a:xfrm>
          <a:prstGeom prst="rect">
            <a:avLst/>
          </a:prstGeom>
        </p:spPr>
        <p:txBody>
          <a:bodyPr vert="horz" wrap="square" lIns="0" tIns="12700" rIns="0" bIns="0" rtlCol="0">
            <a:spAutoFit/>
          </a:bodyPr>
          <a:lstStyle/>
          <a:p>
            <a:pPr>
              <a:lnSpc>
                <a:spcPct val="100000"/>
              </a:lnSpc>
              <a:spcBef>
                <a:spcPts val="100"/>
              </a:spcBef>
            </a:pPr>
            <a:r>
              <a:rPr sz="2000" b="1" spc="-25" dirty="0">
                <a:latin typeface="Times New Roman"/>
                <a:cs typeface="Times New Roman"/>
              </a:rPr>
              <a:t>3.</a:t>
            </a:r>
            <a:endParaRPr sz="2000" dirty="0">
              <a:latin typeface="Times New Roman"/>
              <a:cs typeface="Times New Roman"/>
            </a:endParaRPr>
          </a:p>
        </p:txBody>
      </p:sp>
      <p:sp>
        <p:nvSpPr>
          <p:cNvPr id="22" name="object 22"/>
          <p:cNvSpPr txBox="1"/>
          <p:nvPr/>
        </p:nvSpPr>
        <p:spPr>
          <a:xfrm>
            <a:off x="1738248" y="4647691"/>
            <a:ext cx="1412875" cy="948978"/>
          </a:xfrm>
          <a:prstGeom prst="rect">
            <a:avLst/>
          </a:prstGeom>
        </p:spPr>
        <p:txBody>
          <a:bodyPr vert="horz" wrap="square" lIns="0" tIns="12700" rIns="0" bIns="0" rtlCol="0">
            <a:spAutoFit/>
          </a:bodyPr>
          <a:lstStyle/>
          <a:p>
            <a:pPr marR="6350" algn="ctr">
              <a:spcBef>
                <a:spcPts val="100"/>
              </a:spcBef>
            </a:pPr>
            <a:r>
              <a:rPr lang="en-US" sz="2000" b="1" dirty="0">
                <a:latin typeface="Times New Roman"/>
                <a:cs typeface="Times New Roman"/>
              </a:rPr>
              <a:t>Investor</a:t>
            </a:r>
            <a:r>
              <a:rPr lang="en-US" sz="2000" b="1" spc="-190" dirty="0">
                <a:latin typeface="Times New Roman"/>
                <a:cs typeface="Times New Roman"/>
              </a:rPr>
              <a:t> </a:t>
            </a:r>
            <a:r>
              <a:rPr lang="en-US" sz="2000" b="1" spc="-10" dirty="0">
                <a:latin typeface="Times New Roman"/>
                <a:cs typeface="Times New Roman"/>
              </a:rPr>
              <a:t>Active</a:t>
            </a:r>
            <a:endParaRPr lang="en-US" sz="2000" dirty="0">
              <a:latin typeface="Times New Roman"/>
              <a:cs typeface="Times New Roman"/>
            </a:endParaRPr>
          </a:p>
          <a:p>
            <a:pPr marR="6350" algn="ctr">
              <a:lnSpc>
                <a:spcPct val="100000"/>
              </a:lnSpc>
              <a:spcBef>
                <a:spcPts val="100"/>
              </a:spcBef>
            </a:pPr>
            <a:endParaRPr sz="2000" dirty="0">
              <a:latin typeface="Times New Roman"/>
              <a:cs typeface="Times New Roman"/>
            </a:endParaRPr>
          </a:p>
        </p:txBody>
      </p:sp>
      <p:sp>
        <p:nvSpPr>
          <p:cNvPr id="23" name="object 23"/>
          <p:cNvSpPr txBox="1"/>
          <p:nvPr/>
        </p:nvSpPr>
        <p:spPr>
          <a:xfrm>
            <a:off x="3571493" y="4710103"/>
            <a:ext cx="2242185" cy="1964640"/>
          </a:xfrm>
          <a:prstGeom prst="rect">
            <a:avLst/>
          </a:prstGeom>
        </p:spPr>
        <p:txBody>
          <a:bodyPr vert="horz" wrap="square" lIns="0" tIns="12700" rIns="0" bIns="0" rtlCol="0">
            <a:spAutoFit/>
          </a:bodyPr>
          <a:lstStyle/>
          <a:p>
            <a:pPr marR="5080" algn="ctr">
              <a:spcBef>
                <a:spcPts val="100"/>
              </a:spcBef>
            </a:pPr>
            <a:r>
              <a:rPr lang="en-US" dirty="0">
                <a:latin typeface="Times New Roman"/>
                <a:cs typeface="Times New Roman"/>
              </a:rPr>
              <a:t>Investors</a:t>
            </a:r>
            <a:r>
              <a:rPr lang="en-US" spc="-45" dirty="0">
                <a:latin typeface="Times New Roman"/>
                <a:cs typeface="Times New Roman"/>
              </a:rPr>
              <a:t> </a:t>
            </a:r>
            <a:r>
              <a:rPr lang="en-US" dirty="0">
                <a:latin typeface="Times New Roman"/>
                <a:cs typeface="Times New Roman"/>
              </a:rPr>
              <a:t>may</a:t>
            </a:r>
            <a:r>
              <a:rPr lang="en-US" spc="-25" dirty="0">
                <a:latin typeface="Times New Roman"/>
                <a:cs typeface="Times New Roman"/>
              </a:rPr>
              <a:t> be </a:t>
            </a:r>
            <a:r>
              <a:rPr lang="en-US" dirty="0">
                <a:latin typeface="Times New Roman"/>
                <a:cs typeface="Times New Roman"/>
              </a:rPr>
              <a:t>passive</a:t>
            </a:r>
            <a:r>
              <a:rPr lang="en-US" spc="-55" dirty="0">
                <a:latin typeface="Times New Roman"/>
                <a:cs typeface="Times New Roman"/>
              </a:rPr>
              <a:t> </a:t>
            </a:r>
            <a:r>
              <a:rPr lang="en-US" spc="-10" dirty="0">
                <a:latin typeface="Times New Roman"/>
                <a:cs typeface="Times New Roman"/>
              </a:rPr>
              <a:t>concerning </a:t>
            </a:r>
            <a:r>
              <a:rPr lang="en-US" dirty="0">
                <a:latin typeface="Times New Roman"/>
                <a:cs typeface="Times New Roman"/>
              </a:rPr>
              <a:t>management,</a:t>
            </a:r>
            <a:r>
              <a:rPr lang="en-US" spc="-90" dirty="0">
                <a:latin typeface="Times New Roman"/>
                <a:cs typeface="Times New Roman"/>
              </a:rPr>
              <a:t> </a:t>
            </a:r>
            <a:r>
              <a:rPr lang="en-US" spc="-10" dirty="0">
                <a:latin typeface="Times New Roman"/>
                <a:cs typeface="Times New Roman"/>
              </a:rPr>
              <a:t>unless </a:t>
            </a:r>
            <a:r>
              <a:rPr lang="en-US" dirty="0">
                <a:latin typeface="Times New Roman"/>
                <a:cs typeface="Times New Roman"/>
              </a:rPr>
              <a:t>purpose</a:t>
            </a:r>
            <a:r>
              <a:rPr lang="en-US" spc="-35" dirty="0">
                <a:latin typeface="Times New Roman"/>
                <a:cs typeface="Times New Roman"/>
              </a:rPr>
              <a:t> </a:t>
            </a:r>
            <a:r>
              <a:rPr lang="en-US" dirty="0">
                <a:latin typeface="Times New Roman"/>
                <a:cs typeface="Times New Roman"/>
              </a:rPr>
              <a:t>of</a:t>
            </a:r>
            <a:r>
              <a:rPr lang="en-US" spc="-30" dirty="0">
                <a:latin typeface="Times New Roman"/>
                <a:cs typeface="Times New Roman"/>
              </a:rPr>
              <a:t> </a:t>
            </a:r>
            <a:r>
              <a:rPr lang="en-US" dirty="0">
                <a:latin typeface="Times New Roman"/>
                <a:cs typeface="Times New Roman"/>
              </a:rPr>
              <a:t>acquisition</a:t>
            </a:r>
            <a:r>
              <a:rPr lang="en-US" spc="-55" dirty="0">
                <a:latin typeface="Times New Roman"/>
                <a:cs typeface="Times New Roman"/>
              </a:rPr>
              <a:t> </a:t>
            </a:r>
            <a:r>
              <a:rPr lang="en-US" spc="-25" dirty="0">
                <a:latin typeface="Times New Roman"/>
                <a:cs typeface="Times New Roman"/>
              </a:rPr>
              <a:t>is </a:t>
            </a:r>
            <a:r>
              <a:rPr lang="en-US" dirty="0">
                <a:latin typeface="Times New Roman"/>
                <a:cs typeface="Times New Roman"/>
              </a:rPr>
              <a:t>to</a:t>
            </a:r>
            <a:r>
              <a:rPr lang="en-US" spc="-30" dirty="0">
                <a:latin typeface="Times New Roman"/>
                <a:cs typeface="Times New Roman"/>
              </a:rPr>
              <a:t> </a:t>
            </a:r>
            <a:r>
              <a:rPr lang="en-US" dirty="0">
                <a:latin typeface="Times New Roman"/>
                <a:cs typeface="Times New Roman"/>
              </a:rPr>
              <a:t>improve</a:t>
            </a:r>
            <a:r>
              <a:rPr lang="en-US" spc="-20" dirty="0">
                <a:latin typeface="Times New Roman"/>
                <a:cs typeface="Times New Roman"/>
              </a:rPr>
              <a:t> </a:t>
            </a:r>
            <a:r>
              <a:rPr lang="en-US" spc="-10" dirty="0">
                <a:latin typeface="Times New Roman"/>
                <a:cs typeface="Times New Roman"/>
              </a:rPr>
              <a:t>company performance</a:t>
            </a:r>
            <a:endParaRPr lang="en-US" dirty="0">
              <a:latin typeface="Times New Roman"/>
              <a:cs typeface="Times New Roman"/>
            </a:endParaRPr>
          </a:p>
          <a:p>
            <a:pPr marR="5080" algn="ctr">
              <a:spcBef>
                <a:spcPts val="100"/>
              </a:spcBef>
            </a:pPr>
            <a:r>
              <a:rPr sz="1800" spc="-90" dirty="0">
                <a:latin typeface="Times New Roman"/>
                <a:cs typeface="Times New Roman"/>
              </a:rPr>
              <a:t> </a:t>
            </a:r>
            <a:endParaRPr sz="1800" dirty="0">
              <a:latin typeface="Times New Roman"/>
              <a:cs typeface="Times New Roman"/>
            </a:endParaRPr>
          </a:p>
        </p:txBody>
      </p:sp>
      <p:sp>
        <p:nvSpPr>
          <p:cNvPr id="24" name="object 24"/>
          <p:cNvSpPr txBox="1"/>
          <p:nvPr/>
        </p:nvSpPr>
        <p:spPr>
          <a:xfrm>
            <a:off x="6128003" y="4649216"/>
            <a:ext cx="2387600" cy="1133644"/>
          </a:xfrm>
          <a:prstGeom prst="rect">
            <a:avLst/>
          </a:prstGeom>
        </p:spPr>
        <p:txBody>
          <a:bodyPr vert="horz" wrap="square" lIns="0" tIns="12700" rIns="0" bIns="0" rtlCol="0">
            <a:spAutoFit/>
          </a:bodyPr>
          <a:lstStyle/>
          <a:p>
            <a:pPr marR="5080" algn="ctr">
              <a:spcBef>
                <a:spcPts val="100"/>
              </a:spcBef>
            </a:pPr>
            <a:r>
              <a:rPr lang="en-US" dirty="0">
                <a:latin typeface="Times New Roman"/>
                <a:cs typeface="Times New Roman"/>
              </a:rPr>
              <a:t>Investors</a:t>
            </a:r>
            <a:r>
              <a:rPr lang="en-US" spc="-50" dirty="0">
                <a:latin typeface="Times New Roman"/>
                <a:cs typeface="Times New Roman"/>
              </a:rPr>
              <a:t> </a:t>
            </a:r>
            <a:r>
              <a:rPr lang="en-US" spc="-10" dirty="0">
                <a:latin typeface="Times New Roman"/>
                <a:cs typeface="Times New Roman"/>
              </a:rPr>
              <a:t>provide </a:t>
            </a:r>
            <a:r>
              <a:rPr lang="en-US" dirty="0">
                <a:latin typeface="Times New Roman"/>
                <a:cs typeface="Times New Roman"/>
              </a:rPr>
              <a:t>advice,</a:t>
            </a:r>
            <a:r>
              <a:rPr lang="en-US" spc="-55" dirty="0">
                <a:latin typeface="Times New Roman"/>
                <a:cs typeface="Times New Roman"/>
              </a:rPr>
              <a:t> </a:t>
            </a:r>
            <a:r>
              <a:rPr lang="en-US" spc="-10" dirty="0">
                <a:latin typeface="Times New Roman"/>
                <a:cs typeface="Times New Roman"/>
              </a:rPr>
              <a:t>connections, </a:t>
            </a:r>
            <a:r>
              <a:rPr lang="en-US" dirty="0">
                <a:latin typeface="Times New Roman"/>
                <a:cs typeface="Times New Roman"/>
              </a:rPr>
              <a:t>distribution, monitor cash burn,</a:t>
            </a:r>
            <a:r>
              <a:rPr lang="en-US" spc="-25" dirty="0">
                <a:latin typeface="Times New Roman"/>
                <a:cs typeface="Times New Roman"/>
              </a:rPr>
              <a:t> </a:t>
            </a:r>
            <a:r>
              <a:rPr lang="en-US" spc="-20" dirty="0">
                <a:latin typeface="Times New Roman"/>
                <a:cs typeface="Times New Roman"/>
              </a:rPr>
              <a:t>etc.</a:t>
            </a:r>
            <a:endParaRPr lang="en-US" dirty="0">
              <a:latin typeface="Times New Roman"/>
              <a:cs typeface="Times New Roman"/>
            </a:endParaRPr>
          </a:p>
          <a:p>
            <a:pPr marR="5080" algn="ctr">
              <a:lnSpc>
                <a:spcPct val="100000"/>
              </a:lnSpc>
              <a:spcBef>
                <a:spcPts val="100"/>
              </a:spcBef>
            </a:pPr>
            <a:endParaRPr sz="1800" dirty="0">
              <a:latin typeface="Times New Roman"/>
              <a:cs typeface="Times New Roman"/>
            </a:endParaRPr>
          </a:p>
        </p:txBody>
      </p:sp>
      <p:pic>
        <p:nvPicPr>
          <p:cNvPr id="25" name="object 25"/>
          <p:cNvPicPr/>
          <p:nvPr/>
        </p:nvPicPr>
        <p:blipFill>
          <a:blip r:embed="rId3" cstate="print"/>
          <a:stretch>
            <a:fillRect/>
          </a:stretch>
        </p:blipFill>
        <p:spPr>
          <a:xfrm>
            <a:off x="1600873" y="107502"/>
            <a:ext cx="919112" cy="1340372"/>
          </a:xfrm>
          <a:prstGeom prst="rect">
            <a:avLst/>
          </a:prstGeom>
        </p:spPr>
      </p:pic>
      <p:pic>
        <p:nvPicPr>
          <p:cNvPr id="26" name="object 26"/>
          <p:cNvPicPr/>
          <p:nvPr/>
        </p:nvPicPr>
        <p:blipFill>
          <a:blip r:embed="rId3" cstate="print"/>
          <a:stretch>
            <a:fillRect/>
          </a:stretch>
        </p:blipFill>
        <p:spPr>
          <a:xfrm>
            <a:off x="6526441" y="107502"/>
            <a:ext cx="919112" cy="134037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88F99-9405-EC9B-F35E-F5FFB9D53D60}"/>
              </a:ext>
            </a:extLst>
          </p:cNvPr>
          <p:cNvSpPr>
            <a:spLocks noGrp="1"/>
          </p:cNvSpPr>
          <p:nvPr>
            <p:ph type="title"/>
          </p:nvPr>
        </p:nvSpPr>
        <p:spPr>
          <a:xfrm>
            <a:off x="304800" y="152400"/>
            <a:ext cx="7696200" cy="1400530"/>
          </a:xfrm>
        </p:spPr>
        <p:txBody>
          <a:bodyPr/>
          <a:lstStyle/>
          <a:p>
            <a:r>
              <a:rPr lang="en-US" sz="4800" b="1" dirty="0">
                <a:solidFill>
                  <a:srgbClr val="FFFF00"/>
                </a:solidFill>
                <a:latin typeface="Calibri" panose="020F0502020204030204" pitchFamily="34" charset="0"/>
                <a:ea typeface="Calibri" panose="020F0502020204030204" pitchFamily="34" charset="0"/>
                <a:cs typeface="Calibri" panose="020F0502020204030204" pitchFamily="34" charset="0"/>
              </a:rPr>
              <a:t>Real Estate Investment Trust (REIT)</a:t>
            </a:r>
            <a:br>
              <a:rPr lang="en-US" sz="4800" b="1" dirty="0">
                <a:solidFill>
                  <a:srgbClr val="FFFF00"/>
                </a:solidFill>
                <a:latin typeface="Calibri" panose="020F0502020204030204" pitchFamily="34" charset="0"/>
                <a:ea typeface="Calibri" panose="020F0502020204030204" pitchFamily="34" charset="0"/>
                <a:cs typeface="Calibri" panose="020F0502020204030204" pitchFamily="34" charset="0"/>
              </a:rPr>
            </a:br>
            <a:br>
              <a:rPr lang="en-US" dirty="0"/>
            </a:br>
            <a:endParaRPr lang="en-US" dirty="0"/>
          </a:p>
        </p:txBody>
      </p:sp>
      <p:sp>
        <p:nvSpPr>
          <p:cNvPr id="3" name="Content Placeholder 2">
            <a:extLst>
              <a:ext uri="{FF2B5EF4-FFF2-40B4-BE49-F238E27FC236}">
                <a16:creationId xmlns:a16="http://schemas.microsoft.com/office/drawing/2014/main" id="{A3D4685C-249B-6B00-AE6F-29F561DC5ED7}"/>
              </a:ext>
            </a:extLst>
          </p:cNvPr>
          <p:cNvSpPr>
            <a:spLocks noGrp="1"/>
          </p:cNvSpPr>
          <p:nvPr>
            <p:ph idx="1"/>
          </p:nvPr>
        </p:nvSpPr>
        <p:spPr>
          <a:xfrm>
            <a:off x="381000" y="1752600"/>
            <a:ext cx="8153400" cy="4195481"/>
          </a:xfrm>
        </p:spPr>
        <p:txBody>
          <a:bodyPr>
            <a:normAutofit/>
          </a:bodyPr>
          <a:lstStyle/>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A </a:t>
            </a:r>
            <a:r>
              <a:rPr lang="en-US" b="1" dirty="0">
                <a:latin typeface="Calibri" panose="020F0502020204030204" pitchFamily="34" charset="0"/>
                <a:ea typeface="Calibri" panose="020F0502020204030204" pitchFamily="34" charset="0"/>
                <a:cs typeface="Calibri" panose="020F0502020204030204" pitchFamily="34" charset="0"/>
              </a:rPr>
              <a:t>Real Estate Investment Trust (REIT)</a:t>
            </a:r>
            <a:r>
              <a:rPr lang="en-US" dirty="0">
                <a:latin typeface="Calibri" panose="020F0502020204030204" pitchFamily="34" charset="0"/>
                <a:ea typeface="Calibri" panose="020F0502020204030204" pitchFamily="34" charset="0"/>
                <a:cs typeface="Calibri" panose="020F0502020204030204" pitchFamily="34" charset="0"/>
              </a:rPr>
              <a:t> is a company that owns, operates, or finances income-generating real estate. Investors can buy shares of a REIT, similar to buying stock, and earn a portion of the income produced by the properties, such as rent.</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REITs allow individuals to invest in real estate without directly buying or managing property. They are required to distribute most of their income to shareholders, making them a good source of regular income. REITs can invest in various types of properties, like commercial buildings, apartments, shopping malls, or warehouses</a:t>
            </a:r>
            <a:r>
              <a:rPr lang="en-US" sz="2200" dirty="0">
                <a:latin typeface="Calibri" panose="020F0502020204030204" pitchFamily="34" charset="0"/>
                <a:ea typeface="Calibri" panose="020F0502020204030204" pitchFamily="34" charset="0"/>
                <a:cs typeface="Calibri" panose="020F0502020204030204" pitchFamily="34" charset="0"/>
              </a:rPr>
              <a:t>.</a:t>
            </a:r>
          </a:p>
          <a:p>
            <a:pPr marL="0" indent="0">
              <a:buNone/>
            </a:pPr>
            <a:endParaRPr lang="en-US" dirty="0"/>
          </a:p>
        </p:txBody>
      </p:sp>
      <p:pic>
        <p:nvPicPr>
          <p:cNvPr id="4" name="Picture 3">
            <a:extLst>
              <a:ext uri="{FF2B5EF4-FFF2-40B4-BE49-F238E27FC236}">
                <a16:creationId xmlns:a16="http://schemas.microsoft.com/office/drawing/2014/main" id="{E6542E21-F84B-B13B-2088-68DC17C62E69}"/>
              </a:ext>
            </a:extLst>
          </p:cNvPr>
          <p:cNvPicPr>
            <a:picLocks noChangeAspect="1"/>
          </p:cNvPicPr>
          <p:nvPr/>
        </p:nvPicPr>
        <p:blipFill>
          <a:blip r:embed="rId2"/>
          <a:stretch>
            <a:fillRect/>
          </a:stretch>
        </p:blipFill>
        <p:spPr>
          <a:xfrm>
            <a:off x="3048000" y="4724400"/>
            <a:ext cx="5867400" cy="1905000"/>
          </a:xfrm>
          <a:prstGeom prst="rect">
            <a:avLst/>
          </a:prstGeom>
        </p:spPr>
      </p:pic>
    </p:spTree>
    <p:extLst>
      <p:ext uri="{BB962C8B-B14F-4D97-AF65-F5344CB8AC3E}">
        <p14:creationId xmlns:p14="http://schemas.microsoft.com/office/powerpoint/2010/main" val="11019248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10C7A-C57D-BEDA-8E5A-04FCC9CBC0D9}"/>
              </a:ext>
            </a:extLst>
          </p:cNvPr>
          <p:cNvSpPr>
            <a:spLocks noGrp="1"/>
          </p:cNvSpPr>
          <p:nvPr>
            <p:ph type="title"/>
          </p:nvPr>
        </p:nvSpPr>
        <p:spPr>
          <a:xfrm>
            <a:off x="533400" y="152400"/>
            <a:ext cx="7620000" cy="1400530"/>
          </a:xfrm>
        </p:spPr>
        <p:txBody>
          <a:bodyPr/>
          <a:lstStyle/>
          <a:p>
            <a:r>
              <a:rPr lang="en-US" b="1" dirty="0">
                <a:solidFill>
                  <a:srgbClr val="FFFF00"/>
                </a:solidFill>
                <a:latin typeface="Times New Roman" panose="02020603050405020304" pitchFamily="18" charset="0"/>
                <a:cs typeface="Times New Roman" panose="02020603050405020304" pitchFamily="18" charset="0"/>
              </a:rPr>
              <a:t>Infrastructure Investment Trusts (InvITs)</a:t>
            </a:r>
          </a:p>
        </p:txBody>
      </p:sp>
      <p:sp>
        <p:nvSpPr>
          <p:cNvPr id="3" name="Content Placeholder 2">
            <a:extLst>
              <a:ext uri="{FF2B5EF4-FFF2-40B4-BE49-F238E27FC236}">
                <a16:creationId xmlns:a16="http://schemas.microsoft.com/office/drawing/2014/main" id="{4FC57F69-E172-56AF-1AEB-30132C1922C8}"/>
              </a:ext>
            </a:extLst>
          </p:cNvPr>
          <p:cNvSpPr>
            <a:spLocks noGrp="1"/>
          </p:cNvSpPr>
          <p:nvPr>
            <p:ph idx="1"/>
          </p:nvPr>
        </p:nvSpPr>
        <p:spPr>
          <a:xfrm>
            <a:off x="533400" y="1676400"/>
            <a:ext cx="8077200" cy="4195481"/>
          </a:xfrm>
        </p:spPr>
        <p:txBody>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Infrastructure Investment Trusts (InvITs)</a:t>
            </a:r>
            <a:r>
              <a:rPr lang="en-US" dirty="0">
                <a:latin typeface="Calibri" panose="020F0502020204030204" pitchFamily="34" charset="0"/>
                <a:ea typeface="Calibri" panose="020F0502020204030204" pitchFamily="34" charset="0"/>
                <a:cs typeface="Calibri" panose="020F0502020204030204" pitchFamily="34" charset="0"/>
              </a:rPr>
              <a:t> are investment vehicles that allow people to invest in large infrastructure projects such as highways, power plants, or airports. Investors buy units of an InvITs, and the trust manages the projects, collects revenue, and distributes profits to the investors. This makes it easier for individuals and institutions to earn returns from infrastructure without directly owning or managing the projects. InvITs provide a way to generate regular income and diversify investments. They are regulated and provide transparency, making infrastructure investment accessible to more people.</a:t>
            </a:r>
          </a:p>
        </p:txBody>
      </p:sp>
      <p:pic>
        <p:nvPicPr>
          <p:cNvPr id="4" name="Picture 3">
            <a:extLst>
              <a:ext uri="{FF2B5EF4-FFF2-40B4-BE49-F238E27FC236}">
                <a16:creationId xmlns:a16="http://schemas.microsoft.com/office/drawing/2014/main" id="{776F5C86-A6ED-D0C2-E2C7-322D469F57D6}"/>
              </a:ext>
            </a:extLst>
          </p:cNvPr>
          <p:cNvPicPr>
            <a:picLocks noChangeAspect="1"/>
          </p:cNvPicPr>
          <p:nvPr/>
        </p:nvPicPr>
        <p:blipFill>
          <a:blip r:embed="rId2"/>
          <a:stretch>
            <a:fillRect/>
          </a:stretch>
        </p:blipFill>
        <p:spPr>
          <a:xfrm>
            <a:off x="3657600" y="4343400"/>
            <a:ext cx="5114925" cy="2238375"/>
          </a:xfrm>
          <a:prstGeom prst="rect">
            <a:avLst/>
          </a:prstGeom>
        </p:spPr>
      </p:pic>
    </p:spTree>
    <p:extLst>
      <p:ext uri="{BB962C8B-B14F-4D97-AF65-F5344CB8AC3E}">
        <p14:creationId xmlns:p14="http://schemas.microsoft.com/office/powerpoint/2010/main" val="18948787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238CE-F288-C031-CB51-9E884A7F2F2B}"/>
              </a:ext>
            </a:extLst>
          </p:cNvPr>
          <p:cNvSpPr>
            <a:spLocks noGrp="1"/>
          </p:cNvSpPr>
          <p:nvPr>
            <p:ph type="title"/>
          </p:nvPr>
        </p:nvSpPr>
        <p:spPr>
          <a:xfrm>
            <a:off x="2209800" y="452718"/>
            <a:ext cx="5330290" cy="1299882"/>
          </a:xfrm>
        </p:spPr>
        <p:txBody>
          <a:bodyPr/>
          <a:lstStyle/>
          <a:p>
            <a:r>
              <a:rPr lang="en-US" sz="6000" b="1" dirty="0">
                <a:solidFill>
                  <a:srgbClr val="FFFF00"/>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B2E28CE2-EB4B-8742-7FF3-238B90C3F42C}"/>
              </a:ext>
            </a:extLst>
          </p:cNvPr>
          <p:cNvSpPr>
            <a:spLocks noGrp="1"/>
          </p:cNvSpPr>
          <p:nvPr>
            <p:ph idx="1"/>
          </p:nvPr>
        </p:nvSpPr>
        <p:spPr>
          <a:xfrm>
            <a:off x="609600" y="1524000"/>
            <a:ext cx="8153400" cy="4195481"/>
          </a:xfrm>
        </p:spPr>
        <p:txBody>
          <a:bodyPr>
            <a:normAutofit/>
          </a:bodyPr>
          <a:lstStyle/>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Emerging sources of finance, such as private equity, venture capital, REITs, and InvITs, have transformed the way businesses and investors access funds. These modern financial instruments provide innovative ways to raise capital, support growth, and diversify investment opportunities. They offer advantages like long-term funding, professional management, and the potential for high returns, while also carrying certain risks. By leveraging these emerging sources, companies can meet their financing needs more efficiently, and investors can participate in new sectors and projects that were previously difficult to access. Overall, they play a crucial role in supporting economic growth and expanding investment possibilities in today’s dynamic financial landscape.</a:t>
            </a:r>
          </a:p>
          <a:p>
            <a:endParaRPr lang="en-US" dirty="0"/>
          </a:p>
        </p:txBody>
      </p:sp>
    </p:spTree>
    <p:extLst>
      <p:ext uri="{BB962C8B-B14F-4D97-AF65-F5344CB8AC3E}">
        <p14:creationId xmlns:p14="http://schemas.microsoft.com/office/powerpoint/2010/main" val="151935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126</TotalTime>
  <Words>1288</Words>
  <Application>Microsoft Office PowerPoint</Application>
  <PresentationFormat>On-screen Show (4:3)</PresentationFormat>
  <Paragraphs>110</Paragraphs>
  <Slides>17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Century Gothic</vt:lpstr>
      <vt:lpstr>Times New Roman</vt:lpstr>
      <vt:lpstr>Wingdings</vt:lpstr>
      <vt:lpstr>Wingdings 3</vt:lpstr>
      <vt:lpstr>Ion</vt:lpstr>
      <vt:lpstr>Emerging Sources Of Finance</vt:lpstr>
      <vt:lpstr>PowerPoint Presentation</vt:lpstr>
      <vt:lpstr>Introduction &amp; Need</vt:lpstr>
      <vt:lpstr>Sources of Finance</vt:lpstr>
      <vt:lpstr>Private Equity (PE) refers to investment funds that invest directly in private companies or buy out public companies to take them private. These investments are not traded on public stock exchanges and are usually made by private equity firms or wealthy individuals. The main goal of private equity is to invest in a company, improve its operations, increase its value, and eventually sell it for a profit. Private equity investments are typically long-term and involve active management, strategic guidance, and financial restructuring to enhance the company’s performance. </vt:lpstr>
      <vt:lpstr>What drives private equity?</vt:lpstr>
      <vt:lpstr>Exit Routes in Private Equity</vt:lpstr>
      <vt:lpstr>Advantages</vt:lpstr>
      <vt:lpstr>Application of Private Equity (With Real-Life Example)</vt:lpstr>
      <vt:lpstr>Venture Capital</vt:lpstr>
      <vt:lpstr>Importance of Venture Capital</vt:lpstr>
      <vt:lpstr>PowerPoint Presentation</vt:lpstr>
      <vt:lpstr>Application of Venture Capital (With a Real-Life Example)</vt:lpstr>
      <vt:lpstr>Difference</vt:lpstr>
      <vt:lpstr>Real Estate Investment Trust (REIT)  </vt:lpstr>
      <vt:lpstr>Infrastructure Investment Trusts (InvITs)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Neha Vashisht</cp:lastModifiedBy>
  <cp:revision>3</cp:revision>
  <dcterms:created xsi:type="dcterms:W3CDTF">2025-09-28T09:46:42Z</dcterms:created>
  <dcterms:modified xsi:type="dcterms:W3CDTF">2025-09-28T15:04:41Z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2017-08-21T00:00:00Z</vt:filetime>
  </property>
  <property fmtid="{D5CDD505-2E9C-101B-9397-08002B2CF9AE}" pid="3" name="Creator">
    <vt:lpwstr>Microsoft® PowerPoint® 2013</vt:lpwstr>
  </property>
  <property fmtid="{D5CDD505-2E9C-101B-9397-08002B2CF9AE}" pid="4" name="LastSaved">
    <vt:filetime>2025-09-28T00:00:00Z</vt:filetime>
  </property>
  <property fmtid="{D5CDD505-2E9C-101B-9397-08002B2CF9AE}" pid="5" name="Producer">
    <vt:lpwstr>Microsoft® PowerPoint® 2013</vt:lpwstr>
  </property>
</Properties>
</file>