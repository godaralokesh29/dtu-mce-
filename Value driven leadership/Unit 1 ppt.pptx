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5143500" cx="9144000"/>
  <p:notesSz cx="6858000" cy="9144000"/>
  <p:embeddedFontLst>
    <p:embeddedFont>
      <p:font typeface="Lusitana"/>
      <p:regular r:id="rId32"/>
      <p:bold r:id="rId33"/>
    </p:embeddedFont>
    <p:embeddedFont>
      <p:font typeface="Bebas Neue"/>
      <p:regular r:id="rId34"/>
    </p:embeddedFont>
    <p:embeddedFont>
      <p:font typeface="Albert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itmUdKE8YMo1wDG0hD5xGusLYl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usitana-bold.fntdata"/><Relationship Id="rId10" Type="http://schemas.openxmlformats.org/officeDocument/2006/relationships/slide" Target="slides/slide6.xml"/><Relationship Id="rId32" Type="http://schemas.openxmlformats.org/officeDocument/2006/relationships/font" Target="fonts/Lusitana-regular.fntdata"/><Relationship Id="rId13" Type="http://schemas.openxmlformats.org/officeDocument/2006/relationships/slide" Target="slides/slide9.xml"/><Relationship Id="rId35" Type="http://schemas.openxmlformats.org/officeDocument/2006/relationships/font" Target="fonts/AlbertSans-regular.fntdata"/><Relationship Id="rId12" Type="http://schemas.openxmlformats.org/officeDocument/2006/relationships/slide" Target="slides/slide8.xml"/><Relationship Id="rId34" Type="http://schemas.openxmlformats.org/officeDocument/2006/relationships/font" Target="fonts/BebasNeue-regular.fntdata"/><Relationship Id="rId15" Type="http://schemas.openxmlformats.org/officeDocument/2006/relationships/slide" Target="slides/slide11.xml"/><Relationship Id="rId37" Type="http://schemas.openxmlformats.org/officeDocument/2006/relationships/font" Target="fonts/AlbertSans-italic.fntdata"/><Relationship Id="rId14" Type="http://schemas.openxmlformats.org/officeDocument/2006/relationships/slide" Target="slides/slide10.xml"/><Relationship Id="rId36" Type="http://schemas.openxmlformats.org/officeDocument/2006/relationships/font" Target="fonts/AlbertSans-bold.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AlbertSans-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5" name="Google Shape;5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1" name="Google Shape;5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6" name="Google Shape;5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8" name="Google Shape;59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2" name="Google Shape;62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4" name="Google Shape;63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6" name="Google Shape;64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8" name="Google Shape;65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0" name="Google Shape;67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2" name="Google Shape;6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4" name="Google Shape;69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6" name="Google Shape;70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8" name="Google Shape;71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0" name="Google Shape;73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6" name="Google Shape;77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2" name="Google Shape;86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6" name="Google Shape;91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9"/>
          <p:cNvGrpSpPr/>
          <p:nvPr/>
        </p:nvGrpSpPr>
        <p:grpSpPr>
          <a:xfrm>
            <a:off x="517507" y="535010"/>
            <a:ext cx="1173754" cy="805917"/>
            <a:chOff x="804550" y="3006847"/>
            <a:chExt cx="2215048" cy="1520885"/>
          </a:xfrm>
        </p:grpSpPr>
        <p:sp>
          <p:nvSpPr>
            <p:cNvPr id="10" name="Google Shape;10;p29"/>
            <p:cNvSpPr/>
            <p:nvPr/>
          </p:nvSpPr>
          <p:spPr>
            <a:xfrm>
              <a:off x="804550" y="3175325"/>
              <a:ext cx="1039817" cy="103812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9"/>
            <p:cNvSpPr/>
            <p:nvPr/>
          </p:nvSpPr>
          <p:spPr>
            <a:xfrm>
              <a:off x="1240267" y="3006847"/>
              <a:ext cx="1779321" cy="152088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9"/>
            <p:cNvSpPr/>
            <p:nvPr/>
          </p:nvSpPr>
          <p:spPr>
            <a:xfrm>
              <a:off x="1332578" y="3099089"/>
              <a:ext cx="1687012" cy="1336371"/>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9"/>
            <p:cNvSpPr/>
            <p:nvPr/>
          </p:nvSpPr>
          <p:spPr>
            <a:xfrm>
              <a:off x="1424820" y="3191331"/>
              <a:ext cx="1594773" cy="1151892"/>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9"/>
            <p:cNvSpPr/>
            <p:nvPr/>
          </p:nvSpPr>
          <p:spPr>
            <a:xfrm>
              <a:off x="1517097" y="3283608"/>
              <a:ext cx="1502499" cy="967309"/>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9"/>
            <p:cNvSpPr/>
            <p:nvPr/>
          </p:nvSpPr>
          <p:spPr>
            <a:xfrm>
              <a:off x="1609339" y="3375850"/>
              <a:ext cx="1410259" cy="782899"/>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 name="Google Shape;16;p29"/>
          <p:cNvGrpSpPr/>
          <p:nvPr/>
        </p:nvGrpSpPr>
        <p:grpSpPr>
          <a:xfrm>
            <a:off x="6849501" y="3770539"/>
            <a:ext cx="805965" cy="1173807"/>
            <a:chOff x="6849501" y="3770539"/>
            <a:chExt cx="805965" cy="1173807"/>
          </a:xfrm>
        </p:grpSpPr>
        <p:sp>
          <p:nvSpPr>
            <p:cNvPr id="17" name="Google Shape;17;p29"/>
            <p:cNvSpPr/>
            <p:nvPr/>
          </p:nvSpPr>
          <p:spPr>
            <a:xfrm rot="-5400000">
              <a:off x="6938329" y="4393761"/>
              <a:ext cx="551032" cy="55013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9"/>
            <p:cNvSpPr/>
            <p:nvPr/>
          </p:nvSpPr>
          <p:spPr>
            <a:xfrm rot="-5400000">
              <a:off x="6781024" y="3839016"/>
              <a:ext cx="942919" cy="80596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9"/>
            <p:cNvSpPr/>
            <p:nvPr/>
          </p:nvSpPr>
          <p:spPr>
            <a:xfrm rot="-5400000">
              <a:off x="6805472" y="3863449"/>
              <a:ext cx="894002" cy="708185"/>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9"/>
            <p:cNvSpPr/>
            <p:nvPr/>
          </p:nvSpPr>
          <p:spPr>
            <a:xfrm rot="-5400000">
              <a:off x="6829910" y="3887891"/>
              <a:ext cx="845121" cy="610424"/>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9"/>
            <p:cNvSpPr/>
            <p:nvPr/>
          </p:nvSpPr>
          <p:spPr>
            <a:xfrm rot="-5400000">
              <a:off x="6854349" y="3912352"/>
              <a:ext cx="796222" cy="512608"/>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9"/>
            <p:cNvSpPr/>
            <p:nvPr/>
          </p:nvSpPr>
          <p:spPr>
            <a:xfrm rot="-5400000">
              <a:off x="6878806" y="3936776"/>
              <a:ext cx="747341" cy="414883"/>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 name="Google Shape;23;p29"/>
          <p:cNvSpPr/>
          <p:nvPr/>
        </p:nvSpPr>
        <p:spPr>
          <a:xfrm>
            <a:off x="1235850" y="1095288"/>
            <a:ext cx="6672300" cy="2952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9"/>
          <p:cNvSpPr txBox="1"/>
          <p:nvPr>
            <p:ph type="ctrTitle"/>
          </p:nvPr>
        </p:nvSpPr>
        <p:spPr>
          <a:xfrm>
            <a:off x="1605450" y="1471350"/>
            <a:ext cx="5933100" cy="1779900"/>
          </a:xfrm>
          <a:prstGeom prst="rect">
            <a:avLst/>
          </a:prstGeom>
          <a:noFill/>
          <a:ln>
            <a:noFill/>
          </a:ln>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6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5" name="Google Shape;25;p29"/>
          <p:cNvSpPr txBox="1"/>
          <p:nvPr>
            <p:ph idx="1" type="subTitle"/>
          </p:nvPr>
        </p:nvSpPr>
        <p:spPr>
          <a:xfrm>
            <a:off x="2392475" y="3264938"/>
            <a:ext cx="4359000" cy="409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6" name="Google Shape;26;p29"/>
          <p:cNvGrpSpPr/>
          <p:nvPr/>
        </p:nvGrpSpPr>
        <p:grpSpPr>
          <a:xfrm>
            <a:off x="4175574" y="433467"/>
            <a:ext cx="1517234" cy="203069"/>
            <a:chOff x="4175574" y="433467"/>
            <a:chExt cx="1517234" cy="203069"/>
          </a:xfrm>
        </p:grpSpPr>
        <p:sp>
          <p:nvSpPr>
            <p:cNvPr id="27" name="Google Shape;27;p29"/>
            <p:cNvSpPr/>
            <p:nvPr/>
          </p:nvSpPr>
          <p:spPr>
            <a:xfrm rot="10800000">
              <a:off x="4175574" y="502644"/>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9"/>
            <p:cNvSpPr/>
            <p:nvPr/>
          </p:nvSpPr>
          <p:spPr>
            <a:xfrm rot="10800000">
              <a:off x="4280609" y="528923"/>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9"/>
            <p:cNvSpPr/>
            <p:nvPr/>
          </p:nvSpPr>
          <p:spPr>
            <a:xfrm rot="10800000">
              <a:off x="4832644" y="433467"/>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9"/>
            <p:cNvSpPr/>
            <p:nvPr/>
          </p:nvSpPr>
          <p:spPr>
            <a:xfrm rot="10800000">
              <a:off x="4797131" y="454388"/>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9"/>
            <p:cNvSpPr/>
            <p:nvPr/>
          </p:nvSpPr>
          <p:spPr>
            <a:xfrm rot="10800000">
              <a:off x="4748305" y="481669"/>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9"/>
            <p:cNvSpPr/>
            <p:nvPr/>
          </p:nvSpPr>
          <p:spPr>
            <a:xfrm rot="10800000">
              <a:off x="4566725" y="482562"/>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9"/>
            <p:cNvSpPr/>
            <p:nvPr/>
          </p:nvSpPr>
          <p:spPr>
            <a:xfrm rot="10800000">
              <a:off x="4566779" y="482562"/>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9"/>
            <p:cNvSpPr/>
            <p:nvPr/>
          </p:nvSpPr>
          <p:spPr>
            <a:xfrm rot="10800000">
              <a:off x="4398459" y="460829"/>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9"/>
            <p:cNvSpPr/>
            <p:nvPr/>
          </p:nvSpPr>
          <p:spPr>
            <a:xfrm rot="10800000">
              <a:off x="4203588" y="453955"/>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9"/>
            <p:cNvSpPr/>
            <p:nvPr/>
          </p:nvSpPr>
          <p:spPr>
            <a:xfrm rot="10800000">
              <a:off x="5627392" y="502644"/>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9"/>
            <p:cNvSpPr/>
            <p:nvPr/>
          </p:nvSpPr>
          <p:spPr>
            <a:xfrm rot="10800000">
              <a:off x="5059071" y="454388"/>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9"/>
            <p:cNvSpPr/>
            <p:nvPr/>
          </p:nvSpPr>
          <p:spPr>
            <a:xfrm rot="10800000">
              <a:off x="5107843" y="481669"/>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9"/>
            <p:cNvSpPr/>
            <p:nvPr/>
          </p:nvSpPr>
          <p:spPr>
            <a:xfrm rot="10800000">
              <a:off x="5196781" y="482562"/>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9"/>
            <p:cNvSpPr/>
            <p:nvPr/>
          </p:nvSpPr>
          <p:spPr>
            <a:xfrm rot="10800000">
              <a:off x="5196781" y="482562"/>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9"/>
            <p:cNvSpPr/>
            <p:nvPr/>
          </p:nvSpPr>
          <p:spPr>
            <a:xfrm rot="10800000">
              <a:off x="5368863" y="460829"/>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9"/>
            <p:cNvSpPr/>
            <p:nvPr/>
          </p:nvSpPr>
          <p:spPr>
            <a:xfrm rot="10800000">
              <a:off x="5541731" y="453955"/>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 name="Google Shape;43;p29"/>
          <p:cNvGrpSpPr/>
          <p:nvPr/>
        </p:nvGrpSpPr>
        <p:grpSpPr>
          <a:xfrm>
            <a:off x="4708922" y="4403157"/>
            <a:ext cx="450535" cy="410703"/>
            <a:chOff x="4708922" y="4403157"/>
            <a:chExt cx="450535" cy="410703"/>
          </a:xfrm>
        </p:grpSpPr>
        <p:sp>
          <p:nvSpPr>
            <p:cNvPr id="44" name="Google Shape;44;p29"/>
            <p:cNvSpPr/>
            <p:nvPr/>
          </p:nvSpPr>
          <p:spPr>
            <a:xfrm>
              <a:off x="4799768" y="44325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9"/>
            <p:cNvSpPr/>
            <p:nvPr/>
          </p:nvSpPr>
          <p:spPr>
            <a:xfrm>
              <a:off x="4709117" y="45385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9"/>
            <p:cNvSpPr/>
            <p:nvPr/>
          </p:nvSpPr>
          <p:spPr>
            <a:xfrm>
              <a:off x="4929295" y="44326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9"/>
            <p:cNvSpPr/>
            <p:nvPr/>
          </p:nvSpPr>
          <p:spPr>
            <a:xfrm>
              <a:off x="4928201" y="44031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29"/>
            <p:cNvSpPr/>
            <p:nvPr/>
          </p:nvSpPr>
          <p:spPr>
            <a:xfrm>
              <a:off x="4932462" y="45382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9"/>
            <p:cNvSpPr/>
            <p:nvPr/>
          </p:nvSpPr>
          <p:spPr>
            <a:xfrm>
              <a:off x="4799710" y="46048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29"/>
            <p:cNvSpPr/>
            <p:nvPr/>
          </p:nvSpPr>
          <p:spPr>
            <a:xfrm>
              <a:off x="4708922" y="46028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29"/>
            <p:cNvSpPr/>
            <p:nvPr/>
          </p:nvSpPr>
          <p:spPr>
            <a:xfrm>
              <a:off x="4929374" y="46047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9"/>
            <p:cNvSpPr/>
            <p:nvPr/>
          </p:nvSpPr>
          <p:spPr>
            <a:xfrm>
              <a:off x="4928201" y="46084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9"/>
            <p:cNvSpPr/>
            <p:nvPr/>
          </p:nvSpPr>
          <p:spPr>
            <a:xfrm>
              <a:off x="4932657" y="46031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9"/>
            <p:cNvSpPr/>
            <p:nvPr/>
          </p:nvSpPr>
          <p:spPr>
            <a:xfrm>
              <a:off x="4735992" y="44842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29"/>
            <p:cNvSpPr/>
            <p:nvPr/>
          </p:nvSpPr>
          <p:spPr>
            <a:xfrm>
              <a:off x="4823242" y="45075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29"/>
            <p:cNvSpPr/>
            <p:nvPr/>
          </p:nvSpPr>
          <p:spPr>
            <a:xfrm>
              <a:off x="4833113" y="45075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 name="Google Shape;57;p29"/>
          <p:cNvGrpSpPr/>
          <p:nvPr/>
        </p:nvGrpSpPr>
        <p:grpSpPr>
          <a:xfrm>
            <a:off x="8256029" y="341171"/>
            <a:ext cx="345754" cy="576812"/>
            <a:chOff x="1188110" y="553396"/>
            <a:chExt cx="620854" cy="1035940"/>
          </a:xfrm>
        </p:grpSpPr>
        <p:sp>
          <p:nvSpPr>
            <p:cNvPr id="58" name="Google Shape;58;p29"/>
            <p:cNvSpPr/>
            <p:nvPr/>
          </p:nvSpPr>
          <p:spPr>
            <a:xfrm>
              <a:off x="1283836" y="945270"/>
              <a:ext cx="429359" cy="429359"/>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9"/>
            <p:cNvSpPr/>
            <p:nvPr/>
          </p:nvSpPr>
          <p:spPr>
            <a:xfrm>
              <a:off x="1283836" y="1374605"/>
              <a:ext cx="429359" cy="214731"/>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29"/>
            <p:cNvSpPr/>
            <p:nvPr/>
          </p:nvSpPr>
          <p:spPr>
            <a:xfrm>
              <a:off x="1302567" y="553396"/>
              <a:ext cx="391898" cy="391898"/>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29"/>
            <p:cNvSpPr/>
            <p:nvPr/>
          </p:nvSpPr>
          <p:spPr>
            <a:xfrm>
              <a:off x="1723071" y="741537"/>
              <a:ext cx="85893" cy="15557"/>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29"/>
            <p:cNvSpPr/>
            <p:nvPr/>
          </p:nvSpPr>
          <p:spPr>
            <a:xfrm>
              <a:off x="1188110" y="741537"/>
              <a:ext cx="85927" cy="15557"/>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9"/>
            <p:cNvSpPr/>
            <p:nvPr/>
          </p:nvSpPr>
          <p:spPr>
            <a:xfrm>
              <a:off x="1659565" y="632668"/>
              <a:ext cx="132185" cy="62332"/>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9"/>
            <p:cNvSpPr/>
            <p:nvPr/>
          </p:nvSpPr>
          <p:spPr>
            <a:xfrm>
              <a:off x="1205288" y="803871"/>
              <a:ext cx="132012" cy="62263"/>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9"/>
            <p:cNvSpPr/>
            <p:nvPr/>
          </p:nvSpPr>
          <p:spPr>
            <a:xfrm>
              <a:off x="1658702" y="803388"/>
              <a:ext cx="132909" cy="62574"/>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29"/>
            <p:cNvSpPr/>
            <p:nvPr/>
          </p:nvSpPr>
          <p:spPr>
            <a:xfrm>
              <a:off x="1205323" y="632668"/>
              <a:ext cx="132944" cy="62574"/>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 name="Google Shape;67;p29"/>
          <p:cNvGrpSpPr/>
          <p:nvPr/>
        </p:nvGrpSpPr>
        <p:grpSpPr>
          <a:xfrm>
            <a:off x="1912961" y="4405442"/>
            <a:ext cx="1517235" cy="203069"/>
            <a:chOff x="1912961" y="4405442"/>
            <a:chExt cx="1517235" cy="203069"/>
          </a:xfrm>
        </p:grpSpPr>
        <p:sp>
          <p:nvSpPr>
            <p:cNvPr id="68" name="Google Shape;68;p29"/>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9"/>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29"/>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9"/>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29"/>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29"/>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9"/>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29"/>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9"/>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29"/>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9"/>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9"/>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9"/>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29"/>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9"/>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9"/>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4" name="Google Shape;84;p29"/>
          <p:cNvSpPr/>
          <p:nvPr/>
        </p:nvSpPr>
        <p:spPr>
          <a:xfrm>
            <a:off x="517511" y="188304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5" name="Google Shape;85;p29"/>
          <p:cNvGrpSpPr/>
          <p:nvPr/>
        </p:nvGrpSpPr>
        <p:grpSpPr>
          <a:xfrm>
            <a:off x="8223553" y="2658626"/>
            <a:ext cx="410682" cy="410682"/>
            <a:chOff x="2946260" y="1813841"/>
            <a:chExt cx="564511" cy="564511"/>
          </a:xfrm>
        </p:grpSpPr>
        <p:sp>
          <p:nvSpPr>
            <p:cNvPr id="86" name="Google Shape;86;p29"/>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29"/>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9"/>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9" name="Google Shape;89;p29"/>
          <p:cNvGrpSpPr/>
          <p:nvPr/>
        </p:nvGrpSpPr>
        <p:grpSpPr>
          <a:xfrm>
            <a:off x="6541834" y="329657"/>
            <a:ext cx="450536" cy="410703"/>
            <a:chOff x="6541834" y="329657"/>
            <a:chExt cx="450536" cy="410703"/>
          </a:xfrm>
        </p:grpSpPr>
        <p:sp>
          <p:nvSpPr>
            <p:cNvPr id="90" name="Google Shape;90;p29"/>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29"/>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29"/>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29"/>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9"/>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29"/>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9"/>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29"/>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29"/>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29"/>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29"/>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29"/>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9"/>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 name="Google Shape;103;p29"/>
          <p:cNvSpPr/>
          <p:nvPr/>
        </p:nvSpPr>
        <p:spPr>
          <a:xfrm>
            <a:off x="384040" y="2964528"/>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4" name="Google Shape;104;p29"/>
          <p:cNvGrpSpPr/>
          <p:nvPr/>
        </p:nvGrpSpPr>
        <p:grpSpPr>
          <a:xfrm>
            <a:off x="504791" y="3937846"/>
            <a:ext cx="345754" cy="576816"/>
            <a:chOff x="504791" y="3937846"/>
            <a:chExt cx="345754" cy="576816"/>
          </a:xfrm>
        </p:grpSpPr>
        <p:sp>
          <p:nvSpPr>
            <p:cNvPr id="105" name="Google Shape;105;p29"/>
            <p:cNvSpPr/>
            <p:nvPr/>
          </p:nvSpPr>
          <p:spPr>
            <a:xfrm>
              <a:off x="558101" y="4156041"/>
              <a:ext cx="239107" cy="239076"/>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29"/>
            <p:cNvSpPr/>
            <p:nvPr/>
          </p:nvSpPr>
          <p:spPr>
            <a:xfrm>
              <a:off x="558101" y="4395095"/>
              <a:ext cx="239107" cy="119567"/>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29"/>
            <p:cNvSpPr/>
            <p:nvPr/>
          </p:nvSpPr>
          <p:spPr>
            <a:xfrm>
              <a:off x="568533" y="3937846"/>
              <a:ext cx="218245" cy="218216"/>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9"/>
            <p:cNvSpPr/>
            <p:nvPr/>
          </p:nvSpPr>
          <p:spPr>
            <a:xfrm>
              <a:off x="802712" y="4042603"/>
              <a:ext cx="47833" cy="8663"/>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9"/>
            <p:cNvSpPr/>
            <p:nvPr/>
          </p:nvSpPr>
          <p:spPr>
            <a:xfrm>
              <a:off x="504791" y="4042603"/>
              <a:ext cx="47852" cy="8663"/>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9"/>
            <p:cNvSpPr/>
            <p:nvPr/>
          </p:nvSpPr>
          <p:spPr>
            <a:xfrm>
              <a:off x="767345" y="3981984"/>
              <a:ext cx="73613" cy="34708"/>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9"/>
            <p:cNvSpPr/>
            <p:nvPr/>
          </p:nvSpPr>
          <p:spPr>
            <a:xfrm>
              <a:off x="514358" y="4077310"/>
              <a:ext cx="73517" cy="34670"/>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9"/>
            <p:cNvSpPr/>
            <p:nvPr/>
          </p:nvSpPr>
          <p:spPr>
            <a:xfrm>
              <a:off x="766864" y="4077041"/>
              <a:ext cx="74016" cy="34842"/>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9"/>
            <p:cNvSpPr/>
            <p:nvPr/>
          </p:nvSpPr>
          <p:spPr>
            <a:xfrm>
              <a:off x="514378" y="3981984"/>
              <a:ext cx="74035" cy="34842"/>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 name="Google Shape;114;p29"/>
          <p:cNvSpPr/>
          <p:nvPr/>
        </p:nvSpPr>
        <p:spPr>
          <a:xfrm>
            <a:off x="8428911" y="410869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9"/>
          <p:cNvSpPr/>
          <p:nvPr/>
        </p:nvSpPr>
        <p:spPr>
          <a:xfrm>
            <a:off x="8428890" y="1685803"/>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6" name="Google Shape;116;p29"/>
          <p:cNvGrpSpPr/>
          <p:nvPr/>
        </p:nvGrpSpPr>
        <p:grpSpPr>
          <a:xfrm>
            <a:off x="2688615" y="327363"/>
            <a:ext cx="410682" cy="410682"/>
            <a:chOff x="2946260" y="1813841"/>
            <a:chExt cx="564511" cy="564511"/>
          </a:xfrm>
        </p:grpSpPr>
        <p:sp>
          <p:nvSpPr>
            <p:cNvPr id="117" name="Google Shape;117;p29"/>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9"/>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9"/>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20" name="Shape 120"/>
        <p:cNvGrpSpPr/>
        <p:nvPr/>
      </p:nvGrpSpPr>
      <p:grpSpPr>
        <a:xfrm>
          <a:off x="0" y="0"/>
          <a:ext cx="0" cy="0"/>
          <a:chOff x="0" y="0"/>
          <a:chExt cx="0" cy="0"/>
        </a:xfrm>
      </p:grpSpPr>
      <p:grpSp>
        <p:nvGrpSpPr>
          <p:cNvPr id="121" name="Google Shape;121;p30"/>
          <p:cNvGrpSpPr/>
          <p:nvPr/>
        </p:nvGrpSpPr>
        <p:grpSpPr>
          <a:xfrm rot="10800000">
            <a:off x="2149752" y="90576"/>
            <a:ext cx="410682" cy="410682"/>
            <a:chOff x="2946260" y="1813841"/>
            <a:chExt cx="564511" cy="564511"/>
          </a:xfrm>
        </p:grpSpPr>
        <p:sp>
          <p:nvSpPr>
            <p:cNvPr id="122" name="Google Shape;122;p30"/>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0"/>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0"/>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5" name="Google Shape;125;p30"/>
          <p:cNvGrpSpPr/>
          <p:nvPr/>
        </p:nvGrpSpPr>
        <p:grpSpPr>
          <a:xfrm rot="10800000">
            <a:off x="8816002" y="2453376"/>
            <a:ext cx="410682" cy="410682"/>
            <a:chOff x="2946260" y="1813841"/>
            <a:chExt cx="564511" cy="564511"/>
          </a:xfrm>
        </p:grpSpPr>
        <p:sp>
          <p:nvSpPr>
            <p:cNvPr id="126" name="Google Shape;126;p30"/>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0"/>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0"/>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9" name="Google Shape;129;p30"/>
          <p:cNvSpPr/>
          <p:nvPr/>
        </p:nvSpPr>
        <p:spPr>
          <a:xfrm rot="10800000">
            <a:off x="5374840" y="4952567"/>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 name="Google Shape;130;p30"/>
          <p:cNvGrpSpPr/>
          <p:nvPr/>
        </p:nvGrpSpPr>
        <p:grpSpPr>
          <a:xfrm rot="10800000">
            <a:off x="2369666" y="4719836"/>
            <a:ext cx="450536" cy="410703"/>
            <a:chOff x="6541834" y="329657"/>
            <a:chExt cx="450536" cy="410703"/>
          </a:xfrm>
        </p:grpSpPr>
        <p:sp>
          <p:nvSpPr>
            <p:cNvPr id="131" name="Google Shape;131;p30"/>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30"/>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0"/>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0"/>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0"/>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0"/>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0"/>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0"/>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0"/>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0"/>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0"/>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0"/>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0"/>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4" name="Google Shape;144;p30"/>
          <p:cNvGrpSpPr/>
          <p:nvPr/>
        </p:nvGrpSpPr>
        <p:grpSpPr>
          <a:xfrm rot="10800000">
            <a:off x="5616964" y="90573"/>
            <a:ext cx="1517235" cy="203069"/>
            <a:chOff x="1912961" y="4405442"/>
            <a:chExt cx="1517235" cy="203069"/>
          </a:xfrm>
        </p:grpSpPr>
        <p:sp>
          <p:nvSpPr>
            <p:cNvPr id="145" name="Google Shape;145;p30"/>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0"/>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0"/>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0"/>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0"/>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0"/>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0"/>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0"/>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0"/>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0"/>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0"/>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0"/>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0"/>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0"/>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0"/>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0"/>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1" name="Google Shape;161;p30"/>
          <p:cNvGrpSpPr/>
          <p:nvPr/>
        </p:nvGrpSpPr>
        <p:grpSpPr>
          <a:xfrm rot="10800000">
            <a:off x="8102550" y="4475807"/>
            <a:ext cx="1173754" cy="805917"/>
            <a:chOff x="804550" y="3006847"/>
            <a:chExt cx="2215048" cy="1520885"/>
          </a:xfrm>
        </p:grpSpPr>
        <p:sp>
          <p:nvSpPr>
            <p:cNvPr id="162" name="Google Shape;162;p30"/>
            <p:cNvSpPr/>
            <p:nvPr/>
          </p:nvSpPr>
          <p:spPr>
            <a:xfrm>
              <a:off x="804550" y="3175325"/>
              <a:ext cx="1039817" cy="103812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30"/>
            <p:cNvSpPr/>
            <p:nvPr/>
          </p:nvSpPr>
          <p:spPr>
            <a:xfrm>
              <a:off x="1240267" y="3006847"/>
              <a:ext cx="1779321" cy="152088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0"/>
            <p:cNvSpPr/>
            <p:nvPr/>
          </p:nvSpPr>
          <p:spPr>
            <a:xfrm>
              <a:off x="1332578" y="3099089"/>
              <a:ext cx="1687012" cy="1336371"/>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0"/>
            <p:cNvSpPr/>
            <p:nvPr/>
          </p:nvSpPr>
          <p:spPr>
            <a:xfrm>
              <a:off x="1424820" y="3191331"/>
              <a:ext cx="1594773" cy="1151892"/>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0"/>
            <p:cNvSpPr/>
            <p:nvPr/>
          </p:nvSpPr>
          <p:spPr>
            <a:xfrm>
              <a:off x="1517097" y="3283608"/>
              <a:ext cx="1502499" cy="967309"/>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30"/>
            <p:cNvSpPr/>
            <p:nvPr/>
          </p:nvSpPr>
          <p:spPr>
            <a:xfrm>
              <a:off x="1609339" y="3375850"/>
              <a:ext cx="1410259" cy="782899"/>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8" name="Google Shape;168;p30"/>
          <p:cNvSpPr/>
          <p:nvPr/>
        </p:nvSpPr>
        <p:spPr>
          <a:xfrm>
            <a:off x="478500" y="262050"/>
            <a:ext cx="8187000" cy="4619400"/>
          </a:xfrm>
          <a:prstGeom prst="roundRect">
            <a:avLst>
              <a:gd fmla="val 1110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 name="Google Shape;169;p30"/>
          <p:cNvGrpSpPr/>
          <p:nvPr/>
        </p:nvGrpSpPr>
        <p:grpSpPr>
          <a:xfrm rot="10800000">
            <a:off x="94753" y="4143026"/>
            <a:ext cx="345754" cy="576812"/>
            <a:chOff x="1188110" y="553396"/>
            <a:chExt cx="620854" cy="1035940"/>
          </a:xfrm>
        </p:grpSpPr>
        <p:sp>
          <p:nvSpPr>
            <p:cNvPr id="170" name="Google Shape;170;p30"/>
            <p:cNvSpPr/>
            <p:nvPr/>
          </p:nvSpPr>
          <p:spPr>
            <a:xfrm>
              <a:off x="1283836" y="945270"/>
              <a:ext cx="429359" cy="429359"/>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0"/>
            <p:cNvSpPr/>
            <p:nvPr/>
          </p:nvSpPr>
          <p:spPr>
            <a:xfrm>
              <a:off x="1283836" y="1374605"/>
              <a:ext cx="429359" cy="214731"/>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0"/>
            <p:cNvSpPr/>
            <p:nvPr/>
          </p:nvSpPr>
          <p:spPr>
            <a:xfrm>
              <a:off x="1302567" y="553396"/>
              <a:ext cx="391898" cy="391898"/>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0"/>
            <p:cNvSpPr/>
            <p:nvPr/>
          </p:nvSpPr>
          <p:spPr>
            <a:xfrm>
              <a:off x="1723071" y="741537"/>
              <a:ext cx="85893" cy="15557"/>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0"/>
            <p:cNvSpPr/>
            <p:nvPr/>
          </p:nvSpPr>
          <p:spPr>
            <a:xfrm>
              <a:off x="1188110" y="741537"/>
              <a:ext cx="85927" cy="15557"/>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0"/>
            <p:cNvSpPr/>
            <p:nvPr/>
          </p:nvSpPr>
          <p:spPr>
            <a:xfrm>
              <a:off x="1659565" y="632668"/>
              <a:ext cx="132185" cy="62332"/>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0"/>
            <p:cNvSpPr/>
            <p:nvPr/>
          </p:nvSpPr>
          <p:spPr>
            <a:xfrm>
              <a:off x="1205288" y="803871"/>
              <a:ext cx="132012" cy="62263"/>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30"/>
            <p:cNvSpPr/>
            <p:nvPr/>
          </p:nvSpPr>
          <p:spPr>
            <a:xfrm>
              <a:off x="1658702" y="803388"/>
              <a:ext cx="132909" cy="62574"/>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30"/>
            <p:cNvSpPr/>
            <p:nvPr/>
          </p:nvSpPr>
          <p:spPr>
            <a:xfrm>
              <a:off x="1205323" y="632668"/>
              <a:ext cx="132944" cy="62574"/>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9" name="Google Shape;179;p30"/>
          <p:cNvSpPr/>
          <p:nvPr/>
        </p:nvSpPr>
        <p:spPr>
          <a:xfrm rot="10800000">
            <a:off x="8815204" y="505338"/>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0"/>
          <p:cNvSpPr/>
          <p:nvPr/>
        </p:nvSpPr>
        <p:spPr>
          <a:xfrm rot="10800000">
            <a:off x="107452" y="266254"/>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30"/>
          <p:cNvSpPr/>
          <p:nvPr/>
        </p:nvSpPr>
        <p:spPr>
          <a:xfrm rot="10800000">
            <a:off x="207242" y="2201063"/>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3" name="Google Shape;183;p30"/>
          <p:cNvSpPr txBox="1"/>
          <p:nvPr>
            <p:ph idx="2" type="title"/>
          </p:nvPr>
        </p:nvSpPr>
        <p:spPr>
          <a:xfrm>
            <a:off x="1577163" y="138682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4" name="Google Shape;184;p30"/>
          <p:cNvSpPr txBox="1"/>
          <p:nvPr>
            <p:ph idx="3" type="title"/>
          </p:nvPr>
        </p:nvSpPr>
        <p:spPr>
          <a:xfrm>
            <a:off x="4747738" y="138682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5" name="Google Shape;185;p30"/>
          <p:cNvSpPr txBox="1"/>
          <p:nvPr>
            <p:ph idx="4" type="title"/>
          </p:nvPr>
        </p:nvSpPr>
        <p:spPr>
          <a:xfrm>
            <a:off x="1577163" y="2463550"/>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6" name="Google Shape;186;p30"/>
          <p:cNvSpPr txBox="1"/>
          <p:nvPr>
            <p:ph idx="5" type="title"/>
          </p:nvPr>
        </p:nvSpPr>
        <p:spPr>
          <a:xfrm>
            <a:off x="4747738" y="2463550"/>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7" name="Google Shape;187;p30"/>
          <p:cNvSpPr txBox="1"/>
          <p:nvPr>
            <p:ph idx="6" type="title"/>
          </p:nvPr>
        </p:nvSpPr>
        <p:spPr>
          <a:xfrm>
            <a:off x="1577163" y="354027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8" name="Google Shape;188;p30"/>
          <p:cNvSpPr txBox="1"/>
          <p:nvPr>
            <p:ph idx="7" type="title"/>
          </p:nvPr>
        </p:nvSpPr>
        <p:spPr>
          <a:xfrm>
            <a:off x="4747738" y="3540275"/>
            <a:ext cx="734700" cy="488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b="1"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89" name="Google Shape;189;p30"/>
          <p:cNvSpPr txBox="1"/>
          <p:nvPr>
            <p:ph idx="1" type="subTitle"/>
          </p:nvPr>
        </p:nvSpPr>
        <p:spPr>
          <a:xfrm>
            <a:off x="2311746" y="1386825"/>
            <a:ext cx="20841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0" name="Google Shape;190;p30"/>
          <p:cNvSpPr txBox="1"/>
          <p:nvPr>
            <p:ph idx="8" type="subTitle"/>
          </p:nvPr>
        </p:nvSpPr>
        <p:spPr>
          <a:xfrm>
            <a:off x="2312529" y="2463550"/>
            <a:ext cx="20826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1" name="Google Shape;191;p30"/>
          <p:cNvSpPr txBox="1"/>
          <p:nvPr>
            <p:ph idx="9" type="subTitle"/>
          </p:nvPr>
        </p:nvSpPr>
        <p:spPr>
          <a:xfrm>
            <a:off x="2310962" y="3540275"/>
            <a:ext cx="20841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2" name="Google Shape;192;p30"/>
          <p:cNvSpPr txBox="1"/>
          <p:nvPr>
            <p:ph idx="13" type="subTitle"/>
          </p:nvPr>
        </p:nvSpPr>
        <p:spPr>
          <a:xfrm>
            <a:off x="5482437" y="1386825"/>
            <a:ext cx="20844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3" name="Google Shape;193;p30"/>
          <p:cNvSpPr txBox="1"/>
          <p:nvPr>
            <p:ph idx="14" type="subTitle"/>
          </p:nvPr>
        </p:nvSpPr>
        <p:spPr>
          <a:xfrm>
            <a:off x="5483220" y="2463550"/>
            <a:ext cx="20823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94" name="Google Shape;194;p30"/>
          <p:cNvSpPr txBox="1"/>
          <p:nvPr>
            <p:ph idx="15" type="subTitle"/>
          </p:nvPr>
        </p:nvSpPr>
        <p:spPr>
          <a:xfrm>
            <a:off x="5482437" y="3540275"/>
            <a:ext cx="2084400" cy="63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Font typeface="Bebas Neue"/>
              <a:buNone/>
              <a:defRPr sz="1800">
                <a:solidFill>
                  <a:schemeClr val="dk1"/>
                </a:solidFill>
                <a:latin typeface="Lusitana"/>
                <a:ea typeface="Lusitana"/>
                <a:cs typeface="Lusitana"/>
                <a:sym typeface="Lusitana"/>
              </a:defRPr>
            </a:lvl1pPr>
            <a:lvl2pPr lvl="1" algn="l">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l">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l">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l">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l">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l">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l">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l">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95" name="Shape 195"/>
        <p:cNvGrpSpPr/>
        <p:nvPr/>
      </p:nvGrpSpPr>
      <p:grpSpPr>
        <a:xfrm>
          <a:off x="0" y="0"/>
          <a:ext cx="0" cy="0"/>
          <a:chOff x="0" y="0"/>
          <a:chExt cx="0" cy="0"/>
        </a:xfrm>
      </p:grpSpPr>
      <p:sp>
        <p:nvSpPr>
          <p:cNvPr id="196" name="Google Shape;196;p31"/>
          <p:cNvSpPr/>
          <p:nvPr/>
        </p:nvSpPr>
        <p:spPr>
          <a:xfrm>
            <a:off x="4616340" y="4535578"/>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7" name="Google Shape;197;p31"/>
          <p:cNvGrpSpPr/>
          <p:nvPr/>
        </p:nvGrpSpPr>
        <p:grpSpPr>
          <a:xfrm>
            <a:off x="3238965" y="40476"/>
            <a:ext cx="410682" cy="410682"/>
            <a:chOff x="2946260" y="1813841"/>
            <a:chExt cx="564511" cy="564511"/>
          </a:xfrm>
        </p:grpSpPr>
        <p:sp>
          <p:nvSpPr>
            <p:cNvPr id="198" name="Google Shape;198;p31"/>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1"/>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1"/>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1" name="Google Shape;201;p31"/>
          <p:cNvGrpSpPr/>
          <p:nvPr/>
        </p:nvGrpSpPr>
        <p:grpSpPr>
          <a:xfrm>
            <a:off x="6481309" y="4871882"/>
            <a:ext cx="450535" cy="410703"/>
            <a:chOff x="4708922" y="4403157"/>
            <a:chExt cx="450535" cy="410703"/>
          </a:xfrm>
        </p:grpSpPr>
        <p:sp>
          <p:nvSpPr>
            <p:cNvPr id="202" name="Google Shape;202;p31"/>
            <p:cNvSpPr/>
            <p:nvPr/>
          </p:nvSpPr>
          <p:spPr>
            <a:xfrm>
              <a:off x="4799768" y="44325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1"/>
            <p:cNvSpPr/>
            <p:nvPr/>
          </p:nvSpPr>
          <p:spPr>
            <a:xfrm>
              <a:off x="4709117" y="45385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1"/>
            <p:cNvSpPr/>
            <p:nvPr/>
          </p:nvSpPr>
          <p:spPr>
            <a:xfrm>
              <a:off x="4929295" y="44326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1"/>
            <p:cNvSpPr/>
            <p:nvPr/>
          </p:nvSpPr>
          <p:spPr>
            <a:xfrm>
              <a:off x="4928201" y="44031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31"/>
            <p:cNvSpPr/>
            <p:nvPr/>
          </p:nvSpPr>
          <p:spPr>
            <a:xfrm>
              <a:off x="4932462" y="45382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1"/>
            <p:cNvSpPr/>
            <p:nvPr/>
          </p:nvSpPr>
          <p:spPr>
            <a:xfrm>
              <a:off x="4799710" y="46048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1"/>
            <p:cNvSpPr/>
            <p:nvPr/>
          </p:nvSpPr>
          <p:spPr>
            <a:xfrm>
              <a:off x="4708922" y="46028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1"/>
            <p:cNvSpPr/>
            <p:nvPr/>
          </p:nvSpPr>
          <p:spPr>
            <a:xfrm>
              <a:off x="4929374" y="46047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1"/>
            <p:cNvSpPr/>
            <p:nvPr/>
          </p:nvSpPr>
          <p:spPr>
            <a:xfrm>
              <a:off x="4928201" y="46084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1"/>
            <p:cNvSpPr/>
            <p:nvPr/>
          </p:nvSpPr>
          <p:spPr>
            <a:xfrm>
              <a:off x="4932657" y="46031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1"/>
            <p:cNvSpPr/>
            <p:nvPr/>
          </p:nvSpPr>
          <p:spPr>
            <a:xfrm>
              <a:off x="4735992" y="44842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31"/>
            <p:cNvSpPr/>
            <p:nvPr/>
          </p:nvSpPr>
          <p:spPr>
            <a:xfrm>
              <a:off x="4823242" y="45075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1"/>
            <p:cNvSpPr/>
            <p:nvPr/>
          </p:nvSpPr>
          <p:spPr>
            <a:xfrm>
              <a:off x="4833113" y="45075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5" name="Google Shape;215;p31"/>
          <p:cNvGrpSpPr/>
          <p:nvPr/>
        </p:nvGrpSpPr>
        <p:grpSpPr>
          <a:xfrm rot="10800000">
            <a:off x="8294163" y="4222327"/>
            <a:ext cx="805965" cy="1173807"/>
            <a:chOff x="6849501" y="3770539"/>
            <a:chExt cx="805965" cy="1173807"/>
          </a:xfrm>
        </p:grpSpPr>
        <p:sp>
          <p:nvSpPr>
            <p:cNvPr id="216" name="Google Shape;216;p31"/>
            <p:cNvSpPr/>
            <p:nvPr/>
          </p:nvSpPr>
          <p:spPr>
            <a:xfrm rot="-5400000">
              <a:off x="6938329" y="4393761"/>
              <a:ext cx="551032" cy="55013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1"/>
            <p:cNvSpPr/>
            <p:nvPr/>
          </p:nvSpPr>
          <p:spPr>
            <a:xfrm rot="-5400000">
              <a:off x="6781024" y="3839016"/>
              <a:ext cx="942919" cy="80596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31"/>
            <p:cNvSpPr/>
            <p:nvPr/>
          </p:nvSpPr>
          <p:spPr>
            <a:xfrm rot="-5400000">
              <a:off x="6805472" y="3863449"/>
              <a:ext cx="894002" cy="708185"/>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1"/>
            <p:cNvSpPr/>
            <p:nvPr/>
          </p:nvSpPr>
          <p:spPr>
            <a:xfrm rot="-5400000">
              <a:off x="6829910" y="3887891"/>
              <a:ext cx="845121" cy="610424"/>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31"/>
            <p:cNvSpPr/>
            <p:nvPr/>
          </p:nvSpPr>
          <p:spPr>
            <a:xfrm rot="-5400000">
              <a:off x="6854349" y="3912352"/>
              <a:ext cx="796222" cy="512608"/>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1"/>
            <p:cNvSpPr/>
            <p:nvPr/>
          </p:nvSpPr>
          <p:spPr>
            <a:xfrm rot="-5400000">
              <a:off x="6878806" y="3936776"/>
              <a:ext cx="747341" cy="414883"/>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2" name="Google Shape;222;p31"/>
          <p:cNvSpPr/>
          <p:nvPr/>
        </p:nvSpPr>
        <p:spPr>
          <a:xfrm>
            <a:off x="715100" y="539500"/>
            <a:ext cx="7713900" cy="4064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3" name="Google Shape;223;p31"/>
          <p:cNvGrpSpPr/>
          <p:nvPr/>
        </p:nvGrpSpPr>
        <p:grpSpPr>
          <a:xfrm>
            <a:off x="-950751" y="2113667"/>
            <a:ext cx="1517234" cy="203069"/>
            <a:chOff x="4175574" y="433467"/>
            <a:chExt cx="1517234" cy="203069"/>
          </a:xfrm>
        </p:grpSpPr>
        <p:sp>
          <p:nvSpPr>
            <p:cNvPr id="224" name="Google Shape;224;p31"/>
            <p:cNvSpPr/>
            <p:nvPr/>
          </p:nvSpPr>
          <p:spPr>
            <a:xfrm rot="10800000">
              <a:off x="4175574" y="502644"/>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1"/>
            <p:cNvSpPr/>
            <p:nvPr/>
          </p:nvSpPr>
          <p:spPr>
            <a:xfrm rot="10800000">
              <a:off x="4280609" y="528923"/>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1"/>
            <p:cNvSpPr/>
            <p:nvPr/>
          </p:nvSpPr>
          <p:spPr>
            <a:xfrm rot="10800000">
              <a:off x="4832644" y="433467"/>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1"/>
            <p:cNvSpPr/>
            <p:nvPr/>
          </p:nvSpPr>
          <p:spPr>
            <a:xfrm rot="10800000">
              <a:off x="4797131" y="454388"/>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1"/>
            <p:cNvSpPr/>
            <p:nvPr/>
          </p:nvSpPr>
          <p:spPr>
            <a:xfrm rot="10800000">
              <a:off x="4748305" y="481669"/>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1"/>
            <p:cNvSpPr/>
            <p:nvPr/>
          </p:nvSpPr>
          <p:spPr>
            <a:xfrm rot="10800000">
              <a:off x="4566725" y="482562"/>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31"/>
            <p:cNvSpPr/>
            <p:nvPr/>
          </p:nvSpPr>
          <p:spPr>
            <a:xfrm rot="10800000">
              <a:off x="4566779" y="482562"/>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1"/>
            <p:cNvSpPr/>
            <p:nvPr/>
          </p:nvSpPr>
          <p:spPr>
            <a:xfrm rot="10800000">
              <a:off x="4398459" y="460829"/>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1"/>
            <p:cNvSpPr/>
            <p:nvPr/>
          </p:nvSpPr>
          <p:spPr>
            <a:xfrm rot="10800000">
              <a:off x="4203588" y="453955"/>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1"/>
            <p:cNvSpPr/>
            <p:nvPr/>
          </p:nvSpPr>
          <p:spPr>
            <a:xfrm rot="10800000">
              <a:off x="5627392" y="502644"/>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1"/>
            <p:cNvSpPr/>
            <p:nvPr/>
          </p:nvSpPr>
          <p:spPr>
            <a:xfrm rot="10800000">
              <a:off x="5059071" y="454388"/>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1"/>
            <p:cNvSpPr/>
            <p:nvPr/>
          </p:nvSpPr>
          <p:spPr>
            <a:xfrm rot="10800000">
              <a:off x="5107843" y="481669"/>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1"/>
            <p:cNvSpPr/>
            <p:nvPr/>
          </p:nvSpPr>
          <p:spPr>
            <a:xfrm rot="10800000">
              <a:off x="5196781" y="482562"/>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1"/>
            <p:cNvSpPr/>
            <p:nvPr/>
          </p:nvSpPr>
          <p:spPr>
            <a:xfrm rot="10800000">
              <a:off x="5196781" y="482562"/>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1"/>
            <p:cNvSpPr/>
            <p:nvPr/>
          </p:nvSpPr>
          <p:spPr>
            <a:xfrm rot="10800000">
              <a:off x="5368863" y="460829"/>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1"/>
            <p:cNvSpPr/>
            <p:nvPr/>
          </p:nvSpPr>
          <p:spPr>
            <a:xfrm rot="10800000">
              <a:off x="5541731" y="453955"/>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 name="Google Shape;240;p31"/>
          <p:cNvGrpSpPr/>
          <p:nvPr/>
        </p:nvGrpSpPr>
        <p:grpSpPr>
          <a:xfrm>
            <a:off x="5678161" y="173817"/>
            <a:ext cx="1517235" cy="203069"/>
            <a:chOff x="1912961" y="4405442"/>
            <a:chExt cx="1517235" cy="203069"/>
          </a:xfrm>
        </p:grpSpPr>
        <p:sp>
          <p:nvSpPr>
            <p:cNvPr id="241" name="Google Shape;241;p31"/>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1"/>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1"/>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1"/>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1"/>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1"/>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1"/>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31"/>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31"/>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31"/>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31"/>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31"/>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31"/>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1"/>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1"/>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1"/>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57" name="Google Shape;257;p31"/>
          <p:cNvSpPr/>
          <p:nvPr/>
        </p:nvSpPr>
        <p:spPr>
          <a:xfrm>
            <a:off x="8575661" y="2353711"/>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8" name="Google Shape;258;p31"/>
          <p:cNvGrpSpPr/>
          <p:nvPr/>
        </p:nvGrpSpPr>
        <p:grpSpPr>
          <a:xfrm>
            <a:off x="1849328" y="4687376"/>
            <a:ext cx="410682" cy="410682"/>
            <a:chOff x="2946260" y="1813841"/>
            <a:chExt cx="564511" cy="564511"/>
          </a:xfrm>
        </p:grpSpPr>
        <p:sp>
          <p:nvSpPr>
            <p:cNvPr id="259" name="Google Shape;259;p31"/>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1"/>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1"/>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2" name="Google Shape;262;p31"/>
          <p:cNvGrpSpPr/>
          <p:nvPr/>
        </p:nvGrpSpPr>
        <p:grpSpPr>
          <a:xfrm>
            <a:off x="8510559" y="329657"/>
            <a:ext cx="450536" cy="410703"/>
            <a:chOff x="6541834" y="329657"/>
            <a:chExt cx="450536" cy="410703"/>
          </a:xfrm>
        </p:grpSpPr>
        <p:sp>
          <p:nvSpPr>
            <p:cNvPr id="263" name="Google Shape;263;p31"/>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31"/>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1"/>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1"/>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31"/>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31"/>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31"/>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31"/>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31"/>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31"/>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31"/>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31"/>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31"/>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6" name="Google Shape;276;p31"/>
          <p:cNvGrpSpPr/>
          <p:nvPr/>
        </p:nvGrpSpPr>
        <p:grpSpPr>
          <a:xfrm>
            <a:off x="287804" y="173821"/>
            <a:ext cx="345754" cy="576816"/>
            <a:chOff x="504791" y="3937846"/>
            <a:chExt cx="345754" cy="576816"/>
          </a:xfrm>
        </p:grpSpPr>
        <p:sp>
          <p:nvSpPr>
            <p:cNvPr id="277" name="Google Shape;277;p31"/>
            <p:cNvSpPr/>
            <p:nvPr/>
          </p:nvSpPr>
          <p:spPr>
            <a:xfrm>
              <a:off x="558101" y="4156041"/>
              <a:ext cx="239107" cy="239076"/>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31"/>
            <p:cNvSpPr/>
            <p:nvPr/>
          </p:nvSpPr>
          <p:spPr>
            <a:xfrm>
              <a:off x="558101" y="4395095"/>
              <a:ext cx="239107" cy="119567"/>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31"/>
            <p:cNvSpPr/>
            <p:nvPr/>
          </p:nvSpPr>
          <p:spPr>
            <a:xfrm>
              <a:off x="568533" y="3937846"/>
              <a:ext cx="218245" cy="218216"/>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31"/>
            <p:cNvSpPr/>
            <p:nvPr/>
          </p:nvSpPr>
          <p:spPr>
            <a:xfrm>
              <a:off x="802712" y="4042603"/>
              <a:ext cx="47833" cy="8663"/>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31"/>
            <p:cNvSpPr/>
            <p:nvPr/>
          </p:nvSpPr>
          <p:spPr>
            <a:xfrm>
              <a:off x="504791" y="4042603"/>
              <a:ext cx="47852" cy="8663"/>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31"/>
            <p:cNvSpPr/>
            <p:nvPr/>
          </p:nvSpPr>
          <p:spPr>
            <a:xfrm>
              <a:off x="767345" y="3981984"/>
              <a:ext cx="73613" cy="34708"/>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31"/>
            <p:cNvSpPr/>
            <p:nvPr/>
          </p:nvSpPr>
          <p:spPr>
            <a:xfrm>
              <a:off x="514358" y="4077310"/>
              <a:ext cx="73517" cy="34670"/>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31"/>
            <p:cNvSpPr/>
            <p:nvPr/>
          </p:nvSpPr>
          <p:spPr>
            <a:xfrm>
              <a:off x="766864" y="4077041"/>
              <a:ext cx="74016" cy="34842"/>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31"/>
            <p:cNvSpPr/>
            <p:nvPr/>
          </p:nvSpPr>
          <p:spPr>
            <a:xfrm>
              <a:off x="514378" y="3981984"/>
              <a:ext cx="74035" cy="34842"/>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6" name="Google Shape;286;p31"/>
          <p:cNvSpPr/>
          <p:nvPr/>
        </p:nvSpPr>
        <p:spPr>
          <a:xfrm>
            <a:off x="203686" y="395179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31"/>
          <p:cNvSpPr txBox="1"/>
          <p:nvPr>
            <p:ph hasCustomPrompt="1" type="title"/>
          </p:nvPr>
        </p:nvSpPr>
        <p:spPr>
          <a:xfrm>
            <a:off x="1561950" y="1310113"/>
            <a:ext cx="6020100" cy="1321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b="1" sz="65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288" name="Google Shape;288;p31"/>
          <p:cNvSpPr txBox="1"/>
          <p:nvPr>
            <p:ph idx="1" type="subTitle"/>
          </p:nvPr>
        </p:nvSpPr>
        <p:spPr>
          <a:xfrm>
            <a:off x="1561950" y="2682863"/>
            <a:ext cx="6020100" cy="1150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89" name="Shape 289"/>
        <p:cNvGrpSpPr/>
        <p:nvPr/>
      </p:nvGrpSpPr>
      <p:grpSpPr>
        <a:xfrm>
          <a:off x="0" y="0"/>
          <a:ext cx="0" cy="0"/>
          <a:chOff x="0" y="0"/>
          <a:chExt cx="0" cy="0"/>
        </a:xfrm>
      </p:grpSpPr>
      <p:grpSp>
        <p:nvGrpSpPr>
          <p:cNvPr id="290" name="Google Shape;290;p32"/>
          <p:cNvGrpSpPr/>
          <p:nvPr/>
        </p:nvGrpSpPr>
        <p:grpSpPr>
          <a:xfrm>
            <a:off x="2273904" y="144296"/>
            <a:ext cx="345754" cy="576812"/>
            <a:chOff x="1188110" y="553396"/>
            <a:chExt cx="620854" cy="1035940"/>
          </a:xfrm>
        </p:grpSpPr>
        <p:sp>
          <p:nvSpPr>
            <p:cNvPr id="291" name="Google Shape;291;p32"/>
            <p:cNvSpPr/>
            <p:nvPr/>
          </p:nvSpPr>
          <p:spPr>
            <a:xfrm>
              <a:off x="1283836" y="945270"/>
              <a:ext cx="429359" cy="429359"/>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32"/>
            <p:cNvSpPr/>
            <p:nvPr/>
          </p:nvSpPr>
          <p:spPr>
            <a:xfrm>
              <a:off x="1283836" y="1374605"/>
              <a:ext cx="429359" cy="214731"/>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32"/>
            <p:cNvSpPr/>
            <p:nvPr/>
          </p:nvSpPr>
          <p:spPr>
            <a:xfrm>
              <a:off x="1302567" y="553396"/>
              <a:ext cx="391898" cy="391898"/>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32"/>
            <p:cNvSpPr/>
            <p:nvPr/>
          </p:nvSpPr>
          <p:spPr>
            <a:xfrm>
              <a:off x="1723071" y="741537"/>
              <a:ext cx="85893" cy="15557"/>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32"/>
            <p:cNvSpPr/>
            <p:nvPr/>
          </p:nvSpPr>
          <p:spPr>
            <a:xfrm>
              <a:off x="1188110" y="741537"/>
              <a:ext cx="85927" cy="15557"/>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32"/>
            <p:cNvSpPr/>
            <p:nvPr/>
          </p:nvSpPr>
          <p:spPr>
            <a:xfrm>
              <a:off x="1659565" y="632668"/>
              <a:ext cx="132185" cy="62332"/>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32"/>
            <p:cNvSpPr/>
            <p:nvPr/>
          </p:nvSpPr>
          <p:spPr>
            <a:xfrm>
              <a:off x="1205288" y="803871"/>
              <a:ext cx="132012" cy="62263"/>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32"/>
            <p:cNvSpPr/>
            <p:nvPr/>
          </p:nvSpPr>
          <p:spPr>
            <a:xfrm>
              <a:off x="1658702" y="803388"/>
              <a:ext cx="132909" cy="62574"/>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32"/>
            <p:cNvSpPr/>
            <p:nvPr/>
          </p:nvSpPr>
          <p:spPr>
            <a:xfrm>
              <a:off x="1205323" y="632668"/>
              <a:ext cx="132944" cy="62574"/>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0" name="Google Shape;300;p32"/>
          <p:cNvGrpSpPr/>
          <p:nvPr/>
        </p:nvGrpSpPr>
        <p:grpSpPr>
          <a:xfrm>
            <a:off x="4176959" y="329657"/>
            <a:ext cx="450535" cy="410703"/>
            <a:chOff x="4708922" y="4403157"/>
            <a:chExt cx="450535" cy="410703"/>
          </a:xfrm>
        </p:grpSpPr>
        <p:sp>
          <p:nvSpPr>
            <p:cNvPr id="301" name="Google Shape;301;p32"/>
            <p:cNvSpPr/>
            <p:nvPr/>
          </p:nvSpPr>
          <p:spPr>
            <a:xfrm>
              <a:off x="4799768" y="44325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32"/>
            <p:cNvSpPr/>
            <p:nvPr/>
          </p:nvSpPr>
          <p:spPr>
            <a:xfrm>
              <a:off x="4709117" y="45385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32"/>
            <p:cNvSpPr/>
            <p:nvPr/>
          </p:nvSpPr>
          <p:spPr>
            <a:xfrm>
              <a:off x="4929295" y="44326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2"/>
            <p:cNvSpPr/>
            <p:nvPr/>
          </p:nvSpPr>
          <p:spPr>
            <a:xfrm>
              <a:off x="4928201" y="44031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32"/>
            <p:cNvSpPr/>
            <p:nvPr/>
          </p:nvSpPr>
          <p:spPr>
            <a:xfrm>
              <a:off x="4932462" y="45382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32"/>
            <p:cNvSpPr/>
            <p:nvPr/>
          </p:nvSpPr>
          <p:spPr>
            <a:xfrm>
              <a:off x="4799710" y="46048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32"/>
            <p:cNvSpPr/>
            <p:nvPr/>
          </p:nvSpPr>
          <p:spPr>
            <a:xfrm>
              <a:off x="4708922" y="46028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32"/>
            <p:cNvSpPr/>
            <p:nvPr/>
          </p:nvSpPr>
          <p:spPr>
            <a:xfrm>
              <a:off x="4929374" y="46047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32"/>
            <p:cNvSpPr/>
            <p:nvPr/>
          </p:nvSpPr>
          <p:spPr>
            <a:xfrm>
              <a:off x="4928201" y="46084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32"/>
            <p:cNvSpPr/>
            <p:nvPr/>
          </p:nvSpPr>
          <p:spPr>
            <a:xfrm>
              <a:off x="4932657" y="46031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32"/>
            <p:cNvSpPr/>
            <p:nvPr/>
          </p:nvSpPr>
          <p:spPr>
            <a:xfrm>
              <a:off x="4735992" y="44842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2"/>
            <p:cNvSpPr/>
            <p:nvPr/>
          </p:nvSpPr>
          <p:spPr>
            <a:xfrm>
              <a:off x="4823242" y="45075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2"/>
            <p:cNvSpPr/>
            <p:nvPr/>
          </p:nvSpPr>
          <p:spPr>
            <a:xfrm>
              <a:off x="4833113" y="45075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 name="Google Shape;314;p32"/>
          <p:cNvGrpSpPr/>
          <p:nvPr/>
        </p:nvGrpSpPr>
        <p:grpSpPr>
          <a:xfrm>
            <a:off x="509765" y="2851863"/>
            <a:ext cx="410682" cy="410682"/>
            <a:chOff x="2946260" y="1813841"/>
            <a:chExt cx="564511" cy="564511"/>
          </a:xfrm>
        </p:grpSpPr>
        <p:sp>
          <p:nvSpPr>
            <p:cNvPr id="315" name="Google Shape;315;p32"/>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2"/>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32"/>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8" name="Google Shape;318;p32"/>
          <p:cNvGrpSpPr/>
          <p:nvPr/>
        </p:nvGrpSpPr>
        <p:grpSpPr>
          <a:xfrm rot="10800000">
            <a:off x="238301" y="610178"/>
            <a:ext cx="805965" cy="1173807"/>
            <a:chOff x="6849501" y="3770539"/>
            <a:chExt cx="805965" cy="1173807"/>
          </a:xfrm>
        </p:grpSpPr>
        <p:sp>
          <p:nvSpPr>
            <p:cNvPr id="319" name="Google Shape;319;p32"/>
            <p:cNvSpPr/>
            <p:nvPr/>
          </p:nvSpPr>
          <p:spPr>
            <a:xfrm rot="-5400000">
              <a:off x="6938329" y="4393761"/>
              <a:ext cx="551032" cy="55013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32"/>
            <p:cNvSpPr/>
            <p:nvPr/>
          </p:nvSpPr>
          <p:spPr>
            <a:xfrm rot="-5400000">
              <a:off x="6781024" y="3839016"/>
              <a:ext cx="942919" cy="80596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2"/>
            <p:cNvSpPr/>
            <p:nvPr/>
          </p:nvSpPr>
          <p:spPr>
            <a:xfrm rot="-5400000">
              <a:off x="6805472" y="3863449"/>
              <a:ext cx="894002" cy="708185"/>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2"/>
            <p:cNvSpPr/>
            <p:nvPr/>
          </p:nvSpPr>
          <p:spPr>
            <a:xfrm rot="-5400000">
              <a:off x="6829910" y="3887891"/>
              <a:ext cx="845121" cy="610424"/>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32"/>
            <p:cNvSpPr/>
            <p:nvPr/>
          </p:nvSpPr>
          <p:spPr>
            <a:xfrm rot="-5400000">
              <a:off x="6854349" y="3912352"/>
              <a:ext cx="796222" cy="512608"/>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2"/>
            <p:cNvSpPr/>
            <p:nvPr/>
          </p:nvSpPr>
          <p:spPr>
            <a:xfrm rot="-5400000">
              <a:off x="6878806" y="3936776"/>
              <a:ext cx="747341" cy="414883"/>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5" name="Google Shape;325;p32"/>
          <p:cNvGrpSpPr/>
          <p:nvPr/>
        </p:nvGrpSpPr>
        <p:grpSpPr>
          <a:xfrm>
            <a:off x="381611" y="4506967"/>
            <a:ext cx="1517234" cy="203069"/>
            <a:chOff x="4175574" y="433467"/>
            <a:chExt cx="1517234" cy="203069"/>
          </a:xfrm>
        </p:grpSpPr>
        <p:sp>
          <p:nvSpPr>
            <p:cNvPr id="326" name="Google Shape;326;p32"/>
            <p:cNvSpPr/>
            <p:nvPr/>
          </p:nvSpPr>
          <p:spPr>
            <a:xfrm rot="10800000">
              <a:off x="4175574" y="502644"/>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32"/>
            <p:cNvSpPr/>
            <p:nvPr/>
          </p:nvSpPr>
          <p:spPr>
            <a:xfrm rot="10800000">
              <a:off x="4280609" y="528923"/>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32"/>
            <p:cNvSpPr/>
            <p:nvPr/>
          </p:nvSpPr>
          <p:spPr>
            <a:xfrm rot="10800000">
              <a:off x="4832644" y="433467"/>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2"/>
            <p:cNvSpPr/>
            <p:nvPr/>
          </p:nvSpPr>
          <p:spPr>
            <a:xfrm rot="10800000">
              <a:off x="4797131" y="454388"/>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2"/>
            <p:cNvSpPr/>
            <p:nvPr/>
          </p:nvSpPr>
          <p:spPr>
            <a:xfrm rot="10800000">
              <a:off x="4748305" y="481669"/>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2"/>
            <p:cNvSpPr/>
            <p:nvPr/>
          </p:nvSpPr>
          <p:spPr>
            <a:xfrm rot="10800000">
              <a:off x="4566725" y="482562"/>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2"/>
            <p:cNvSpPr/>
            <p:nvPr/>
          </p:nvSpPr>
          <p:spPr>
            <a:xfrm rot="10800000">
              <a:off x="4566779" y="482562"/>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2"/>
            <p:cNvSpPr/>
            <p:nvPr/>
          </p:nvSpPr>
          <p:spPr>
            <a:xfrm rot="10800000">
              <a:off x="4398459" y="460829"/>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2"/>
            <p:cNvSpPr/>
            <p:nvPr/>
          </p:nvSpPr>
          <p:spPr>
            <a:xfrm rot="10800000">
              <a:off x="4203588" y="453955"/>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2"/>
            <p:cNvSpPr/>
            <p:nvPr/>
          </p:nvSpPr>
          <p:spPr>
            <a:xfrm rot="10800000">
              <a:off x="5627392" y="502644"/>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2"/>
            <p:cNvSpPr/>
            <p:nvPr/>
          </p:nvSpPr>
          <p:spPr>
            <a:xfrm rot="10800000">
              <a:off x="5059071" y="454388"/>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2"/>
            <p:cNvSpPr/>
            <p:nvPr/>
          </p:nvSpPr>
          <p:spPr>
            <a:xfrm rot="10800000">
              <a:off x="5107843" y="481669"/>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2"/>
            <p:cNvSpPr/>
            <p:nvPr/>
          </p:nvSpPr>
          <p:spPr>
            <a:xfrm rot="10800000">
              <a:off x="5196781" y="482562"/>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2"/>
            <p:cNvSpPr/>
            <p:nvPr/>
          </p:nvSpPr>
          <p:spPr>
            <a:xfrm rot="10800000">
              <a:off x="5196781" y="482562"/>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2"/>
            <p:cNvSpPr/>
            <p:nvPr/>
          </p:nvSpPr>
          <p:spPr>
            <a:xfrm rot="10800000">
              <a:off x="5368863" y="460829"/>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2"/>
            <p:cNvSpPr/>
            <p:nvPr/>
          </p:nvSpPr>
          <p:spPr>
            <a:xfrm rot="10800000">
              <a:off x="5541731" y="453955"/>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2" name="Google Shape;342;p32"/>
          <p:cNvGrpSpPr/>
          <p:nvPr/>
        </p:nvGrpSpPr>
        <p:grpSpPr>
          <a:xfrm>
            <a:off x="7479220" y="4205547"/>
            <a:ext cx="1173754" cy="805917"/>
            <a:chOff x="804550" y="3006847"/>
            <a:chExt cx="2215048" cy="1520885"/>
          </a:xfrm>
        </p:grpSpPr>
        <p:sp>
          <p:nvSpPr>
            <p:cNvPr id="343" name="Google Shape;343;p32"/>
            <p:cNvSpPr/>
            <p:nvPr/>
          </p:nvSpPr>
          <p:spPr>
            <a:xfrm>
              <a:off x="804550" y="3175325"/>
              <a:ext cx="1039817" cy="103812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2"/>
            <p:cNvSpPr/>
            <p:nvPr/>
          </p:nvSpPr>
          <p:spPr>
            <a:xfrm>
              <a:off x="1240267" y="3006847"/>
              <a:ext cx="1779321" cy="152088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32"/>
            <p:cNvSpPr/>
            <p:nvPr/>
          </p:nvSpPr>
          <p:spPr>
            <a:xfrm>
              <a:off x="1332578" y="3099089"/>
              <a:ext cx="1687012" cy="1336371"/>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32"/>
            <p:cNvSpPr/>
            <p:nvPr/>
          </p:nvSpPr>
          <p:spPr>
            <a:xfrm>
              <a:off x="1424820" y="3191331"/>
              <a:ext cx="1594773" cy="1151892"/>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2"/>
            <p:cNvSpPr/>
            <p:nvPr/>
          </p:nvSpPr>
          <p:spPr>
            <a:xfrm>
              <a:off x="1517097" y="3283608"/>
              <a:ext cx="1502499" cy="967309"/>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2"/>
            <p:cNvSpPr/>
            <p:nvPr/>
          </p:nvSpPr>
          <p:spPr>
            <a:xfrm>
              <a:off x="1609339" y="3375850"/>
              <a:ext cx="1410259" cy="782899"/>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9" name="Google Shape;349;p32"/>
          <p:cNvGrpSpPr/>
          <p:nvPr/>
        </p:nvGrpSpPr>
        <p:grpSpPr>
          <a:xfrm rot="5400000">
            <a:off x="7823461" y="1132443"/>
            <a:ext cx="1517235" cy="203069"/>
            <a:chOff x="1912961" y="4405442"/>
            <a:chExt cx="1517235" cy="203069"/>
          </a:xfrm>
        </p:grpSpPr>
        <p:sp>
          <p:nvSpPr>
            <p:cNvPr id="350" name="Google Shape;350;p32"/>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2"/>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32"/>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32"/>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32"/>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2"/>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2"/>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2"/>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2"/>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32"/>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2"/>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2"/>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32"/>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32"/>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32"/>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2"/>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66" name="Google Shape;366;p32"/>
          <p:cNvGrpSpPr/>
          <p:nvPr/>
        </p:nvGrpSpPr>
        <p:grpSpPr>
          <a:xfrm>
            <a:off x="2912759" y="4486182"/>
            <a:ext cx="450536" cy="410703"/>
            <a:chOff x="6541834" y="329657"/>
            <a:chExt cx="450536" cy="410703"/>
          </a:xfrm>
        </p:grpSpPr>
        <p:sp>
          <p:nvSpPr>
            <p:cNvPr id="367" name="Google Shape;367;p32"/>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32"/>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2"/>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32"/>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32"/>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2"/>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32"/>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p32"/>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32"/>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32"/>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2"/>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2"/>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2"/>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0" name="Google Shape;380;p32"/>
          <p:cNvGrpSpPr/>
          <p:nvPr/>
        </p:nvGrpSpPr>
        <p:grpSpPr>
          <a:xfrm>
            <a:off x="8409204" y="2621921"/>
            <a:ext cx="345754" cy="576816"/>
            <a:chOff x="504791" y="3937846"/>
            <a:chExt cx="345754" cy="576816"/>
          </a:xfrm>
        </p:grpSpPr>
        <p:sp>
          <p:nvSpPr>
            <p:cNvPr id="381" name="Google Shape;381;p32"/>
            <p:cNvSpPr/>
            <p:nvPr/>
          </p:nvSpPr>
          <p:spPr>
            <a:xfrm>
              <a:off x="558101" y="4156041"/>
              <a:ext cx="239107" cy="239076"/>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2"/>
            <p:cNvSpPr/>
            <p:nvPr/>
          </p:nvSpPr>
          <p:spPr>
            <a:xfrm>
              <a:off x="558101" y="4395095"/>
              <a:ext cx="239107" cy="119567"/>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2"/>
            <p:cNvSpPr/>
            <p:nvPr/>
          </p:nvSpPr>
          <p:spPr>
            <a:xfrm>
              <a:off x="568533" y="3937846"/>
              <a:ext cx="218245" cy="218216"/>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2"/>
            <p:cNvSpPr/>
            <p:nvPr/>
          </p:nvSpPr>
          <p:spPr>
            <a:xfrm>
              <a:off x="802712" y="4042603"/>
              <a:ext cx="47833" cy="8663"/>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2"/>
            <p:cNvSpPr/>
            <p:nvPr/>
          </p:nvSpPr>
          <p:spPr>
            <a:xfrm>
              <a:off x="504791" y="4042603"/>
              <a:ext cx="47852" cy="8663"/>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2"/>
            <p:cNvSpPr/>
            <p:nvPr/>
          </p:nvSpPr>
          <p:spPr>
            <a:xfrm>
              <a:off x="767345" y="3981984"/>
              <a:ext cx="73613" cy="34708"/>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2"/>
            <p:cNvSpPr/>
            <p:nvPr/>
          </p:nvSpPr>
          <p:spPr>
            <a:xfrm>
              <a:off x="514358" y="4077310"/>
              <a:ext cx="73517" cy="34670"/>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2"/>
            <p:cNvSpPr/>
            <p:nvPr/>
          </p:nvSpPr>
          <p:spPr>
            <a:xfrm>
              <a:off x="766864" y="4077041"/>
              <a:ext cx="74016" cy="34842"/>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2"/>
            <p:cNvSpPr/>
            <p:nvPr/>
          </p:nvSpPr>
          <p:spPr>
            <a:xfrm>
              <a:off x="514378" y="3981984"/>
              <a:ext cx="74035" cy="34842"/>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90" name="Google Shape;390;p32"/>
          <p:cNvSpPr/>
          <p:nvPr/>
        </p:nvSpPr>
        <p:spPr>
          <a:xfrm>
            <a:off x="5564061" y="4526948"/>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2"/>
          <p:cNvSpPr/>
          <p:nvPr/>
        </p:nvSpPr>
        <p:spPr>
          <a:xfrm>
            <a:off x="6570477" y="366853"/>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2"/>
          <p:cNvSpPr/>
          <p:nvPr/>
        </p:nvSpPr>
        <p:spPr>
          <a:xfrm>
            <a:off x="1235850" y="1095288"/>
            <a:ext cx="6672300" cy="2952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32"/>
          <p:cNvSpPr txBox="1"/>
          <p:nvPr>
            <p:ph type="title"/>
          </p:nvPr>
        </p:nvSpPr>
        <p:spPr>
          <a:xfrm>
            <a:off x="2201813" y="1880049"/>
            <a:ext cx="4740300" cy="841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94" name="Google Shape;394;p32"/>
          <p:cNvSpPr txBox="1"/>
          <p:nvPr>
            <p:ph idx="1" type="subTitle"/>
          </p:nvPr>
        </p:nvSpPr>
        <p:spPr>
          <a:xfrm>
            <a:off x="2201888" y="2723101"/>
            <a:ext cx="4740300" cy="113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5" name="Shape 395"/>
        <p:cNvGrpSpPr/>
        <p:nvPr/>
      </p:nvGrpSpPr>
      <p:grpSpPr>
        <a:xfrm>
          <a:off x="0" y="0"/>
          <a:ext cx="0" cy="0"/>
          <a:chOff x="0" y="0"/>
          <a:chExt cx="0" cy="0"/>
        </a:xfrm>
      </p:grpSpPr>
      <p:sp>
        <p:nvSpPr>
          <p:cNvPr id="396" name="Google Shape;396;p33"/>
          <p:cNvSpPr/>
          <p:nvPr>
            <p:ph idx="2" type="pic"/>
          </p:nvPr>
        </p:nvSpPr>
        <p:spPr>
          <a:xfrm>
            <a:off x="-6875" y="0"/>
            <a:ext cx="9144000" cy="5157300"/>
          </a:xfrm>
          <a:prstGeom prst="rect">
            <a:avLst/>
          </a:prstGeom>
          <a:noFill/>
          <a:ln>
            <a:noFill/>
          </a:ln>
        </p:spPr>
      </p:sp>
      <p:sp>
        <p:nvSpPr>
          <p:cNvPr id="397" name="Google Shape;397;p33"/>
          <p:cNvSpPr txBox="1"/>
          <p:nvPr>
            <p:ph type="title"/>
          </p:nvPr>
        </p:nvSpPr>
        <p:spPr>
          <a:xfrm>
            <a:off x="720000" y="4038000"/>
            <a:ext cx="7704000" cy="5727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000"/>
              <a:buNone/>
              <a:defRPr>
                <a:solidFill>
                  <a:schemeClr val="dk1"/>
                </a:solidFill>
              </a:defRPr>
            </a:lvl1pPr>
            <a:lvl2pPr lvl="1" algn="ctr">
              <a:lnSpc>
                <a:spcPct val="100000"/>
              </a:lnSpc>
              <a:spcBef>
                <a:spcPts val="0"/>
              </a:spcBef>
              <a:spcAft>
                <a:spcPts val="0"/>
              </a:spcAft>
              <a:buClr>
                <a:schemeClr val="dk1"/>
              </a:buClr>
              <a:buSzPts val="3500"/>
              <a:buNone/>
              <a:defRPr>
                <a:solidFill>
                  <a:schemeClr val="dk1"/>
                </a:solidFill>
              </a:defRPr>
            </a:lvl2pPr>
            <a:lvl3pPr lvl="2" algn="ctr">
              <a:lnSpc>
                <a:spcPct val="100000"/>
              </a:lnSpc>
              <a:spcBef>
                <a:spcPts val="0"/>
              </a:spcBef>
              <a:spcAft>
                <a:spcPts val="0"/>
              </a:spcAft>
              <a:buClr>
                <a:schemeClr val="dk1"/>
              </a:buClr>
              <a:buSzPts val="3500"/>
              <a:buNone/>
              <a:defRPr>
                <a:solidFill>
                  <a:schemeClr val="dk1"/>
                </a:solidFill>
              </a:defRPr>
            </a:lvl3pPr>
            <a:lvl4pPr lvl="3" algn="ctr">
              <a:lnSpc>
                <a:spcPct val="100000"/>
              </a:lnSpc>
              <a:spcBef>
                <a:spcPts val="0"/>
              </a:spcBef>
              <a:spcAft>
                <a:spcPts val="0"/>
              </a:spcAft>
              <a:buClr>
                <a:schemeClr val="dk1"/>
              </a:buClr>
              <a:buSzPts val="3500"/>
              <a:buNone/>
              <a:defRPr>
                <a:solidFill>
                  <a:schemeClr val="dk1"/>
                </a:solidFill>
              </a:defRPr>
            </a:lvl4pPr>
            <a:lvl5pPr lvl="4" algn="ctr">
              <a:lnSpc>
                <a:spcPct val="100000"/>
              </a:lnSpc>
              <a:spcBef>
                <a:spcPts val="0"/>
              </a:spcBef>
              <a:spcAft>
                <a:spcPts val="0"/>
              </a:spcAft>
              <a:buClr>
                <a:schemeClr val="dk1"/>
              </a:buClr>
              <a:buSzPts val="3500"/>
              <a:buNone/>
              <a:defRPr>
                <a:solidFill>
                  <a:schemeClr val="dk1"/>
                </a:solidFill>
              </a:defRPr>
            </a:lvl5pPr>
            <a:lvl6pPr lvl="5" algn="ctr">
              <a:lnSpc>
                <a:spcPct val="100000"/>
              </a:lnSpc>
              <a:spcBef>
                <a:spcPts val="0"/>
              </a:spcBef>
              <a:spcAft>
                <a:spcPts val="0"/>
              </a:spcAft>
              <a:buClr>
                <a:schemeClr val="dk1"/>
              </a:buClr>
              <a:buSzPts val="3500"/>
              <a:buNone/>
              <a:defRPr>
                <a:solidFill>
                  <a:schemeClr val="dk1"/>
                </a:solidFill>
              </a:defRPr>
            </a:lvl6pPr>
            <a:lvl7pPr lvl="6" algn="ctr">
              <a:lnSpc>
                <a:spcPct val="100000"/>
              </a:lnSpc>
              <a:spcBef>
                <a:spcPts val="0"/>
              </a:spcBef>
              <a:spcAft>
                <a:spcPts val="0"/>
              </a:spcAft>
              <a:buClr>
                <a:schemeClr val="dk1"/>
              </a:buClr>
              <a:buSzPts val="3500"/>
              <a:buNone/>
              <a:defRPr>
                <a:solidFill>
                  <a:schemeClr val="dk1"/>
                </a:solidFill>
              </a:defRPr>
            </a:lvl7pPr>
            <a:lvl8pPr lvl="7" algn="ctr">
              <a:lnSpc>
                <a:spcPct val="100000"/>
              </a:lnSpc>
              <a:spcBef>
                <a:spcPts val="0"/>
              </a:spcBef>
              <a:spcAft>
                <a:spcPts val="0"/>
              </a:spcAft>
              <a:buClr>
                <a:schemeClr val="dk1"/>
              </a:buClr>
              <a:buSzPts val="3500"/>
              <a:buNone/>
              <a:defRPr>
                <a:solidFill>
                  <a:schemeClr val="dk1"/>
                </a:solidFill>
              </a:defRPr>
            </a:lvl8pPr>
            <a:lvl9pPr lvl="8" algn="ctr">
              <a:lnSpc>
                <a:spcPct val="100000"/>
              </a:lnSpc>
              <a:spcBef>
                <a:spcPts val="0"/>
              </a:spcBef>
              <a:spcAft>
                <a:spcPts val="0"/>
              </a:spcAft>
              <a:buClr>
                <a:schemeClr val="dk1"/>
              </a:buClr>
              <a:buSzPts val="3500"/>
              <a:buNone/>
              <a:defRPr>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398" name="Shape 39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399" name="Shape 399"/>
        <p:cNvGrpSpPr/>
        <p:nvPr/>
      </p:nvGrpSpPr>
      <p:grpSpPr>
        <a:xfrm>
          <a:off x="0" y="0"/>
          <a:ext cx="0" cy="0"/>
          <a:chOff x="0" y="0"/>
          <a:chExt cx="0" cy="0"/>
        </a:xfrm>
      </p:grpSpPr>
      <p:grpSp>
        <p:nvGrpSpPr>
          <p:cNvPr id="400" name="Google Shape;400;p35"/>
          <p:cNvGrpSpPr/>
          <p:nvPr/>
        </p:nvGrpSpPr>
        <p:grpSpPr>
          <a:xfrm rot="10800000">
            <a:off x="7806157" y="3942035"/>
            <a:ext cx="1173754" cy="805917"/>
            <a:chOff x="804550" y="3006847"/>
            <a:chExt cx="2215048" cy="1520885"/>
          </a:xfrm>
        </p:grpSpPr>
        <p:sp>
          <p:nvSpPr>
            <p:cNvPr id="401" name="Google Shape;401;p35"/>
            <p:cNvSpPr/>
            <p:nvPr/>
          </p:nvSpPr>
          <p:spPr>
            <a:xfrm>
              <a:off x="804550" y="3175325"/>
              <a:ext cx="1039817" cy="103812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35"/>
            <p:cNvSpPr/>
            <p:nvPr/>
          </p:nvSpPr>
          <p:spPr>
            <a:xfrm>
              <a:off x="1240267" y="3006847"/>
              <a:ext cx="1779321" cy="152088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5"/>
            <p:cNvSpPr/>
            <p:nvPr/>
          </p:nvSpPr>
          <p:spPr>
            <a:xfrm>
              <a:off x="1332578" y="3099089"/>
              <a:ext cx="1687012" cy="1336371"/>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35"/>
            <p:cNvSpPr/>
            <p:nvPr/>
          </p:nvSpPr>
          <p:spPr>
            <a:xfrm>
              <a:off x="1424820" y="3191331"/>
              <a:ext cx="1594773" cy="1151892"/>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35"/>
            <p:cNvSpPr/>
            <p:nvPr/>
          </p:nvSpPr>
          <p:spPr>
            <a:xfrm>
              <a:off x="1517097" y="3283608"/>
              <a:ext cx="1502499" cy="967309"/>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35"/>
            <p:cNvSpPr/>
            <p:nvPr/>
          </p:nvSpPr>
          <p:spPr>
            <a:xfrm>
              <a:off x="1609339" y="3375850"/>
              <a:ext cx="1410259" cy="782899"/>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7" name="Google Shape;407;p35"/>
          <p:cNvGrpSpPr/>
          <p:nvPr/>
        </p:nvGrpSpPr>
        <p:grpSpPr>
          <a:xfrm rot="10800000">
            <a:off x="2068126" y="214015"/>
            <a:ext cx="805965" cy="1173807"/>
            <a:chOff x="6849501" y="3770539"/>
            <a:chExt cx="805965" cy="1173807"/>
          </a:xfrm>
        </p:grpSpPr>
        <p:sp>
          <p:nvSpPr>
            <p:cNvPr id="408" name="Google Shape;408;p35"/>
            <p:cNvSpPr/>
            <p:nvPr/>
          </p:nvSpPr>
          <p:spPr>
            <a:xfrm rot="-5400000">
              <a:off x="6938329" y="4393761"/>
              <a:ext cx="551032" cy="550137"/>
            </a:xfrm>
            <a:custGeom>
              <a:rect b="b" l="l" r="r" t="t"/>
              <a:pathLst>
                <a:path extrusionOk="0" h="30095" w="30144">
                  <a:moveTo>
                    <a:pt x="1" y="1"/>
                  </a:moveTo>
                  <a:lnTo>
                    <a:pt x="1" y="10024"/>
                  </a:lnTo>
                  <a:lnTo>
                    <a:pt x="10518" y="10024"/>
                  </a:lnTo>
                  <a:lnTo>
                    <a:pt x="10518" y="20046"/>
                  </a:lnTo>
                  <a:lnTo>
                    <a:pt x="20095" y="20046"/>
                  </a:lnTo>
                  <a:lnTo>
                    <a:pt x="20095" y="30094"/>
                  </a:lnTo>
                  <a:lnTo>
                    <a:pt x="30143" y="30094"/>
                  </a:lnTo>
                  <a:lnTo>
                    <a:pt x="30143" y="20046"/>
                  </a:lnTo>
                  <a:lnTo>
                    <a:pt x="30143" y="10024"/>
                  </a:lnTo>
                  <a:lnTo>
                    <a:pt x="30143"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35"/>
            <p:cNvSpPr/>
            <p:nvPr/>
          </p:nvSpPr>
          <p:spPr>
            <a:xfrm rot="-5400000">
              <a:off x="6781024" y="3839016"/>
              <a:ext cx="942919" cy="805965"/>
            </a:xfrm>
            <a:custGeom>
              <a:rect b="b" l="l" r="r" t="t"/>
              <a:pathLst>
                <a:path extrusionOk="0" h="44090" w="51582">
                  <a:moveTo>
                    <a:pt x="22045" y="0"/>
                  </a:moveTo>
                  <a:cubicBezTo>
                    <a:pt x="9891" y="0"/>
                    <a:pt x="1" y="9890"/>
                    <a:pt x="1" y="22045"/>
                  </a:cubicBezTo>
                  <a:cubicBezTo>
                    <a:pt x="1" y="34199"/>
                    <a:pt x="9891" y="44089"/>
                    <a:pt x="22045" y="44089"/>
                  </a:cubicBezTo>
                  <a:lnTo>
                    <a:pt x="51581" y="44089"/>
                  </a:lnTo>
                  <a:lnTo>
                    <a:pt x="51581" y="43639"/>
                  </a:lnTo>
                  <a:lnTo>
                    <a:pt x="22045" y="43639"/>
                  </a:lnTo>
                  <a:cubicBezTo>
                    <a:pt x="10139" y="43639"/>
                    <a:pt x="451" y="33951"/>
                    <a:pt x="451" y="22045"/>
                  </a:cubicBezTo>
                  <a:cubicBezTo>
                    <a:pt x="451" y="10138"/>
                    <a:pt x="10139" y="451"/>
                    <a:pt x="22045" y="451"/>
                  </a:cubicBezTo>
                  <a:lnTo>
                    <a:pt x="51581" y="451"/>
                  </a:lnTo>
                  <a:lnTo>
                    <a:pt x="515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35"/>
            <p:cNvSpPr/>
            <p:nvPr/>
          </p:nvSpPr>
          <p:spPr>
            <a:xfrm rot="-5400000">
              <a:off x="6805472" y="3863449"/>
              <a:ext cx="894002" cy="708185"/>
            </a:xfrm>
            <a:custGeom>
              <a:rect b="b" l="l" r="r" t="t"/>
              <a:pathLst>
                <a:path extrusionOk="0" h="38741" w="48906">
                  <a:moveTo>
                    <a:pt x="19369" y="1"/>
                  </a:moveTo>
                  <a:cubicBezTo>
                    <a:pt x="8690" y="1"/>
                    <a:pt x="1" y="8690"/>
                    <a:pt x="1" y="19371"/>
                  </a:cubicBezTo>
                  <a:cubicBezTo>
                    <a:pt x="1" y="30052"/>
                    <a:pt x="8690" y="38741"/>
                    <a:pt x="19369" y="38741"/>
                  </a:cubicBezTo>
                  <a:lnTo>
                    <a:pt x="48905" y="38741"/>
                  </a:lnTo>
                  <a:lnTo>
                    <a:pt x="48905" y="38291"/>
                  </a:lnTo>
                  <a:lnTo>
                    <a:pt x="19369" y="38291"/>
                  </a:lnTo>
                  <a:cubicBezTo>
                    <a:pt x="8938" y="38291"/>
                    <a:pt x="449" y="29804"/>
                    <a:pt x="449" y="19371"/>
                  </a:cubicBezTo>
                  <a:cubicBezTo>
                    <a:pt x="449" y="8938"/>
                    <a:pt x="8938" y="451"/>
                    <a:pt x="19369" y="451"/>
                  </a:cubicBezTo>
                  <a:lnTo>
                    <a:pt x="48905" y="451"/>
                  </a:lnTo>
                  <a:lnTo>
                    <a:pt x="48905"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35"/>
            <p:cNvSpPr/>
            <p:nvPr/>
          </p:nvSpPr>
          <p:spPr>
            <a:xfrm rot="-5400000">
              <a:off x="6829910" y="3887891"/>
              <a:ext cx="845121" cy="610424"/>
            </a:xfrm>
            <a:custGeom>
              <a:rect b="b" l="l" r="r" t="t"/>
              <a:pathLst>
                <a:path extrusionOk="0" h="33393" w="46232">
                  <a:moveTo>
                    <a:pt x="16695" y="1"/>
                  </a:moveTo>
                  <a:cubicBezTo>
                    <a:pt x="7489" y="1"/>
                    <a:pt x="1" y="7491"/>
                    <a:pt x="1" y="16697"/>
                  </a:cubicBezTo>
                  <a:cubicBezTo>
                    <a:pt x="1" y="25903"/>
                    <a:pt x="7489" y="33393"/>
                    <a:pt x="16695" y="33393"/>
                  </a:cubicBezTo>
                  <a:lnTo>
                    <a:pt x="46231" y="33393"/>
                  </a:lnTo>
                  <a:lnTo>
                    <a:pt x="46231" y="32943"/>
                  </a:lnTo>
                  <a:lnTo>
                    <a:pt x="16695" y="32943"/>
                  </a:lnTo>
                  <a:cubicBezTo>
                    <a:pt x="7737" y="32943"/>
                    <a:pt x="449" y="25655"/>
                    <a:pt x="449" y="16697"/>
                  </a:cubicBezTo>
                  <a:cubicBezTo>
                    <a:pt x="449" y="7739"/>
                    <a:pt x="7737" y="451"/>
                    <a:pt x="16695" y="451"/>
                  </a:cubicBezTo>
                  <a:lnTo>
                    <a:pt x="46231" y="451"/>
                  </a:lnTo>
                  <a:lnTo>
                    <a:pt x="46231"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35"/>
            <p:cNvSpPr/>
            <p:nvPr/>
          </p:nvSpPr>
          <p:spPr>
            <a:xfrm rot="-5400000">
              <a:off x="6854349" y="3912352"/>
              <a:ext cx="796222" cy="512608"/>
            </a:xfrm>
            <a:custGeom>
              <a:rect b="b" l="l" r="r" t="t"/>
              <a:pathLst>
                <a:path extrusionOk="0" h="28042" w="43557">
                  <a:moveTo>
                    <a:pt x="14022" y="0"/>
                  </a:moveTo>
                  <a:cubicBezTo>
                    <a:pt x="6289" y="0"/>
                    <a:pt x="0" y="6291"/>
                    <a:pt x="0" y="14022"/>
                  </a:cubicBezTo>
                  <a:cubicBezTo>
                    <a:pt x="0" y="21753"/>
                    <a:pt x="6289" y="28042"/>
                    <a:pt x="14022" y="28042"/>
                  </a:cubicBezTo>
                  <a:lnTo>
                    <a:pt x="43556" y="28042"/>
                  </a:lnTo>
                  <a:lnTo>
                    <a:pt x="43556" y="27593"/>
                  </a:lnTo>
                  <a:lnTo>
                    <a:pt x="14022" y="27593"/>
                  </a:lnTo>
                  <a:cubicBezTo>
                    <a:pt x="6537" y="27593"/>
                    <a:pt x="450" y="21505"/>
                    <a:pt x="450" y="14022"/>
                  </a:cubicBezTo>
                  <a:cubicBezTo>
                    <a:pt x="450" y="6539"/>
                    <a:pt x="6537" y="450"/>
                    <a:pt x="14022" y="450"/>
                  </a:cubicBezTo>
                  <a:lnTo>
                    <a:pt x="43556" y="450"/>
                  </a:lnTo>
                  <a:lnTo>
                    <a:pt x="4355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35"/>
            <p:cNvSpPr/>
            <p:nvPr/>
          </p:nvSpPr>
          <p:spPr>
            <a:xfrm rot="-5400000">
              <a:off x="6878806" y="3936776"/>
              <a:ext cx="747341" cy="414883"/>
            </a:xfrm>
            <a:custGeom>
              <a:rect b="b" l="l" r="r" t="t"/>
              <a:pathLst>
                <a:path extrusionOk="0" h="22696" w="40883">
                  <a:moveTo>
                    <a:pt x="11348" y="0"/>
                  </a:moveTo>
                  <a:cubicBezTo>
                    <a:pt x="5090" y="0"/>
                    <a:pt x="0" y="5090"/>
                    <a:pt x="0" y="11348"/>
                  </a:cubicBezTo>
                  <a:cubicBezTo>
                    <a:pt x="0" y="17603"/>
                    <a:pt x="5090" y="22695"/>
                    <a:pt x="11348" y="22695"/>
                  </a:cubicBezTo>
                  <a:lnTo>
                    <a:pt x="40882" y="22695"/>
                  </a:lnTo>
                  <a:lnTo>
                    <a:pt x="40882" y="22245"/>
                  </a:lnTo>
                  <a:lnTo>
                    <a:pt x="11348" y="22245"/>
                  </a:lnTo>
                  <a:cubicBezTo>
                    <a:pt x="5338" y="22245"/>
                    <a:pt x="451" y="17357"/>
                    <a:pt x="451" y="11348"/>
                  </a:cubicBezTo>
                  <a:cubicBezTo>
                    <a:pt x="451" y="5338"/>
                    <a:pt x="5338" y="450"/>
                    <a:pt x="11348" y="450"/>
                  </a:cubicBezTo>
                  <a:lnTo>
                    <a:pt x="40882" y="450"/>
                  </a:lnTo>
                  <a:lnTo>
                    <a:pt x="40882"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14" name="Google Shape;414;p35"/>
          <p:cNvGrpSpPr/>
          <p:nvPr/>
        </p:nvGrpSpPr>
        <p:grpSpPr>
          <a:xfrm>
            <a:off x="4175574" y="433467"/>
            <a:ext cx="1517234" cy="203069"/>
            <a:chOff x="4175574" y="433467"/>
            <a:chExt cx="1517234" cy="203069"/>
          </a:xfrm>
        </p:grpSpPr>
        <p:sp>
          <p:nvSpPr>
            <p:cNvPr id="415" name="Google Shape;415;p35"/>
            <p:cNvSpPr/>
            <p:nvPr/>
          </p:nvSpPr>
          <p:spPr>
            <a:xfrm rot="10800000">
              <a:off x="4175574" y="502644"/>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5"/>
            <p:cNvSpPr/>
            <p:nvPr/>
          </p:nvSpPr>
          <p:spPr>
            <a:xfrm rot="10800000">
              <a:off x="4280609" y="528923"/>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35"/>
            <p:cNvSpPr/>
            <p:nvPr/>
          </p:nvSpPr>
          <p:spPr>
            <a:xfrm rot="10800000">
              <a:off x="4832644" y="433467"/>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35"/>
            <p:cNvSpPr/>
            <p:nvPr/>
          </p:nvSpPr>
          <p:spPr>
            <a:xfrm rot="10800000">
              <a:off x="4797131" y="454388"/>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35"/>
            <p:cNvSpPr/>
            <p:nvPr/>
          </p:nvSpPr>
          <p:spPr>
            <a:xfrm rot="10800000">
              <a:off x="4748305" y="481669"/>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5"/>
            <p:cNvSpPr/>
            <p:nvPr/>
          </p:nvSpPr>
          <p:spPr>
            <a:xfrm rot="10800000">
              <a:off x="4566725" y="482562"/>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35"/>
            <p:cNvSpPr/>
            <p:nvPr/>
          </p:nvSpPr>
          <p:spPr>
            <a:xfrm rot="10800000">
              <a:off x="4566779" y="482562"/>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35"/>
            <p:cNvSpPr/>
            <p:nvPr/>
          </p:nvSpPr>
          <p:spPr>
            <a:xfrm rot="10800000">
              <a:off x="4398459" y="460829"/>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5"/>
            <p:cNvSpPr/>
            <p:nvPr/>
          </p:nvSpPr>
          <p:spPr>
            <a:xfrm rot="10800000">
              <a:off x="4203588" y="453955"/>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35"/>
            <p:cNvSpPr/>
            <p:nvPr/>
          </p:nvSpPr>
          <p:spPr>
            <a:xfrm rot="10800000">
              <a:off x="5627392" y="502644"/>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35"/>
            <p:cNvSpPr/>
            <p:nvPr/>
          </p:nvSpPr>
          <p:spPr>
            <a:xfrm rot="10800000">
              <a:off x="5059071" y="454388"/>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35"/>
            <p:cNvSpPr/>
            <p:nvPr/>
          </p:nvSpPr>
          <p:spPr>
            <a:xfrm rot="10800000">
              <a:off x="5107843" y="481669"/>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35"/>
            <p:cNvSpPr/>
            <p:nvPr/>
          </p:nvSpPr>
          <p:spPr>
            <a:xfrm rot="10800000">
              <a:off x="5196781" y="482562"/>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35"/>
            <p:cNvSpPr/>
            <p:nvPr/>
          </p:nvSpPr>
          <p:spPr>
            <a:xfrm rot="10800000">
              <a:off x="5196781" y="482562"/>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35"/>
            <p:cNvSpPr/>
            <p:nvPr/>
          </p:nvSpPr>
          <p:spPr>
            <a:xfrm rot="10800000">
              <a:off x="5368863" y="460829"/>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35"/>
            <p:cNvSpPr/>
            <p:nvPr/>
          </p:nvSpPr>
          <p:spPr>
            <a:xfrm rot="10800000">
              <a:off x="5541731" y="453955"/>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1" name="Google Shape;431;p35"/>
          <p:cNvGrpSpPr/>
          <p:nvPr/>
        </p:nvGrpSpPr>
        <p:grpSpPr>
          <a:xfrm>
            <a:off x="6437647" y="4337257"/>
            <a:ext cx="450535" cy="410703"/>
            <a:chOff x="4708922" y="4403157"/>
            <a:chExt cx="450535" cy="410703"/>
          </a:xfrm>
        </p:grpSpPr>
        <p:sp>
          <p:nvSpPr>
            <p:cNvPr id="432" name="Google Shape;432;p35"/>
            <p:cNvSpPr/>
            <p:nvPr/>
          </p:nvSpPr>
          <p:spPr>
            <a:xfrm>
              <a:off x="4799768" y="44325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35"/>
            <p:cNvSpPr/>
            <p:nvPr/>
          </p:nvSpPr>
          <p:spPr>
            <a:xfrm>
              <a:off x="4709117" y="45385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35"/>
            <p:cNvSpPr/>
            <p:nvPr/>
          </p:nvSpPr>
          <p:spPr>
            <a:xfrm>
              <a:off x="4929295" y="44326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5"/>
            <p:cNvSpPr/>
            <p:nvPr/>
          </p:nvSpPr>
          <p:spPr>
            <a:xfrm>
              <a:off x="4928201" y="44031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6" name="Google Shape;436;p35"/>
            <p:cNvSpPr/>
            <p:nvPr/>
          </p:nvSpPr>
          <p:spPr>
            <a:xfrm>
              <a:off x="4932462" y="45382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7" name="Google Shape;437;p35"/>
            <p:cNvSpPr/>
            <p:nvPr/>
          </p:nvSpPr>
          <p:spPr>
            <a:xfrm>
              <a:off x="4799710" y="46048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8" name="Google Shape;438;p35"/>
            <p:cNvSpPr/>
            <p:nvPr/>
          </p:nvSpPr>
          <p:spPr>
            <a:xfrm>
              <a:off x="4708922" y="46028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35"/>
            <p:cNvSpPr/>
            <p:nvPr/>
          </p:nvSpPr>
          <p:spPr>
            <a:xfrm>
              <a:off x="4929374" y="46047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35"/>
            <p:cNvSpPr/>
            <p:nvPr/>
          </p:nvSpPr>
          <p:spPr>
            <a:xfrm>
              <a:off x="4928201" y="46084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35"/>
            <p:cNvSpPr/>
            <p:nvPr/>
          </p:nvSpPr>
          <p:spPr>
            <a:xfrm>
              <a:off x="4932657" y="46031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35"/>
            <p:cNvSpPr/>
            <p:nvPr/>
          </p:nvSpPr>
          <p:spPr>
            <a:xfrm>
              <a:off x="4735992" y="44842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35"/>
            <p:cNvSpPr/>
            <p:nvPr/>
          </p:nvSpPr>
          <p:spPr>
            <a:xfrm>
              <a:off x="4823242" y="45075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35"/>
            <p:cNvSpPr/>
            <p:nvPr/>
          </p:nvSpPr>
          <p:spPr>
            <a:xfrm>
              <a:off x="4833113" y="45075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5" name="Google Shape;445;p35"/>
          <p:cNvGrpSpPr/>
          <p:nvPr/>
        </p:nvGrpSpPr>
        <p:grpSpPr>
          <a:xfrm>
            <a:off x="8316404" y="1095296"/>
            <a:ext cx="345754" cy="576812"/>
            <a:chOff x="1188110" y="553396"/>
            <a:chExt cx="620854" cy="1035940"/>
          </a:xfrm>
        </p:grpSpPr>
        <p:sp>
          <p:nvSpPr>
            <p:cNvPr id="446" name="Google Shape;446;p35"/>
            <p:cNvSpPr/>
            <p:nvPr/>
          </p:nvSpPr>
          <p:spPr>
            <a:xfrm>
              <a:off x="1283836" y="945270"/>
              <a:ext cx="429359" cy="429359"/>
            </a:xfrm>
            <a:custGeom>
              <a:rect b="b" l="l" r="r" t="t"/>
              <a:pathLst>
                <a:path extrusionOk="0" h="12447" w="12447">
                  <a:moveTo>
                    <a:pt x="6224" y="0"/>
                  </a:moveTo>
                  <a:cubicBezTo>
                    <a:pt x="2787" y="0"/>
                    <a:pt x="0" y="2785"/>
                    <a:pt x="0" y="6223"/>
                  </a:cubicBezTo>
                  <a:cubicBezTo>
                    <a:pt x="0" y="9660"/>
                    <a:pt x="2787" y="12447"/>
                    <a:pt x="6224" y="12447"/>
                  </a:cubicBezTo>
                  <a:cubicBezTo>
                    <a:pt x="9661" y="12447"/>
                    <a:pt x="12446" y="9660"/>
                    <a:pt x="12446" y="6223"/>
                  </a:cubicBezTo>
                  <a:cubicBezTo>
                    <a:pt x="12446" y="2785"/>
                    <a:pt x="9661" y="0"/>
                    <a:pt x="622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35"/>
            <p:cNvSpPr/>
            <p:nvPr/>
          </p:nvSpPr>
          <p:spPr>
            <a:xfrm>
              <a:off x="1283836" y="1374605"/>
              <a:ext cx="429359" cy="214731"/>
            </a:xfrm>
            <a:custGeom>
              <a:rect b="b" l="l" r="r" t="t"/>
              <a:pathLst>
                <a:path extrusionOk="0" h="6225" w="12447">
                  <a:moveTo>
                    <a:pt x="6224" y="1"/>
                  </a:moveTo>
                  <a:cubicBezTo>
                    <a:pt x="2787" y="1"/>
                    <a:pt x="0" y="2787"/>
                    <a:pt x="0" y="6225"/>
                  </a:cubicBezTo>
                  <a:lnTo>
                    <a:pt x="12446" y="6225"/>
                  </a:lnTo>
                  <a:cubicBezTo>
                    <a:pt x="12446" y="2787"/>
                    <a:pt x="9661" y="1"/>
                    <a:pt x="6224" y="1"/>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35"/>
            <p:cNvSpPr/>
            <p:nvPr/>
          </p:nvSpPr>
          <p:spPr>
            <a:xfrm>
              <a:off x="1302567" y="553396"/>
              <a:ext cx="391898" cy="391898"/>
            </a:xfrm>
            <a:custGeom>
              <a:rect b="b" l="l" r="r" t="t"/>
              <a:pathLst>
                <a:path extrusionOk="0" h="11361" w="11361">
                  <a:moveTo>
                    <a:pt x="5681" y="1"/>
                  </a:moveTo>
                  <a:lnTo>
                    <a:pt x="0" y="5680"/>
                  </a:lnTo>
                  <a:lnTo>
                    <a:pt x="5681" y="11360"/>
                  </a:lnTo>
                  <a:lnTo>
                    <a:pt x="11360" y="5680"/>
                  </a:lnTo>
                  <a:lnTo>
                    <a:pt x="568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35"/>
            <p:cNvSpPr/>
            <p:nvPr/>
          </p:nvSpPr>
          <p:spPr>
            <a:xfrm>
              <a:off x="1723071" y="741537"/>
              <a:ext cx="85893" cy="15557"/>
            </a:xfrm>
            <a:custGeom>
              <a:rect b="b" l="l" r="r" t="t"/>
              <a:pathLst>
                <a:path extrusionOk="0" h="451" w="2490">
                  <a:moveTo>
                    <a:pt x="0" y="1"/>
                  </a:moveTo>
                  <a:lnTo>
                    <a:pt x="0"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35"/>
            <p:cNvSpPr/>
            <p:nvPr/>
          </p:nvSpPr>
          <p:spPr>
            <a:xfrm>
              <a:off x="1188110" y="741537"/>
              <a:ext cx="85927" cy="15557"/>
            </a:xfrm>
            <a:custGeom>
              <a:rect b="b" l="l" r="r" t="t"/>
              <a:pathLst>
                <a:path extrusionOk="0" h="451" w="2491">
                  <a:moveTo>
                    <a:pt x="1" y="1"/>
                  </a:moveTo>
                  <a:lnTo>
                    <a:pt x="1" y="451"/>
                  </a:lnTo>
                  <a:lnTo>
                    <a:pt x="2490" y="451"/>
                  </a:lnTo>
                  <a:lnTo>
                    <a:pt x="249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35"/>
            <p:cNvSpPr/>
            <p:nvPr/>
          </p:nvSpPr>
          <p:spPr>
            <a:xfrm>
              <a:off x="1659565" y="632668"/>
              <a:ext cx="132185" cy="62332"/>
            </a:xfrm>
            <a:custGeom>
              <a:rect b="b" l="l" r="r" t="t"/>
              <a:pathLst>
                <a:path extrusionOk="0" h="1807" w="3832">
                  <a:moveTo>
                    <a:pt x="3673" y="1"/>
                  </a:moveTo>
                  <a:lnTo>
                    <a:pt x="0" y="1384"/>
                  </a:lnTo>
                  <a:lnTo>
                    <a:pt x="158" y="1806"/>
                  </a:lnTo>
                  <a:lnTo>
                    <a:pt x="3831" y="421"/>
                  </a:lnTo>
                  <a:lnTo>
                    <a:pt x="3673"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35"/>
            <p:cNvSpPr/>
            <p:nvPr/>
          </p:nvSpPr>
          <p:spPr>
            <a:xfrm>
              <a:off x="1205288" y="803871"/>
              <a:ext cx="132012" cy="62263"/>
            </a:xfrm>
            <a:custGeom>
              <a:rect b="b" l="l" r="r" t="t"/>
              <a:pathLst>
                <a:path extrusionOk="0" h="1805" w="3827">
                  <a:moveTo>
                    <a:pt x="3666" y="1"/>
                  </a:moveTo>
                  <a:lnTo>
                    <a:pt x="0" y="1383"/>
                  </a:lnTo>
                  <a:lnTo>
                    <a:pt x="158" y="1805"/>
                  </a:lnTo>
                  <a:lnTo>
                    <a:pt x="3826" y="423"/>
                  </a:lnTo>
                  <a:lnTo>
                    <a:pt x="3666"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p35"/>
            <p:cNvSpPr/>
            <p:nvPr/>
          </p:nvSpPr>
          <p:spPr>
            <a:xfrm>
              <a:off x="1658702" y="803388"/>
              <a:ext cx="132909" cy="62574"/>
            </a:xfrm>
            <a:custGeom>
              <a:rect b="b" l="l" r="r" t="t"/>
              <a:pathLst>
                <a:path extrusionOk="0" h="1814" w="3853">
                  <a:moveTo>
                    <a:pt x="161" y="1"/>
                  </a:moveTo>
                  <a:lnTo>
                    <a:pt x="1" y="421"/>
                  </a:lnTo>
                  <a:lnTo>
                    <a:pt x="3695" y="1814"/>
                  </a:lnTo>
                  <a:lnTo>
                    <a:pt x="3853" y="1392"/>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35"/>
            <p:cNvSpPr/>
            <p:nvPr/>
          </p:nvSpPr>
          <p:spPr>
            <a:xfrm>
              <a:off x="1205323" y="632668"/>
              <a:ext cx="132944" cy="62574"/>
            </a:xfrm>
            <a:custGeom>
              <a:rect b="b" l="l" r="r" t="t"/>
              <a:pathLst>
                <a:path extrusionOk="0" h="1814" w="3854">
                  <a:moveTo>
                    <a:pt x="161" y="1"/>
                  </a:moveTo>
                  <a:lnTo>
                    <a:pt x="1" y="423"/>
                  </a:lnTo>
                  <a:lnTo>
                    <a:pt x="3695" y="1813"/>
                  </a:lnTo>
                  <a:lnTo>
                    <a:pt x="3853" y="1393"/>
                  </a:lnTo>
                  <a:lnTo>
                    <a:pt x="16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5" name="Google Shape;455;p35"/>
          <p:cNvGrpSpPr/>
          <p:nvPr/>
        </p:nvGrpSpPr>
        <p:grpSpPr>
          <a:xfrm>
            <a:off x="3072311" y="4441067"/>
            <a:ext cx="1517235" cy="203069"/>
            <a:chOff x="1912961" y="4405442"/>
            <a:chExt cx="1517235" cy="203069"/>
          </a:xfrm>
        </p:grpSpPr>
        <p:sp>
          <p:nvSpPr>
            <p:cNvPr id="456" name="Google Shape;456;p35"/>
            <p:cNvSpPr/>
            <p:nvPr/>
          </p:nvSpPr>
          <p:spPr>
            <a:xfrm rot="10800000">
              <a:off x="1912961" y="4474619"/>
              <a:ext cx="65443" cy="65416"/>
            </a:xfrm>
            <a:custGeom>
              <a:rect b="b" l="l" r="r" t="t"/>
              <a:pathLst>
                <a:path extrusionOk="0" h="2417" w="2418">
                  <a:moveTo>
                    <a:pt x="1210" y="1"/>
                  </a:moveTo>
                  <a:cubicBezTo>
                    <a:pt x="542" y="1"/>
                    <a:pt x="0" y="540"/>
                    <a:pt x="0" y="1209"/>
                  </a:cubicBezTo>
                  <a:cubicBezTo>
                    <a:pt x="0" y="1877"/>
                    <a:pt x="542" y="2416"/>
                    <a:pt x="1210" y="2416"/>
                  </a:cubicBezTo>
                  <a:cubicBezTo>
                    <a:pt x="1876" y="2416"/>
                    <a:pt x="2418" y="1877"/>
                    <a:pt x="2418" y="1209"/>
                  </a:cubicBezTo>
                  <a:cubicBezTo>
                    <a:pt x="2418" y="542"/>
                    <a:pt x="1876" y="1"/>
                    <a:pt x="121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35"/>
            <p:cNvSpPr/>
            <p:nvPr/>
          </p:nvSpPr>
          <p:spPr>
            <a:xfrm rot="10800000">
              <a:off x="2017996" y="4500898"/>
              <a:ext cx="1307158" cy="12152"/>
            </a:xfrm>
            <a:custGeom>
              <a:rect b="b" l="l" r="r" t="t"/>
              <a:pathLst>
                <a:path extrusionOk="0" h="449" w="48297">
                  <a:moveTo>
                    <a:pt x="0" y="1"/>
                  </a:moveTo>
                  <a:lnTo>
                    <a:pt x="0" y="449"/>
                  </a:lnTo>
                  <a:lnTo>
                    <a:pt x="48297" y="449"/>
                  </a:lnTo>
                  <a:lnTo>
                    <a:pt x="4829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35"/>
            <p:cNvSpPr/>
            <p:nvPr/>
          </p:nvSpPr>
          <p:spPr>
            <a:xfrm rot="10800000">
              <a:off x="2570032" y="4405442"/>
              <a:ext cx="203069" cy="203069"/>
            </a:xfrm>
            <a:custGeom>
              <a:rect b="b" l="l" r="r" t="t"/>
              <a:pathLst>
                <a:path extrusionOk="0" h="7503" w="7503">
                  <a:moveTo>
                    <a:pt x="3750" y="1"/>
                  </a:moveTo>
                  <a:lnTo>
                    <a:pt x="0" y="3753"/>
                  </a:lnTo>
                  <a:lnTo>
                    <a:pt x="3750" y="7503"/>
                  </a:lnTo>
                  <a:lnTo>
                    <a:pt x="7503" y="3753"/>
                  </a:lnTo>
                  <a:lnTo>
                    <a:pt x="375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35"/>
            <p:cNvSpPr/>
            <p:nvPr/>
          </p:nvSpPr>
          <p:spPr>
            <a:xfrm rot="10800000">
              <a:off x="2534519" y="4426363"/>
              <a:ext cx="12179" cy="161199"/>
            </a:xfrm>
            <a:custGeom>
              <a:rect b="b" l="l" r="r" t="t"/>
              <a:pathLst>
                <a:path extrusionOk="0" h="5956" w="450">
                  <a:moveTo>
                    <a:pt x="1" y="0"/>
                  </a:moveTo>
                  <a:lnTo>
                    <a:pt x="1" y="5955"/>
                  </a:lnTo>
                  <a:lnTo>
                    <a:pt x="449" y="5955"/>
                  </a:lnTo>
                  <a:lnTo>
                    <a:pt x="44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35"/>
            <p:cNvSpPr/>
            <p:nvPr/>
          </p:nvSpPr>
          <p:spPr>
            <a:xfrm rot="10800000">
              <a:off x="2485693" y="4453644"/>
              <a:ext cx="12233" cy="106663"/>
            </a:xfrm>
            <a:custGeom>
              <a:rect b="b" l="l" r="r" t="t"/>
              <a:pathLst>
                <a:path extrusionOk="0" h="3941" w="452">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5"/>
            <p:cNvSpPr/>
            <p:nvPr/>
          </p:nvSpPr>
          <p:spPr>
            <a:xfrm rot="10800000">
              <a:off x="2304112" y="4454537"/>
              <a:ext cx="104850" cy="104850"/>
            </a:xfrm>
            <a:custGeom>
              <a:rect b="b" l="l" r="r" t="t"/>
              <a:pathLst>
                <a:path extrusionOk="0" h="3874" w="3874">
                  <a:moveTo>
                    <a:pt x="3553" y="0"/>
                  </a:moveTo>
                  <a:lnTo>
                    <a:pt x="0" y="3555"/>
                  </a:lnTo>
                  <a:lnTo>
                    <a:pt x="318" y="3873"/>
                  </a:lnTo>
                  <a:lnTo>
                    <a:pt x="3873" y="318"/>
                  </a:lnTo>
                  <a:lnTo>
                    <a:pt x="3553"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35"/>
            <p:cNvSpPr/>
            <p:nvPr/>
          </p:nvSpPr>
          <p:spPr>
            <a:xfrm rot="10800000">
              <a:off x="2304166" y="4454537"/>
              <a:ext cx="104796" cy="104850"/>
            </a:xfrm>
            <a:custGeom>
              <a:rect b="b" l="l" r="r" t="t"/>
              <a:pathLst>
                <a:path extrusionOk="0" h="3874" w="3872">
                  <a:moveTo>
                    <a:pt x="318" y="0"/>
                  </a:moveTo>
                  <a:lnTo>
                    <a:pt x="0" y="320"/>
                  </a:lnTo>
                  <a:lnTo>
                    <a:pt x="3553" y="3873"/>
                  </a:lnTo>
                  <a:lnTo>
                    <a:pt x="3872" y="3555"/>
                  </a:lnTo>
                  <a:lnTo>
                    <a:pt x="318"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35"/>
            <p:cNvSpPr/>
            <p:nvPr/>
          </p:nvSpPr>
          <p:spPr>
            <a:xfrm rot="10800000">
              <a:off x="2135846" y="4432804"/>
              <a:ext cx="101061" cy="145204"/>
            </a:xfrm>
            <a:custGeom>
              <a:rect b="b" l="l" r="r" t="t"/>
              <a:pathLst>
                <a:path extrusionOk="0" h="5365" w="3734">
                  <a:moveTo>
                    <a:pt x="2682" y="1"/>
                  </a:moveTo>
                  <a:cubicBezTo>
                    <a:pt x="1202" y="1"/>
                    <a:pt x="1" y="1202"/>
                    <a:pt x="1" y="2682"/>
                  </a:cubicBezTo>
                  <a:cubicBezTo>
                    <a:pt x="1" y="4164"/>
                    <a:pt x="1202" y="5365"/>
                    <a:pt x="2682" y="5365"/>
                  </a:cubicBezTo>
                  <a:cubicBezTo>
                    <a:pt x="3055" y="5365"/>
                    <a:pt x="3410" y="5288"/>
                    <a:pt x="3733" y="5150"/>
                  </a:cubicBezTo>
                  <a:cubicBezTo>
                    <a:pt x="2775" y="4741"/>
                    <a:pt x="2102" y="3791"/>
                    <a:pt x="2102" y="2682"/>
                  </a:cubicBezTo>
                  <a:cubicBezTo>
                    <a:pt x="2102" y="1574"/>
                    <a:pt x="2775" y="623"/>
                    <a:pt x="3733" y="215"/>
                  </a:cubicBezTo>
                  <a:cubicBezTo>
                    <a:pt x="3410" y="76"/>
                    <a:pt x="3055" y="1"/>
                    <a:pt x="2682"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35"/>
            <p:cNvSpPr/>
            <p:nvPr/>
          </p:nvSpPr>
          <p:spPr>
            <a:xfrm rot="10800000">
              <a:off x="1940975" y="4425930"/>
              <a:ext cx="123092" cy="162065"/>
            </a:xfrm>
            <a:custGeom>
              <a:rect b="b" l="l" r="r" t="t"/>
              <a:pathLst>
                <a:path extrusionOk="0" h="5988" w="4548">
                  <a:moveTo>
                    <a:pt x="1" y="0"/>
                  </a:moveTo>
                  <a:lnTo>
                    <a:pt x="1" y="5987"/>
                  </a:lnTo>
                  <a:lnTo>
                    <a:pt x="4547" y="2995"/>
                  </a:lnTo>
                  <a:lnTo>
                    <a:pt x="1"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35"/>
            <p:cNvSpPr/>
            <p:nvPr/>
          </p:nvSpPr>
          <p:spPr>
            <a:xfrm rot="10800000">
              <a:off x="3364780" y="4474619"/>
              <a:ext cx="65416" cy="65416"/>
            </a:xfrm>
            <a:custGeom>
              <a:rect b="b" l="l" r="r" t="t"/>
              <a:pathLst>
                <a:path extrusionOk="0" h="2417" w="2417">
                  <a:moveTo>
                    <a:pt x="1209" y="1"/>
                  </a:moveTo>
                  <a:cubicBezTo>
                    <a:pt x="541" y="1"/>
                    <a:pt x="1" y="540"/>
                    <a:pt x="1" y="1209"/>
                  </a:cubicBezTo>
                  <a:cubicBezTo>
                    <a:pt x="1" y="1877"/>
                    <a:pt x="541" y="2416"/>
                    <a:pt x="1209" y="2416"/>
                  </a:cubicBezTo>
                  <a:cubicBezTo>
                    <a:pt x="1875" y="2416"/>
                    <a:pt x="2417" y="1877"/>
                    <a:pt x="2417" y="1209"/>
                  </a:cubicBezTo>
                  <a:cubicBezTo>
                    <a:pt x="2417" y="542"/>
                    <a:pt x="1875" y="1"/>
                    <a:pt x="1209"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35"/>
            <p:cNvSpPr/>
            <p:nvPr/>
          </p:nvSpPr>
          <p:spPr>
            <a:xfrm rot="10800000">
              <a:off x="2796458" y="4426363"/>
              <a:ext cx="12206" cy="161199"/>
            </a:xfrm>
            <a:custGeom>
              <a:rect b="b" l="l" r="r" t="t"/>
              <a:pathLst>
                <a:path extrusionOk="0" h="5956" w="451">
                  <a:moveTo>
                    <a:pt x="1" y="0"/>
                  </a:moveTo>
                  <a:lnTo>
                    <a:pt x="1" y="5955"/>
                  </a:lnTo>
                  <a:lnTo>
                    <a:pt x="451" y="5955"/>
                  </a:lnTo>
                  <a:lnTo>
                    <a:pt x="45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35"/>
            <p:cNvSpPr/>
            <p:nvPr/>
          </p:nvSpPr>
          <p:spPr>
            <a:xfrm rot="10800000">
              <a:off x="2845230" y="4453644"/>
              <a:ext cx="12206" cy="106663"/>
            </a:xfrm>
            <a:custGeom>
              <a:rect b="b" l="l" r="r" t="t"/>
              <a:pathLst>
                <a:path extrusionOk="0" h="3941" w="451">
                  <a:moveTo>
                    <a:pt x="1" y="1"/>
                  </a:moveTo>
                  <a:lnTo>
                    <a:pt x="1" y="3941"/>
                  </a:lnTo>
                  <a:lnTo>
                    <a:pt x="451" y="3941"/>
                  </a:lnTo>
                  <a:lnTo>
                    <a:pt x="451"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35"/>
            <p:cNvSpPr/>
            <p:nvPr/>
          </p:nvSpPr>
          <p:spPr>
            <a:xfrm rot="10800000">
              <a:off x="2934169" y="4454537"/>
              <a:ext cx="104850" cy="104850"/>
            </a:xfrm>
            <a:custGeom>
              <a:rect b="b" l="l" r="r" t="t"/>
              <a:pathLst>
                <a:path extrusionOk="0" h="3874" w="3874">
                  <a:moveTo>
                    <a:pt x="319" y="0"/>
                  </a:moveTo>
                  <a:lnTo>
                    <a:pt x="0" y="320"/>
                  </a:lnTo>
                  <a:lnTo>
                    <a:pt x="3555" y="3873"/>
                  </a:lnTo>
                  <a:lnTo>
                    <a:pt x="3874" y="3555"/>
                  </a:lnTo>
                  <a:lnTo>
                    <a:pt x="31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35"/>
            <p:cNvSpPr/>
            <p:nvPr/>
          </p:nvSpPr>
          <p:spPr>
            <a:xfrm rot="10800000">
              <a:off x="2934169" y="4454537"/>
              <a:ext cx="104850" cy="104850"/>
            </a:xfrm>
            <a:custGeom>
              <a:rect b="b" l="l" r="r" t="t"/>
              <a:pathLst>
                <a:path extrusionOk="0" h="3874" w="3874">
                  <a:moveTo>
                    <a:pt x="3555" y="0"/>
                  </a:moveTo>
                  <a:lnTo>
                    <a:pt x="0" y="3555"/>
                  </a:lnTo>
                  <a:lnTo>
                    <a:pt x="319" y="3873"/>
                  </a:lnTo>
                  <a:lnTo>
                    <a:pt x="3874" y="320"/>
                  </a:lnTo>
                  <a:lnTo>
                    <a:pt x="355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35"/>
            <p:cNvSpPr/>
            <p:nvPr/>
          </p:nvSpPr>
          <p:spPr>
            <a:xfrm rot="10800000">
              <a:off x="3106251" y="4432804"/>
              <a:ext cx="101034" cy="145204"/>
            </a:xfrm>
            <a:custGeom>
              <a:rect b="b" l="l" r="r" t="t"/>
              <a:pathLst>
                <a:path extrusionOk="0" h="5365" w="3733">
                  <a:moveTo>
                    <a:pt x="1050" y="1"/>
                  </a:moveTo>
                  <a:cubicBezTo>
                    <a:pt x="677" y="1"/>
                    <a:pt x="322" y="76"/>
                    <a:pt x="0" y="215"/>
                  </a:cubicBezTo>
                  <a:cubicBezTo>
                    <a:pt x="959" y="623"/>
                    <a:pt x="1630" y="1574"/>
                    <a:pt x="1630" y="2682"/>
                  </a:cubicBezTo>
                  <a:cubicBezTo>
                    <a:pt x="1630" y="3791"/>
                    <a:pt x="959" y="4741"/>
                    <a:pt x="0" y="5150"/>
                  </a:cubicBezTo>
                  <a:cubicBezTo>
                    <a:pt x="322" y="5288"/>
                    <a:pt x="677" y="5365"/>
                    <a:pt x="1050" y="5365"/>
                  </a:cubicBezTo>
                  <a:cubicBezTo>
                    <a:pt x="2532" y="5365"/>
                    <a:pt x="3733" y="4164"/>
                    <a:pt x="3733" y="2682"/>
                  </a:cubicBezTo>
                  <a:cubicBezTo>
                    <a:pt x="3733" y="1202"/>
                    <a:pt x="2532" y="1"/>
                    <a:pt x="1050"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35"/>
            <p:cNvSpPr/>
            <p:nvPr/>
          </p:nvSpPr>
          <p:spPr>
            <a:xfrm rot="10800000">
              <a:off x="3279118" y="4425930"/>
              <a:ext cx="123037" cy="162065"/>
            </a:xfrm>
            <a:custGeom>
              <a:rect b="b" l="l" r="r" t="t"/>
              <a:pathLst>
                <a:path extrusionOk="0" h="5988" w="4546">
                  <a:moveTo>
                    <a:pt x="4545" y="0"/>
                  </a:moveTo>
                  <a:lnTo>
                    <a:pt x="0" y="2995"/>
                  </a:lnTo>
                  <a:lnTo>
                    <a:pt x="4545" y="5987"/>
                  </a:lnTo>
                  <a:lnTo>
                    <a:pt x="4545"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2" name="Google Shape;472;p35"/>
          <p:cNvGrpSpPr/>
          <p:nvPr/>
        </p:nvGrpSpPr>
        <p:grpSpPr>
          <a:xfrm>
            <a:off x="7156028" y="381588"/>
            <a:ext cx="410682" cy="410682"/>
            <a:chOff x="2946260" y="1813841"/>
            <a:chExt cx="564511" cy="564511"/>
          </a:xfrm>
        </p:grpSpPr>
        <p:sp>
          <p:nvSpPr>
            <p:cNvPr id="473" name="Google Shape;473;p35"/>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35"/>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35"/>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6" name="Google Shape;476;p35"/>
          <p:cNvGrpSpPr/>
          <p:nvPr/>
        </p:nvGrpSpPr>
        <p:grpSpPr>
          <a:xfrm>
            <a:off x="489834" y="1800520"/>
            <a:ext cx="450536" cy="410703"/>
            <a:chOff x="6541834" y="329657"/>
            <a:chExt cx="450536" cy="410703"/>
          </a:xfrm>
        </p:grpSpPr>
        <p:sp>
          <p:nvSpPr>
            <p:cNvPr id="477" name="Google Shape;477;p35"/>
            <p:cNvSpPr/>
            <p:nvPr/>
          </p:nvSpPr>
          <p:spPr>
            <a:xfrm>
              <a:off x="6632681" y="359014"/>
              <a:ext cx="139004" cy="179325"/>
            </a:xfrm>
            <a:custGeom>
              <a:rect b="b" l="l" r="r" t="t"/>
              <a:pathLst>
                <a:path extrusionOk="0" h="9175" w="7112">
                  <a:moveTo>
                    <a:pt x="481" y="0"/>
                  </a:moveTo>
                  <a:lnTo>
                    <a:pt x="1" y="360"/>
                  </a:lnTo>
                  <a:lnTo>
                    <a:pt x="6631" y="9174"/>
                  </a:lnTo>
                  <a:lnTo>
                    <a:pt x="7111" y="8814"/>
                  </a:lnTo>
                  <a:lnTo>
                    <a:pt x="481"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35"/>
            <p:cNvSpPr/>
            <p:nvPr/>
          </p:nvSpPr>
          <p:spPr>
            <a:xfrm>
              <a:off x="6542030" y="465048"/>
              <a:ext cx="226800" cy="75874"/>
            </a:xfrm>
            <a:custGeom>
              <a:rect b="b" l="l" r="r" t="t"/>
              <a:pathLst>
                <a:path extrusionOk="0" h="3882" w="11604">
                  <a:moveTo>
                    <a:pt x="168" y="1"/>
                  </a:moveTo>
                  <a:lnTo>
                    <a:pt x="1" y="578"/>
                  </a:lnTo>
                  <a:lnTo>
                    <a:pt x="11436" y="3881"/>
                  </a:lnTo>
                  <a:lnTo>
                    <a:pt x="11603" y="3305"/>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35"/>
            <p:cNvSpPr/>
            <p:nvPr/>
          </p:nvSpPr>
          <p:spPr>
            <a:xfrm>
              <a:off x="6762208" y="359112"/>
              <a:ext cx="139024" cy="179267"/>
            </a:xfrm>
            <a:custGeom>
              <a:rect b="b" l="l" r="r" t="t"/>
              <a:pathLst>
                <a:path extrusionOk="0" h="9172" w="7113">
                  <a:moveTo>
                    <a:pt x="6634" y="0"/>
                  </a:moveTo>
                  <a:lnTo>
                    <a:pt x="1" y="8811"/>
                  </a:lnTo>
                  <a:lnTo>
                    <a:pt x="479" y="9171"/>
                  </a:lnTo>
                  <a:lnTo>
                    <a:pt x="7113" y="361"/>
                  </a:lnTo>
                  <a:lnTo>
                    <a:pt x="6634"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35"/>
            <p:cNvSpPr/>
            <p:nvPr/>
          </p:nvSpPr>
          <p:spPr>
            <a:xfrm>
              <a:off x="6761113" y="329657"/>
              <a:ext cx="11727" cy="205340"/>
            </a:xfrm>
            <a:custGeom>
              <a:rect b="b" l="l" r="r" t="t"/>
              <a:pathLst>
                <a:path extrusionOk="0" h="10506" w="600">
                  <a:moveTo>
                    <a:pt x="0" y="1"/>
                  </a:moveTo>
                  <a:lnTo>
                    <a:pt x="0" y="10506"/>
                  </a:lnTo>
                  <a:lnTo>
                    <a:pt x="600" y="10506"/>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35"/>
            <p:cNvSpPr/>
            <p:nvPr/>
          </p:nvSpPr>
          <p:spPr>
            <a:xfrm>
              <a:off x="6765374" y="464774"/>
              <a:ext cx="226781" cy="75796"/>
            </a:xfrm>
            <a:custGeom>
              <a:rect b="b" l="l" r="r" t="t"/>
              <a:pathLst>
                <a:path extrusionOk="0" h="3878" w="11603">
                  <a:moveTo>
                    <a:pt x="11437" y="1"/>
                  </a:moveTo>
                  <a:lnTo>
                    <a:pt x="0" y="3301"/>
                  </a:lnTo>
                  <a:lnTo>
                    <a:pt x="167" y="3878"/>
                  </a:lnTo>
                  <a:lnTo>
                    <a:pt x="11603" y="578"/>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35"/>
            <p:cNvSpPr/>
            <p:nvPr/>
          </p:nvSpPr>
          <p:spPr>
            <a:xfrm>
              <a:off x="6632622" y="531385"/>
              <a:ext cx="139063" cy="179286"/>
            </a:xfrm>
            <a:custGeom>
              <a:rect b="b" l="l" r="r" t="t"/>
              <a:pathLst>
                <a:path extrusionOk="0" h="9173" w="7115">
                  <a:moveTo>
                    <a:pt x="6636" y="0"/>
                  </a:moveTo>
                  <a:lnTo>
                    <a:pt x="0" y="8811"/>
                  </a:lnTo>
                  <a:lnTo>
                    <a:pt x="480" y="9173"/>
                  </a:lnTo>
                  <a:lnTo>
                    <a:pt x="7114" y="362"/>
                  </a:lnTo>
                  <a:lnTo>
                    <a:pt x="6636" y="0"/>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5"/>
            <p:cNvSpPr/>
            <p:nvPr/>
          </p:nvSpPr>
          <p:spPr>
            <a:xfrm>
              <a:off x="6541834" y="529313"/>
              <a:ext cx="226820" cy="75796"/>
            </a:xfrm>
            <a:custGeom>
              <a:rect b="b" l="l" r="r" t="t"/>
              <a:pathLst>
                <a:path extrusionOk="0" h="3878" w="11605">
                  <a:moveTo>
                    <a:pt x="11437" y="1"/>
                  </a:moveTo>
                  <a:lnTo>
                    <a:pt x="0" y="3303"/>
                  </a:lnTo>
                  <a:lnTo>
                    <a:pt x="167" y="3878"/>
                  </a:lnTo>
                  <a:lnTo>
                    <a:pt x="11604" y="577"/>
                  </a:lnTo>
                  <a:lnTo>
                    <a:pt x="11437"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35"/>
            <p:cNvSpPr/>
            <p:nvPr/>
          </p:nvSpPr>
          <p:spPr>
            <a:xfrm>
              <a:off x="6762286" y="531268"/>
              <a:ext cx="138945" cy="179345"/>
            </a:xfrm>
            <a:custGeom>
              <a:rect b="b" l="l" r="r" t="t"/>
              <a:pathLst>
                <a:path extrusionOk="0" h="9176" w="7109">
                  <a:moveTo>
                    <a:pt x="480" y="1"/>
                  </a:moveTo>
                  <a:lnTo>
                    <a:pt x="0" y="361"/>
                  </a:lnTo>
                  <a:lnTo>
                    <a:pt x="6630" y="9175"/>
                  </a:lnTo>
                  <a:lnTo>
                    <a:pt x="7109" y="8815"/>
                  </a:lnTo>
                  <a:lnTo>
                    <a:pt x="48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35"/>
            <p:cNvSpPr/>
            <p:nvPr/>
          </p:nvSpPr>
          <p:spPr>
            <a:xfrm>
              <a:off x="6761113" y="534981"/>
              <a:ext cx="11727" cy="205379"/>
            </a:xfrm>
            <a:custGeom>
              <a:rect b="b" l="l" r="r" t="t"/>
              <a:pathLst>
                <a:path extrusionOk="0" h="10508" w="600">
                  <a:moveTo>
                    <a:pt x="0" y="1"/>
                  </a:moveTo>
                  <a:lnTo>
                    <a:pt x="0" y="10508"/>
                  </a:lnTo>
                  <a:lnTo>
                    <a:pt x="600" y="10508"/>
                  </a:lnTo>
                  <a:lnTo>
                    <a:pt x="600"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35"/>
            <p:cNvSpPr/>
            <p:nvPr/>
          </p:nvSpPr>
          <p:spPr>
            <a:xfrm>
              <a:off x="6765570" y="529626"/>
              <a:ext cx="226800" cy="75835"/>
            </a:xfrm>
            <a:custGeom>
              <a:rect b="b" l="l" r="r" t="t"/>
              <a:pathLst>
                <a:path extrusionOk="0" h="3880" w="11604">
                  <a:moveTo>
                    <a:pt x="168" y="1"/>
                  </a:moveTo>
                  <a:lnTo>
                    <a:pt x="1" y="577"/>
                  </a:lnTo>
                  <a:lnTo>
                    <a:pt x="11436" y="3879"/>
                  </a:lnTo>
                  <a:lnTo>
                    <a:pt x="11603" y="3302"/>
                  </a:lnTo>
                  <a:lnTo>
                    <a:pt x="168" y="1"/>
                  </a:ln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35"/>
            <p:cNvSpPr/>
            <p:nvPr/>
          </p:nvSpPr>
          <p:spPr>
            <a:xfrm>
              <a:off x="6568904" y="410751"/>
              <a:ext cx="396138" cy="248515"/>
            </a:xfrm>
            <a:custGeom>
              <a:rect b="b" l="l" r="r" t="t"/>
              <a:pathLst>
                <a:path extrusionOk="0" h="12715" w="20268">
                  <a:moveTo>
                    <a:pt x="10135" y="1"/>
                  </a:moveTo>
                  <a:cubicBezTo>
                    <a:pt x="3536" y="1"/>
                    <a:pt x="1" y="6359"/>
                    <a:pt x="1" y="6359"/>
                  </a:cubicBezTo>
                  <a:cubicBezTo>
                    <a:pt x="1" y="6359"/>
                    <a:pt x="3536" y="12714"/>
                    <a:pt x="10135" y="12714"/>
                  </a:cubicBezTo>
                  <a:cubicBezTo>
                    <a:pt x="16734" y="12714"/>
                    <a:pt x="20268" y="6359"/>
                    <a:pt x="20268" y="6359"/>
                  </a:cubicBezTo>
                  <a:cubicBezTo>
                    <a:pt x="20268" y="6359"/>
                    <a:pt x="16734" y="1"/>
                    <a:pt x="10135" y="1"/>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35"/>
            <p:cNvSpPr/>
            <p:nvPr/>
          </p:nvSpPr>
          <p:spPr>
            <a:xfrm>
              <a:off x="6656155" y="434030"/>
              <a:ext cx="221679" cy="201978"/>
            </a:xfrm>
            <a:custGeom>
              <a:rect b="b" l="l" r="r" t="t"/>
              <a:pathLst>
                <a:path extrusionOk="0" h="10334" w="11342">
                  <a:moveTo>
                    <a:pt x="5671" y="0"/>
                  </a:moveTo>
                  <a:cubicBezTo>
                    <a:pt x="4349" y="0"/>
                    <a:pt x="3027" y="505"/>
                    <a:pt x="2017" y="1514"/>
                  </a:cubicBezTo>
                  <a:cubicBezTo>
                    <a:pt x="1" y="3531"/>
                    <a:pt x="1" y="6803"/>
                    <a:pt x="2017" y="8819"/>
                  </a:cubicBezTo>
                  <a:cubicBezTo>
                    <a:pt x="3027" y="9829"/>
                    <a:pt x="4349" y="10333"/>
                    <a:pt x="5671" y="10333"/>
                  </a:cubicBezTo>
                  <a:cubicBezTo>
                    <a:pt x="6993" y="10333"/>
                    <a:pt x="8315" y="9829"/>
                    <a:pt x="9325" y="8819"/>
                  </a:cubicBezTo>
                  <a:cubicBezTo>
                    <a:pt x="11341" y="6803"/>
                    <a:pt x="11341" y="3531"/>
                    <a:pt x="9325" y="1514"/>
                  </a:cubicBezTo>
                  <a:cubicBezTo>
                    <a:pt x="8315" y="505"/>
                    <a:pt x="699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35"/>
            <p:cNvSpPr/>
            <p:nvPr/>
          </p:nvSpPr>
          <p:spPr>
            <a:xfrm>
              <a:off x="6666025" y="434030"/>
              <a:ext cx="201900" cy="201900"/>
            </a:xfrm>
            <a:custGeom>
              <a:rect b="b" l="l" r="r" t="t"/>
              <a:pathLst>
                <a:path extrusionOk="0" h="10330" w="10330">
                  <a:moveTo>
                    <a:pt x="5166" y="0"/>
                  </a:moveTo>
                  <a:lnTo>
                    <a:pt x="4035" y="4035"/>
                  </a:lnTo>
                  <a:lnTo>
                    <a:pt x="0" y="5166"/>
                  </a:lnTo>
                  <a:lnTo>
                    <a:pt x="4035" y="6295"/>
                  </a:lnTo>
                  <a:lnTo>
                    <a:pt x="5166" y="10330"/>
                  </a:lnTo>
                  <a:lnTo>
                    <a:pt x="6295" y="6295"/>
                  </a:lnTo>
                  <a:lnTo>
                    <a:pt x="10330" y="5166"/>
                  </a:lnTo>
                  <a:lnTo>
                    <a:pt x="6295" y="4035"/>
                  </a:lnTo>
                  <a:lnTo>
                    <a:pt x="5166"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0" name="Google Shape;490;p35"/>
          <p:cNvSpPr/>
          <p:nvPr/>
        </p:nvSpPr>
        <p:spPr>
          <a:xfrm>
            <a:off x="372515" y="3056366"/>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35"/>
          <p:cNvSpPr/>
          <p:nvPr/>
        </p:nvSpPr>
        <p:spPr>
          <a:xfrm>
            <a:off x="985036" y="4443923"/>
            <a:ext cx="320335" cy="329156"/>
          </a:xfrm>
          <a:custGeom>
            <a:rect b="b" l="l" r="r" t="t"/>
            <a:pathLst>
              <a:path extrusionOk="0" h="10299" w="10023">
                <a:moveTo>
                  <a:pt x="5149" y="1"/>
                </a:moveTo>
                <a:cubicBezTo>
                  <a:pt x="2309" y="1"/>
                  <a:pt x="1" y="2309"/>
                  <a:pt x="1" y="5149"/>
                </a:cubicBezTo>
                <a:cubicBezTo>
                  <a:pt x="1" y="7988"/>
                  <a:pt x="2309" y="10299"/>
                  <a:pt x="5149" y="10299"/>
                </a:cubicBezTo>
                <a:cubicBezTo>
                  <a:pt x="7411" y="10299"/>
                  <a:pt x="9333" y="8829"/>
                  <a:pt x="10022" y="6796"/>
                </a:cubicBezTo>
                <a:lnTo>
                  <a:pt x="7925" y="6796"/>
                </a:lnTo>
                <a:cubicBezTo>
                  <a:pt x="7360" y="7744"/>
                  <a:pt x="6328" y="8380"/>
                  <a:pt x="5149" y="8380"/>
                </a:cubicBezTo>
                <a:cubicBezTo>
                  <a:pt x="3368" y="8380"/>
                  <a:pt x="1917" y="6932"/>
                  <a:pt x="1917" y="5149"/>
                </a:cubicBezTo>
                <a:cubicBezTo>
                  <a:pt x="1917" y="3368"/>
                  <a:pt x="3368" y="1917"/>
                  <a:pt x="5149" y="1917"/>
                </a:cubicBezTo>
                <a:cubicBezTo>
                  <a:pt x="6328" y="1917"/>
                  <a:pt x="7360" y="2555"/>
                  <a:pt x="7925" y="3501"/>
                </a:cubicBezTo>
                <a:lnTo>
                  <a:pt x="10022" y="3501"/>
                </a:lnTo>
                <a:cubicBezTo>
                  <a:pt x="9333" y="1469"/>
                  <a:pt x="7411" y="1"/>
                  <a:pt x="5149"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35"/>
          <p:cNvSpPr/>
          <p:nvPr/>
        </p:nvSpPr>
        <p:spPr>
          <a:xfrm>
            <a:off x="8428890" y="3014103"/>
            <a:ext cx="120767" cy="336292"/>
          </a:xfrm>
          <a:custGeom>
            <a:rect b="b" l="l" r="r" t="t"/>
            <a:pathLst>
              <a:path extrusionOk="0" h="9749" w="3501">
                <a:moveTo>
                  <a:pt x="3501" y="1"/>
                </a:moveTo>
                <a:cubicBezTo>
                  <a:pt x="1468" y="688"/>
                  <a:pt x="0" y="2611"/>
                  <a:pt x="0" y="4874"/>
                </a:cubicBezTo>
                <a:cubicBezTo>
                  <a:pt x="0" y="7135"/>
                  <a:pt x="1468" y="9059"/>
                  <a:pt x="3501" y="9748"/>
                </a:cubicBezTo>
                <a:lnTo>
                  <a:pt x="3501" y="7649"/>
                </a:lnTo>
                <a:cubicBezTo>
                  <a:pt x="2555" y="7084"/>
                  <a:pt x="1916" y="6054"/>
                  <a:pt x="1916" y="4874"/>
                </a:cubicBezTo>
                <a:cubicBezTo>
                  <a:pt x="1916" y="3696"/>
                  <a:pt x="2556" y="2673"/>
                  <a:pt x="3501" y="2109"/>
                </a:cubicBezTo>
                <a:lnTo>
                  <a:pt x="350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3" name="Google Shape;493;p35"/>
          <p:cNvGrpSpPr/>
          <p:nvPr/>
        </p:nvGrpSpPr>
        <p:grpSpPr>
          <a:xfrm>
            <a:off x="692878" y="430813"/>
            <a:ext cx="410682" cy="410682"/>
            <a:chOff x="2946260" y="1813841"/>
            <a:chExt cx="564511" cy="564511"/>
          </a:xfrm>
        </p:grpSpPr>
        <p:sp>
          <p:nvSpPr>
            <p:cNvPr id="494" name="Google Shape;494;p35"/>
            <p:cNvSpPr/>
            <p:nvPr/>
          </p:nvSpPr>
          <p:spPr>
            <a:xfrm>
              <a:off x="2946260" y="1813841"/>
              <a:ext cx="564511" cy="564511"/>
            </a:xfrm>
            <a:custGeom>
              <a:rect b="b" l="l" r="r" t="t"/>
              <a:pathLst>
                <a:path extrusionOk="0" h="16365" w="16365">
                  <a:moveTo>
                    <a:pt x="8182" y="1"/>
                  </a:moveTo>
                  <a:cubicBezTo>
                    <a:pt x="3663" y="1"/>
                    <a:pt x="1" y="3663"/>
                    <a:pt x="1" y="8183"/>
                  </a:cubicBezTo>
                  <a:cubicBezTo>
                    <a:pt x="1" y="10353"/>
                    <a:pt x="862" y="12435"/>
                    <a:pt x="2397" y="13968"/>
                  </a:cubicBezTo>
                  <a:cubicBezTo>
                    <a:pt x="3930" y="15503"/>
                    <a:pt x="6012" y="16364"/>
                    <a:pt x="8182" y="16364"/>
                  </a:cubicBezTo>
                  <a:cubicBezTo>
                    <a:pt x="10353" y="16364"/>
                    <a:pt x="12433" y="15503"/>
                    <a:pt x="13968" y="13968"/>
                  </a:cubicBezTo>
                  <a:cubicBezTo>
                    <a:pt x="15503" y="12435"/>
                    <a:pt x="16364" y="10353"/>
                    <a:pt x="16364" y="8183"/>
                  </a:cubicBezTo>
                  <a:cubicBezTo>
                    <a:pt x="16364" y="6012"/>
                    <a:pt x="15503" y="3932"/>
                    <a:pt x="13968" y="2397"/>
                  </a:cubicBezTo>
                  <a:cubicBezTo>
                    <a:pt x="12433" y="862"/>
                    <a:pt x="10353" y="1"/>
                    <a:pt x="8182"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35"/>
            <p:cNvSpPr/>
            <p:nvPr/>
          </p:nvSpPr>
          <p:spPr>
            <a:xfrm>
              <a:off x="3029120" y="1896770"/>
              <a:ext cx="398728" cy="398728"/>
            </a:xfrm>
            <a:custGeom>
              <a:rect b="b" l="l" r="r" t="t"/>
              <a:pathLst>
                <a:path extrusionOk="0" h="11559" w="11559">
                  <a:moveTo>
                    <a:pt x="0" y="0"/>
                  </a:moveTo>
                  <a:lnTo>
                    <a:pt x="0" y="11558"/>
                  </a:lnTo>
                  <a:lnTo>
                    <a:pt x="11559" y="11558"/>
                  </a:lnTo>
                  <a:lnTo>
                    <a:pt x="11559"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35"/>
            <p:cNvSpPr/>
            <p:nvPr/>
          </p:nvSpPr>
          <p:spPr>
            <a:xfrm>
              <a:off x="3032259" y="1899909"/>
              <a:ext cx="392450" cy="392450"/>
            </a:xfrm>
            <a:custGeom>
              <a:rect b="b" l="l" r="r" t="t"/>
              <a:pathLst>
                <a:path extrusionOk="0" h="11377" w="11377">
                  <a:moveTo>
                    <a:pt x="5689" y="0"/>
                  </a:moveTo>
                  <a:lnTo>
                    <a:pt x="1" y="5688"/>
                  </a:lnTo>
                  <a:lnTo>
                    <a:pt x="5689" y="11376"/>
                  </a:lnTo>
                  <a:lnTo>
                    <a:pt x="11376" y="5688"/>
                  </a:lnTo>
                  <a:lnTo>
                    <a:pt x="5689"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7" name="Google Shape;497;p35"/>
          <p:cNvSpPr/>
          <p:nvPr/>
        </p:nvSpPr>
        <p:spPr>
          <a:xfrm>
            <a:off x="1235850" y="1095288"/>
            <a:ext cx="6672300" cy="2952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1"/>
              </a:buClr>
              <a:buSzPts val="3000"/>
              <a:buFont typeface="Lusitana"/>
              <a:buNone/>
              <a:defRPr b="0" i="0" sz="3000" u="none" cap="none" strike="noStrike">
                <a:solidFill>
                  <a:schemeClr val="dk1"/>
                </a:solidFill>
                <a:latin typeface="Lusitana"/>
                <a:ea typeface="Lusitana"/>
                <a:cs typeface="Lusitana"/>
                <a:sym typeface="Lusitana"/>
              </a:defRPr>
            </a:lvl1pPr>
            <a:lvl2pPr lvl="1"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2pPr>
            <a:lvl3pPr lvl="2"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3pPr>
            <a:lvl4pPr lvl="3"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4pPr>
            <a:lvl5pPr lvl="4"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5pPr>
            <a:lvl6pPr lvl="5"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6pPr>
            <a:lvl7pPr lvl="6"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7pPr>
            <a:lvl8pPr lvl="7"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8pPr>
            <a:lvl9pPr lvl="8" marR="0" rtl="0" algn="l">
              <a:lnSpc>
                <a:spcPct val="100000"/>
              </a:lnSpc>
              <a:spcBef>
                <a:spcPts val="0"/>
              </a:spcBef>
              <a:spcAft>
                <a:spcPts val="0"/>
              </a:spcAft>
              <a:buClr>
                <a:srgbClr val="2D3A26"/>
              </a:buClr>
              <a:buSzPts val="3500"/>
              <a:buFont typeface="Lusitana"/>
              <a:buNone/>
              <a:defRPr b="0" i="0" sz="3500" u="none" cap="none" strike="noStrike">
                <a:solidFill>
                  <a:srgbClr val="2D3A26"/>
                </a:solidFill>
                <a:latin typeface="Lusitana"/>
                <a:ea typeface="Lusitana"/>
                <a:cs typeface="Lusitana"/>
                <a:sym typeface="Lusitana"/>
              </a:defRPr>
            </a:lvl9pPr>
          </a:lstStyle>
          <a:p/>
        </p:txBody>
      </p:sp>
      <p:sp>
        <p:nvSpPr>
          <p:cNvPr id="7" name="Google Shape;7;p28"/>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1pPr>
            <a:lvl2pPr indent="-304800" lvl="1" marL="914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2pPr>
            <a:lvl3pPr indent="-304800" lvl="2" marL="1371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3pPr>
            <a:lvl4pPr indent="-304800" lvl="3" marL="1828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4pPr>
            <a:lvl5pPr indent="-304800" lvl="4" marL="22860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5pPr>
            <a:lvl6pPr indent="-304800" lvl="5" marL="27432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6pPr>
            <a:lvl7pPr indent="-304800" lvl="6" marL="32004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7pPr>
            <a:lvl8pPr indent="-304800" lvl="7" marL="36576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8pPr>
            <a:lvl9pPr indent="-304800" lvl="8" marL="4114800" marR="0" rtl="0" algn="l">
              <a:lnSpc>
                <a:spcPct val="100000"/>
              </a:lnSpc>
              <a:spcBef>
                <a:spcPts val="0"/>
              </a:spcBef>
              <a:spcAft>
                <a:spcPts val="0"/>
              </a:spcAft>
              <a:buClr>
                <a:schemeClr val="dk1"/>
              </a:buClr>
              <a:buSzPts val="1200"/>
              <a:buFont typeface="Albert Sans"/>
              <a:buChar char="■"/>
              <a:defRPr b="0" i="0" sz="1200" u="none" cap="none" strike="noStrike">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7.xml"/><Relationship Id="rId10" Type="http://schemas.openxmlformats.org/officeDocument/2006/relationships/slide" Target="/ppt/slides/slide17.xml"/><Relationship Id="rId13" Type="http://schemas.openxmlformats.org/officeDocument/2006/relationships/slide" Target="/ppt/slides/slide7.xml"/><Relationship Id="rId12" Type="http://schemas.openxmlformats.org/officeDocument/2006/relationships/slide" Target="/ppt/slides/slide20.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5.xml"/><Relationship Id="rId4" Type="http://schemas.openxmlformats.org/officeDocument/2006/relationships/slide" Target="/ppt/slides/slide5.xml"/><Relationship Id="rId9" Type="http://schemas.openxmlformats.org/officeDocument/2006/relationships/slide" Target="/ppt/slides/slide21.xml"/><Relationship Id="rId5" Type="http://schemas.openxmlformats.org/officeDocument/2006/relationships/slide" Target="/ppt/slides/slide22.xml"/><Relationship Id="rId6" Type="http://schemas.openxmlformats.org/officeDocument/2006/relationships/slide" Target="/ppt/slides/slide7.xml"/><Relationship Id="rId7" Type="http://schemas.openxmlformats.org/officeDocument/2006/relationships/slide" Target="/ppt/slides/slide7.xml"/><Relationship Id="rId8" Type="http://schemas.openxmlformats.org/officeDocument/2006/relationships/slide" Target="/ppt/slides/slide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1" name="Shape 501"/>
        <p:cNvGrpSpPr/>
        <p:nvPr/>
      </p:nvGrpSpPr>
      <p:grpSpPr>
        <a:xfrm>
          <a:off x="0" y="0"/>
          <a:ext cx="0" cy="0"/>
          <a:chOff x="0" y="0"/>
          <a:chExt cx="0" cy="0"/>
        </a:xfrm>
      </p:grpSpPr>
      <p:sp>
        <p:nvSpPr>
          <p:cNvPr id="502" name="Google Shape;502;p1"/>
          <p:cNvSpPr txBox="1"/>
          <p:nvPr>
            <p:ph type="ctrTitle"/>
          </p:nvPr>
        </p:nvSpPr>
        <p:spPr>
          <a:xfrm>
            <a:off x="1605450" y="1619458"/>
            <a:ext cx="5933100" cy="1201563"/>
          </a:xfrm>
          <a:prstGeom prst="rect">
            <a:avLst/>
          </a:prstGeom>
          <a:noFill/>
          <a:ln>
            <a:noFill/>
          </a:ln>
        </p:spPr>
        <p:txBody>
          <a:bodyPr anchorCtr="0" anchor="b" bIns="91425" lIns="91425" spcFirstLastPara="1" rIns="91425" wrap="square" tIns="91425">
            <a:noAutofit/>
          </a:bodyPr>
          <a:lstStyle/>
          <a:p>
            <a:pPr indent="0" lvl="0" marL="0" rtl="0" algn="ctr">
              <a:lnSpc>
                <a:spcPct val="90000"/>
              </a:lnSpc>
              <a:spcBef>
                <a:spcPts val="0"/>
              </a:spcBef>
              <a:spcAft>
                <a:spcPts val="0"/>
              </a:spcAft>
              <a:buSzPts val="5200"/>
              <a:buNone/>
            </a:pPr>
            <a:r>
              <a:rPr lang="en-US" sz="3600"/>
              <a:t>VAC 25</a:t>
            </a:r>
            <a:br>
              <a:rPr lang="en-US" sz="3600"/>
            </a:br>
            <a:r>
              <a:rPr lang="en-US" sz="3600"/>
              <a:t>Value-driven leadership</a:t>
            </a:r>
            <a:endParaRPr sz="36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t>Table of contents</a:t>
            </a:r>
            <a:endParaRPr/>
          </a:p>
        </p:txBody>
      </p:sp>
      <p:sp>
        <p:nvSpPr>
          <p:cNvPr id="508" name="Google Shape;508;p2"/>
          <p:cNvSpPr txBox="1"/>
          <p:nvPr>
            <p:ph idx="2" type="title"/>
          </p:nvPr>
        </p:nvSpPr>
        <p:spPr>
          <a:xfrm>
            <a:off x="1681642" y="1621526"/>
            <a:ext cx="734700"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u="sng">
                <a:solidFill>
                  <a:schemeClr val="hlink"/>
                </a:solidFill>
                <a:hlinkClick action="ppaction://hlinksldjump" r:id="rId3"/>
              </a:rPr>
              <a:t>01</a:t>
            </a:r>
            <a:endParaRPr sz="2400" u="sng">
              <a:solidFill>
                <a:schemeClr val="hlink"/>
              </a:solidFill>
              <a:hlinkClick action="ppaction://hlinksldjump" r:id="rId4"/>
            </a:endParaRPr>
          </a:p>
        </p:txBody>
      </p:sp>
      <p:sp>
        <p:nvSpPr>
          <p:cNvPr id="509" name="Google Shape;509;p2"/>
          <p:cNvSpPr txBox="1"/>
          <p:nvPr>
            <p:ph idx="3" type="title"/>
          </p:nvPr>
        </p:nvSpPr>
        <p:spPr>
          <a:xfrm>
            <a:off x="4693250" y="2152183"/>
            <a:ext cx="734700"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u="sng">
                <a:solidFill>
                  <a:schemeClr val="hlink"/>
                </a:solidFill>
                <a:hlinkClick action="ppaction://hlinksldjump" r:id="rId5"/>
              </a:rPr>
              <a:t>06</a:t>
            </a:r>
            <a:endParaRPr sz="2400"/>
          </a:p>
        </p:txBody>
      </p:sp>
      <p:sp>
        <p:nvSpPr>
          <p:cNvPr id="510" name="Google Shape;510;p2"/>
          <p:cNvSpPr txBox="1"/>
          <p:nvPr>
            <p:ph idx="4" type="title"/>
          </p:nvPr>
        </p:nvSpPr>
        <p:spPr>
          <a:xfrm>
            <a:off x="1679542" y="2187800"/>
            <a:ext cx="734700"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u="sng">
                <a:solidFill>
                  <a:schemeClr val="hlink"/>
                </a:solidFill>
                <a:hlinkClick action="ppaction://hlinksldjump" r:id="rId6"/>
              </a:rPr>
              <a:t>02</a:t>
            </a:r>
            <a:endParaRPr sz="2400" u="sng">
              <a:solidFill>
                <a:schemeClr val="hlink"/>
              </a:solidFill>
              <a:hlinkClick action="ppaction://hlinksldjump" r:id="rId7"/>
            </a:endParaRPr>
          </a:p>
        </p:txBody>
      </p:sp>
      <p:sp>
        <p:nvSpPr>
          <p:cNvPr id="511" name="Google Shape;511;p2"/>
          <p:cNvSpPr txBox="1"/>
          <p:nvPr>
            <p:ph idx="5" type="title"/>
          </p:nvPr>
        </p:nvSpPr>
        <p:spPr>
          <a:xfrm>
            <a:off x="4691150" y="2718457"/>
            <a:ext cx="734700"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u="sng">
                <a:solidFill>
                  <a:schemeClr val="hlink"/>
                </a:solidFill>
                <a:hlinkClick action="ppaction://hlinksldjump" r:id="rId8"/>
              </a:rPr>
              <a:t>07</a:t>
            </a:r>
            <a:endParaRPr sz="2400"/>
          </a:p>
        </p:txBody>
      </p:sp>
      <p:sp>
        <p:nvSpPr>
          <p:cNvPr id="512" name="Google Shape;512;p2"/>
          <p:cNvSpPr txBox="1"/>
          <p:nvPr>
            <p:ph idx="6" type="title"/>
          </p:nvPr>
        </p:nvSpPr>
        <p:spPr>
          <a:xfrm>
            <a:off x="4693551" y="1626681"/>
            <a:ext cx="734700"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2400" u="sng">
                <a:solidFill>
                  <a:schemeClr val="hlink"/>
                </a:solidFill>
                <a:hlinkClick action="ppaction://hlinksldjump" r:id="rId9"/>
              </a:rPr>
              <a:t>05</a:t>
            </a:r>
            <a:endParaRPr sz="2400"/>
          </a:p>
        </p:txBody>
      </p:sp>
      <p:sp>
        <p:nvSpPr>
          <p:cNvPr id="513" name="Google Shape;513;p2"/>
          <p:cNvSpPr txBox="1"/>
          <p:nvPr>
            <p:ph idx="1" type="subTitle"/>
          </p:nvPr>
        </p:nvSpPr>
        <p:spPr>
          <a:xfrm>
            <a:off x="2413941" y="1613603"/>
            <a:ext cx="2084100" cy="422328"/>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US" sz="1400"/>
              <a:t>Morals and Values</a:t>
            </a:r>
            <a:endParaRPr sz="1400"/>
          </a:p>
        </p:txBody>
      </p:sp>
      <p:sp>
        <p:nvSpPr>
          <p:cNvPr id="514" name="Google Shape;514;p2"/>
          <p:cNvSpPr txBox="1"/>
          <p:nvPr>
            <p:ph idx="8" type="subTitle"/>
          </p:nvPr>
        </p:nvSpPr>
        <p:spPr>
          <a:xfrm>
            <a:off x="2461308" y="2095614"/>
            <a:ext cx="2082600" cy="471583"/>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US" sz="1400"/>
              <a:t>Ethics</a:t>
            </a:r>
            <a:endParaRPr sz="1400"/>
          </a:p>
        </p:txBody>
      </p:sp>
      <p:sp>
        <p:nvSpPr>
          <p:cNvPr id="515" name="Google Shape;515;p2"/>
          <p:cNvSpPr txBox="1"/>
          <p:nvPr>
            <p:ph idx="9" type="subTitle"/>
          </p:nvPr>
        </p:nvSpPr>
        <p:spPr>
          <a:xfrm>
            <a:off x="5425850" y="1578069"/>
            <a:ext cx="2084100" cy="401644"/>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US" sz="1400"/>
              <a:t>Character</a:t>
            </a:r>
            <a:endParaRPr sz="1400"/>
          </a:p>
        </p:txBody>
      </p:sp>
      <p:sp>
        <p:nvSpPr>
          <p:cNvPr id="516" name="Google Shape;516;p2"/>
          <p:cNvSpPr txBox="1"/>
          <p:nvPr>
            <p:ph idx="13" type="subTitle"/>
          </p:nvPr>
        </p:nvSpPr>
        <p:spPr>
          <a:xfrm>
            <a:off x="5426632" y="1869950"/>
            <a:ext cx="2084400" cy="635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US" sz="1400"/>
              <a:t>Civility and Community</a:t>
            </a:r>
            <a:endParaRPr sz="1400"/>
          </a:p>
        </p:txBody>
      </p:sp>
      <p:sp>
        <p:nvSpPr>
          <p:cNvPr id="517" name="Google Shape;517;p2"/>
          <p:cNvSpPr txBox="1"/>
          <p:nvPr>
            <p:ph idx="14" type="subTitle"/>
          </p:nvPr>
        </p:nvSpPr>
        <p:spPr>
          <a:xfrm>
            <a:off x="5426632" y="2626271"/>
            <a:ext cx="2082300" cy="489227"/>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400"/>
              <a:buNone/>
            </a:pPr>
            <a:r>
              <a:rPr lang="en-US" sz="1400"/>
              <a:t>Conflict</a:t>
            </a:r>
            <a:endParaRPr sz="1400"/>
          </a:p>
        </p:txBody>
      </p:sp>
      <p:sp>
        <p:nvSpPr>
          <p:cNvPr id="518" name="Google Shape;518;p2"/>
          <p:cNvSpPr txBox="1"/>
          <p:nvPr/>
        </p:nvSpPr>
        <p:spPr>
          <a:xfrm>
            <a:off x="6846240" y="3447436"/>
            <a:ext cx="2084400" cy="401643"/>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Bebas Neue"/>
              <a:buNone/>
            </a:pPr>
            <a:r>
              <a:t/>
            </a:r>
            <a:endParaRPr b="0" i="0" sz="1400" u="none" cap="none" strike="noStrike">
              <a:solidFill>
                <a:schemeClr val="dk1"/>
              </a:solidFill>
              <a:latin typeface="Lusitana"/>
              <a:ea typeface="Lusitana"/>
              <a:cs typeface="Lusitana"/>
              <a:sym typeface="Lusitana"/>
            </a:endParaRPr>
          </a:p>
        </p:txBody>
      </p:sp>
      <p:sp>
        <p:nvSpPr>
          <p:cNvPr id="519" name="Google Shape;519;p2"/>
          <p:cNvSpPr txBox="1"/>
          <p:nvPr/>
        </p:nvSpPr>
        <p:spPr>
          <a:xfrm>
            <a:off x="1679542" y="2790306"/>
            <a:ext cx="734700"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2400" u="sng" cap="none" strike="noStrike">
                <a:solidFill>
                  <a:schemeClr val="dk1"/>
                </a:solidFill>
                <a:latin typeface="Lusitana"/>
                <a:ea typeface="Lusitana"/>
                <a:cs typeface="Lusitana"/>
                <a:sym typeface="Lusitana"/>
                <a:hlinkClick action="ppaction://hlinksldjump" r:id="rId10">
                  <a:extLst>
                    <a:ext uri="{A12FA001-AC4F-418D-AE19-62706E023703}">
                      <ahyp:hlinkClr val="tx"/>
                    </a:ext>
                  </a:extLst>
                </a:hlinkClick>
              </a:rPr>
              <a:t>03</a:t>
            </a:r>
            <a:endParaRPr b="1" i="0" sz="2400" u="sng" cap="none" strike="noStrike">
              <a:solidFill>
                <a:schemeClr val="dk1"/>
              </a:solidFill>
              <a:latin typeface="Lusitana"/>
              <a:ea typeface="Lusitana"/>
              <a:cs typeface="Lusitana"/>
              <a:sym typeface="Lusitana"/>
              <a:hlinkClick action="ppaction://hlinksldjump" r:id="rId11">
                <a:extLst>
                  <a:ext uri="{A12FA001-AC4F-418D-AE19-62706E023703}">
                    <ahyp:hlinkClr val="tx"/>
                  </a:ext>
                </a:extLst>
              </a:hlinkClick>
            </a:endParaRPr>
          </a:p>
        </p:txBody>
      </p:sp>
      <p:sp>
        <p:nvSpPr>
          <p:cNvPr id="520" name="Google Shape;520;p2"/>
          <p:cNvSpPr txBox="1"/>
          <p:nvPr/>
        </p:nvSpPr>
        <p:spPr>
          <a:xfrm>
            <a:off x="2461308" y="2698120"/>
            <a:ext cx="2082600" cy="471583"/>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Bebas Neue"/>
              <a:buNone/>
            </a:pPr>
            <a:r>
              <a:rPr b="0" i="0" lang="en-US" sz="1400" u="none" cap="none" strike="noStrike">
                <a:solidFill>
                  <a:schemeClr val="dk1"/>
                </a:solidFill>
                <a:latin typeface="Lusitana"/>
                <a:ea typeface="Lusitana"/>
                <a:cs typeface="Lusitana"/>
                <a:sym typeface="Lusitana"/>
              </a:rPr>
              <a:t>Trust and Integrity</a:t>
            </a:r>
            <a:endParaRPr/>
          </a:p>
        </p:txBody>
      </p:sp>
      <p:sp>
        <p:nvSpPr>
          <p:cNvPr id="521" name="Google Shape;521;p2"/>
          <p:cNvSpPr txBox="1"/>
          <p:nvPr/>
        </p:nvSpPr>
        <p:spPr>
          <a:xfrm>
            <a:off x="1679542" y="3360979"/>
            <a:ext cx="734700"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2400" u="sng" cap="none" strike="noStrike">
                <a:solidFill>
                  <a:schemeClr val="dk1"/>
                </a:solidFill>
                <a:latin typeface="Lusitana"/>
                <a:ea typeface="Lusitana"/>
                <a:cs typeface="Lusitana"/>
                <a:sym typeface="Lusitana"/>
                <a:hlinkClick action="ppaction://hlinksldjump" r:id="rId12">
                  <a:extLst>
                    <a:ext uri="{A12FA001-AC4F-418D-AE19-62706E023703}">
                      <ahyp:hlinkClr val="tx"/>
                    </a:ext>
                  </a:extLst>
                </a:hlinkClick>
              </a:rPr>
              <a:t>04</a:t>
            </a:r>
            <a:endParaRPr b="1" i="0" sz="2400" u="sng" cap="none" strike="noStrike">
              <a:solidFill>
                <a:schemeClr val="dk1"/>
              </a:solidFill>
              <a:latin typeface="Lusitana"/>
              <a:ea typeface="Lusitana"/>
              <a:cs typeface="Lusitana"/>
              <a:sym typeface="Lusitana"/>
              <a:hlinkClick action="ppaction://hlinksldjump" r:id="rId13">
                <a:extLst>
                  <a:ext uri="{A12FA001-AC4F-418D-AE19-62706E023703}">
                    <ahyp:hlinkClr val="tx"/>
                  </a:ext>
                </a:extLst>
              </a:hlinkClick>
            </a:endParaRPr>
          </a:p>
        </p:txBody>
      </p:sp>
      <p:sp>
        <p:nvSpPr>
          <p:cNvPr id="522" name="Google Shape;522;p2"/>
          <p:cNvSpPr txBox="1"/>
          <p:nvPr/>
        </p:nvSpPr>
        <p:spPr>
          <a:xfrm>
            <a:off x="2461308" y="3268793"/>
            <a:ext cx="2082600" cy="471583"/>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dk1"/>
              </a:buClr>
              <a:buSzPts val="2400"/>
              <a:buFont typeface="Bebas Neue"/>
              <a:buNone/>
            </a:pPr>
            <a:r>
              <a:rPr b="0" i="0" lang="en-US" sz="14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US"/>
              <a:t>COURSE SYLLABUS</a:t>
            </a:r>
            <a:endParaRPr/>
          </a:p>
        </p:txBody>
      </p:sp>
      <p:sp>
        <p:nvSpPr>
          <p:cNvPr id="528" name="Google Shape;528;p3"/>
          <p:cNvSpPr txBox="1"/>
          <p:nvPr/>
        </p:nvSpPr>
        <p:spPr>
          <a:xfrm>
            <a:off x="720000" y="1108517"/>
            <a:ext cx="7704000" cy="3676904"/>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1: Introduction and Resolving Conflicts of Values within and between other Stakeholders</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Introduction to Concepts like Morals, Values, Ethics, Trust, Integrity, Justice, Fairness, Community, Civility and Community, Conflicts, and Stakeholders. Issues of Conflicts. Resolving Conflicts of Values within and between other Stakeholders. </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2: Workforce Diversity and Corporate Social Responsibility</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Diversity, Types of Diversity, Benefits of Workforce Diversity. Corporate Social Responsibility. Milton Friedman's Approach, Companies Act and Corporate Social Responsibility</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3: Managing Values through Incentives and Informal Mechanisms</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 Managing Values, Incentives, Material Incentives, Informal Mechanisms, Managing Values through Incentives and Informal Mechanisms</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4: Speaking the Truth and Values Based Marketing</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Truth, Unethical Behaviour, Situations where Truth is dangerous for the organization, Importance of Speaking the Truth. Ethical implications of Marketing Values, Importance of Values Based Marketing. Thomas Donaldson's Ethical Algorithm</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1" i="0" lang="en-US" sz="1050" u="none" cap="none" strike="noStrike">
                <a:solidFill>
                  <a:srgbClr val="000000"/>
                </a:solidFill>
                <a:latin typeface="Times New Roman"/>
                <a:ea typeface="Times New Roman"/>
                <a:cs typeface="Times New Roman"/>
                <a:sym typeface="Times New Roman"/>
              </a:rPr>
              <a:t>Unit 5: Building Social Capital </a:t>
            </a:r>
            <a:endParaRPr b="0" i="0" sz="1050" u="none" cap="none" strike="noStrike">
              <a:solidFill>
                <a:srgbClr val="000000"/>
              </a:solidFill>
              <a:latin typeface="Calibri"/>
              <a:ea typeface="Calibri"/>
              <a:cs typeface="Calibri"/>
              <a:sym typeface="Calibri"/>
            </a:endParaRPr>
          </a:p>
          <a:p>
            <a:pPr indent="0" lvl="0" marL="0" marR="0" rtl="0" algn="just">
              <a:lnSpc>
                <a:spcPct val="107000"/>
              </a:lnSpc>
              <a:spcBef>
                <a:spcPts val="800"/>
              </a:spcBef>
              <a:spcAft>
                <a:spcPts val="0"/>
              </a:spcAft>
              <a:buNone/>
            </a:pPr>
            <a:r>
              <a:rPr b="0" i="0" lang="en-US" sz="1050" u="none" cap="none" strike="noStrike">
                <a:solidFill>
                  <a:srgbClr val="000000"/>
                </a:solidFill>
                <a:latin typeface="Times New Roman"/>
                <a:ea typeface="Times New Roman"/>
                <a:cs typeface="Times New Roman"/>
                <a:sym typeface="Times New Roman"/>
              </a:rPr>
              <a:t>Social Capital, Constituents of Social Capital, Importance of Social Capital for an Organization, Use Organizational Intellectual Capital to Create Value</a:t>
            </a:r>
            <a:endParaRPr b="0" i="0" sz="1050" u="none" cap="none" strike="noStrike">
              <a:solidFill>
                <a:srgbClr val="000000"/>
              </a:solidFill>
              <a:latin typeface="Calibri"/>
              <a:ea typeface="Calibri"/>
              <a:cs typeface="Calibri"/>
              <a:sym typeface="Calibri"/>
            </a:endParaRPr>
          </a:p>
          <a:p>
            <a:pPr indent="-285750" lvl="0" marL="342900" marR="0" rtl="0" algn="l">
              <a:lnSpc>
                <a:spcPct val="100000"/>
              </a:lnSpc>
              <a:spcBef>
                <a:spcPts val="800"/>
              </a:spcBef>
              <a:spcAft>
                <a:spcPts val="0"/>
              </a:spcAft>
              <a:buClr>
                <a:srgbClr val="000000"/>
              </a:buClr>
              <a:buSzPts val="9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
          <p:cNvSpPr txBox="1"/>
          <p:nvPr>
            <p:ph type="ctrTitle"/>
          </p:nvPr>
        </p:nvSpPr>
        <p:spPr>
          <a:xfrm>
            <a:off x="1605450" y="2081718"/>
            <a:ext cx="5933100" cy="1169531"/>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Clr>
                <a:srgbClr val="191919"/>
              </a:buClr>
              <a:buSzPts val="5200"/>
              <a:buNone/>
            </a:pPr>
            <a:r>
              <a:rPr lang="en-US"/>
              <a:t>UNIT 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
          <p:cNvSpPr/>
          <p:nvPr/>
        </p:nvSpPr>
        <p:spPr>
          <a:xfrm>
            <a:off x="617220" y="686181"/>
            <a:ext cx="1324680" cy="56078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39" name="Google Shape;539;p5"/>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540" name="Google Shape;540;p5"/>
          <p:cNvSpPr txBox="1"/>
          <p:nvPr>
            <p:ph idx="4" type="title"/>
          </p:nvPr>
        </p:nvSpPr>
        <p:spPr>
          <a:xfrm>
            <a:off x="574816" y="1302130"/>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541" name="Google Shape;541;p5"/>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542" name="Google Shape;542;p5"/>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543" name="Google Shape;543;p5"/>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544" name="Google Shape;544;p5"/>
          <p:cNvSpPr/>
          <p:nvPr/>
        </p:nvSpPr>
        <p:spPr>
          <a:xfrm>
            <a:off x="2438400" y="480061"/>
            <a:ext cx="6096000" cy="4227115"/>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According to Charles Colson, </a:t>
            </a:r>
            <a:r>
              <a:rPr b="1" i="0" lang="en-US" sz="1100" u="none" cap="none" strike="noStrike">
                <a:solidFill>
                  <a:schemeClr val="dk1"/>
                </a:solidFill>
                <a:latin typeface="Lusitana"/>
                <a:ea typeface="Lusitana"/>
                <a:cs typeface="Lusitana"/>
                <a:sym typeface="Lusitana"/>
              </a:rPr>
              <a:t>“Morality describes what is, whereas Ethics describes what ought to be”</a:t>
            </a:r>
            <a:r>
              <a:rPr b="0" i="0" lang="en-US" sz="1100" u="none" cap="none" strike="noStrike">
                <a:solidFill>
                  <a:schemeClr val="dk1"/>
                </a:solidFill>
                <a:latin typeface="Lusitana"/>
                <a:ea typeface="Lusitana"/>
                <a:cs typeface="Lusitana"/>
                <a:sym typeface="Lusitana"/>
              </a:rPr>
              <a:t>.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 </a:t>
            </a:r>
            <a:r>
              <a:rPr b="1" i="0" lang="en-US" sz="1100" u="none" cap="none" strike="noStrike">
                <a:solidFill>
                  <a:schemeClr val="dk1"/>
                </a:solidFill>
                <a:latin typeface="Lusitana"/>
                <a:ea typeface="Lusitana"/>
                <a:cs typeface="Lusitana"/>
                <a:sym typeface="Lusitana"/>
              </a:rPr>
              <a:t>Morals</a:t>
            </a:r>
            <a:r>
              <a:rPr b="0" i="0" lang="en-US" sz="1100" u="none" cap="none" strike="noStrike">
                <a:solidFill>
                  <a:schemeClr val="dk1"/>
                </a:solidFill>
                <a:latin typeface="Lusitana"/>
                <a:ea typeface="Lusitana"/>
                <a:cs typeface="Lusitana"/>
                <a:sym typeface="Lusitana"/>
              </a:rPr>
              <a:t> and </a:t>
            </a:r>
            <a:r>
              <a:rPr b="1" i="0" lang="en-US" sz="1100" u="none" cap="none" strike="noStrike">
                <a:solidFill>
                  <a:schemeClr val="dk1"/>
                </a:solidFill>
                <a:latin typeface="Lusitana"/>
                <a:ea typeface="Lusitana"/>
                <a:cs typeface="Lusitana"/>
                <a:sym typeface="Lusitana"/>
              </a:rPr>
              <a:t>values</a:t>
            </a:r>
            <a:r>
              <a:rPr b="0" i="0" lang="en-US" sz="1100" u="none" cap="none" strike="noStrike">
                <a:solidFill>
                  <a:schemeClr val="dk1"/>
                </a:solidFill>
                <a:latin typeface="Lusitana"/>
                <a:ea typeface="Lusitana"/>
                <a:cs typeface="Lusitana"/>
                <a:sym typeface="Lusitana"/>
              </a:rPr>
              <a:t> are a part of a person’s behaviour.</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Fundamentally, </a:t>
            </a:r>
            <a:r>
              <a:rPr b="1" i="0" lang="en-US" sz="1100" u="none" cap="none" strike="noStrike">
                <a:solidFill>
                  <a:schemeClr val="dk1"/>
                </a:solidFill>
                <a:latin typeface="Lusitana"/>
                <a:ea typeface="Lusitana"/>
                <a:cs typeface="Lusitana"/>
                <a:sym typeface="Lusitana"/>
              </a:rPr>
              <a:t>morals</a:t>
            </a:r>
            <a:r>
              <a:rPr b="0" i="0" lang="en-US" sz="1100" u="none" cap="none" strike="noStrike">
                <a:solidFill>
                  <a:schemeClr val="dk1"/>
                </a:solidFill>
                <a:latin typeface="Lusitana"/>
                <a:ea typeface="Lusitana"/>
                <a:cs typeface="Lusitana"/>
                <a:sym typeface="Lusitana"/>
              </a:rPr>
              <a:t> refer to a set of rules defining what is considered to be right or wrong and accepted without questions. They are formed from inborn values, a system of beliefs typically defined by society’s rules. If someone breaks such a rule then he is typically considered to have been “bad” or “immoral.”</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Values</a:t>
            </a:r>
            <a:r>
              <a:rPr b="0" i="0" lang="en-US" sz="1100" u="none" cap="none" strike="noStrike">
                <a:solidFill>
                  <a:schemeClr val="dk1"/>
                </a:solidFill>
                <a:latin typeface="Lusitana"/>
                <a:ea typeface="Lusitana"/>
                <a:cs typeface="Lusitana"/>
                <a:sym typeface="Lusitana"/>
              </a:rPr>
              <a:t>, on the other hand, provide direction in the determination of right versus wrong or good versus bad. Values are personal beliefs that worth and importance to an individual. These are emotionally related for deciding right or wrong.</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Morals</a:t>
            </a:r>
            <a:r>
              <a:rPr b="0" i="0" lang="en-US" sz="1100" u="none" cap="none" strike="noStrike">
                <a:solidFill>
                  <a:schemeClr val="dk1"/>
                </a:solidFill>
                <a:latin typeface="Lusitana"/>
                <a:ea typeface="Lusitana"/>
                <a:cs typeface="Lusitana"/>
                <a:sym typeface="Lusitana"/>
              </a:rPr>
              <a:t> have more social value and acceptance than </a:t>
            </a:r>
            <a:r>
              <a:rPr b="1" i="0" lang="en-US" sz="1100" u="none" cap="none" strike="noStrike">
                <a:solidFill>
                  <a:schemeClr val="dk1"/>
                </a:solidFill>
                <a:latin typeface="Lusitana"/>
                <a:ea typeface="Lusitana"/>
                <a:cs typeface="Lusitana"/>
                <a:sym typeface="Lusitana"/>
              </a:rPr>
              <a:t>values</a:t>
            </a:r>
            <a:r>
              <a:rPr b="0" i="0" lang="en-US" sz="1100" u="none" cap="none" strike="noStrike">
                <a:solidFill>
                  <a:schemeClr val="dk1"/>
                </a:solidFill>
                <a:latin typeface="Lusitana"/>
                <a:ea typeface="Lusitana"/>
                <a:cs typeface="Lusitana"/>
                <a:sym typeface="Lusitana"/>
              </a:rPr>
              <a:t>, therefore a person is judged more for his moral character than the values. A person without moral is considered immoral but no such term exists for a person without values.</a:t>
            </a:r>
            <a:endParaRPr/>
          </a:p>
        </p:txBody>
      </p:sp>
      <p:sp>
        <p:nvSpPr>
          <p:cNvPr id="545" name="Google Shape;545;p5"/>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6"/>
          <p:cNvSpPr/>
          <p:nvPr/>
        </p:nvSpPr>
        <p:spPr>
          <a:xfrm>
            <a:off x="617220" y="686181"/>
            <a:ext cx="1324680" cy="560789"/>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1" name="Google Shape;551;p6"/>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552" name="Google Shape;552;p6"/>
          <p:cNvSpPr txBox="1"/>
          <p:nvPr>
            <p:ph idx="4" type="title"/>
          </p:nvPr>
        </p:nvSpPr>
        <p:spPr>
          <a:xfrm>
            <a:off x="564699" y="127229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553" name="Google Shape;553;p6"/>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554" name="Google Shape;554;p6"/>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555" name="Google Shape;555;p6"/>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556" name="Google Shape;556;p6"/>
          <p:cNvSpPr/>
          <p:nvPr/>
        </p:nvSpPr>
        <p:spPr>
          <a:xfrm>
            <a:off x="2438400" y="480061"/>
            <a:ext cx="5998723" cy="818522"/>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While </a:t>
            </a:r>
            <a:r>
              <a:rPr b="1" i="0" lang="en-US" sz="1100" u="none" cap="none" strike="noStrike">
                <a:solidFill>
                  <a:schemeClr val="dk1"/>
                </a:solidFill>
                <a:latin typeface="Lusitana"/>
                <a:ea typeface="Lusitana"/>
                <a:cs typeface="Lusitana"/>
                <a:sym typeface="Lusitana"/>
              </a:rPr>
              <a:t>morals </a:t>
            </a:r>
            <a:r>
              <a:rPr b="0" i="0" lang="en-US" sz="1100" u="none" cap="none" strike="noStrike">
                <a:solidFill>
                  <a:schemeClr val="dk1"/>
                </a:solidFill>
                <a:latin typeface="Lusitana"/>
                <a:ea typeface="Lusitana"/>
                <a:cs typeface="Lusitana"/>
                <a:sym typeface="Lusitana"/>
              </a:rPr>
              <a:t>are generally the same for a culture, </a:t>
            </a:r>
            <a:r>
              <a:rPr b="1" i="0" lang="en-US" sz="1100" u="none" cap="none" strike="noStrike">
                <a:solidFill>
                  <a:schemeClr val="dk1"/>
                </a:solidFill>
                <a:latin typeface="Lusitana"/>
                <a:ea typeface="Lusitana"/>
                <a:cs typeface="Lusitana"/>
                <a:sym typeface="Lusitana"/>
              </a:rPr>
              <a:t>values</a:t>
            </a:r>
            <a:r>
              <a:rPr b="0" i="0" lang="en-US" sz="1100" u="none" cap="none" strike="noStrike">
                <a:solidFill>
                  <a:schemeClr val="dk1"/>
                </a:solidFill>
                <a:latin typeface="Lusitana"/>
                <a:ea typeface="Lusitana"/>
                <a:cs typeface="Lusitana"/>
                <a:sym typeface="Lusitana"/>
              </a:rPr>
              <a:t>, due to their individuality, tend to be highly subjective. Morals are often driven by values but governed by the rules of a particular culture.</a:t>
            </a:r>
            <a:endParaRPr/>
          </a:p>
        </p:txBody>
      </p:sp>
      <p:sp>
        <p:nvSpPr>
          <p:cNvPr id="557" name="Google Shape;557;p6"/>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pic>
        <p:nvPicPr>
          <p:cNvPr descr="50 Moral Values Examples (2023)" id="558" name="Google Shape;558;p6"/>
          <p:cNvPicPr preferRelativeResize="0"/>
          <p:nvPr/>
        </p:nvPicPr>
        <p:blipFill rotWithShape="1">
          <a:blip r:embed="rId3">
            <a:alphaModFix/>
          </a:blip>
          <a:srcRect b="5890" l="1405" r="1843" t="3388"/>
          <a:stretch/>
        </p:blipFill>
        <p:spPr>
          <a:xfrm>
            <a:off x="3164732" y="1414159"/>
            <a:ext cx="4835036" cy="3205162"/>
          </a:xfrm>
          <a:prstGeom prst="rect">
            <a:avLst/>
          </a:prstGeom>
          <a:solidFill>
            <a:srgbClr val="ECECEC"/>
          </a:solidFill>
          <a:ln>
            <a:noFill/>
          </a:ln>
          <a:effectLst>
            <a:outerShdw blurRad="55000" rotWithShape="0" algn="tl" dir="5400000" dist="18000">
              <a:srgbClr val="000000">
                <a:alpha val="4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4" name="Google Shape;564;p7"/>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565" name="Google Shape;565;p7"/>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566" name="Google Shape;566;p7"/>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567" name="Google Shape;567;p7"/>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568" name="Google Shape;568;p7"/>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569" name="Google Shape;569;p7"/>
          <p:cNvSpPr/>
          <p:nvPr/>
        </p:nvSpPr>
        <p:spPr>
          <a:xfrm>
            <a:off x="2438400" y="480061"/>
            <a:ext cx="6096000" cy="374017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Ethics</a:t>
            </a:r>
            <a:r>
              <a:rPr b="0" i="0" lang="en-US" sz="1100" u="none" cap="none" strike="noStrike">
                <a:solidFill>
                  <a:schemeClr val="dk1"/>
                </a:solidFill>
                <a:latin typeface="Lusitana"/>
                <a:ea typeface="Lusitana"/>
                <a:cs typeface="Lusitana"/>
                <a:sym typeface="Lusitana"/>
              </a:rPr>
              <a:t> are a set of beliefs or understanding of a morally right philosophy dictating behaviors that are encouraged or discouraged. These work as practical motivators for people to take up what is commonly believed to be the right or ideal path. The concept of </a:t>
            </a:r>
            <a:r>
              <a:rPr b="1" i="0" lang="en-US" sz="1100" u="none" cap="none" strike="noStrike">
                <a:solidFill>
                  <a:schemeClr val="dk1"/>
                </a:solidFill>
                <a:latin typeface="Lusitana"/>
                <a:ea typeface="Lusitana"/>
                <a:cs typeface="Lusitana"/>
                <a:sym typeface="Lusitana"/>
              </a:rPr>
              <a:t>ethics</a:t>
            </a:r>
            <a:r>
              <a:rPr b="0" i="0" lang="en-US" sz="1100" u="none" cap="none" strike="noStrike">
                <a:solidFill>
                  <a:schemeClr val="dk1"/>
                </a:solidFill>
                <a:latin typeface="Lusitana"/>
                <a:ea typeface="Lusitana"/>
                <a:cs typeface="Lusitana"/>
                <a:sym typeface="Lusitana"/>
              </a:rPr>
              <a:t> reflects the evolution of morals into a socially and professionally accepted category.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The etymology of the word can be traced to the Greek word </a:t>
            </a:r>
            <a:r>
              <a:rPr b="1" i="0" lang="en-US" sz="1100" u="none" cap="none" strike="noStrike">
                <a:solidFill>
                  <a:schemeClr val="dk1"/>
                </a:solidFill>
                <a:latin typeface="Lusitana"/>
                <a:ea typeface="Lusitana"/>
                <a:cs typeface="Lusitana"/>
                <a:sym typeface="Lusitana"/>
              </a:rPr>
              <a:t>ethos</a:t>
            </a:r>
            <a:r>
              <a:rPr b="0" i="0" lang="en-US" sz="1100" u="none" cap="none" strike="noStrike">
                <a:solidFill>
                  <a:schemeClr val="dk1"/>
                </a:solidFill>
                <a:latin typeface="Lusitana"/>
                <a:ea typeface="Lusitana"/>
                <a:cs typeface="Lusitana"/>
                <a:sym typeface="Lusitana"/>
              </a:rPr>
              <a:t>, which translates into 'custom', thus conveying the social value attached to it ever since. The academic study of ethics has a historic study, ranging from mythology to the serious accounts of Aristotle, scholars have critically differentiated right from wrong in this domain.</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Ethics is a moral and normative science</a:t>
            </a:r>
            <a:r>
              <a:rPr b="0" i="0" lang="en-US" sz="1100" u="none" cap="none" strike="noStrike">
                <a:solidFill>
                  <a:schemeClr val="dk1"/>
                </a:solidFill>
                <a:latin typeface="Lusitana"/>
                <a:ea typeface="Lusitana"/>
                <a:cs typeface="Lusitana"/>
                <a:sym typeface="Lusitana"/>
              </a:rPr>
              <a:t>. It covers the following dilemmas:</a:t>
            </a:r>
            <a:endParaRPr/>
          </a:p>
          <a:p>
            <a:pPr indent="-171450" lvl="5" marL="538163"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How to live a good life</a:t>
            </a:r>
            <a:endParaRPr/>
          </a:p>
          <a:p>
            <a:pPr indent="-171450" lvl="2" marL="538163"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Our rights and responsibilities</a:t>
            </a:r>
            <a:endParaRPr/>
          </a:p>
          <a:p>
            <a:pPr indent="-171450" lvl="2" marL="538163"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The language of right and wrong</a:t>
            </a:r>
            <a:endParaRPr/>
          </a:p>
          <a:p>
            <a:pPr indent="-171450" lvl="2" marL="538163"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Moral decisions - what is good and bad?</a:t>
            </a:r>
            <a:endParaRPr/>
          </a:p>
        </p:txBody>
      </p:sp>
      <p:sp>
        <p:nvSpPr>
          <p:cNvPr id="570" name="Google Shape;570;p7"/>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8"/>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6" name="Google Shape;576;p8"/>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577" name="Google Shape;577;p8"/>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578" name="Google Shape;578;p8"/>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579" name="Google Shape;579;p8"/>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580" name="Google Shape;580;p8"/>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581" name="Google Shape;581;p8"/>
          <p:cNvSpPr/>
          <p:nvPr/>
        </p:nvSpPr>
        <p:spPr>
          <a:xfrm>
            <a:off x="2438401" y="480059"/>
            <a:ext cx="2282202" cy="293083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Ethics</a:t>
            </a:r>
            <a:r>
              <a:rPr b="0" i="0" lang="en-US" sz="1100" u="none" cap="none" strike="noStrike">
                <a:solidFill>
                  <a:schemeClr val="dk1"/>
                </a:solidFill>
                <a:latin typeface="Lusitana"/>
                <a:ea typeface="Lusitana"/>
                <a:cs typeface="Lusitana"/>
                <a:sym typeface="Lusitana"/>
              </a:rPr>
              <a:t> have evolved into concepts beyond their academic or philosophical study.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They are now looked at as pragmatic and morally defined expected/unexpected behaviors of people in various professions and walks of life.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As such, there are various types of ethical codes –</a:t>
            </a:r>
            <a:endParaRPr/>
          </a:p>
        </p:txBody>
      </p:sp>
      <p:sp>
        <p:nvSpPr>
          <p:cNvPr id="582" name="Google Shape;582;p8"/>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pic>
        <p:nvPicPr>
          <p:cNvPr id="583" name="Google Shape;583;p8"/>
          <p:cNvPicPr preferRelativeResize="0"/>
          <p:nvPr/>
        </p:nvPicPr>
        <p:blipFill rotWithShape="1">
          <a:blip r:embed="rId3">
            <a:alphaModFix/>
          </a:blip>
          <a:srcRect b="0" l="0" r="0" t="0"/>
          <a:stretch/>
        </p:blipFill>
        <p:spPr>
          <a:xfrm>
            <a:off x="4807324" y="480060"/>
            <a:ext cx="3617784" cy="411459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9"/>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9" name="Google Shape;589;p9"/>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590" name="Google Shape;590;p9"/>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591" name="Google Shape;591;p9"/>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592" name="Google Shape;592;p9"/>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593" name="Google Shape;593;p9"/>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594" name="Google Shape;594;p9"/>
          <p:cNvSpPr/>
          <p:nvPr/>
        </p:nvSpPr>
        <p:spPr>
          <a:xfrm>
            <a:off x="2438400" y="480061"/>
            <a:ext cx="6096000" cy="398364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MAJOR PRINCIPLES OF ETHICS –</a:t>
            </a:r>
            <a:endParaRPr/>
          </a:p>
          <a:p>
            <a:pPr indent="0" lvl="0" marL="0" marR="0" rtl="0" algn="just">
              <a:lnSpc>
                <a:spcPct val="130000"/>
              </a:lnSpc>
              <a:spcBef>
                <a:spcPts val="0"/>
              </a:spcBef>
              <a:spcAft>
                <a:spcPts val="0"/>
              </a:spcAft>
              <a:buNone/>
            </a:pPr>
            <a:r>
              <a:t/>
            </a:r>
            <a:endParaRPr b="1" i="0" sz="1100" u="none" cap="none" strike="noStrike">
              <a:solidFill>
                <a:schemeClr val="dk1"/>
              </a:solidFill>
              <a:latin typeface="Lusitana"/>
              <a:ea typeface="Lusitana"/>
              <a:cs typeface="Lusitana"/>
              <a:sym typeface="Lusitana"/>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Beneficience</a:t>
            </a:r>
            <a:r>
              <a:rPr b="0" i="0" lang="en-US" sz="1100" u="none" cap="none" strike="noStrike">
                <a:solidFill>
                  <a:schemeClr val="dk1"/>
                </a:solidFill>
                <a:latin typeface="Lusitana"/>
                <a:ea typeface="Lusitana"/>
                <a:cs typeface="Lusitana"/>
                <a:sym typeface="Lusitana"/>
              </a:rPr>
              <a:t> – Decision makers should prioritize doing what is right and what is good. Ethical theories should strive to achieve the greatest amount of good (over evil).</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Non-maleficence or Least Harm </a:t>
            </a:r>
            <a:r>
              <a:rPr b="0" i="0" lang="en-US" sz="1100" u="none" cap="none" strike="noStrike">
                <a:solidFill>
                  <a:schemeClr val="dk1"/>
                </a:solidFill>
                <a:latin typeface="Lusitana"/>
                <a:ea typeface="Lusitana"/>
                <a:cs typeface="Lusitana"/>
                <a:sym typeface="Lusitana"/>
              </a:rPr>
              <a:t>– In situations where there is no clear ethical solution, decision makers should seek to choose to do the least harm possible.</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Respect for Autonomy </a:t>
            </a:r>
            <a:r>
              <a:rPr b="0" i="0" lang="en-US" sz="1100" u="none" cap="none" strike="noStrike">
                <a:solidFill>
                  <a:schemeClr val="dk1"/>
                </a:solidFill>
                <a:latin typeface="Lusitana"/>
                <a:ea typeface="Lusitana"/>
                <a:cs typeface="Lusitana"/>
                <a:sym typeface="Lusitana"/>
              </a:rPr>
              <a:t>– Decision making should focus on allowing people to be able to make decisions that apply to their lives. People should have control over their lives as much as possible. Other principles that spring from autonomy include – informed consent, honesty, and confidentiality.</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Justice</a:t>
            </a:r>
            <a:r>
              <a:rPr b="0" i="0" lang="en-US" sz="1100" u="none" cap="none" strike="noStrike">
                <a:solidFill>
                  <a:schemeClr val="dk1"/>
                </a:solidFill>
                <a:latin typeface="Lusitana"/>
                <a:ea typeface="Lusitana"/>
                <a:cs typeface="Lusitana"/>
                <a:sym typeface="Lusitana"/>
              </a:rPr>
              <a:t> – Decision makers should focus on actions that are fair to those involved and be consistent with the ethical theory unless extenuating circumstances can be justified.</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Accountability</a:t>
            </a:r>
            <a:r>
              <a:rPr b="0" i="0" lang="en-US" sz="1100" u="none" cap="none" strike="noStrike">
                <a:solidFill>
                  <a:schemeClr val="dk1"/>
                </a:solidFill>
                <a:latin typeface="Lusitana"/>
                <a:ea typeface="Lusitana"/>
                <a:cs typeface="Lusitana"/>
                <a:sym typeface="Lusitana"/>
              </a:rPr>
              <a:t> – Decision makers should accept responsibility and consequences for their own actions.</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Fidelity</a:t>
            </a:r>
            <a:r>
              <a:rPr b="0" i="0" lang="en-US" sz="1100" u="none" cap="none" strike="noStrike">
                <a:solidFill>
                  <a:schemeClr val="dk1"/>
                </a:solidFill>
                <a:latin typeface="Lusitana"/>
                <a:ea typeface="Lusitana"/>
                <a:cs typeface="Lusitana"/>
                <a:sym typeface="Lusitana"/>
              </a:rPr>
              <a:t> – Decision makers should abide by their promises and be faithful.</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Veracity</a:t>
            </a:r>
            <a:r>
              <a:rPr b="0" i="0" lang="en-US" sz="1100" u="none" cap="none" strike="noStrike">
                <a:solidFill>
                  <a:schemeClr val="dk1"/>
                </a:solidFill>
                <a:latin typeface="Lusitana"/>
                <a:ea typeface="Lusitana"/>
                <a:cs typeface="Lusitana"/>
                <a:sym typeface="Lusitana"/>
              </a:rPr>
              <a:t> – Decision makers should be true to themselves and to others.</a:t>
            </a:r>
            <a:endParaRPr/>
          </a:p>
        </p:txBody>
      </p:sp>
      <p:sp>
        <p:nvSpPr>
          <p:cNvPr id="595" name="Google Shape;595;p9"/>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0"/>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01" name="Google Shape;601;p10"/>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02" name="Google Shape;602;p10"/>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03" name="Google Shape;603;p10"/>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04" name="Google Shape;604;p10"/>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05" name="Google Shape;605;p10"/>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06" name="Google Shape;606;p10"/>
          <p:cNvSpPr/>
          <p:nvPr/>
        </p:nvSpPr>
        <p:spPr>
          <a:xfrm>
            <a:off x="2438400" y="480059"/>
            <a:ext cx="6088379" cy="4227115"/>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THEORIES OF ETHICS –</a:t>
            </a:r>
            <a:endParaRPr/>
          </a:p>
          <a:p>
            <a:pPr indent="0" lvl="0" marL="0" marR="0" rtl="0" algn="just">
              <a:lnSpc>
                <a:spcPct val="130000"/>
              </a:lnSpc>
              <a:spcBef>
                <a:spcPts val="0"/>
              </a:spcBef>
              <a:spcAft>
                <a:spcPts val="0"/>
              </a:spcAft>
              <a:buNone/>
            </a:pPr>
            <a:r>
              <a:t/>
            </a:r>
            <a:endParaRPr b="1"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sng" cap="none" strike="noStrike">
                <a:solidFill>
                  <a:schemeClr val="dk1"/>
                </a:solidFill>
                <a:latin typeface="Lusitana"/>
                <a:ea typeface="Lusitana"/>
                <a:cs typeface="Lusitana"/>
                <a:sym typeface="Lusitana"/>
              </a:rPr>
              <a:t>Deontology -  Immanuel Kant, W.D. Ross</a:t>
            </a:r>
            <a:endParaRPr b="1" i="0" sz="1100" u="sng"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People should adhere to their obligations and duties when engaged in ethical decision making, i.e, they should uphold their duty. However, the flaw in this theory is that there is no rationale or logical basis for deciding ones individual duties. Further, duties might bring conflict, especially when professional and personal lives clash.</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 </a:t>
            </a:r>
            <a:r>
              <a:rPr b="1" i="0" lang="en-US" sz="1100" u="sng" cap="none" strike="noStrike">
                <a:solidFill>
                  <a:schemeClr val="dk1"/>
                </a:solidFill>
                <a:latin typeface="Lusitana"/>
                <a:ea typeface="Lusitana"/>
                <a:cs typeface="Lusitana"/>
                <a:sym typeface="Lusitana"/>
              </a:rPr>
              <a:t>Rights Theory – Aristotle, Confucius </a:t>
            </a:r>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In ethical theories based on rights, the rights established by a society are protected and given the highest priority. Rights are considered ethically correct and valid since they are endorsed by a large population. Individuals may also bestow rights upon others if they have the ability and resources to do so. A major complication of this theory on a larger scale is that we must decipher the characteristics of a society’s rights. The society has to determine what rights it wants to uphold and give to its citizens and to do that, it must decide what the society’s goals and ethical priorities are. Therefore, for the rights theory to be useful, it must be used in conjunction with another ethical theory that will consistently explain the goals of the society</a:t>
            </a:r>
            <a:endParaRPr/>
          </a:p>
        </p:txBody>
      </p:sp>
      <p:sp>
        <p:nvSpPr>
          <p:cNvPr id="607" name="Google Shape;607;p10"/>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11"/>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3" name="Google Shape;613;p11"/>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14" name="Google Shape;614;p11"/>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15" name="Google Shape;615;p11"/>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16" name="Google Shape;616;p11"/>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17" name="Google Shape;617;p11"/>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18" name="Google Shape;618;p11"/>
          <p:cNvSpPr/>
          <p:nvPr/>
        </p:nvSpPr>
        <p:spPr>
          <a:xfrm>
            <a:off x="2438400" y="480059"/>
            <a:ext cx="6088379" cy="4227115"/>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sng" cap="none" strike="noStrike">
                <a:solidFill>
                  <a:schemeClr val="dk1"/>
                </a:solidFill>
                <a:latin typeface="Lusitana"/>
                <a:ea typeface="Lusitana"/>
                <a:cs typeface="Lusitana"/>
                <a:sym typeface="Lusitana"/>
              </a:rPr>
              <a:t>Utilitarianism - Jeremy Bentham, J.S. Mill</a:t>
            </a:r>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According to this theory, ethical decision making is based on one’s ability to predict consequences of an action. The choice that yields the greatest benefit to the most people is considered ethically correct. There are 2 types of utilitarianism – ACT and RULE. Act Utilitarianism conforms to the idea that one should perform an act that benefits most people, regardless of personal feelings or societal constraints such as laws. Rule Utilitarianism seeks to benefit most people through the fairest and most just means available. A disadvantage of utilitarianism is that although people can use their life experiences to predict outcomes, no one can ascertain the accuracy. Uncertainty tends to lead to unexpected results, making the decision maker appear unethical.</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sng" cap="none" strike="noStrike">
                <a:solidFill>
                  <a:schemeClr val="dk1"/>
                </a:solidFill>
                <a:latin typeface="Lusitana"/>
                <a:ea typeface="Lusitana"/>
                <a:cs typeface="Lusitana"/>
                <a:sym typeface="Lusitana"/>
              </a:rPr>
              <a:t>Virtue</a:t>
            </a:r>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The virtue ethical theory judges a person by his/her character rather than by an action that may deviate from his/her normal behavior. It takes the person’s morals, reputation, and motivation into account when rating an unusual and irregular behavior that is considered unethical. One weakness of virtue ethical theory is that it does not take into consideration a person’s change in moral character. </a:t>
            </a:r>
            <a:endParaRPr/>
          </a:p>
        </p:txBody>
      </p:sp>
      <p:sp>
        <p:nvSpPr>
          <p:cNvPr id="619" name="Google Shape;619;p11"/>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2"/>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25" name="Google Shape;625;p12"/>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26" name="Google Shape;626;p12"/>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27" name="Google Shape;627;p12"/>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28" name="Google Shape;628;p12"/>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29" name="Google Shape;629;p12"/>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30" name="Google Shape;630;p12"/>
          <p:cNvSpPr/>
          <p:nvPr/>
        </p:nvSpPr>
        <p:spPr>
          <a:xfrm>
            <a:off x="2438400" y="480059"/>
            <a:ext cx="6088379" cy="4227115"/>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sng" cap="none" strike="noStrike">
                <a:solidFill>
                  <a:schemeClr val="dk1"/>
                </a:solidFill>
                <a:latin typeface="Lusitana"/>
                <a:ea typeface="Lusitana"/>
                <a:cs typeface="Lusitana"/>
                <a:sym typeface="Lusitana"/>
              </a:rPr>
              <a:t>Care Ethics - Carol Gilligan, Virginia Held</a:t>
            </a:r>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 The theory states that what makes something good or bad, right or wrong, is that it involves caring for another, and supports relationship with other people. Care Ethics functions on the basic principle of caring towards those who are vulnerable or need support. One should chose the action which supports or nurtures other people, particularly those who are most vulnerable (e.g. children, economically unstable households etc.). However, this theory is often viewed as supplement to other ethical theories, rather than as comprehensive theory in its own right.</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sng" cap="none" strike="noStrike">
                <a:solidFill>
                  <a:schemeClr val="dk1"/>
                </a:solidFill>
                <a:latin typeface="Lusitana"/>
                <a:ea typeface="Lusitana"/>
                <a:cs typeface="Lusitana"/>
                <a:sym typeface="Lusitana"/>
              </a:rPr>
              <a:t>Egoism Theory – Ayn Rand, Adam Smith</a:t>
            </a:r>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According to this theory, what makes something good or bad, right or wrong, is that it satisfies one’s desires, or meets one’s needs. The theory propagates the principle of Self-interest of the decision maker. doing, considering, or affected by the action. One should chose the action which most realizes or conduces to one’s own self-interest. A variation to this theory asks if the person should look simply to self-interest, or to enlightened or rational </a:t>
            </a:r>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self-interest? Conception of Rational Self-Interest is basic component of capitalist economy and business models.</a:t>
            </a:r>
            <a:endParaRPr/>
          </a:p>
        </p:txBody>
      </p:sp>
      <p:sp>
        <p:nvSpPr>
          <p:cNvPr id="631" name="Google Shape;631;p12"/>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3"/>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37" name="Google Shape;637;p13"/>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38" name="Google Shape;638;p13"/>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39" name="Google Shape;639;p13"/>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40" name="Google Shape;640;p13"/>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41" name="Google Shape;641;p13"/>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42" name="Google Shape;642;p13"/>
          <p:cNvSpPr/>
          <p:nvPr/>
        </p:nvSpPr>
        <p:spPr>
          <a:xfrm>
            <a:off x="2438400" y="480059"/>
            <a:ext cx="6088379" cy="398364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sng" cap="none" strike="noStrike">
                <a:solidFill>
                  <a:schemeClr val="dk1"/>
                </a:solidFill>
                <a:latin typeface="Lusitana"/>
                <a:ea typeface="Lusitana"/>
                <a:cs typeface="Lusitana"/>
                <a:sym typeface="Lusitana"/>
              </a:rPr>
              <a:t>ETHICS AND VALUES IN THE INDIAN CONTEXT – KAUTILYA’S ARTHASHASTRA</a:t>
            </a:r>
            <a:endParaRPr/>
          </a:p>
          <a:p>
            <a:pPr indent="0" lvl="0" marL="0" marR="0" rtl="0" algn="just">
              <a:lnSpc>
                <a:spcPct val="130000"/>
              </a:lnSpc>
              <a:spcBef>
                <a:spcPts val="0"/>
              </a:spcBef>
              <a:spcAft>
                <a:spcPts val="0"/>
              </a:spcAft>
              <a:buNone/>
            </a:pPr>
            <a:r>
              <a:t/>
            </a:r>
            <a:endParaRPr b="1" i="0" sz="1100" u="sng"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Evidence of the modern administrative character of the Arthashastra comes most through Kautilyas’ expressions of efficiency, described in a unique imagery of corrupt officials improperly eating the wealth of the state.</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Kautilyas’ concept of efficiency depends on an extensive elaboration of efficiency-guaranteeing techniques. He creates makes a clear link between civil service malfeasance and the reduction in wealth. Contravening the standards of efficiency was among the highest ills that a civil servant could commit in his state. Kautilya believed that “men are naturally fickle minded” and are comparable to “horses at work who exhibit constant change in their temper”. This means that </a:t>
            </a:r>
            <a:r>
              <a:rPr b="1" i="0" lang="en-US" sz="1100" u="none" cap="none" strike="noStrike">
                <a:solidFill>
                  <a:schemeClr val="dk1"/>
                </a:solidFill>
                <a:latin typeface="Lusitana"/>
                <a:ea typeface="Lusitana"/>
                <a:cs typeface="Lusitana"/>
                <a:sym typeface="Lusitana"/>
              </a:rPr>
              <a:t>honesty is not a virtue that would remain consistent life long and the temptation to make easy gains through corrupt means can override the trait of honesty any time</a:t>
            </a:r>
            <a:r>
              <a:rPr b="0" i="0" lang="en-US" sz="1100" u="none" cap="none" strike="noStrike">
                <a:solidFill>
                  <a:schemeClr val="dk1"/>
                </a:solidFill>
                <a:latin typeface="Lusitana"/>
                <a:ea typeface="Lusitana"/>
                <a:cs typeface="Lusitana"/>
                <a:sym typeface="Lusitana"/>
              </a:rPr>
              <a:t>. Similarly, he compared the process of generation and collection of revenue by officials with honey or poison on the tip of the tongue, which becomes impossible, not to taste.</a:t>
            </a:r>
            <a:endParaRPr/>
          </a:p>
        </p:txBody>
      </p:sp>
      <p:sp>
        <p:nvSpPr>
          <p:cNvPr id="643" name="Google Shape;643;p13"/>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4"/>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49" name="Google Shape;649;p14"/>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50" name="Google Shape;650;p14"/>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51" name="Google Shape;651;p14"/>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52" name="Google Shape;652;p14"/>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53" name="Google Shape;653;p14"/>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54" name="Google Shape;654;p14"/>
          <p:cNvSpPr/>
          <p:nvPr/>
        </p:nvSpPr>
        <p:spPr>
          <a:xfrm>
            <a:off x="2438400" y="480059"/>
            <a:ext cx="6088379" cy="374017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Vigilance and Transparency </a:t>
            </a:r>
            <a:r>
              <a:rPr b="0" i="0" lang="en-US" sz="1100" u="none" cap="none" strike="noStrike">
                <a:solidFill>
                  <a:schemeClr val="dk1"/>
                </a:solidFill>
                <a:latin typeface="Lusitana"/>
                <a:ea typeface="Lusitana"/>
                <a:cs typeface="Lusitana"/>
                <a:sym typeface="Lusitana"/>
              </a:rPr>
              <a:t>– Kautilya prescribed a strict vigil even over the superintendents of government departments in relation to the modus operandi of work. He reflected serious concerns about opacity in the operations of the world of the corrupt. Illegal transactions were so shrouded in mist that he compared embezzlers to fish moving under water and the virtual impossibility of detecting when exactly the fish is drinking water. He also noted that while it is possible to ascertain the movements of bird flying in the sky, it is difficult to gauge the corrupt activities of government officials.</a:t>
            </a:r>
            <a:endParaRPr/>
          </a:p>
          <a:p>
            <a:pPr indent="0" lvl="0" marL="0" marR="0" rtl="0" algn="just">
              <a:lnSpc>
                <a:spcPct val="130000"/>
              </a:lnSpc>
              <a:spcBef>
                <a:spcPts val="0"/>
              </a:spcBef>
              <a:spcAft>
                <a:spcPts val="0"/>
              </a:spcAft>
              <a:buNone/>
            </a:pPr>
            <a:r>
              <a:t/>
            </a:r>
            <a:endParaRPr b="1"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40 kinds of embezzlement </a:t>
            </a:r>
            <a:r>
              <a:rPr b="0" i="0" lang="en-US" sz="1100" u="none" cap="none" strike="noStrike">
                <a:solidFill>
                  <a:schemeClr val="dk1"/>
                </a:solidFill>
                <a:latin typeface="Lusitana"/>
                <a:ea typeface="Lusitana"/>
                <a:cs typeface="Lusitana"/>
                <a:sym typeface="Lusitana"/>
              </a:rPr>
              <a:t>– In all these cases, the concerned functionaries such as the treasurer, the receiver, the payer, the person who caused the payment and the ministerial servants were to be separately interrogated. In case any of these officials were to lie, their punishment was to be enhanced to the level meted out to the chief officer mainly responsible for the crime. After the enquiry, a public proclamation was to be made asking the common people to claim compensation in case they were aggrieved and suffered from the embezzlement.</a:t>
            </a:r>
            <a:endParaRPr/>
          </a:p>
        </p:txBody>
      </p:sp>
      <p:sp>
        <p:nvSpPr>
          <p:cNvPr id="655" name="Google Shape;655;p14"/>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15"/>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1" name="Google Shape;661;p15"/>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62" name="Google Shape;662;p15"/>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63" name="Google Shape;663;p15"/>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64" name="Google Shape;664;p15"/>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65" name="Google Shape;665;p15"/>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66" name="Google Shape;666;p15"/>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pic>
        <p:nvPicPr>
          <p:cNvPr id="667" name="Google Shape;667;p15"/>
          <p:cNvPicPr preferRelativeResize="0"/>
          <p:nvPr/>
        </p:nvPicPr>
        <p:blipFill rotWithShape="1">
          <a:blip r:embed="rId3">
            <a:alphaModFix/>
          </a:blip>
          <a:srcRect b="0" l="0" r="0" t="0"/>
          <a:stretch/>
        </p:blipFill>
        <p:spPr>
          <a:xfrm>
            <a:off x="2079896" y="801889"/>
            <a:ext cx="6446884" cy="353972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6"/>
          <p:cNvSpPr/>
          <p:nvPr/>
        </p:nvSpPr>
        <p:spPr>
          <a:xfrm>
            <a:off x="649451" y="1289558"/>
            <a:ext cx="1324680" cy="461401"/>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3" name="Google Shape;673;p16"/>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74" name="Google Shape;674;p16"/>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75" name="Google Shape;675;p16"/>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76" name="Google Shape;676;p16"/>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77" name="Google Shape;677;p16"/>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78" name="Google Shape;678;p16"/>
          <p:cNvSpPr/>
          <p:nvPr/>
        </p:nvSpPr>
        <p:spPr>
          <a:xfrm>
            <a:off x="2438400" y="480059"/>
            <a:ext cx="6088379" cy="3496702"/>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ETHICS IN THE WORKPLACE –</a:t>
            </a:r>
            <a:endParaRPr/>
          </a:p>
          <a:p>
            <a:pPr indent="0" lvl="0" marL="0" marR="0" rtl="0" algn="just">
              <a:lnSpc>
                <a:spcPct val="130000"/>
              </a:lnSpc>
              <a:spcBef>
                <a:spcPts val="0"/>
              </a:spcBef>
              <a:spcAft>
                <a:spcPts val="0"/>
              </a:spcAft>
              <a:buNone/>
            </a:pPr>
            <a:r>
              <a:t/>
            </a:r>
            <a:endParaRPr b="1" i="0" sz="1100" u="none" cap="none" strike="noStrike">
              <a:solidFill>
                <a:schemeClr val="dk1"/>
              </a:solidFill>
              <a:latin typeface="Lusitana"/>
              <a:ea typeface="Lusitana"/>
              <a:cs typeface="Lusitana"/>
              <a:sym typeface="Lusitana"/>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Workplace ethics – often called business ethics – are the set of moral principles, values, and standards that both employees and employers follow in the workplace. </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At its core, ethics in the workplace is the moral code that guides employees concerning what is wrong and right conduct. </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Companies should publish in-house codes of ethics to be strictly followed by all their associates and employ people with a reputation for high standards of ethical behaviour at the top levels.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Incorporate consideration of ethics into performance reviews. Reward ethical behaviour.</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SEBI, CII and such other organizations representing corporations issue codes of best practices and enjoin their members to observe them.</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 Ethics-based curriculum.</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Conduct an ethics audit.</a:t>
            </a:r>
            <a:endParaRPr/>
          </a:p>
        </p:txBody>
      </p:sp>
      <p:sp>
        <p:nvSpPr>
          <p:cNvPr id="679" name="Google Shape;679;p16"/>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7"/>
          <p:cNvSpPr/>
          <p:nvPr/>
        </p:nvSpPr>
        <p:spPr>
          <a:xfrm>
            <a:off x="651364" y="1828801"/>
            <a:ext cx="1252387" cy="618614"/>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5" name="Google Shape;685;p17"/>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86" name="Google Shape;686;p17"/>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87" name="Google Shape;687;p17"/>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688" name="Google Shape;688;p17"/>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689" name="Google Shape;689;p17"/>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690" name="Google Shape;690;p17"/>
          <p:cNvSpPr/>
          <p:nvPr/>
        </p:nvSpPr>
        <p:spPr>
          <a:xfrm>
            <a:off x="2438400" y="480061"/>
            <a:ext cx="6096000" cy="4227115"/>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Integrity</a:t>
            </a:r>
            <a:r>
              <a:rPr b="0" i="0" lang="en-US" sz="1100" u="none" cap="none" strike="noStrike">
                <a:solidFill>
                  <a:schemeClr val="dk1"/>
                </a:solidFill>
                <a:latin typeface="Lusitana"/>
                <a:ea typeface="Lusitana"/>
                <a:cs typeface="Lusitana"/>
                <a:sym typeface="Lusitana"/>
              </a:rPr>
              <a:t> means doing the right thing in the right way; it means adhering to values strongly held. </a:t>
            </a:r>
            <a:r>
              <a:rPr b="1" i="0" lang="en-US" sz="1100" u="none" cap="none" strike="noStrike">
                <a:solidFill>
                  <a:schemeClr val="dk1"/>
                </a:solidFill>
                <a:latin typeface="Lusitana"/>
                <a:ea typeface="Lusitana"/>
                <a:cs typeface="Lusitana"/>
                <a:sym typeface="Lusitana"/>
              </a:rPr>
              <a:t>Trust</a:t>
            </a:r>
            <a:r>
              <a:rPr b="0" i="0" lang="en-US" sz="1100" u="none" cap="none" strike="noStrike">
                <a:solidFill>
                  <a:schemeClr val="dk1"/>
                </a:solidFill>
                <a:latin typeface="Lusitana"/>
                <a:ea typeface="Lusitana"/>
                <a:cs typeface="Lusitana"/>
                <a:sym typeface="Lusitana"/>
              </a:rPr>
              <a:t> is a belief that someone is honest and credible; trust is earned by being honest, having a positive intent, having strong competencies, and a track record of results.</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Integrity</a:t>
            </a:r>
            <a:r>
              <a:rPr b="0" i="0" lang="en-US" sz="1100" u="none" cap="none" strike="noStrike">
                <a:solidFill>
                  <a:schemeClr val="dk1"/>
                </a:solidFill>
                <a:latin typeface="Lusitana"/>
                <a:ea typeface="Lusitana"/>
                <a:cs typeface="Lusitana"/>
                <a:sym typeface="Lusitana"/>
              </a:rPr>
              <a:t> in leadership is often equated with courage- courage to speak up when your point of view is at odds with a manager’s perspective or with a commonly held belief about how things should be done. Integrity may also be interpreted as work ethic- in early, staying late to get the right things done for the company.</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Trust</a:t>
            </a:r>
            <a:r>
              <a:rPr b="0" i="0" lang="en-US" sz="1100" u="none" cap="none" strike="noStrike">
                <a:solidFill>
                  <a:schemeClr val="dk1"/>
                </a:solidFill>
                <a:latin typeface="Lusitana"/>
                <a:ea typeface="Lusitana"/>
                <a:cs typeface="Lusitana"/>
                <a:sym typeface="Lusitana"/>
              </a:rPr>
              <a:t> may be based on a feeling that you have the other person’s back when he or she is not in the room. It may be the confidence you will advocate the other person’s point of view with clarity and understanding. Or, trust may be gained as you’re seen to act in the best interest of the team or organization rather than acting primarily to advance your personal agenda.</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The combination of the two creates character, both good and bad.</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We judge ourselves by our intentions, while people judge us by our actions. </a:t>
            </a:r>
            <a:endParaRPr/>
          </a:p>
        </p:txBody>
      </p:sp>
      <p:sp>
        <p:nvSpPr>
          <p:cNvPr id="691" name="Google Shape;691;p17"/>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8"/>
          <p:cNvSpPr/>
          <p:nvPr/>
        </p:nvSpPr>
        <p:spPr>
          <a:xfrm>
            <a:off x="651364" y="1828801"/>
            <a:ext cx="1252387" cy="618614"/>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97" name="Google Shape;697;p18"/>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698" name="Google Shape;698;p18"/>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699" name="Google Shape;699;p18"/>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700" name="Google Shape;700;p18"/>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701" name="Google Shape;701;p18"/>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702" name="Google Shape;702;p18"/>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
        <p:nvSpPr>
          <p:cNvPr id="703" name="Google Shape;703;p18"/>
          <p:cNvSpPr/>
          <p:nvPr/>
        </p:nvSpPr>
        <p:spPr>
          <a:xfrm>
            <a:off x="2430780" y="701663"/>
            <a:ext cx="6096000" cy="374017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Leaders skilled in Integrity &amp; Trust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Keep their promises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Have a reputation for being honest and forthright</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Do not present opinions as facts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Are consistent in words and actions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Trust and respect others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Do respond to pressure to act in conflict with their ethics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Understand that trust must be earned</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Keep information shared in confidence private</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Accept responsibility for their mistakes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Lead by example, not by dictates alone</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Maintain transparency</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Deliver amount and quality promised, or over deliver</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Always try to do the right thing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9"/>
          <p:cNvSpPr/>
          <p:nvPr/>
        </p:nvSpPr>
        <p:spPr>
          <a:xfrm>
            <a:off x="651364" y="1828801"/>
            <a:ext cx="1252387" cy="618614"/>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09" name="Google Shape;709;p19"/>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710" name="Google Shape;710;p19"/>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711" name="Google Shape;711;p19"/>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712" name="Google Shape;712;p19"/>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713" name="Google Shape;713;p19"/>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714" name="Google Shape;714;p19"/>
          <p:cNvSpPr/>
          <p:nvPr/>
        </p:nvSpPr>
        <p:spPr>
          <a:xfrm>
            <a:off x="2438400" y="480061"/>
            <a:ext cx="6096000" cy="398364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What prevents Integrity &amp; Trust?</a:t>
            </a:r>
            <a:endParaRPr/>
          </a:p>
          <a:p>
            <a:pPr indent="0" lvl="0" marL="0" marR="0" rtl="0" algn="just">
              <a:lnSpc>
                <a:spcPct val="130000"/>
              </a:lnSpc>
              <a:spcBef>
                <a:spcPts val="0"/>
              </a:spcBef>
              <a:spcAft>
                <a:spcPts val="0"/>
              </a:spcAft>
              <a:buNone/>
            </a:pPr>
            <a:r>
              <a:t/>
            </a:r>
            <a:endParaRPr b="1" i="0" sz="1100" u="none" cap="none" strike="noStrike">
              <a:solidFill>
                <a:schemeClr val="dk1"/>
              </a:solidFill>
              <a:latin typeface="Lusitana"/>
              <a:ea typeface="Lusitana"/>
              <a:cs typeface="Lusitana"/>
              <a:sym typeface="Lusitana"/>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Lack of actual commitment to keep promises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Making excuses or blame others for their mistakes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Inconsistency in following through</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Dishonesty, especially for gain</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Blunt, compassionless frankness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Takes responsibility for mistakes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Lack of transparency</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Under-delivering on quantity or quality</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Inconsistency between words and actions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Gossiping and divulging information shared in confidence</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Making unrealistic promises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Demonstrated lack of faithfulness to stated values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Selfishness</a:t>
            </a:r>
            <a:endParaRPr/>
          </a:p>
          <a:p>
            <a:pPr indent="-171450" lvl="0" marL="171450" marR="0" rtl="0" algn="just">
              <a:lnSpc>
                <a:spcPct val="130000"/>
              </a:lnSpc>
              <a:spcBef>
                <a:spcPts val="0"/>
              </a:spcBef>
              <a:spcAft>
                <a:spcPts val="0"/>
              </a:spcAft>
              <a:buClr>
                <a:srgbClr val="000000"/>
              </a:buClr>
              <a:buSzPts val="1100"/>
              <a:buFont typeface="Arial"/>
              <a:buChar char="•"/>
            </a:pPr>
            <a:r>
              <a:rPr b="0" i="0" lang="en-US" sz="1100" u="none" cap="none" strike="noStrike">
                <a:solidFill>
                  <a:schemeClr val="dk1"/>
                </a:solidFill>
                <a:latin typeface="Lusitana"/>
                <a:ea typeface="Lusitana"/>
                <a:cs typeface="Lusitana"/>
                <a:sym typeface="Lusitana"/>
              </a:rPr>
              <a:t>Inclination to judge others negatively</a:t>
            </a:r>
            <a:endParaRPr/>
          </a:p>
        </p:txBody>
      </p:sp>
      <p:sp>
        <p:nvSpPr>
          <p:cNvPr id="715" name="Google Shape;715;p19"/>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20"/>
          <p:cNvSpPr/>
          <p:nvPr/>
        </p:nvSpPr>
        <p:spPr>
          <a:xfrm>
            <a:off x="653366" y="2447414"/>
            <a:ext cx="1252387" cy="618614"/>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21" name="Google Shape;721;p20"/>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722" name="Google Shape;722;p20"/>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723" name="Google Shape;723;p20"/>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724" name="Google Shape;724;p20"/>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725" name="Google Shape;725;p20"/>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726" name="Google Shape;726;p20"/>
          <p:cNvSpPr/>
          <p:nvPr/>
        </p:nvSpPr>
        <p:spPr>
          <a:xfrm>
            <a:off x="2438400" y="480061"/>
            <a:ext cx="6096000" cy="3740173"/>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Justice</a:t>
            </a:r>
            <a:r>
              <a:rPr b="0" i="0" lang="en-US" sz="1100" u="none" cap="none" strike="noStrike">
                <a:solidFill>
                  <a:schemeClr val="dk1"/>
                </a:solidFill>
                <a:latin typeface="Lusitana"/>
                <a:ea typeface="Lusitana"/>
                <a:cs typeface="Lusitana"/>
                <a:sym typeface="Lusitana"/>
              </a:rPr>
              <a:t> means giving each person what he or she deserves or, in more traditional terms, giving each person his or her due.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Justice and fairness are closely related terms that are often today used interchangeably. There have, however, also been more distinct understandings of the two terms. While </a:t>
            </a:r>
            <a:r>
              <a:rPr b="1" i="0" lang="en-US" sz="1100" u="none" cap="none" strike="noStrike">
                <a:solidFill>
                  <a:schemeClr val="dk1"/>
                </a:solidFill>
                <a:latin typeface="Lusitana"/>
                <a:ea typeface="Lusitana"/>
                <a:cs typeface="Lusitana"/>
                <a:sym typeface="Lusitana"/>
              </a:rPr>
              <a:t>justice</a:t>
            </a:r>
            <a:r>
              <a:rPr b="0" i="0" lang="en-US" sz="1100" u="none" cap="none" strike="noStrike">
                <a:solidFill>
                  <a:schemeClr val="dk1"/>
                </a:solidFill>
                <a:latin typeface="Lusitana"/>
                <a:ea typeface="Lusitana"/>
                <a:cs typeface="Lusitana"/>
                <a:sym typeface="Lusitana"/>
              </a:rPr>
              <a:t> usually has been used with reference to a standard of rightness, </a:t>
            </a:r>
            <a:r>
              <a:rPr b="1" i="0" lang="en-US" sz="1100" u="none" cap="none" strike="noStrike">
                <a:solidFill>
                  <a:schemeClr val="dk1"/>
                </a:solidFill>
                <a:latin typeface="Lusitana"/>
                <a:ea typeface="Lusitana"/>
                <a:cs typeface="Lusitana"/>
                <a:sym typeface="Lusitana"/>
              </a:rPr>
              <a:t>fairness</a:t>
            </a:r>
            <a:r>
              <a:rPr b="0" i="0" lang="en-US" sz="1100" u="none" cap="none" strike="noStrike">
                <a:solidFill>
                  <a:schemeClr val="dk1"/>
                </a:solidFill>
                <a:latin typeface="Lusitana"/>
                <a:ea typeface="Lusitana"/>
                <a:cs typeface="Lusitana"/>
                <a:sym typeface="Lusitana"/>
              </a:rPr>
              <a:t> often has been used with regard to an ability to judge without reference to one's feelings or interests; fairness has also been used to refer to the ability to make judgments that are not overly general but that are concrete and specific to a particular case. In any case, a notion of being treated as one deserves is crucial to both justice and fairness.</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The most fundamental principle of justice, as defined by Aristotle, is the principle that "</a:t>
            </a:r>
            <a:r>
              <a:rPr b="1" i="0" lang="en-US" sz="1100" u="none" cap="none" strike="noStrike">
                <a:solidFill>
                  <a:schemeClr val="dk1"/>
                </a:solidFill>
                <a:latin typeface="Lusitana"/>
                <a:ea typeface="Lusitana"/>
                <a:cs typeface="Lusitana"/>
                <a:sym typeface="Lusitana"/>
              </a:rPr>
              <a:t>equals should be treated equally and unequals unequally</a:t>
            </a:r>
            <a:r>
              <a:rPr b="0" i="0" lang="en-US" sz="1100" u="none" cap="none" strike="noStrike">
                <a:solidFill>
                  <a:schemeClr val="dk1"/>
                </a:solidFill>
                <a:latin typeface="Lusitana"/>
                <a:ea typeface="Lusitana"/>
                <a:cs typeface="Lusitana"/>
                <a:sym typeface="Lusitana"/>
              </a:rPr>
              <a:t>." In its contemporary form, this principle is sometimes expressed as follows: "Individuals should be treated the same, unless they differ in ways that are relevant to the situation in which they are involved."</a:t>
            </a:r>
            <a:endParaRPr/>
          </a:p>
        </p:txBody>
      </p:sp>
      <p:sp>
        <p:nvSpPr>
          <p:cNvPr id="727" name="Google Shape;727;p20"/>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21"/>
          <p:cNvSpPr/>
          <p:nvPr/>
        </p:nvSpPr>
        <p:spPr>
          <a:xfrm>
            <a:off x="695770" y="3059003"/>
            <a:ext cx="1252387" cy="439085"/>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33" name="Google Shape;733;p21"/>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734" name="Google Shape;734;p21"/>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735" name="Google Shape;735;p21"/>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736" name="Google Shape;736;p21"/>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737" name="Google Shape;737;p21"/>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738" name="Google Shape;738;p21"/>
          <p:cNvSpPr/>
          <p:nvPr/>
        </p:nvSpPr>
        <p:spPr>
          <a:xfrm>
            <a:off x="2438400" y="480061"/>
            <a:ext cx="5999356" cy="398364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Character applies to the aggregate of moral qualities by which a person is judged apart from intelligence, competence, or special talents.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The word comes from the Greek word </a:t>
            </a:r>
            <a:r>
              <a:rPr b="1" i="0" lang="en-US" sz="1100" u="none" cap="none" strike="noStrike">
                <a:solidFill>
                  <a:schemeClr val="dk1"/>
                </a:solidFill>
                <a:latin typeface="Lusitana"/>
                <a:ea typeface="Lusitana"/>
                <a:cs typeface="Lusitana"/>
                <a:sym typeface="Lusitana"/>
              </a:rPr>
              <a:t>kharakter</a:t>
            </a:r>
            <a:r>
              <a:rPr b="0" i="0" lang="en-US" sz="1100" u="none" cap="none" strike="noStrike">
                <a:solidFill>
                  <a:schemeClr val="dk1"/>
                </a:solidFill>
                <a:latin typeface="Lusitana"/>
                <a:ea typeface="Lusitana"/>
                <a:cs typeface="Lusitana"/>
                <a:sym typeface="Lusitana"/>
              </a:rPr>
              <a:t> for “engraved mark,” “symbol or imprint on the soul,” and “instrument for marking,” and can be traced further back to the words for “to engrave,” “pointed stake,” and “to scrape and scratch.”</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Character is nature and nurture. It is nature cultured and disciplined, so that natural tendencies are brought under the sway of the moral motive. </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There are 3 qualities of true character –</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0" i="0" lang="en-US" sz="1100" u="none" cap="none" strike="noStrike">
                <a:solidFill>
                  <a:schemeClr val="dk1"/>
                </a:solidFill>
                <a:latin typeface="Lusitana"/>
                <a:ea typeface="Lusitana"/>
                <a:cs typeface="Lusitana"/>
                <a:sym typeface="Lusitana"/>
              </a:rPr>
              <a:t>Moral discipline</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0" i="0" lang="en-US" sz="1100" u="none" cap="none" strike="noStrike">
                <a:solidFill>
                  <a:schemeClr val="dk1"/>
                </a:solidFill>
                <a:latin typeface="Lusitana"/>
                <a:ea typeface="Lusitana"/>
                <a:cs typeface="Lusitana"/>
                <a:sym typeface="Lusitana"/>
              </a:rPr>
              <a:t>Moral attachment</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0" i="0" lang="en-US" sz="1100" u="none" cap="none" strike="noStrike">
                <a:solidFill>
                  <a:schemeClr val="dk1"/>
                </a:solidFill>
                <a:latin typeface="Lusitana"/>
                <a:ea typeface="Lusitana"/>
                <a:cs typeface="Lusitana"/>
                <a:sym typeface="Lusitana"/>
              </a:rPr>
              <a:t>Moral autonomy</a:t>
            </a:r>
            <a:endParaRPr/>
          </a:p>
          <a:p>
            <a:pPr indent="-158750" lvl="0" marL="228600" marR="0" rtl="0" algn="just">
              <a:lnSpc>
                <a:spcPct val="130000"/>
              </a:lnSpc>
              <a:spcBef>
                <a:spcPts val="0"/>
              </a:spcBef>
              <a:spcAft>
                <a:spcPts val="0"/>
              </a:spcAft>
              <a:buClr>
                <a:srgbClr val="000000"/>
              </a:buClr>
              <a:buSzPts val="1100"/>
              <a:buFont typeface="Arial"/>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Character gains through its expression, and loses through its repression.</a:t>
            </a:r>
            <a:endParaRPr/>
          </a:p>
        </p:txBody>
      </p:sp>
      <p:sp>
        <p:nvSpPr>
          <p:cNvPr id="739" name="Google Shape;739;p21"/>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22"/>
          <p:cNvSpPr/>
          <p:nvPr/>
        </p:nvSpPr>
        <p:spPr>
          <a:xfrm>
            <a:off x="704030" y="3517732"/>
            <a:ext cx="1280274" cy="582218"/>
          </a:xfrm>
          <a:prstGeom prst="roundRect">
            <a:avLst>
              <a:gd fmla="val 16667" name="adj"/>
            </a:avLst>
          </a:prstGeom>
          <a:solidFill>
            <a:schemeClr val="accent4"/>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45" name="Google Shape;745;p22"/>
          <p:cNvSpPr txBox="1"/>
          <p:nvPr>
            <p:ph idx="2" type="title"/>
          </p:nvPr>
        </p:nvSpPr>
        <p:spPr>
          <a:xfrm>
            <a:off x="574816" y="82400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Morals and Values</a:t>
            </a:r>
            <a:endParaRPr sz="1600"/>
          </a:p>
        </p:txBody>
      </p:sp>
      <p:sp>
        <p:nvSpPr>
          <p:cNvPr id="746" name="Google Shape;746;p22"/>
          <p:cNvSpPr txBox="1"/>
          <p:nvPr>
            <p:ph idx="4" type="title"/>
          </p:nvPr>
        </p:nvSpPr>
        <p:spPr>
          <a:xfrm>
            <a:off x="566556" y="1276209"/>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Ethics</a:t>
            </a:r>
            <a:endParaRPr sz="1600"/>
          </a:p>
        </p:txBody>
      </p:sp>
      <p:sp>
        <p:nvSpPr>
          <p:cNvPr id="747" name="Google Shape;747;p22"/>
          <p:cNvSpPr txBox="1"/>
          <p:nvPr>
            <p:ph idx="5" type="title"/>
          </p:nvPr>
        </p:nvSpPr>
        <p:spPr>
          <a:xfrm>
            <a:off x="617220" y="3029632"/>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Character</a:t>
            </a:r>
            <a:endParaRPr sz="1600"/>
          </a:p>
        </p:txBody>
      </p:sp>
      <p:sp>
        <p:nvSpPr>
          <p:cNvPr id="748" name="Google Shape;748;p22"/>
          <p:cNvSpPr txBox="1"/>
          <p:nvPr>
            <p:ph idx="6" type="title"/>
          </p:nvPr>
        </p:nvSpPr>
        <p:spPr>
          <a:xfrm>
            <a:off x="574816" y="195931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Trust and Integrity</a:t>
            </a:r>
            <a:endParaRPr sz="1600"/>
          </a:p>
        </p:txBody>
      </p:sp>
      <p:sp>
        <p:nvSpPr>
          <p:cNvPr id="749" name="Google Shape;749;p22"/>
          <p:cNvSpPr txBox="1"/>
          <p:nvPr>
            <p:ph idx="7" type="title"/>
          </p:nvPr>
        </p:nvSpPr>
        <p:spPr>
          <a:xfrm>
            <a:off x="651364" y="3676844"/>
            <a:ext cx="1409488" cy="488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US" sz="1600"/>
              <a:t>Civility and Community</a:t>
            </a:r>
            <a:endParaRPr sz="1600"/>
          </a:p>
        </p:txBody>
      </p:sp>
      <p:sp>
        <p:nvSpPr>
          <p:cNvPr id="750" name="Google Shape;750;p22"/>
          <p:cNvSpPr/>
          <p:nvPr/>
        </p:nvSpPr>
        <p:spPr>
          <a:xfrm>
            <a:off x="2438400" y="480061"/>
            <a:ext cx="5999356" cy="3983644"/>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30000"/>
              </a:lnSpc>
              <a:spcBef>
                <a:spcPts val="0"/>
              </a:spcBef>
              <a:spcAft>
                <a:spcPts val="0"/>
              </a:spcAft>
              <a:buNone/>
            </a:pPr>
            <a:r>
              <a:rPr b="1" i="0" lang="en-US" sz="1100" u="none" cap="none" strike="noStrike">
                <a:solidFill>
                  <a:schemeClr val="dk1"/>
                </a:solidFill>
                <a:latin typeface="Lusitana"/>
                <a:ea typeface="Lusitana"/>
                <a:cs typeface="Lusitana"/>
                <a:sym typeface="Lusitana"/>
              </a:rPr>
              <a:t>Civility</a:t>
            </a:r>
            <a:r>
              <a:rPr b="0" i="0" lang="en-US" sz="1100" u="none" cap="none" strike="noStrike">
                <a:solidFill>
                  <a:schemeClr val="dk1"/>
                </a:solidFill>
                <a:latin typeface="Lusitana"/>
                <a:ea typeface="Lusitana"/>
                <a:cs typeface="Lusitana"/>
                <a:sym typeface="Lusitana"/>
              </a:rPr>
              <a:t> represents the quality of our behavior with others in our communities. This is important for business because how we treat others signals who we are and what we value. Moreover, since the essence of ethics lies in how we are with others, civility and ethics are intricately linked.</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Civility is not peripheral to ethics, and essential to defining the culture and establishing a foundation of proper business behavior. It is an underlying value that successful organizations strive to achieve.</a:t>
            </a:r>
            <a:endParaRPr/>
          </a:p>
          <a:p>
            <a:pPr indent="0" lvl="0" marL="0" marR="0" rtl="0" algn="just">
              <a:lnSpc>
                <a:spcPct val="13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30000"/>
              </a:lnSpc>
              <a:spcBef>
                <a:spcPts val="0"/>
              </a:spcBef>
              <a:spcAft>
                <a:spcPts val="0"/>
              </a:spcAft>
              <a:buNone/>
            </a:pPr>
            <a:r>
              <a:rPr b="0" i="0" lang="en-US" sz="1100" u="none" cap="none" strike="noStrike">
                <a:solidFill>
                  <a:schemeClr val="dk1"/>
                </a:solidFill>
                <a:latin typeface="Lusitana"/>
                <a:ea typeface="Lusitana"/>
                <a:cs typeface="Lusitana"/>
                <a:sym typeface="Lusitana"/>
              </a:rPr>
              <a:t>There are 3 basic principles to create a civil workplace –</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Respect: </a:t>
            </a:r>
            <a:r>
              <a:rPr b="0" i="0" lang="en-US" sz="1100" u="none" cap="none" strike="noStrike">
                <a:solidFill>
                  <a:schemeClr val="dk1"/>
                </a:solidFill>
                <a:latin typeface="Lusitana"/>
                <a:ea typeface="Lusitana"/>
                <a:cs typeface="Lusitana"/>
                <a:sym typeface="Lusitana"/>
              </a:rPr>
              <a:t>Inherent in the belief that although another person’s beliefs may be different than yours, you should still honor their viewpoint and accord the other person due consideration. </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Restraint: </a:t>
            </a:r>
            <a:r>
              <a:rPr b="0" i="0" lang="en-US" sz="1100" u="none" cap="none" strike="noStrike">
                <a:solidFill>
                  <a:schemeClr val="dk1"/>
                </a:solidFill>
                <a:latin typeface="Lusitana"/>
                <a:ea typeface="Lusitana"/>
                <a:cs typeface="Lusitana"/>
                <a:sym typeface="Lusitana"/>
              </a:rPr>
              <a:t>Exercising personal self-control at all times.</a:t>
            </a:r>
            <a:endParaRPr/>
          </a:p>
          <a:p>
            <a:pPr indent="-228600" lvl="0" marL="228600" marR="0" rtl="0" algn="just">
              <a:lnSpc>
                <a:spcPct val="130000"/>
              </a:lnSpc>
              <a:spcBef>
                <a:spcPts val="0"/>
              </a:spcBef>
              <a:spcAft>
                <a:spcPts val="0"/>
              </a:spcAft>
              <a:buClr>
                <a:srgbClr val="000000"/>
              </a:buClr>
              <a:buSzPts val="1100"/>
              <a:buFont typeface="Arial"/>
              <a:buAutoNum type="arabicPeriod"/>
            </a:pPr>
            <a:r>
              <a:rPr b="1" i="0" lang="en-US" sz="1100" u="none" cap="none" strike="noStrike">
                <a:solidFill>
                  <a:schemeClr val="dk1"/>
                </a:solidFill>
                <a:latin typeface="Lusitana"/>
                <a:ea typeface="Lusitana"/>
                <a:cs typeface="Lusitana"/>
                <a:sym typeface="Lusitana"/>
              </a:rPr>
              <a:t>Refinement: </a:t>
            </a:r>
            <a:r>
              <a:rPr b="0" i="0" lang="en-US" sz="1100" u="none" cap="none" strike="noStrike">
                <a:solidFill>
                  <a:schemeClr val="dk1"/>
                </a:solidFill>
                <a:latin typeface="Lusitana"/>
                <a:ea typeface="Lusitana"/>
                <a:cs typeface="Lusitana"/>
                <a:sym typeface="Lusitana"/>
              </a:rPr>
              <a:t>For continual cultivation and improvement of relationships in the workplace. </a:t>
            </a:r>
            <a:endParaRPr/>
          </a:p>
        </p:txBody>
      </p:sp>
      <p:sp>
        <p:nvSpPr>
          <p:cNvPr id="751" name="Google Shape;751;p22"/>
          <p:cNvSpPr txBox="1"/>
          <p:nvPr/>
        </p:nvSpPr>
        <p:spPr>
          <a:xfrm>
            <a:off x="574816" y="2616498"/>
            <a:ext cx="1409488" cy="4881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Justice and Fairness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23"/>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CONFLICT</a:t>
            </a:r>
            <a:endParaRPr b="1" i="0" sz="1600" u="none" cap="none" strike="noStrike">
              <a:solidFill>
                <a:schemeClr val="dk1"/>
              </a:solidFill>
              <a:latin typeface="Lusitana"/>
              <a:ea typeface="Lusitana"/>
              <a:cs typeface="Lusitana"/>
              <a:sym typeface="Lusitana"/>
            </a:endParaRPr>
          </a:p>
        </p:txBody>
      </p:sp>
      <p:sp>
        <p:nvSpPr>
          <p:cNvPr id="757" name="Google Shape;757;p23"/>
          <p:cNvSpPr/>
          <p:nvPr/>
        </p:nvSpPr>
        <p:spPr>
          <a:xfrm>
            <a:off x="725115" y="920885"/>
            <a:ext cx="7561316" cy="1483385"/>
          </a:xfrm>
          <a:prstGeom prst="roundRect">
            <a:avLst>
              <a:gd fmla="val 16667" name="adj"/>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0" i="0" lang="en-US" sz="1100" u="none" cap="none" strike="noStrike">
                <a:solidFill>
                  <a:schemeClr val="dk1"/>
                </a:solidFill>
                <a:latin typeface="Lusitana"/>
                <a:ea typeface="Lusitana"/>
                <a:cs typeface="Lusitana"/>
                <a:sym typeface="Lusitana"/>
              </a:rPr>
              <a:t>Conflict is defined as a clash between individuals arising out of a difference in thought process, attitudes, understanding, interests, requirements and even sometimes perceptions.</a:t>
            </a:r>
            <a:endParaRPr/>
          </a:p>
          <a:p>
            <a:pPr indent="0" lvl="0" marL="0" marR="0" rtl="0" algn="just">
              <a:lnSpc>
                <a:spcPct val="150000"/>
              </a:lnSpc>
              <a:spcBef>
                <a:spcPts val="0"/>
              </a:spcBef>
              <a:spcAft>
                <a:spcPts val="0"/>
              </a:spcAft>
              <a:buNone/>
            </a:pPr>
            <a:r>
              <a:t/>
            </a:r>
            <a:endParaRPr b="0" i="0" sz="1100" u="none" cap="none" strike="noStrike">
              <a:solidFill>
                <a:schemeClr val="dk1"/>
              </a:solidFill>
              <a:latin typeface="Lusitana"/>
              <a:ea typeface="Lusitana"/>
              <a:cs typeface="Lusitana"/>
              <a:sym typeface="Lusitana"/>
            </a:endParaRPr>
          </a:p>
          <a:p>
            <a:pPr indent="0" lvl="0" marL="0" marR="0" rtl="0" algn="just">
              <a:lnSpc>
                <a:spcPct val="150000"/>
              </a:lnSpc>
              <a:spcBef>
                <a:spcPts val="0"/>
              </a:spcBef>
              <a:spcAft>
                <a:spcPts val="0"/>
              </a:spcAft>
              <a:buNone/>
            </a:pPr>
            <a:r>
              <a:rPr b="0" i="0" lang="en-US" sz="1100" u="none" cap="none" strike="noStrike">
                <a:solidFill>
                  <a:schemeClr val="dk1"/>
                </a:solidFill>
                <a:latin typeface="Lusitana"/>
                <a:ea typeface="Lusitana"/>
                <a:cs typeface="Lusitana"/>
                <a:sym typeface="Lusitana"/>
              </a:rPr>
              <a:t>A conflict not only can arise between individuals but also among countries, political parties and states as well. Types of conflict – task, relationship and process.</a:t>
            </a:r>
            <a:endParaRPr/>
          </a:p>
        </p:txBody>
      </p:sp>
      <p:grpSp>
        <p:nvGrpSpPr>
          <p:cNvPr id="758" name="Google Shape;758;p23"/>
          <p:cNvGrpSpPr/>
          <p:nvPr/>
        </p:nvGrpSpPr>
        <p:grpSpPr>
          <a:xfrm>
            <a:off x="576832" y="2349073"/>
            <a:ext cx="7777235" cy="2058999"/>
            <a:chOff x="64816" y="903515"/>
            <a:chExt cx="7777235" cy="2058999"/>
          </a:xfrm>
        </p:grpSpPr>
        <p:sp>
          <p:nvSpPr>
            <p:cNvPr id="759" name="Google Shape;759;p23"/>
            <p:cNvSpPr/>
            <p:nvPr/>
          </p:nvSpPr>
          <p:spPr>
            <a:xfrm>
              <a:off x="6385951" y="1204972"/>
              <a:ext cx="1456100" cy="1456339"/>
            </a:xfrm>
            <a:prstGeom prst="ellipse">
              <a:avLst/>
            </a:prstGeom>
            <a:gradFill>
              <a:gsLst>
                <a:gs pos="0">
                  <a:srgbClr val="DBE9D3"/>
                </a:gs>
                <a:gs pos="100000">
                  <a:srgbClr val="EAFBE3"/>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3"/>
            <p:cNvSpPr/>
            <p:nvPr/>
          </p:nvSpPr>
          <p:spPr>
            <a:xfrm>
              <a:off x="6433997" y="1253525"/>
              <a:ext cx="1359234" cy="1359232"/>
            </a:xfrm>
            <a:prstGeom prst="ellipse">
              <a:avLst/>
            </a:prstGeom>
            <a:solidFill>
              <a:srgbClr val="D1D6CF">
                <a:alpha val="89803"/>
              </a:srgbClr>
            </a:soli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3"/>
            <p:cNvSpPr txBox="1"/>
            <p:nvPr/>
          </p:nvSpPr>
          <p:spPr>
            <a:xfrm>
              <a:off x="6628506" y="1447738"/>
              <a:ext cx="970992" cy="970807"/>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Resolution Phase -</a:t>
              </a:r>
              <a:r>
                <a:rPr b="0" i="0" lang="en-US" sz="600" u="none" cap="none" strike="noStrike">
                  <a:solidFill>
                    <a:srgbClr val="000000"/>
                  </a:solidFill>
                  <a:latin typeface="Arial"/>
                  <a:ea typeface="Arial"/>
                  <a:cs typeface="Arial"/>
                  <a:sym typeface="Arial"/>
                </a:rPr>
                <a:t> A Conflict leads to nowhere. Individuals must try to compromise to some extent and resolve the conflict soon.</a:t>
              </a:r>
              <a:endParaRPr/>
            </a:p>
          </p:txBody>
        </p:sp>
        <p:sp>
          <p:nvSpPr>
            <p:cNvPr id="762" name="Google Shape;762;p23"/>
            <p:cNvSpPr/>
            <p:nvPr/>
          </p:nvSpPr>
          <p:spPr>
            <a:xfrm rot="2700000">
              <a:off x="4880339" y="1205048"/>
              <a:ext cx="1455932" cy="1455932"/>
            </a:xfrm>
            <a:prstGeom prst="teardrop">
              <a:avLst>
                <a:gd fmla="val 100000" name="adj"/>
              </a:avLst>
            </a:prstGeom>
            <a:gradFill>
              <a:gsLst>
                <a:gs pos="0">
                  <a:srgbClr val="DBE9D3"/>
                </a:gs>
                <a:gs pos="100000">
                  <a:srgbClr val="EAFBE3"/>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3"/>
            <p:cNvSpPr/>
            <p:nvPr/>
          </p:nvSpPr>
          <p:spPr>
            <a:xfrm>
              <a:off x="4929851" y="1253525"/>
              <a:ext cx="1359234" cy="1359232"/>
            </a:xfrm>
            <a:prstGeom prst="ellipse">
              <a:avLst/>
            </a:prstGeom>
            <a:solidFill>
              <a:srgbClr val="D1D6CF">
                <a:alpha val="89803"/>
              </a:srgbClr>
            </a:soli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3"/>
            <p:cNvSpPr txBox="1"/>
            <p:nvPr/>
          </p:nvSpPr>
          <p:spPr>
            <a:xfrm>
              <a:off x="5123584" y="1447738"/>
              <a:ext cx="970992" cy="970807"/>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Differentiation Phase -</a:t>
              </a:r>
              <a:r>
                <a:rPr b="0" i="0" lang="en-US" sz="600" u="none" cap="none" strike="noStrike">
                  <a:solidFill>
                    <a:srgbClr val="000000"/>
                  </a:solidFill>
                  <a:latin typeface="Arial"/>
                  <a:ea typeface="Arial"/>
                  <a:cs typeface="Arial"/>
                  <a:sym typeface="Arial"/>
                </a:rPr>
                <a:t> It is the phase when the individuals voice out their differences against each other. The reasons for the conflict are raised in the differentiation phase.</a:t>
              </a:r>
              <a:endParaRPr/>
            </a:p>
          </p:txBody>
        </p:sp>
        <p:sp>
          <p:nvSpPr>
            <p:cNvPr id="765" name="Google Shape;765;p23"/>
            <p:cNvSpPr/>
            <p:nvPr/>
          </p:nvSpPr>
          <p:spPr>
            <a:xfrm rot="2700000">
              <a:off x="3376192" y="1205048"/>
              <a:ext cx="1455932" cy="1455932"/>
            </a:xfrm>
            <a:prstGeom prst="teardrop">
              <a:avLst>
                <a:gd fmla="val 100000" name="adj"/>
              </a:avLst>
            </a:prstGeom>
            <a:gradFill>
              <a:gsLst>
                <a:gs pos="0">
                  <a:srgbClr val="DBE9D3"/>
                </a:gs>
                <a:gs pos="100000">
                  <a:srgbClr val="EAFBE3"/>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3"/>
            <p:cNvSpPr/>
            <p:nvPr/>
          </p:nvSpPr>
          <p:spPr>
            <a:xfrm>
              <a:off x="3424929" y="1253525"/>
              <a:ext cx="1359234" cy="1359232"/>
            </a:xfrm>
            <a:prstGeom prst="ellipse">
              <a:avLst/>
            </a:prstGeom>
            <a:solidFill>
              <a:srgbClr val="D1D6CF">
                <a:alpha val="89803"/>
              </a:srgbClr>
            </a:soli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3"/>
            <p:cNvSpPr txBox="1"/>
            <p:nvPr/>
          </p:nvSpPr>
          <p:spPr>
            <a:xfrm>
              <a:off x="3618663" y="1447738"/>
              <a:ext cx="970992" cy="970807"/>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Initiation</a:t>
              </a:r>
              <a:r>
                <a:rPr b="0" i="0" lang="en-US" sz="600" u="none" cap="none" strike="noStrike">
                  <a:solidFill>
                    <a:srgbClr val="000000"/>
                  </a:solidFill>
                  <a:latin typeface="Arial"/>
                  <a:ea typeface="Arial"/>
                  <a:cs typeface="Arial"/>
                  <a:sym typeface="Arial"/>
                </a:rPr>
                <a:t> </a:t>
              </a:r>
              <a:r>
                <a:rPr b="1" i="0" lang="en-US" sz="600" u="none" cap="none" strike="noStrike">
                  <a:solidFill>
                    <a:srgbClr val="000000"/>
                  </a:solidFill>
                  <a:latin typeface="Arial"/>
                  <a:ea typeface="Arial"/>
                  <a:cs typeface="Arial"/>
                  <a:sym typeface="Arial"/>
                </a:rPr>
                <a:t>Phase -</a:t>
              </a:r>
              <a:r>
                <a:rPr b="0" i="0" lang="en-US" sz="600" u="none" cap="none" strike="noStrike">
                  <a:solidFill>
                    <a:srgbClr val="000000"/>
                  </a:solidFill>
                  <a:latin typeface="Arial"/>
                  <a:ea typeface="Arial"/>
                  <a:cs typeface="Arial"/>
                  <a:sym typeface="Arial"/>
                </a:rPr>
                <a:t> Initiation phase is actually the phase when the conflict has already begun. Heated arguments, abuses, verbal disagreements are all warning alarms which indicate that the fight is already on.</a:t>
              </a:r>
              <a:endParaRPr/>
            </a:p>
          </p:txBody>
        </p:sp>
        <p:sp>
          <p:nvSpPr>
            <p:cNvPr id="768" name="Google Shape;768;p23"/>
            <p:cNvSpPr/>
            <p:nvPr/>
          </p:nvSpPr>
          <p:spPr>
            <a:xfrm rot="2700000">
              <a:off x="1871271" y="1205048"/>
              <a:ext cx="1455932" cy="1455932"/>
            </a:xfrm>
            <a:prstGeom prst="teardrop">
              <a:avLst>
                <a:gd fmla="val 100000" name="adj"/>
              </a:avLst>
            </a:prstGeom>
            <a:gradFill>
              <a:gsLst>
                <a:gs pos="0">
                  <a:srgbClr val="DBE9D3"/>
                </a:gs>
                <a:gs pos="100000">
                  <a:srgbClr val="EAFBE3"/>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3"/>
            <p:cNvSpPr/>
            <p:nvPr/>
          </p:nvSpPr>
          <p:spPr>
            <a:xfrm>
              <a:off x="1920008" y="1253525"/>
              <a:ext cx="1359234" cy="1359232"/>
            </a:xfrm>
            <a:prstGeom prst="ellipse">
              <a:avLst/>
            </a:prstGeom>
            <a:solidFill>
              <a:srgbClr val="D1D6CF">
                <a:alpha val="89803"/>
              </a:srgbClr>
            </a:soli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3"/>
            <p:cNvSpPr txBox="1"/>
            <p:nvPr/>
          </p:nvSpPr>
          <p:spPr>
            <a:xfrm>
              <a:off x="2114516" y="1447738"/>
              <a:ext cx="970992" cy="970807"/>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Triggering Event -</a:t>
              </a:r>
              <a:r>
                <a:rPr b="0" i="0" lang="en-US" sz="600" u="none" cap="none" strike="noStrike">
                  <a:solidFill>
                    <a:srgbClr val="000000"/>
                  </a:solidFill>
                  <a:latin typeface="Arial"/>
                  <a:ea typeface="Arial"/>
                  <a:cs typeface="Arial"/>
                  <a:sym typeface="Arial"/>
                </a:rPr>
                <a:t> No conflict can arise on its own. There has to be an event which triggers the conflict.</a:t>
              </a:r>
              <a:endParaRPr/>
            </a:p>
          </p:txBody>
        </p:sp>
        <p:sp>
          <p:nvSpPr>
            <p:cNvPr id="771" name="Google Shape;771;p23"/>
            <p:cNvSpPr/>
            <p:nvPr/>
          </p:nvSpPr>
          <p:spPr>
            <a:xfrm rot="2700000">
              <a:off x="366349" y="1205048"/>
              <a:ext cx="1455932" cy="1455932"/>
            </a:xfrm>
            <a:prstGeom prst="teardrop">
              <a:avLst>
                <a:gd fmla="val 100000" name="adj"/>
              </a:avLst>
            </a:prstGeom>
            <a:gradFill>
              <a:gsLst>
                <a:gs pos="0">
                  <a:srgbClr val="DBE9D3"/>
                </a:gs>
                <a:gs pos="100000">
                  <a:srgbClr val="EAFBE3"/>
                </a:gs>
              </a:gsLst>
              <a:lin ang="16200000" scaled="0"/>
            </a:gradFill>
            <a:ln>
              <a:noFill/>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3"/>
            <p:cNvSpPr/>
            <p:nvPr/>
          </p:nvSpPr>
          <p:spPr>
            <a:xfrm>
              <a:off x="415086" y="1253525"/>
              <a:ext cx="1359234" cy="1359232"/>
            </a:xfrm>
            <a:prstGeom prst="ellipse">
              <a:avLst/>
            </a:prstGeom>
            <a:solidFill>
              <a:srgbClr val="D1D6CF">
                <a:alpha val="89803"/>
              </a:srgbClr>
            </a:solidFill>
            <a:ln cap="flat" cmpd="sng" w="9525">
              <a:solidFill>
                <a:schemeClr val="accent2"/>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3"/>
            <p:cNvSpPr txBox="1"/>
            <p:nvPr/>
          </p:nvSpPr>
          <p:spPr>
            <a:xfrm>
              <a:off x="609594" y="1447738"/>
              <a:ext cx="970992" cy="970807"/>
            </a:xfrm>
            <a:prstGeom prst="rect">
              <a:avLst/>
            </a:prstGeom>
            <a:noFill/>
            <a:ln>
              <a:noFill/>
            </a:ln>
          </p:spPr>
          <p:txBody>
            <a:bodyPr anchorCtr="0" anchor="ctr" bIns="7600" lIns="7600" spcFirstLastPara="1" rIns="7600" wrap="square" tIns="7600">
              <a:noAutofit/>
            </a:bodyPr>
            <a:lstStyle/>
            <a:p>
              <a:pPr indent="0" lvl="0" marL="0" marR="0" rtl="0" algn="ctr">
                <a:lnSpc>
                  <a:spcPct val="90000"/>
                </a:lnSpc>
                <a:spcBef>
                  <a:spcPts val="0"/>
                </a:spcBef>
                <a:spcAft>
                  <a:spcPts val="0"/>
                </a:spcAft>
                <a:buClr>
                  <a:srgbClr val="000000"/>
                </a:buClr>
                <a:buSzPts val="600"/>
                <a:buFont typeface="Arial"/>
                <a:buNone/>
              </a:pPr>
              <a:r>
                <a:rPr b="1" i="0" lang="en-US" sz="600" u="none" cap="none" strike="noStrike">
                  <a:solidFill>
                    <a:srgbClr val="000000"/>
                  </a:solidFill>
                  <a:latin typeface="Arial"/>
                  <a:ea typeface="Arial"/>
                  <a:cs typeface="Arial"/>
                  <a:sym typeface="Arial"/>
                </a:rPr>
                <a:t>Prelude to conflict -</a:t>
              </a:r>
              <a:r>
                <a:rPr b="0" i="0" lang="en-US" sz="600" u="none" cap="none" strike="noStrike">
                  <a:solidFill>
                    <a:srgbClr val="000000"/>
                  </a:solidFill>
                  <a:latin typeface="Arial"/>
                  <a:ea typeface="Arial"/>
                  <a:cs typeface="Arial"/>
                  <a:sym typeface="Arial"/>
                </a:rPr>
                <a:t> It involves all the factors which possibly arise a conflict among individuals. Lack of coordination, differences in interests, dissimilarity in cultural, religion, educational background all are instrumental in arising a conflict.</a:t>
              </a:r>
              <a:endParaRPr b="0" i="0" sz="600" u="none" cap="none" strike="noStrike">
                <a:solidFill>
                  <a:srgbClr val="000000"/>
                </a:solidFill>
                <a:latin typeface="Lusitana"/>
                <a:ea typeface="Lusitana"/>
                <a:cs typeface="Lusitana"/>
                <a:sym typeface="Lusitana"/>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grpSp>
        <p:nvGrpSpPr>
          <p:cNvPr id="778" name="Google Shape;778;p24"/>
          <p:cNvGrpSpPr/>
          <p:nvPr/>
        </p:nvGrpSpPr>
        <p:grpSpPr>
          <a:xfrm>
            <a:off x="1470211" y="1186972"/>
            <a:ext cx="6095999" cy="3386250"/>
            <a:chOff x="0" y="30526"/>
            <a:chExt cx="6095999" cy="3386250"/>
          </a:xfrm>
        </p:grpSpPr>
        <p:sp>
          <p:nvSpPr>
            <p:cNvPr id="779" name="Google Shape;779;p24"/>
            <p:cNvSpPr/>
            <p:nvPr/>
          </p:nvSpPr>
          <p:spPr>
            <a:xfrm>
              <a:off x="0" y="30526"/>
              <a:ext cx="1524000" cy="55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4"/>
            <p:cNvSpPr txBox="1"/>
            <p:nvPr/>
          </p:nvSpPr>
          <p:spPr>
            <a:xfrm>
              <a:off x="0" y="30526"/>
              <a:ext cx="1524000" cy="554400"/>
            </a:xfrm>
            <a:prstGeom prst="rect">
              <a:avLst/>
            </a:prstGeom>
            <a:noFill/>
            <a:ln>
              <a:noFill/>
            </a:ln>
          </p:spPr>
          <p:txBody>
            <a:bodyPr anchorCtr="0" anchor="ctr" bIns="27925" lIns="78225" spcFirstLastPara="1" rIns="78225" wrap="square" tIns="27925">
              <a:noAutofit/>
            </a:bodyPr>
            <a:lstStyle/>
            <a:p>
              <a:pPr indent="0" lvl="0" marL="0" marR="0" rtl="0" algn="r">
                <a:lnSpc>
                  <a:spcPct val="90000"/>
                </a:lnSpc>
                <a:spcBef>
                  <a:spcPts val="0"/>
                </a:spcBef>
                <a:spcAft>
                  <a:spcPts val="0"/>
                </a:spcAft>
                <a:buClr>
                  <a:srgbClr val="000000"/>
                </a:buClr>
                <a:buSzPts val="1100"/>
                <a:buFont typeface="Arial"/>
                <a:buNone/>
              </a:pPr>
              <a:r>
                <a:rPr b="1" i="0" lang="en-US" sz="1100" u="none" cap="none" strike="noStrike">
                  <a:solidFill>
                    <a:srgbClr val="000000"/>
                  </a:solidFill>
                  <a:latin typeface="Lusitana"/>
                  <a:ea typeface="Lusitana"/>
                  <a:cs typeface="Lusitana"/>
                  <a:sym typeface="Lusitana"/>
                </a:rPr>
                <a:t>Intrapersonal conflict</a:t>
              </a:r>
              <a:endParaRPr b="0" i="0" sz="1100" u="none" cap="none" strike="noStrike">
                <a:solidFill>
                  <a:srgbClr val="000000"/>
                </a:solidFill>
                <a:latin typeface="Lusitana"/>
                <a:ea typeface="Lusitana"/>
                <a:cs typeface="Lusitana"/>
                <a:sym typeface="Lusitana"/>
              </a:endParaRPr>
            </a:p>
          </p:txBody>
        </p:sp>
        <p:sp>
          <p:nvSpPr>
            <p:cNvPr id="781" name="Google Shape;781;p24"/>
            <p:cNvSpPr/>
            <p:nvPr/>
          </p:nvSpPr>
          <p:spPr>
            <a:xfrm>
              <a:off x="1523999" y="30526"/>
              <a:ext cx="304800" cy="554400"/>
            </a:xfrm>
            <a:prstGeom prst="leftBrace">
              <a:avLst>
                <a:gd fmla="val 35000" name="adj1"/>
                <a:gd fmla="val 50000" name="adj2"/>
              </a:avLst>
            </a:prstGeom>
            <a:noFill/>
            <a:ln cap="flat" cmpd="sng" w="25400">
              <a:solidFill>
                <a:srgbClr val="566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4"/>
            <p:cNvSpPr/>
            <p:nvPr/>
          </p:nvSpPr>
          <p:spPr>
            <a:xfrm>
              <a:off x="1950719" y="30526"/>
              <a:ext cx="4145280" cy="554400"/>
            </a:xfrm>
            <a:prstGeom prst="rect">
              <a:avLst/>
            </a:prstGeom>
            <a:solidFill>
              <a:schemeClr val="accent2">
                <a:alpha val="89803"/>
              </a:scheme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4"/>
            <p:cNvSpPr txBox="1"/>
            <p:nvPr/>
          </p:nvSpPr>
          <p:spPr>
            <a:xfrm>
              <a:off x="1950719" y="30526"/>
              <a:ext cx="4145280" cy="554400"/>
            </a:xfrm>
            <a:prstGeom prst="rect">
              <a:avLst/>
            </a:prstGeom>
            <a:noFill/>
            <a:ln>
              <a:noFill/>
            </a:ln>
          </p:spPr>
          <p:txBody>
            <a:bodyPr anchorCtr="0" anchor="ctr" bIns="41900" lIns="41900" spcFirstLastPara="1" rIns="41900" wrap="square" tIns="41900">
              <a:noAutofit/>
            </a:bodyPr>
            <a:lstStyle/>
            <a:p>
              <a:pPr indent="-69850" lvl="1" marL="57150" marR="0" rtl="0" algn="l">
                <a:lnSpc>
                  <a:spcPct val="90000"/>
                </a:lnSpc>
                <a:spcBef>
                  <a:spcPts val="0"/>
                </a:spcBef>
                <a:spcAft>
                  <a:spcPts val="0"/>
                </a:spcAft>
                <a:buClr>
                  <a:srgbClr val="000000"/>
                </a:buClr>
                <a:buSzPts val="1100"/>
                <a:buFont typeface="Arial"/>
                <a:buChar char="•"/>
              </a:pPr>
              <a:r>
                <a:rPr b="0" i="0" lang="en-US" sz="1100" u="none" cap="none" strike="noStrike">
                  <a:solidFill>
                    <a:schemeClr val="lt1"/>
                  </a:solidFill>
                  <a:latin typeface="Lusitana"/>
                  <a:ea typeface="Lusitana"/>
                  <a:cs typeface="Lusitana"/>
                  <a:sym typeface="Lusitana"/>
                </a:rPr>
                <a:t>Conflict experienced by a single individual, when his or her own goals, values or roles diverge</a:t>
              </a:r>
              <a:endParaRPr b="0" i="0" sz="1100" u="none" cap="none" strike="noStrike">
                <a:solidFill>
                  <a:schemeClr val="lt1"/>
                </a:solidFill>
                <a:latin typeface="Lusitana"/>
                <a:ea typeface="Lusitana"/>
                <a:cs typeface="Lusitana"/>
                <a:sym typeface="Lusitana"/>
              </a:endParaRPr>
            </a:p>
          </p:txBody>
        </p:sp>
        <p:sp>
          <p:nvSpPr>
            <p:cNvPr id="784" name="Google Shape;784;p24"/>
            <p:cNvSpPr/>
            <p:nvPr/>
          </p:nvSpPr>
          <p:spPr>
            <a:xfrm>
              <a:off x="0" y="685726"/>
              <a:ext cx="1524000" cy="55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4"/>
            <p:cNvSpPr txBox="1"/>
            <p:nvPr/>
          </p:nvSpPr>
          <p:spPr>
            <a:xfrm>
              <a:off x="0" y="685726"/>
              <a:ext cx="1524000" cy="554400"/>
            </a:xfrm>
            <a:prstGeom prst="rect">
              <a:avLst/>
            </a:prstGeom>
            <a:noFill/>
            <a:ln>
              <a:noFill/>
            </a:ln>
          </p:spPr>
          <p:txBody>
            <a:bodyPr anchorCtr="0" anchor="ctr" bIns="27925" lIns="78225" spcFirstLastPara="1" rIns="78225" wrap="square" tIns="27925">
              <a:noAutofit/>
            </a:bodyPr>
            <a:lstStyle/>
            <a:p>
              <a:pPr indent="0" lvl="0" marL="0" marR="0" rtl="0" algn="r">
                <a:lnSpc>
                  <a:spcPct val="90000"/>
                </a:lnSpc>
                <a:spcBef>
                  <a:spcPts val="0"/>
                </a:spcBef>
                <a:spcAft>
                  <a:spcPts val="0"/>
                </a:spcAft>
                <a:buClr>
                  <a:srgbClr val="000000"/>
                </a:buClr>
                <a:buSzPts val="1100"/>
                <a:buFont typeface="Arial"/>
                <a:buNone/>
              </a:pPr>
              <a:r>
                <a:rPr b="1" i="0" lang="en-US" sz="1100" u="none" cap="none" strike="noStrike">
                  <a:solidFill>
                    <a:srgbClr val="000000"/>
                  </a:solidFill>
                  <a:latin typeface="Lusitana"/>
                  <a:ea typeface="Lusitana"/>
                  <a:cs typeface="Lusitana"/>
                  <a:sym typeface="Lusitana"/>
                </a:rPr>
                <a:t>Interpersonal conflict</a:t>
              </a:r>
              <a:endParaRPr b="1" i="0" sz="1100" u="none" cap="none" strike="noStrike">
                <a:solidFill>
                  <a:srgbClr val="000000"/>
                </a:solidFill>
                <a:latin typeface="Lusitana"/>
                <a:ea typeface="Lusitana"/>
                <a:cs typeface="Lusitana"/>
                <a:sym typeface="Lusitana"/>
              </a:endParaRPr>
            </a:p>
          </p:txBody>
        </p:sp>
        <p:sp>
          <p:nvSpPr>
            <p:cNvPr id="786" name="Google Shape;786;p24"/>
            <p:cNvSpPr/>
            <p:nvPr/>
          </p:nvSpPr>
          <p:spPr>
            <a:xfrm>
              <a:off x="1523999" y="685726"/>
              <a:ext cx="304800" cy="554400"/>
            </a:xfrm>
            <a:prstGeom prst="leftBrace">
              <a:avLst>
                <a:gd fmla="val 35000" name="adj1"/>
                <a:gd fmla="val 50000" name="adj2"/>
              </a:avLst>
            </a:prstGeom>
            <a:noFill/>
            <a:ln cap="flat" cmpd="sng" w="25400">
              <a:solidFill>
                <a:srgbClr val="566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4"/>
            <p:cNvSpPr/>
            <p:nvPr/>
          </p:nvSpPr>
          <p:spPr>
            <a:xfrm>
              <a:off x="1950719" y="685726"/>
              <a:ext cx="4145280" cy="554400"/>
            </a:xfrm>
            <a:prstGeom prst="rect">
              <a:avLst/>
            </a:prstGeom>
            <a:solidFill>
              <a:schemeClr val="accent2">
                <a:alpha val="76862"/>
              </a:scheme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4"/>
            <p:cNvSpPr txBox="1"/>
            <p:nvPr/>
          </p:nvSpPr>
          <p:spPr>
            <a:xfrm>
              <a:off x="1950719" y="685726"/>
              <a:ext cx="4145280" cy="554400"/>
            </a:xfrm>
            <a:prstGeom prst="rect">
              <a:avLst/>
            </a:prstGeom>
            <a:noFill/>
            <a:ln>
              <a:noFill/>
            </a:ln>
          </p:spPr>
          <p:txBody>
            <a:bodyPr anchorCtr="0" anchor="ctr" bIns="41900" lIns="41900" spcFirstLastPara="1" rIns="41900" wrap="square" tIns="41900">
              <a:noAutofit/>
            </a:bodyPr>
            <a:lstStyle/>
            <a:p>
              <a:pPr indent="-69850" lvl="1" marL="57150" marR="0" rtl="0" algn="l">
                <a:lnSpc>
                  <a:spcPct val="90000"/>
                </a:lnSpc>
                <a:spcBef>
                  <a:spcPts val="0"/>
                </a:spcBef>
                <a:spcAft>
                  <a:spcPts val="0"/>
                </a:spcAft>
                <a:buClr>
                  <a:srgbClr val="000000"/>
                </a:buClr>
                <a:buSzPts val="1100"/>
                <a:buFont typeface="Arial"/>
                <a:buChar char="•"/>
              </a:pPr>
              <a:r>
                <a:rPr b="0" i="0" lang="en-US" sz="1100" u="none" cap="none" strike="noStrike">
                  <a:solidFill>
                    <a:schemeClr val="lt1"/>
                  </a:solidFill>
                  <a:latin typeface="Lusitana"/>
                  <a:ea typeface="Lusitana"/>
                  <a:cs typeface="Lusitana"/>
                  <a:sym typeface="Lusitana"/>
                </a:rPr>
                <a:t>Conflict due to differences in goals, value, and styles between two or more people who are required to interact.</a:t>
              </a:r>
              <a:endParaRPr b="0" i="0" sz="1100" u="none" cap="none" strike="noStrike">
                <a:solidFill>
                  <a:schemeClr val="lt1"/>
                </a:solidFill>
                <a:latin typeface="Lusitana"/>
                <a:ea typeface="Lusitana"/>
                <a:cs typeface="Lusitana"/>
                <a:sym typeface="Lusitana"/>
              </a:endParaRPr>
            </a:p>
          </p:txBody>
        </p:sp>
        <p:sp>
          <p:nvSpPr>
            <p:cNvPr id="789" name="Google Shape;789;p24"/>
            <p:cNvSpPr/>
            <p:nvPr/>
          </p:nvSpPr>
          <p:spPr>
            <a:xfrm>
              <a:off x="0" y="1340926"/>
              <a:ext cx="1524000" cy="55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4"/>
            <p:cNvSpPr txBox="1"/>
            <p:nvPr/>
          </p:nvSpPr>
          <p:spPr>
            <a:xfrm>
              <a:off x="0" y="1340926"/>
              <a:ext cx="1524000" cy="554400"/>
            </a:xfrm>
            <a:prstGeom prst="rect">
              <a:avLst/>
            </a:prstGeom>
            <a:noFill/>
            <a:ln>
              <a:noFill/>
            </a:ln>
          </p:spPr>
          <p:txBody>
            <a:bodyPr anchorCtr="0" anchor="ctr" bIns="27925" lIns="78225" spcFirstLastPara="1" rIns="78225" wrap="square" tIns="27925">
              <a:noAutofit/>
            </a:bodyPr>
            <a:lstStyle/>
            <a:p>
              <a:pPr indent="0" lvl="0" marL="0" marR="0" rtl="0" algn="r">
                <a:lnSpc>
                  <a:spcPct val="90000"/>
                </a:lnSpc>
                <a:spcBef>
                  <a:spcPts val="0"/>
                </a:spcBef>
                <a:spcAft>
                  <a:spcPts val="0"/>
                </a:spcAft>
                <a:buClr>
                  <a:srgbClr val="000000"/>
                </a:buClr>
                <a:buSzPts val="1100"/>
                <a:buFont typeface="Arial"/>
                <a:buNone/>
              </a:pPr>
              <a:r>
                <a:rPr b="1" i="0" lang="en-US" sz="1100" u="none" cap="none" strike="noStrike">
                  <a:solidFill>
                    <a:srgbClr val="000000"/>
                  </a:solidFill>
                  <a:latin typeface="Lusitana"/>
                  <a:ea typeface="Lusitana"/>
                  <a:cs typeface="Lusitana"/>
                  <a:sym typeface="Lusitana"/>
                </a:rPr>
                <a:t>Intragroup conflict</a:t>
              </a:r>
              <a:endParaRPr b="1" i="0" sz="1100" u="none" cap="none" strike="noStrike">
                <a:solidFill>
                  <a:srgbClr val="000000"/>
                </a:solidFill>
                <a:latin typeface="Lusitana"/>
                <a:ea typeface="Lusitana"/>
                <a:cs typeface="Lusitana"/>
                <a:sym typeface="Lusitana"/>
              </a:endParaRPr>
            </a:p>
          </p:txBody>
        </p:sp>
        <p:sp>
          <p:nvSpPr>
            <p:cNvPr id="791" name="Google Shape;791;p24"/>
            <p:cNvSpPr/>
            <p:nvPr/>
          </p:nvSpPr>
          <p:spPr>
            <a:xfrm>
              <a:off x="1523999" y="1340926"/>
              <a:ext cx="304800" cy="554400"/>
            </a:xfrm>
            <a:prstGeom prst="leftBrace">
              <a:avLst>
                <a:gd fmla="val 35000" name="adj1"/>
                <a:gd fmla="val 50000" name="adj2"/>
              </a:avLst>
            </a:prstGeom>
            <a:noFill/>
            <a:ln cap="flat" cmpd="sng" w="25400">
              <a:solidFill>
                <a:srgbClr val="566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4"/>
            <p:cNvSpPr/>
            <p:nvPr/>
          </p:nvSpPr>
          <p:spPr>
            <a:xfrm>
              <a:off x="1950719" y="1340926"/>
              <a:ext cx="4145280" cy="554400"/>
            </a:xfrm>
            <a:prstGeom prst="rect">
              <a:avLst/>
            </a:prstGeom>
            <a:solidFill>
              <a:schemeClr val="accent2">
                <a:alpha val="63137"/>
              </a:scheme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4"/>
            <p:cNvSpPr txBox="1"/>
            <p:nvPr/>
          </p:nvSpPr>
          <p:spPr>
            <a:xfrm>
              <a:off x="1950719" y="1340926"/>
              <a:ext cx="4145280" cy="554400"/>
            </a:xfrm>
            <a:prstGeom prst="rect">
              <a:avLst/>
            </a:prstGeom>
            <a:noFill/>
            <a:ln>
              <a:noFill/>
            </a:ln>
          </p:spPr>
          <p:txBody>
            <a:bodyPr anchorCtr="0" anchor="ctr" bIns="41900" lIns="41900" spcFirstLastPara="1" rIns="41900" wrap="square" tIns="41900">
              <a:noAutofit/>
            </a:bodyPr>
            <a:lstStyle/>
            <a:p>
              <a:pPr indent="-69850" lvl="1" marL="57150" marR="0" rtl="0" algn="l">
                <a:lnSpc>
                  <a:spcPct val="90000"/>
                </a:lnSpc>
                <a:spcBef>
                  <a:spcPts val="0"/>
                </a:spcBef>
                <a:spcAft>
                  <a:spcPts val="0"/>
                </a:spcAft>
                <a:buClr>
                  <a:srgbClr val="000000"/>
                </a:buClr>
                <a:buSzPts val="1100"/>
                <a:buFont typeface="Arial"/>
                <a:buChar char="•"/>
              </a:pPr>
              <a:r>
                <a:rPr b="0" i="0" lang="en-US" sz="1100" u="none" cap="none" strike="noStrike">
                  <a:solidFill>
                    <a:schemeClr val="lt1"/>
                  </a:solidFill>
                  <a:latin typeface="Lusitana"/>
                  <a:ea typeface="Lusitana"/>
                  <a:cs typeface="Lusitana"/>
                  <a:sym typeface="Lusitana"/>
                </a:rPr>
                <a:t>Conflict within a group or team, where members conflict over goals or procedures.</a:t>
              </a:r>
              <a:endParaRPr b="0" i="0" sz="1100" u="none" cap="none" strike="noStrike">
                <a:solidFill>
                  <a:schemeClr val="lt1"/>
                </a:solidFill>
                <a:latin typeface="Lusitana"/>
                <a:ea typeface="Lusitana"/>
                <a:cs typeface="Lusitana"/>
                <a:sym typeface="Lusitana"/>
              </a:endParaRPr>
            </a:p>
          </p:txBody>
        </p:sp>
        <p:sp>
          <p:nvSpPr>
            <p:cNvPr id="794" name="Google Shape;794;p24"/>
            <p:cNvSpPr/>
            <p:nvPr/>
          </p:nvSpPr>
          <p:spPr>
            <a:xfrm>
              <a:off x="0" y="2429251"/>
              <a:ext cx="1524000" cy="55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4"/>
            <p:cNvSpPr txBox="1"/>
            <p:nvPr/>
          </p:nvSpPr>
          <p:spPr>
            <a:xfrm>
              <a:off x="0" y="2429251"/>
              <a:ext cx="1524000" cy="554400"/>
            </a:xfrm>
            <a:prstGeom prst="rect">
              <a:avLst/>
            </a:prstGeom>
            <a:noFill/>
            <a:ln>
              <a:noFill/>
            </a:ln>
          </p:spPr>
          <p:txBody>
            <a:bodyPr anchorCtr="0" anchor="ctr" bIns="27925" lIns="78225" spcFirstLastPara="1" rIns="78225" wrap="square" tIns="27925">
              <a:noAutofit/>
            </a:bodyPr>
            <a:lstStyle/>
            <a:p>
              <a:pPr indent="0" lvl="0" marL="0" marR="0" rtl="0" algn="r">
                <a:lnSpc>
                  <a:spcPct val="90000"/>
                </a:lnSpc>
                <a:spcBef>
                  <a:spcPts val="0"/>
                </a:spcBef>
                <a:spcAft>
                  <a:spcPts val="0"/>
                </a:spcAft>
                <a:buClr>
                  <a:srgbClr val="000000"/>
                </a:buClr>
                <a:buSzPts val="1100"/>
                <a:buFont typeface="Arial"/>
                <a:buNone/>
              </a:pPr>
              <a:r>
                <a:rPr b="1" i="0" lang="en-US" sz="1100" u="none" cap="none" strike="noStrike">
                  <a:solidFill>
                    <a:srgbClr val="000000"/>
                  </a:solidFill>
                  <a:latin typeface="Lusitana"/>
                  <a:ea typeface="Lusitana"/>
                  <a:cs typeface="Lusitana"/>
                  <a:sym typeface="Lusitana"/>
                </a:rPr>
                <a:t>Intergroup conflict</a:t>
              </a:r>
              <a:endParaRPr b="1" i="0" sz="1100" u="none" cap="none" strike="noStrike">
                <a:solidFill>
                  <a:srgbClr val="000000"/>
                </a:solidFill>
                <a:latin typeface="Lusitana"/>
                <a:ea typeface="Lusitana"/>
                <a:cs typeface="Lusitana"/>
                <a:sym typeface="Lusitana"/>
              </a:endParaRPr>
            </a:p>
          </p:txBody>
        </p:sp>
        <p:sp>
          <p:nvSpPr>
            <p:cNvPr id="796" name="Google Shape;796;p24"/>
            <p:cNvSpPr/>
            <p:nvPr/>
          </p:nvSpPr>
          <p:spPr>
            <a:xfrm>
              <a:off x="1523999" y="1996126"/>
              <a:ext cx="304800" cy="1420650"/>
            </a:xfrm>
            <a:prstGeom prst="leftBrace">
              <a:avLst>
                <a:gd fmla="val 35000" name="adj1"/>
                <a:gd fmla="val 50000" name="adj2"/>
              </a:avLst>
            </a:prstGeom>
            <a:noFill/>
            <a:ln cap="flat" cmpd="sng" w="25400">
              <a:solidFill>
                <a:srgbClr val="566E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4"/>
            <p:cNvSpPr/>
            <p:nvPr/>
          </p:nvSpPr>
          <p:spPr>
            <a:xfrm>
              <a:off x="1950719" y="1996126"/>
              <a:ext cx="4145280" cy="1420650"/>
            </a:xfrm>
            <a:prstGeom prst="rect">
              <a:avLst/>
            </a:prstGeom>
            <a:solidFill>
              <a:schemeClr val="accent2">
                <a:alpha val="49803"/>
              </a:schemeClr>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4"/>
            <p:cNvSpPr txBox="1"/>
            <p:nvPr/>
          </p:nvSpPr>
          <p:spPr>
            <a:xfrm>
              <a:off x="1950719" y="1996126"/>
              <a:ext cx="4145280" cy="1420650"/>
            </a:xfrm>
            <a:prstGeom prst="rect">
              <a:avLst/>
            </a:prstGeom>
            <a:noFill/>
            <a:ln>
              <a:noFill/>
            </a:ln>
          </p:spPr>
          <p:txBody>
            <a:bodyPr anchorCtr="0" anchor="ctr" bIns="41900" lIns="41900" spcFirstLastPara="1" rIns="41900" wrap="square" tIns="41900">
              <a:noAutofit/>
            </a:bodyPr>
            <a:lstStyle/>
            <a:p>
              <a:pPr indent="-69850" lvl="1" marL="57150" marR="0" rtl="0" algn="l">
                <a:lnSpc>
                  <a:spcPct val="90000"/>
                </a:lnSpc>
                <a:spcBef>
                  <a:spcPts val="0"/>
                </a:spcBef>
                <a:spcAft>
                  <a:spcPts val="0"/>
                </a:spcAft>
                <a:buClr>
                  <a:srgbClr val="000000"/>
                </a:buClr>
                <a:buSzPts val="1100"/>
                <a:buFont typeface="Arial"/>
                <a:buChar char="•"/>
              </a:pPr>
              <a:r>
                <a:rPr b="0" i="0" lang="en-US" sz="1100" u="none" cap="none" strike="noStrike">
                  <a:solidFill>
                    <a:schemeClr val="lt1"/>
                  </a:solidFill>
                  <a:latin typeface="Lusitana"/>
                  <a:ea typeface="Lusitana"/>
                  <a:cs typeface="Lusitana"/>
                  <a:sym typeface="Lusitana"/>
                </a:rPr>
                <a:t>Conflict between groups inside and outside an organization disagree on various issues. Conflict can also arise between two groups within the same organization, and that also would be considered intergroup conflict.</a:t>
              </a:r>
              <a:endParaRPr b="0" i="0" sz="1100" u="none" cap="none" strike="noStrike">
                <a:solidFill>
                  <a:schemeClr val="lt1"/>
                </a:solidFill>
                <a:latin typeface="Lusitana"/>
                <a:ea typeface="Lusitana"/>
                <a:cs typeface="Lusitana"/>
                <a:sym typeface="Lusitana"/>
              </a:endParaRPr>
            </a:p>
            <a:p>
              <a:pPr indent="-69850" lvl="1" marL="57150" marR="0" rtl="0" algn="l">
                <a:lnSpc>
                  <a:spcPct val="90000"/>
                </a:lnSpc>
                <a:spcBef>
                  <a:spcPts val="165"/>
                </a:spcBef>
                <a:spcAft>
                  <a:spcPts val="0"/>
                </a:spcAft>
                <a:buClr>
                  <a:srgbClr val="000000"/>
                </a:buClr>
                <a:buSzPts val="1100"/>
                <a:buFont typeface="Arial"/>
                <a:buChar char="•"/>
              </a:pPr>
              <a:r>
                <a:rPr b="0" i="0" lang="en-US" sz="1100" u="none" cap="none" strike="noStrike">
                  <a:solidFill>
                    <a:schemeClr val="lt1"/>
                  </a:solidFill>
                  <a:latin typeface="Lusitana"/>
                  <a:ea typeface="Lusitana"/>
                  <a:cs typeface="Lusitana"/>
                  <a:sym typeface="Lusitana"/>
                </a:rPr>
                <a:t>Within those types of conflict, one can experience horizontal conflict, which is conflict with others that are at the same peer level as you, or vertical conflict, which is conflict with a manager or a subordinate.</a:t>
              </a:r>
              <a:endParaRPr b="0" i="0" sz="1100" u="none" cap="none" strike="noStrike">
                <a:solidFill>
                  <a:schemeClr val="lt1"/>
                </a:solidFill>
                <a:latin typeface="Lusitana"/>
                <a:ea typeface="Lusitana"/>
                <a:cs typeface="Lusitana"/>
                <a:sym typeface="Lusitana"/>
              </a:endParaRPr>
            </a:p>
          </p:txBody>
        </p:sp>
      </p:grpSp>
      <p:sp>
        <p:nvSpPr>
          <p:cNvPr id="799" name="Google Shape;799;p24"/>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TYPES OF CONFLICT</a:t>
            </a:r>
            <a:endParaRPr b="1" i="0" sz="1600" u="none" cap="none" strike="noStrike">
              <a:solidFill>
                <a:schemeClr val="dk1"/>
              </a:solidFill>
              <a:latin typeface="Lusitana"/>
              <a:ea typeface="Lusitana"/>
              <a:cs typeface="Lusitana"/>
              <a:sym typeface="Lusitan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grpSp>
        <p:nvGrpSpPr>
          <p:cNvPr id="804" name="Google Shape;804;p25"/>
          <p:cNvGrpSpPr/>
          <p:nvPr/>
        </p:nvGrpSpPr>
        <p:grpSpPr>
          <a:xfrm>
            <a:off x="913279" y="1024322"/>
            <a:ext cx="3377228" cy="3413208"/>
            <a:chOff x="0" y="0"/>
            <a:chExt cx="3377228" cy="3413208"/>
          </a:xfrm>
        </p:grpSpPr>
        <p:cxnSp>
          <p:nvCxnSpPr>
            <p:cNvPr id="805" name="Google Shape;805;p25"/>
            <p:cNvCxnSpPr/>
            <p:nvPr/>
          </p:nvCxnSpPr>
          <p:spPr>
            <a:xfrm>
              <a:off x="0" y="0"/>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06" name="Google Shape;806;p25"/>
            <p:cNvSpPr/>
            <p:nvPr/>
          </p:nvSpPr>
          <p:spPr>
            <a:xfrm>
              <a:off x="0" y="0"/>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5"/>
            <p:cNvSpPr txBox="1"/>
            <p:nvPr/>
          </p:nvSpPr>
          <p:spPr>
            <a:xfrm>
              <a:off x="0" y="0"/>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Organizational Structure</a:t>
              </a:r>
              <a:endParaRPr b="0" i="0" sz="1050" u="none" cap="none" strike="noStrike">
                <a:solidFill>
                  <a:srgbClr val="000000"/>
                </a:solidFill>
                <a:latin typeface="Lusitana"/>
                <a:ea typeface="Lusitana"/>
                <a:cs typeface="Lusitana"/>
                <a:sym typeface="Lusitana"/>
              </a:endParaRPr>
            </a:p>
          </p:txBody>
        </p:sp>
        <p:cxnSp>
          <p:nvCxnSpPr>
            <p:cNvPr id="808" name="Google Shape;808;p25"/>
            <p:cNvCxnSpPr/>
            <p:nvPr/>
          </p:nvCxnSpPr>
          <p:spPr>
            <a:xfrm>
              <a:off x="0" y="426651"/>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09" name="Google Shape;809;p25"/>
            <p:cNvSpPr/>
            <p:nvPr/>
          </p:nvSpPr>
          <p:spPr>
            <a:xfrm>
              <a:off x="0" y="426651"/>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5"/>
            <p:cNvSpPr txBox="1"/>
            <p:nvPr/>
          </p:nvSpPr>
          <p:spPr>
            <a:xfrm>
              <a:off x="0" y="426651"/>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Limited Resources</a:t>
              </a:r>
              <a:endParaRPr b="0" i="0" sz="1050" u="none" cap="none" strike="noStrike">
                <a:solidFill>
                  <a:srgbClr val="000000"/>
                </a:solidFill>
                <a:latin typeface="Lusitana"/>
                <a:ea typeface="Lusitana"/>
                <a:cs typeface="Lusitana"/>
                <a:sym typeface="Lusitana"/>
              </a:endParaRPr>
            </a:p>
          </p:txBody>
        </p:sp>
        <p:cxnSp>
          <p:nvCxnSpPr>
            <p:cNvPr id="811" name="Google Shape;811;p25"/>
            <p:cNvCxnSpPr/>
            <p:nvPr/>
          </p:nvCxnSpPr>
          <p:spPr>
            <a:xfrm>
              <a:off x="0" y="853302"/>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12" name="Google Shape;812;p25"/>
            <p:cNvSpPr/>
            <p:nvPr/>
          </p:nvSpPr>
          <p:spPr>
            <a:xfrm>
              <a:off x="0" y="853302"/>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5"/>
            <p:cNvSpPr txBox="1"/>
            <p:nvPr/>
          </p:nvSpPr>
          <p:spPr>
            <a:xfrm>
              <a:off x="0" y="853302"/>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Task Interdependence</a:t>
              </a:r>
              <a:endParaRPr b="0" i="0" sz="1050" u="none" cap="none" strike="noStrike">
                <a:solidFill>
                  <a:srgbClr val="000000"/>
                </a:solidFill>
                <a:latin typeface="Lusitana"/>
                <a:ea typeface="Lusitana"/>
                <a:cs typeface="Lusitana"/>
                <a:sym typeface="Lusitana"/>
              </a:endParaRPr>
            </a:p>
          </p:txBody>
        </p:sp>
        <p:cxnSp>
          <p:nvCxnSpPr>
            <p:cNvPr id="814" name="Google Shape;814;p25"/>
            <p:cNvCxnSpPr/>
            <p:nvPr/>
          </p:nvCxnSpPr>
          <p:spPr>
            <a:xfrm>
              <a:off x="0" y="1279953"/>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15" name="Google Shape;815;p25"/>
            <p:cNvSpPr/>
            <p:nvPr/>
          </p:nvSpPr>
          <p:spPr>
            <a:xfrm>
              <a:off x="0" y="1279953"/>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5"/>
            <p:cNvSpPr txBox="1"/>
            <p:nvPr/>
          </p:nvSpPr>
          <p:spPr>
            <a:xfrm>
              <a:off x="0" y="1279953"/>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Incompatible Goals</a:t>
              </a:r>
              <a:endParaRPr b="0" i="0" sz="1050" u="none" cap="none" strike="noStrike">
                <a:solidFill>
                  <a:srgbClr val="000000"/>
                </a:solidFill>
                <a:latin typeface="Lusitana"/>
                <a:ea typeface="Lusitana"/>
                <a:cs typeface="Lusitana"/>
                <a:sym typeface="Lusitana"/>
              </a:endParaRPr>
            </a:p>
          </p:txBody>
        </p:sp>
        <p:cxnSp>
          <p:nvCxnSpPr>
            <p:cNvPr id="817" name="Google Shape;817;p25"/>
            <p:cNvCxnSpPr/>
            <p:nvPr/>
          </p:nvCxnSpPr>
          <p:spPr>
            <a:xfrm>
              <a:off x="0" y="1706604"/>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18" name="Google Shape;818;p25"/>
            <p:cNvSpPr/>
            <p:nvPr/>
          </p:nvSpPr>
          <p:spPr>
            <a:xfrm>
              <a:off x="0" y="1706604"/>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5"/>
            <p:cNvSpPr txBox="1"/>
            <p:nvPr/>
          </p:nvSpPr>
          <p:spPr>
            <a:xfrm>
              <a:off x="0" y="1706604"/>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Personality Differences</a:t>
              </a:r>
              <a:endParaRPr b="0" i="0" sz="1050" u="none" cap="none" strike="noStrike">
                <a:solidFill>
                  <a:srgbClr val="000000"/>
                </a:solidFill>
                <a:latin typeface="Lusitana"/>
                <a:ea typeface="Lusitana"/>
                <a:cs typeface="Lusitana"/>
                <a:sym typeface="Lusitana"/>
              </a:endParaRPr>
            </a:p>
          </p:txBody>
        </p:sp>
        <p:cxnSp>
          <p:nvCxnSpPr>
            <p:cNvPr id="820" name="Google Shape;820;p25"/>
            <p:cNvCxnSpPr/>
            <p:nvPr/>
          </p:nvCxnSpPr>
          <p:spPr>
            <a:xfrm>
              <a:off x="0" y="2133255"/>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21" name="Google Shape;821;p25"/>
            <p:cNvSpPr/>
            <p:nvPr/>
          </p:nvSpPr>
          <p:spPr>
            <a:xfrm>
              <a:off x="0" y="2133255"/>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5"/>
            <p:cNvSpPr txBox="1"/>
            <p:nvPr/>
          </p:nvSpPr>
          <p:spPr>
            <a:xfrm>
              <a:off x="0" y="2133255"/>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Communication Problems</a:t>
              </a:r>
              <a:endParaRPr b="0" i="0" sz="1050" u="none" cap="none" strike="noStrike">
                <a:solidFill>
                  <a:srgbClr val="000000"/>
                </a:solidFill>
                <a:latin typeface="Lusitana"/>
                <a:ea typeface="Lusitana"/>
                <a:cs typeface="Lusitana"/>
                <a:sym typeface="Lusitana"/>
              </a:endParaRPr>
            </a:p>
          </p:txBody>
        </p:sp>
        <p:cxnSp>
          <p:nvCxnSpPr>
            <p:cNvPr id="823" name="Google Shape;823;p25"/>
            <p:cNvCxnSpPr/>
            <p:nvPr/>
          </p:nvCxnSpPr>
          <p:spPr>
            <a:xfrm>
              <a:off x="0" y="2559905"/>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24" name="Google Shape;824;p25"/>
            <p:cNvSpPr/>
            <p:nvPr/>
          </p:nvSpPr>
          <p:spPr>
            <a:xfrm>
              <a:off x="0" y="2559906"/>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5"/>
            <p:cNvSpPr txBox="1"/>
            <p:nvPr/>
          </p:nvSpPr>
          <p:spPr>
            <a:xfrm>
              <a:off x="0" y="2559906"/>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Contrasting Styles</a:t>
              </a:r>
              <a:endParaRPr b="0" i="0" sz="1050" u="none" cap="none" strike="noStrike">
                <a:solidFill>
                  <a:srgbClr val="000000"/>
                </a:solidFill>
                <a:latin typeface="Lusitana"/>
                <a:ea typeface="Lusitana"/>
                <a:cs typeface="Lusitana"/>
                <a:sym typeface="Lusitana"/>
              </a:endParaRPr>
            </a:p>
          </p:txBody>
        </p:sp>
        <p:cxnSp>
          <p:nvCxnSpPr>
            <p:cNvPr id="826" name="Google Shape;826;p25"/>
            <p:cNvCxnSpPr/>
            <p:nvPr/>
          </p:nvCxnSpPr>
          <p:spPr>
            <a:xfrm>
              <a:off x="0" y="2986557"/>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27" name="Google Shape;827;p25"/>
            <p:cNvSpPr/>
            <p:nvPr/>
          </p:nvSpPr>
          <p:spPr>
            <a:xfrm>
              <a:off x="0" y="2986557"/>
              <a:ext cx="3377228" cy="426651"/>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5"/>
            <p:cNvSpPr txBox="1"/>
            <p:nvPr/>
          </p:nvSpPr>
          <p:spPr>
            <a:xfrm>
              <a:off x="0" y="2986557"/>
              <a:ext cx="3377228" cy="426651"/>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050"/>
                <a:buFont typeface="Arial"/>
                <a:buNone/>
              </a:pPr>
              <a:r>
                <a:rPr b="0" i="0" lang="en-US" sz="1050" u="none" cap="none" strike="noStrike">
                  <a:solidFill>
                    <a:srgbClr val="000000"/>
                  </a:solidFill>
                  <a:latin typeface="Lusitana"/>
                  <a:ea typeface="Lusitana"/>
                  <a:cs typeface="Lusitana"/>
                  <a:sym typeface="Lusitana"/>
                </a:rPr>
                <a:t>Cultural and Gender Differences</a:t>
              </a:r>
              <a:endParaRPr b="0" i="0" sz="1050" u="none" cap="none" strike="noStrike">
                <a:solidFill>
                  <a:srgbClr val="000000"/>
                </a:solidFill>
                <a:latin typeface="Lusitana"/>
                <a:ea typeface="Lusitana"/>
                <a:cs typeface="Lusitana"/>
                <a:sym typeface="Lusitana"/>
              </a:endParaRPr>
            </a:p>
          </p:txBody>
        </p:sp>
      </p:grpSp>
      <p:sp>
        <p:nvSpPr>
          <p:cNvPr id="829" name="Google Shape;829;p25"/>
          <p:cNvSpPr txBox="1"/>
          <p:nvPr/>
        </p:nvSpPr>
        <p:spPr>
          <a:xfrm>
            <a:off x="913279" y="528813"/>
            <a:ext cx="3377228"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CAUSES OF CONFLICT</a:t>
            </a:r>
            <a:endParaRPr b="1" i="0" sz="1600" u="none" cap="none" strike="noStrike">
              <a:solidFill>
                <a:schemeClr val="dk1"/>
              </a:solidFill>
              <a:latin typeface="Lusitana"/>
              <a:ea typeface="Lusitana"/>
              <a:cs typeface="Lusitana"/>
              <a:sym typeface="Lusitana"/>
            </a:endParaRPr>
          </a:p>
        </p:txBody>
      </p:sp>
      <p:sp>
        <p:nvSpPr>
          <p:cNvPr id="830" name="Google Shape;830;p25"/>
          <p:cNvSpPr txBox="1"/>
          <p:nvPr/>
        </p:nvSpPr>
        <p:spPr>
          <a:xfrm>
            <a:off x="5035923" y="528813"/>
            <a:ext cx="3377228"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OUTCOMES OF CONFLICT</a:t>
            </a:r>
            <a:endParaRPr b="1" i="0" sz="1600" u="none" cap="none" strike="noStrike">
              <a:solidFill>
                <a:schemeClr val="dk1"/>
              </a:solidFill>
              <a:latin typeface="Lusitana"/>
              <a:ea typeface="Lusitana"/>
              <a:cs typeface="Lusitana"/>
              <a:sym typeface="Lusitana"/>
            </a:endParaRPr>
          </a:p>
        </p:txBody>
      </p:sp>
      <p:grpSp>
        <p:nvGrpSpPr>
          <p:cNvPr id="831" name="Google Shape;831;p25"/>
          <p:cNvGrpSpPr/>
          <p:nvPr/>
        </p:nvGrpSpPr>
        <p:grpSpPr>
          <a:xfrm>
            <a:off x="4853495" y="977257"/>
            <a:ext cx="3377228" cy="3413208"/>
            <a:chOff x="0" y="0"/>
            <a:chExt cx="3377228" cy="3413208"/>
          </a:xfrm>
        </p:grpSpPr>
        <p:cxnSp>
          <p:nvCxnSpPr>
            <p:cNvPr id="832" name="Google Shape;832;p25"/>
            <p:cNvCxnSpPr/>
            <p:nvPr/>
          </p:nvCxnSpPr>
          <p:spPr>
            <a:xfrm>
              <a:off x="0" y="0"/>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33" name="Google Shape;833;p25"/>
            <p:cNvSpPr/>
            <p:nvPr/>
          </p:nvSpPr>
          <p:spPr>
            <a:xfrm>
              <a:off x="0" y="0"/>
              <a:ext cx="675445" cy="170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5"/>
            <p:cNvSpPr txBox="1"/>
            <p:nvPr/>
          </p:nvSpPr>
          <p:spPr>
            <a:xfrm>
              <a:off x="0" y="0"/>
              <a:ext cx="675445" cy="1706604"/>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100"/>
                <a:buFont typeface="Arial"/>
                <a:buNone/>
              </a:pPr>
              <a:r>
                <a:rPr b="0" i="0" lang="en-US" sz="1100" u="none" cap="none" strike="noStrike">
                  <a:solidFill>
                    <a:srgbClr val="000000"/>
                  </a:solidFill>
                  <a:latin typeface="Lusitana"/>
                  <a:ea typeface="Lusitana"/>
                  <a:cs typeface="Lusitana"/>
                  <a:sym typeface="Lusitana"/>
                </a:rPr>
                <a:t>Positive outcomes</a:t>
              </a:r>
              <a:endParaRPr/>
            </a:p>
          </p:txBody>
        </p:sp>
        <p:sp>
          <p:nvSpPr>
            <p:cNvPr id="835" name="Google Shape;835;p25"/>
            <p:cNvSpPr/>
            <p:nvPr/>
          </p:nvSpPr>
          <p:spPr>
            <a:xfrm>
              <a:off x="726104" y="20061"/>
              <a:ext cx="2651123" cy="4012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5"/>
            <p:cNvSpPr txBox="1"/>
            <p:nvPr/>
          </p:nvSpPr>
          <p:spPr>
            <a:xfrm>
              <a:off x="726104" y="20061"/>
              <a:ext cx="2651123" cy="401235"/>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US" sz="1000" u="none" cap="none" strike="noStrike">
                  <a:solidFill>
                    <a:srgbClr val="000000"/>
                  </a:solidFill>
                  <a:latin typeface="Lusitana"/>
                  <a:ea typeface="Lusitana"/>
                  <a:cs typeface="Lusitana"/>
                  <a:sym typeface="Lusitana"/>
                </a:rPr>
                <a:t>Consideration of a broader range of ideas, resulting in a better, stronger idea</a:t>
              </a:r>
              <a:endParaRPr/>
            </a:p>
          </p:txBody>
        </p:sp>
        <p:cxnSp>
          <p:nvCxnSpPr>
            <p:cNvPr id="837" name="Google Shape;837;p25"/>
            <p:cNvCxnSpPr/>
            <p:nvPr/>
          </p:nvCxnSpPr>
          <p:spPr>
            <a:xfrm>
              <a:off x="675445" y="421297"/>
              <a:ext cx="2701782" cy="0"/>
            </a:xfrm>
            <a:prstGeom prst="straightConnector1">
              <a:avLst/>
            </a:prstGeom>
            <a:solidFill>
              <a:schemeClr val="accent2"/>
            </a:solidFill>
            <a:ln cap="flat" cmpd="sng" w="25400">
              <a:solidFill>
                <a:srgbClr val="C3CAC0"/>
              </a:solidFill>
              <a:prstDash val="solid"/>
              <a:round/>
              <a:headEnd len="sm" w="sm" type="none"/>
              <a:tailEnd len="sm" w="sm" type="none"/>
            </a:ln>
            <a:effectLst>
              <a:outerShdw blurRad="40000" rotWithShape="0" dir="5400000" dist="20000">
                <a:srgbClr val="000000">
                  <a:alpha val="37647"/>
                </a:srgbClr>
              </a:outerShdw>
            </a:effectLst>
          </p:spPr>
        </p:cxnSp>
        <p:sp>
          <p:nvSpPr>
            <p:cNvPr id="838" name="Google Shape;838;p25"/>
            <p:cNvSpPr/>
            <p:nvPr/>
          </p:nvSpPr>
          <p:spPr>
            <a:xfrm>
              <a:off x="726104" y="441358"/>
              <a:ext cx="2651123" cy="4012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5"/>
            <p:cNvSpPr txBox="1"/>
            <p:nvPr/>
          </p:nvSpPr>
          <p:spPr>
            <a:xfrm>
              <a:off x="726104" y="441358"/>
              <a:ext cx="2651123" cy="401235"/>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US" sz="1000" u="none" cap="none" strike="noStrike">
                  <a:solidFill>
                    <a:srgbClr val="000000"/>
                  </a:solidFill>
                  <a:latin typeface="Lusitana"/>
                  <a:ea typeface="Lusitana"/>
                  <a:cs typeface="Lusitana"/>
                  <a:sym typeface="Lusitana"/>
                </a:rPr>
                <a:t>Surfacing of assumptions that may be inaccurate</a:t>
              </a:r>
              <a:endParaRPr/>
            </a:p>
          </p:txBody>
        </p:sp>
        <p:cxnSp>
          <p:nvCxnSpPr>
            <p:cNvPr id="840" name="Google Shape;840;p25"/>
            <p:cNvCxnSpPr/>
            <p:nvPr/>
          </p:nvCxnSpPr>
          <p:spPr>
            <a:xfrm>
              <a:off x="675445" y="842594"/>
              <a:ext cx="2701782" cy="0"/>
            </a:xfrm>
            <a:prstGeom prst="straightConnector1">
              <a:avLst/>
            </a:prstGeom>
            <a:solidFill>
              <a:schemeClr val="accent2"/>
            </a:solidFill>
            <a:ln cap="flat" cmpd="sng" w="25400">
              <a:solidFill>
                <a:srgbClr val="C3CAC0"/>
              </a:solidFill>
              <a:prstDash val="solid"/>
              <a:round/>
              <a:headEnd len="sm" w="sm" type="none"/>
              <a:tailEnd len="sm" w="sm" type="none"/>
            </a:ln>
            <a:effectLst>
              <a:outerShdw blurRad="40000" rotWithShape="0" dir="5400000" dist="20000">
                <a:srgbClr val="000000">
                  <a:alpha val="37647"/>
                </a:srgbClr>
              </a:outerShdw>
            </a:effectLst>
          </p:spPr>
        </p:cxnSp>
        <p:sp>
          <p:nvSpPr>
            <p:cNvPr id="841" name="Google Shape;841;p25"/>
            <p:cNvSpPr/>
            <p:nvPr/>
          </p:nvSpPr>
          <p:spPr>
            <a:xfrm>
              <a:off x="726104" y="862655"/>
              <a:ext cx="2651123" cy="4012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5"/>
            <p:cNvSpPr txBox="1"/>
            <p:nvPr/>
          </p:nvSpPr>
          <p:spPr>
            <a:xfrm>
              <a:off x="726104" y="862655"/>
              <a:ext cx="2651123" cy="401235"/>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US" sz="1000" u="none" cap="none" strike="noStrike">
                  <a:solidFill>
                    <a:srgbClr val="000000"/>
                  </a:solidFill>
                  <a:latin typeface="Lusitana"/>
                  <a:ea typeface="Lusitana"/>
                  <a:cs typeface="Lusitana"/>
                  <a:sym typeface="Lusitana"/>
                </a:rPr>
                <a:t>Increased participation and creativity</a:t>
              </a:r>
              <a:endParaRPr/>
            </a:p>
          </p:txBody>
        </p:sp>
        <p:cxnSp>
          <p:nvCxnSpPr>
            <p:cNvPr id="843" name="Google Shape;843;p25"/>
            <p:cNvCxnSpPr/>
            <p:nvPr/>
          </p:nvCxnSpPr>
          <p:spPr>
            <a:xfrm>
              <a:off x="675445" y="1263891"/>
              <a:ext cx="2701782" cy="0"/>
            </a:xfrm>
            <a:prstGeom prst="straightConnector1">
              <a:avLst/>
            </a:prstGeom>
            <a:solidFill>
              <a:schemeClr val="accent2"/>
            </a:solidFill>
            <a:ln cap="flat" cmpd="sng" w="25400">
              <a:solidFill>
                <a:srgbClr val="C3CAC0"/>
              </a:solidFill>
              <a:prstDash val="solid"/>
              <a:round/>
              <a:headEnd len="sm" w="sm" type="none"/>
              <a:tailEnd len="sm" w="sm" type="none"/>
            </a:ln>
            <a:effectLst>
              <a:outerShdw blurRad="40000" rotWithShape="0" dir="5400000" dist="20000">
                <a:srgbClr val="000000">
                  <a:alpha val="37647"/>
                </a:srgbClr>
              </a:outerShdw>
            </a:effectLst>
          </p:spPr>
        </p:cxnSp>
        <p:sp>
          <p:nvSpPr>
            <p:cNvPr id="844" name="Google Shape;844;p25"/>
            <p:cNvSpPr/>
            <p:nvPr/>
          </p:nvSpPr>
          <p:spPr>
            <a:xfrm>
              <a:off x="726104" y="1283952"/>
              <a:ext cx="2651123" cy="4012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5"/>
            <p:cNvSpPr txBox="1"/>
            <p:nvPr/>
          </p:nvSpPr>
          <p:spPr>
            <a:xfrm>
              <a:off x="726104" y="1283952"/>
              <a:ext cx="2651123" cy="401235"/>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US" sz="1000" u="none" cap="none" strike="noStrike">
                  <a:solidFill>
                    <a:srgbClr val="000000"/>
                  </a:solidFill>
                  <a:latin typeface="Lusitana"/>
                  <a:ea typeface="Lusitana"/>
                  <a:cs typeface="Lusitana"/>
                  <a:sym typeface="Lusitana"/>
                </a:rPr>
                <a:t>Clarification of individual views that build learning</a:t>
              </a:r>
              <a:endParaRPr/>
            </a:p>
          </p:txBody>
        </p:sp>
        <p:cxnSp>
          <p:nvCxnSpPr>
            <p:cNvPr id="846" name="Google Shape;846;p25"/>
            <p:cNvCxnSpPr/>
            <p:nvPr/>
          </p:nvCxnSpPr>
          <p:spPr>
            <a:xfrm>
              <a:off x="675445" y="1685188"/>
              <a:ext cx="2701782" cy="0"/>
            </a:xfrm>
            <a:prstGeom prst="straightConnector1">
              <a:avLst/>
            </a:prstGeom>
            <a:solidFill>
              <a:schemeClr val="accent2"/>
            </a:solidFill>
            <a:ln cap="flat" cmpd="sng" w="25400">
              <a:solidFill>
                <a:srgbClr val="C3CAC0"/>
              </a:solidFill>
              <a:prstDash val="solid"/>
              <a:round/>
              <a:headEnd len="sm" w="sm" type="none"/>
              <a:tailEnd len="sm" w="sm" type="none"/>
            </a:ln>
            <a:effectLst>
              <a:outerShdw blurRad="40000" rotWithShape="0" dir="5400000" dist="20000">
                <a:srgbClr val="000000">
                  <a:alpha val="37647"/>
                </a:srgbClr>
              </a:outerShdw>
            </a:effectLst>
          </p:spPr>
        </p:cxnSp>
        <p:cxnSp>
          <p:nvCxnSpPr>
            <p:cNvPr id="847" name="Google Shape;847;p25"/>
            <p:cNvCxnSpPr/>
            <p:nvPr/>
          </p:nvCxnSpPr>
          <p:spPr>
            <a:xfrm>
              <a:off x="0" y="1706604"/>
              <a:ext cx="3377228" cy="0"/>
            </a:xfrm>
            <a:prstGeom prst="straightConnector1">
              <a:avLst/>
            </a:prstGeom>
            <a:solidFill>
              <a:schemeClr val="accent2"/>
            </a:solidFill>
            <a:ln cap="flat" cmpd="sng" w="25400">
              <a:solidFill>
                <a:schemeClr val="accent2"/>
              </a:solidFill>
              <a:prstDash val="solid"/>
              <a:round/>
              <a:headEnd len="sm" w="sm" type="none"/>
              <a:tailEnd len="sm" w="sm" type="none"/>
            </a:ln>
            <a:effectLst>
              <a:outerShdw blurRad="40000" rotWithShape="0" dir="5400000" dist="20000">
                <a:srgbClr val="000000">
                  <a:alpha val="37647"/>
                </a:srgbClr>
              </a:outerShdw>
            </a:effectLst>
          </p:spPr>
        </p:cxnSp>
        <p:sp>
          <p:nvSpPr>
            <p:cNvPr id="848" name="Google Shape;848;p25"/>
            <p:cNvSpPr/>
            <p:nvPr/>
          </p:nvSpPr>
          <p:spPr>
            <a:xfrm>
              <a:off x="0" y="1706604"/>
              <a:ext cx="675445" cy="1706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5"/>
            <p:cNvSpPr txBox="1"/>
            <p:nvPr/>
          </p:nvSpPr>
          <p:spPr>
            <a:xfrm>
              <a:off x="0" y="1706604"/>
              <a:ext cx="675445" cy="1706604"/>
            </a:xfrm>
            <a:prstGeom prst="rect">
              <a:avLst/>
            </a:prstGeom>
            <a:noFill/>
            <a:ln>
              <a:noFill/>
            </a:ln>
          </p:spPr>
          <p:txBody>
            <a:bodyPr anchorCtr="0" anchor="t" bIns="41900" lIns="41900" spcFirstLastPara="1" rIns="41900" wrap="square" tIns="41900">
              <a:noAutofit/>
            </a:bodyPr>
            <a:lstStyle/>
            <a:p>
              <a:pPr indent="0" lvl="0" marL="0" marR="0" rtl="0" algn="l">
                <a:lnSpc>
                  <a:spcPct val="90000"/>
                </a:lnSpc>
                <a:spcBef>
                  <a:spcPts val="0"/>
                </a:spcBef>
                <a:spcAft>
                  <a:spcPts val="0"/>
                </a:spcAft>
                <a:buClr>
                  <a:srgbClr val="000000"/>
                </a:buClr>
                <a:buSzPts val="1100"/>
                <a:buFont typeface="Arial"/>
                <a:buNone/>
              </a:pPr>
              <a:r>
                <a:rPr b="0" i="0" lang="en-US" sz="1100" u="none" cap="none" strike="noStrike">
                  <a:solidFill>
                    <a:srgbClr val="000000"/>
                  </a:solidFill>
                  <a:latin typeface="Lusitana"/>
                  <a:ea typeface="Lusitana"/>
                  <a:cs typeface="Lusitana"/>
                  <a:sym typeface="Lusitana"/>
                </a:rPr>
                <a:t>Negative outcomes</a:t>
              </a:r>
              <a:endParaRPr/>
            </a:p>
          </p:txBody>
        </p:sp>
        <p:sp>
          <p:nvSpPr>
            <p:cNvPr id="850" name="Google Shape;850;p25"/>
            <p:cNvSpPr/>
            <p:nvPr/>
          </p:nvSpPr>
          <p:spPr>
            <a:xfrm>
              <a:off x="726104" y="1733269"/>
              <a:ext cx="2651123" cy="53331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5"/>
            <p:cNvSpPr txBox="1"/>
            <p:nvPr/>
          </p:nvSpPr>
          <p:spPr>
            <a:xfrm>
              <a:off x="726104" y="1733269"/>
              <a:ext cx="2651123" cy="533313"/>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US" sz="1000" u="none" cap="none" strike="noStrike">
                  <a:solidFill>
                    <a:srgbClr val="000000"/>
                  </a:solidFill>
                  <a:latin typeface="Lusitana"/>
                  <a:ea typeface="Lusitana"/>
                  <a:cs typeface="Lusitana"/>
                  <a:sym typeface="Lusitana"/>
                </a:rPr>
                <a:t>Increased stress and anxiety among individuals, which decreases productivity and satisfaction</a:t>
              </a:r>
              <a:endParaRPr b="0" i="0" sz="1000" u="none" cap="none" strike="noStrike">
                <a:solidFill>
                  <a:srgbClr val="000000"/>
                </a:solidFill>
                <a:latin typeface="Lusitana"/>
                <a:ea typeface="Lusitana"/>
                <a:cs typeface="Lusitana"/>
                <a:sym typeface="Lusitana"/>
              </a:endParaRPr>
            </a:p>
          </p:txBody>
        </p:sp>
        <p:cxnSp>
          <p:nvCxnSpPr>
            <p:cNvPr id="852" name="Google Shape;852;p25"/>
            <p:cNvCxnSpPr/>
            <p:nvPr/>
          </p:nvCxnSpPr>
          <p:spPr>
            <a:xfrm>
              <a:off x="675445" y="2266583"/>
              <a:ext cx="2701782" cy="0"/>
            </a:xfrm>
            <a:prstGeom prst="straightConnector1">
              <a:avLst/>
            </a:prstGeom>
            <a:solidFill>
              <a:schemeClr val="accent2"/>
            </a:solidFill>
            <a:ln cap="flat" cmpd="sng" w="25400">
              <a:solidFill>
                <a:srgbClr val="C3CAC0"/>
              </a:solidFill>
              <a:prstDash val="solid"/>
              <a:round/>
              <a:headEnd len="sm" w="sm" type="none"/>
              <a:tailEnd len="sm" w="sm" type="none"/>
            </a:ln>
            <a:effectLst>
              <a:outerShdw blurRad="40000" rotWithShape="0" dir="5400000" dist="20000">
                <a:srgbClr val="000000">
                  <a:alpha val="37647"/>
                </a:srgbClr>
              </a:outerShdw>
            </a:effectLst>
          </p:spPr>
        </p:cxnSp>
        <p:sp>
          <p:nvSpPr>
            <p:cNvPr id="853" name="Google Shape;853;p25"/>
            <p:cNvSpPr/>
            <p:nvPr/>
          </p:nvSpPr>
          <p:spPr>
            <a:xfrm>
              <a:off x="726104" y="2293249"/>
              <a:ext cx="2651123" cy="53331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5"/>
            <p:cNvSpPr txBox="1"/>
            <p:nvPr/>
          </p:nvSpPr>
          <p:spPr>
            <a:xfrm>
              <a:off x="726104" y="2293249"/>
              <a:ext cx="2651123" cy="533313"/>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US" sz="1000" u="none" cap="none" strike="noStrike">
                  <a:solidFill>
                    <a:srgbClr val="000000"/>
                  </a:solidFill>
                  <a:latin typeface="Lusitana"/>
                  <a:ea typeface="Lusitana"/>
                  <a:cs typeface="Lusitana"/>
                  <a:sym typeface="Lusitana"/>
                </a:rPr>
                <a:t>Feelings of being defeated and demeaned, which lowers individuals’ morale and may increase turnover</a:t>
              </a:r>
              <a:endParaRPr/>
            </a:p>
          </p:txBody>
        </p:sp>
        <p:cxnSp>
          <p:nvCxnSpPr>
            <p:cNvPr id="855" name="Google Shape;855;p25"/>
            <p:cNvCxnSpPr/>
            <p:nvPr/>
          </p:nvCxnSpPr>
          <p:spPr>
            <a:xfrm>
              <a:off x="675445" y="2826562"/>
              <a:ext cx="2701782" cy="0"/>
            </a:xfrm>
            <a:prstGeom prst="straightConnector1">
              <a:avLst/>
            </a:prstGeom>
            <a:solidFill>
              <a:schemeClr val="accent2"/>
            </a:solidFill>
            <a:ln cap="flat" cmpd="sng" w="25400">
              <a:solidFill>
                <a:srgbClr val="C3CAC0"/>
              </a:solidFill>
              <a:prstDash val="solid"/>
              <a:round/>
              <a:headEnd len="sm" w="sm" type="none"/>
              <a:tailEnd len="sm" w="sm" type="none"/>
            </a:ln>
            <a:effectLst>
              <a:outerShdw blurRad="40000" rotWithShape="0" dir="5400000" dist="20000">
                <a:srgbClr val="000000">
                  <a:alpha val="37647"/>
                </a:srgbClr>
              </a:outerShdw>
            </a:effectLst>
          </p:spPr>
        </p:cxnSp>
        <p:sp>
          <p:nvSpPr>
            <p:cNvPr id="856" name="Google Shape;856;p25"/>
            <p:cNvSpPr/>
            <p:nvPr/>
          </p:nvSpPr>
          <p:spPr>
            <a:xfrm>
              <a:off x="726104" y="2853228"/>
              <a:ext cx="2651123" cy="53331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5"/>
            <p:cNvSpPr txBox="1"/>
            <p:nvPr/>
          </p:nvSpPr>
          <p:spPr>
            <a:xfrm>
              <a:off x="726104" y="2853228"/>
              <a:ext cx="2651123" cy="533313"/>
            </a:xfrm>
            <a:prstGeom prst="rect">
              <a:avLst/>
            </a:prstGeom>
            <a:noFill/>
            <a:ln>
              <a:noFill/>
            </a:ln>
          </p:spPr>
          <p:txBody>
            <a:bodyPr anchorCtr="0" anchor="t" bIns="38100" lIns="38100" spcFirstLastPara="1" rIns="38100" wrap="square" tIns="38100">
              <a:noAutofit/>
            </a:bodyPr>
            <a:lstStyle/>
            <a:p>
              <a:pPr indent="0" lvl="0" marL="0" marR="0" rtl="0" algn="l">
                <a:lnSpc>
                  <a:spcPct val="90000"/>
                </a:lnSpc>
                <a:spcBef>
                  <a:spcPts val="0"/>
                </a:spcBef>
                <a:spcAft>
                  <a:spcPts val="0"/>
                </a:spcAft>
                <a:buClr>
                  <a:srgbClr val="000000"/>
                </a:buClr>
                <a:buSzPts val="1000"/>
                <a:buFont typeface="Arial"/>
                <a:buNone/>
              </a:pPr>
              <a:r>
                <a:rPr b="0" i="0" lang="en-US" sz="1000" u="none" cap="none" strike="noStrike">
                  <a:solidFill>
                    <a:srgbClr val="000000"/>
                  </a:solidFill>
                  <a:latin typeface="Lusitana"/>
                  <a:ea typeface="Lusitana"/>
                  <a:cs typeface="Lusitana"/>
                  <a:sym typeface="Lusitana"/>
                </a:rPr>
                <a:t>A climate of mistrust, which hinders the teamwork and cooperation necessary to get work done</a:t>
              </a:r>
              <a:endParaRPr/>
            </a:p>
          </p:txBody>
        </p:sp>
        <p:cxnSp>
          <p:nvCxnSpPr>
            <p:cNvPr id="858" name="Google Shape;858;p25"/>
            <p:cNvCxnSpPr/>
            <p:nvPr/>
          </p:nvCxnSpPr>
          <p:spPr>
            <a:xfrm>
              <a:off x="675445" y="3386542"/>
              <a:ext cx="2701782" cy="0"/>
            </a:xfrm>
            <a:prstGeom prst="straightConnector1">
              <a:avLst/>
            </a:prstGeom>
            <a:solidFill>
              <a:schemeClr val="accent2"/>
            </a:solidFill>
            <a:ln cap="flat" cmpd="sng" w="25400">
              <a:solidFill>
                <a:srgbClr val="C3CAC0"/>
              </a:solidFill>
              <a:prstDash val="solid"/>
              <a:round/>
              <a:headEnd len="sm" w="sm" type="none"/>
              <a:tailEnd len="sm" w="sm" type="none"/>
            </a:ln>
            <a:effectLst>
              <a:outerShdw blurRad="40000" rotWithShape="0" dir="5400000" dist="20000">
                <a:srgbClr val="000000">
                  <a:alpha val="37647"/>
                </a:srgbClr>
              </a:outerShdw>
            </a:effectLst>
          </p:spPr>
        </p:cxnSp>
      </p:grpSp>
      <p:cxnSp>
        <p:nvCxnSpPr>
          <p:cNvPr id="859" name="Google Shape;859;p25"/>
          <p:cNvCxnSpPr/>
          <p:nvPr/>
        </p:nvCxnSpPr>
        <p:spPr>
          <a:xfrm>
            <a:off x="4572000" y="289112"/>
            <a:ext cx="0" cy="4578723"/>
          </a:xfrm>
          <a:prstGeom prst="straightConnector1">
            <a:avLst/>
          </a:prstGeom>
          <a:noFill/>
          <a:ln cap="flat" cmpd="sng" w="19050">
            <a:solidFill>
              <a:srgbClr val="5C774F"/>
            </a:solidFill>
            <a:prstDash val="dashDot"/>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26"/>
          <p:cNvSpPr txBox="1"/>
          <p:nvPr/>
        </p:nvSpPr>
        <p:spPr>
          <a:xfrm>
            <a:off x="857569" y="472441"/>
            <a:ext cx="7561316" cy="448444"/>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3000"/>
              <a:buFont typeface="Lusitana"/>
              <a:buNone/>
            </a:pPr>
            <a:r>
              <a:rPr b="1" i="0" lang="en-US" sz="1600" u="none" cap="none" strike="noStrike">
                <a:solidFill>
                  <a:schemeClr val="dk1"/>
                </a:solidFill>
                <a:latin typeface="Lusitana"/>
                <a:ea typeface="Lusitana"/>
                <a:cs typeface="Lusitana"/>
                <a:sym typeface="Lusitana"/>
              </a:rPr>
              <a:t>CONFLICT MANAGEMENT - Thomas-Kilmann Conflict Mode Instrument</a:t>
            </a:r>
            <a:endParaRPr b="1" i="0" sz="1600" u="none" cap="none" strike="noStrike">
              <a:solidFill>
                <a:schemeClr val="dk1"/>
              </a:solidFill>
              <a:latin typeface="Lusitana"/>
              <a:ea typeface="Lusitana"/>
              <a:cs typeface="Lusitana"/>
              <a:sym typeface="Lusitana"/>
            </a:endParaRPr>
          </a:p>
        </p:txBody>
      </p:sp>
      <p:grpSp>
        <p:nvGrpSpPr>
          <p:cNvPr id="865" name="Google Shape;865;p26"/>
          <p:cNvGrpSpPr/>
          <p:nvPr/>
        </p:nvGrpSpPr>
        <p:grpSpPr>
          <a:xfrm>
            <a:off x="857569" y="921353"/>
            <a:ext cx="7331690" cy="3824991"/>
            <a:chOff x="0" y="467"/>
            <a:chExt cx="7331690" cy="3824991"/>
          </a:xfrm>
        </p:grpSpPr>
        <p:cxnSp>
          <p:nvCxnSpPr>
            <p:cNvPr id="866" name="Google Shape;866;p26"/>
            <p:cNvCxnSpPr/>
            <p:nvPr/>
          </p:nvCxnSpPr>
          <p:spPr>
            <a:xfrm>
              <a:off x="0" y="467"/>
              <a:ext cx="7331690" cy="0"/>
            </a:xfrm>
            <a:prstGeom prst="straightConnector1">
              <a:avLst/>
            </a:prstGeom>
            <a:solidFill>
              <a:schemeClr val="accent2"/>
            </a:solidFill>
            <a:ln cap="flat" cmpd="sng" w="25400">
              <a:solidFill>
                <a:schemeClr val="accent2"/>
              </a:solidFill>
              <a:prstDash val="solid"/>
              <a:round/>
              <a:headEnd len="sm" w="sm" type="none"/>
              <a:tailEnd len="sm" w="sm" type="none"/>
            </a:ln>
          </p:spPr>
        </p:cxnSp>
        <p:sp>
          <p:nvSpPr>
            <p:cNvPr id="867" name="Google Shape;867;p26"/>
            <p:cNvSpPr/>
            <p:nvPr/>
          </p:nvSpPr>
          <p:spPr>
            <a:xfrm>
              <a:off x="0" y="467"/>
              <a:ext cx="1466338" cy="76499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6"/>
            <p:cNvSpPr txBox="1"/>
            <p:nvPr/>
          </p:nvSpPr>
          <p:spPr>
            <a:xfrm>
              <a:off x="0" y="467"/>
              <a:ext cx="1466338" cy="764998"/>
            </a:xfrm>
            <a:prstGeom prst="rect">
              <a:avLst/>
            </a:prstGeom>
            <a:noFill/>
            <a:ln>
              <a:noFill/>
            </a:ln>
          </p:spPr>
          <p:txBody>
            <a:bodyPr anchorCtr="0" anchor="t" bIns="38100" lIns="38100" spcFirstLastPara="1" rIns="38100" wrap="square" tIns="38100">
              <a:noAutofit/>
            </a:bodyPr>
            <a:lstStyle/>
            <a:p>
              <a:pPr indent="0" lvl="0" marL="0" marR="0" rtl="0" algn="just">
                <a:lnSpc>
                  <a:spcPct val="90000"/>
                </a:lnSpc>
                <a:spcBef>
                  <a:spcPts val="0"/>
                </a:spcBef>
                <a:spcAft>
                  <a:spcPts val="0"/>
                </a:spcAft>
                <a:buClr>
                  <a:srgbClr val="000000"/>
                </a:buClr>
                <a:buSzPts val="1000"/>
                <a:buFont typeface="Arial"/>
                <a:buNone/>
              </a:pPr>
              <a:r>
                <a:rPr b="1" i="0" lang="en-US" sz="1000" u="none" cap="none" strike="noStrike">
                  <a:solidFill>
                    <a:srgbClr val="000000"/>
                  </a:solidFill>
                  <a:latin typeface="Lusitana"/>
                  <a:ea typeface="Lusitana"/>
                  <a:cs typeface="Lusitana"/>
                  <a:sym typeface="Lusitana"/>
                </a:rPr>
                <a:t>ACCOMMODATING</a:t>
              </a:r>
              <a:endParaRPr b="1" i="0" sz="800" u="none" cap="none" strike="noStrike">
                <a:solidFill>
                  <a:srgbClr val="000000"/>
                </a:solidFill>
                <a:latin typeface="Lusitana"/>
                <a:ea typeface="Lusitana"/>
                <a:cs typeface="Lusitana"/>
                <a:sym typeface="Lusitana"/>
              </a:endParaRPr>
            </a:p>
          </p:txBody>
        </p:sp>
        <p:sp>
          <p:nvSpPr>
            <p:cNvPr id="869" name="Google Shape;869;p26"/>
            <p:cNvSpPr/>
            <p:nvPr/>
          </p:nvSpPr>
          <p:spPr>
            <a:xfrm>
              <a:off x="1576313" y="14810"/>
              <a:ext cx="5755376" cy="20025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6"/>
            <p:cNvSpPr txBox="1"/>
            <p:nvPr/>
          </p:nvSpPr>
          <p:spPr>
            <a:xfrm>
              <a:off x="1576313" y="14810"/>
              <a:ext cx="5755376" cy="200255"/>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Forsake own needs or desires in exchange for those of others. </a:t>
              </a:r>
              <a:endParaRPr/>
            </a:p>
          </p:txBody>
        </p:sp>
        <p:cxnSp>
          <p:nvCxnSpPr>
            <p:cNvPr id="871" name="Google Shape;871;p26"/>
            <p:cNvCxnSpPr/>
            <p:nvPr/>
          </p:nvCxnSpPr>
          <p:spPr>
            <a:xfrm>
              <a:off x="1466338" y="215066"/>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sp>
          <p:nvSpPr>
            <p:cNvPr id="872" name="Google Shape;872;p26"/>
            <p:cNvSpPr/>
            <p:nvPr/>
          </p:nvSpPr>
          <p:spPr>
            <a:xfrm>
              <a:off x="1576313" y="229410"/>
              <a:ext cx="5755376" cy="2201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6"/>
            <p:cNvSpPr txBox="1"/>
            <p:nvPr/>
          </p:nvSpPr>
          <p:spPr>
            <a:xfrm>
              <a:off x="1576313" y="229410"/>
              <a:ext cx="5755376" cy="220187"/>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Put concerns of others before your own. This style usually takes place when you simply give in or are persuaded to give in.</a:t>
              </a:r>
              <a:endParaRPr/>
            </a:p>
          </p:txBody>
        </p:sp>
        <p:cxnSp>
          <p:nvCxnSpPr>
            <p:cNvPr id="874" name="Google Shape;874;p26"/>
            <p:cNvCxnSpPr/>
            <p:nvPr/>
          </p:nvCxnSpPr>
          <p:spPr>
            <a:xfrm>
              <a:off x="1466338" y="449597"/>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sp>
          <p:nvSpPr>
            <p:cNvPr id="875" name="Google Shape;875;p26"/>
            <p:cNvSpPr/>
            <p:nvPr/>
          </p:nvSpPr>
          <p:spPr>
            <a:xfrm>
              <a:off x="1576313" y="463941"/>
              <a:ext cx="5755376" cy="28687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6"/>
            <p:cNvSpPr txBox="1"/>
            <p:nvPr/>
          </p:nvSpPr>
          <p:spPr>
            <a:xfrm>
              <a:off x="1576313" y="463941"/>
              <a:ext cx="5755376" cy="28687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Appropriate when others care more about the issue than you do, want to keep the peace, feel you are in the wrong, or have no choice but to agree with the other person’s point-of-view.</a:t>
              </a:r>
              <a:endParaRPr/>
            </a:p>
          </p:txBody>
        </p:sp>
        <p:cxnSp>
          <p:nvCxnSpPr>
            <p:cNvPr id="877" name="Google Shape;877;p26"/>
            <p:cNvCxnSpPr/>
            <p:nvPr/>
          </p:nvCxnSpPr>
          <p:spPr>
            <a:xfrm>
              <a:off x="1466338" y="750815"/>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cxnSp>
          <p:nvCxnSpPr>
            <p:cNvPr id="878" name="Google Shape;878;p26"/>
            <p:cNvCxnSpPr/>
            <p:nvPr/>
          </p:nvCxnSpPr>
          <p:spPr>
            <a:xfrm>
              <a:off x="0" y="765465"/>
              <a:ext cx="7331690" cy="0"/>
            </a:xfrm>
            <a:prstGeom prst="straightConnector1">
              <a:avLst/>
            </a:prstGeom>
            <a:solidFill>
              <a:schemeClr val="accent2"/>
            </a:solidFill>
            <a:ln cap="flat" cmpd="sng" w="25400">
              <a:solidFill>
                <a:schemeClr val="accent2"/>
              </a:solidFill>
              <a:prstDash val="solid"/>
              <a:round/>
              <a:headEnd len="sm" w="sm" type="none"/>
              <a:tailEnd len="sm" w="sm" type="none"/>
            </a:ln>
          </p:spPr>
        </p:cxnSp>
        <p:sp>
          <p:nvSpPr>
            <p:cNvPr id="879" name="Google Shape;879;p26"/>
            <p:cNvSpPr/>
            <p:nvPr/>
          </p:nvSpPr>
          <p:spPr>
            <a:xfrm>
              <a:off x="0" y="765465"/>
              <a:ext cx="1466338" cy="76499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6"/>
            <p:cNvSpPr txBox="1"/>
            <p:nvPr/>
          </p:nvSpPr>
          <p:spPr>
            <a:xfrm>
              <a:off x="0" y="765465"/>
              <a:ext cx="1466338" cy="764998"/>
            </a:xfrm>
            <a:prstGeom prst="rect">
              <a:avLst/>
            </a:prstGeom>
            <a:noFill/>
            <a:ln>
              <a:noFill/>
            </a:ln>
          </p:spPr>
          <p:txBody>
            <a:bodyPr anchorCtr="0" anchor="t" bIns="38100" lIns="38100" spcFirstLastPara="1" rIns="38100" wrap="square" tIns="38100">
              <a:noAutofit/>
            </a:bodyPr>
            <a:lstStyle/>
            <a:p>
              <a:pPr indent="0" lvl="0" marL="0" marR="0" rtl="0" algn="just">
                <a:lnSpc>
                  <a:spcPct val="90000"/>
                </a:lnSpc>
                <a:spcBef>
                  <a:spcPts val="0"/>
                </a:spcBef>
                <a:spcAft>
                  <a:spcPts val="0"/>
                </a:spcAft>
                <a:buClr>
                  <a:srgbClr val="000000"/>
                </a:buClr>
                <a:buSzPts val="1000"/>
                <a:buFont typeface="Arial"/>
                <a:buNone/>
              </a:pPr>
              <a:r>
                <a:rPr b="1" i="0" lang="en-US" sz="1000" u="none" cap="none" strike="noStrike">
                  <a:solidFill>
                    <a:srgbClr val="2D3925"/>
                  </a:solidFill>
                  <a:latin typeface="Lusitana"/>
                  <a:ea typeface="Lusitana"/>
                  <a:cs typeface="Lusitana"/>
                  <a:sym typeface="Lusitana"/>
                </a:rPr>
                <a:t>AVOIDING</a:t>
              </a:r>
              <a:endParaRPr/>
            </a:p>
          </p:txBody>
        </p:sp>
        <p:sp>
          <p:nvSpPr>
            <p:cNvPr id="881" name="Google Shape;881;p26"/>
            <p:cNvSpPr/>
            <p:nvPr/>
          </p:nvSpPr>
          <p:spPr>
            <a:xfrm>
              <a:off x="1576313" y="783245"/>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6"/>
            <p:cNvSpPr txBox="1"/>
            <p:nvPr/>
          </p:nvSpPr>
          <p:spPr>
            <a:xfrm>
              <a:off x="1576313" y="783245"/>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To completely evade the conflict. You would neither pursue your beliefs nor those of the other people involved. Simply, you would continuously postpone or completely dodge the conflict whenever it comes up.</a:t>
              </a:r>
              <a:endParaRPr b="0" i="0" sz="800" u="none" cap="none" strike="noStrike">
                <a:solidFill>
                  <a:srgbClr val="000000"/>
                </a:solidFill>
                <a:latin typeface="Lusitana"/>
                <a:ea typeface="Lusitana"/>
                <a:cs typeface="Lusitana"/>
                <a:sym typeface="Lusitana"/>
              </a:endParaRPr>
            </a:p>
          </p:txBody>
        </p:sp>
        <p:cxnSp>
          <p:nvCxnSpPr>
            <p:cNvPr id="883" name="Google Shape;883;p26"/>
            <p:cNvCxnSpPr/>
            <p:nvPr/>
          </p:nvCxnSpPr>
          <p:spPr>
            <a:xfrm>
              <a:off x="1466338" y="1138850"/>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sp>
          <p:nvSpPr>
            <p:cNvPr id="884" name="Google Shape;884;p26"/>
            <p:cNvSpPr/>
            <p:nvPr/>
          </p:nvSpPr>
          <p:spPr>
            <a:xfrm>
              <a:off x="1576313" y="1156630"/>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6"/>
            <p:cNvSpPr txBox="1"/>
            <p:nvPr/>
          </p:nvSpPr>
          <p:spPr>
            <a:xfrm>
              <a:off x="1576313" y="1156630"/>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Appropriate to use when the conflict seems trivial, you don't have the time, you need more time to think, you feel as though you have no chance of winning, or you're afraid of being met with resentment.</a:t>
              </a:r>
              <a:endParaRPr/>
            </a:p>
          </p:txBody>
        </p:sp>
        <p:cxnSp>
          <p:nvCxnSpPr>
            <p:cNvPr id="886" name="Google Shape;886;p26"/>
            <p:cNvCxnSpPr/>
            <p:nvPr/>
          </p:nvCxnSpPr>
          <p:spPr>
            <a:xfrm>
              <a:off x="1466338" y="1512235"/>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cxnSp>
          <p:nvCxnSpPr>
            <p:cNvPr id="887" name="Google Shape;887;p26"/>
            <p:cNvCxnSpPr/>
            <p:nvPr/>
          </p:nvCxnSpPr>
          <p:spPr>
            <a:xfrm>
              <a:off x="0" y="1530463"/>
              <a:ext cx="7331690" cy="0"/>
            </a:xfrm>
            <a:prstGeom prst="straightConnector1">
              <a:avLst/>
            </a:prstGeom>
            <a:solidFill>
              <a:schemeClr val="accent2"/>
            </a:solidFill>
            <a:ln cap="flat" cmpd="sng" w="25400">
              <a:solidFill>
                <a:schemeClr val="accent2"/>
              </a:solidFill>
              <a:prstDash val="solid"/>
              <a:round/>
              <a:headEnd len="sm" w="sm" type="none"/>
              <a:tailEnd len="sm" w="sm" type="none"/>
            </a:ln>
          </p:spPr>
        </p:cxnSp>
        <p:sp>
          <p:nvSpPr>
            <p:cNvPr id="888" name="Google Shape;888;p26"/>
            <p:cNvSpPr/>
            <p:nvPr/>
          </p:nvSpPr>
          <p:spPr>
            <a:xfrm>
              <a:off x="0" y="1530463"/>
              <a:ext cx="1466338" cy="76499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6"/>
            <p:cNvSpPr txBox="1"/>
            <p:nvPr/>
          </p:nvSpPr>
          <p:spPr>
            <a:xfrm>
              <a:off x="0" y="1530463"/>
              <a:ext cx="1466338" cy="764998"/>
            </a:xfrm>
            <a:prstGeom prst="rect">
              <a:avLst/>
            </a:prstGeom>
            <a:noFill/>
            <a:ln>
              <a:noFill/>
            </a:ln>
          </p:spPr>
          <p:txBody>
            <a:bodyPr anchorCtr="0" anchor="t" bIns="38100" lIns="38100" spcFirstLastPara="1" rIns="38100" wrap="square" tIns="38100">
              <a:noAutofit/>
            </a:bodyPr>
            <a:lstStyle/>
            <a:p>
              <a:pPr indent="0" lvl="0" marL="0" marR="0" rtl="0" algn="just">
                <a:lnSpc>
                  <a:spcPct val="90000"/>
                </a:lnSpc>
                <a:spcBef>
                  <a:spcPts val="0"/>
                </a:spcBef>
                <a:spcAft>
                  <a:spcPts val="0"/>
                </a:spcAft>
                <a:buClr>
                  <a:srgbClr val="000000"/>
                </a:buClr>
                <a:buSzPts val="1000"/>
                <a:buFont typeface="Arial"/>
                <a:buNone/>
              </a:pPr>
              <a:r>
                <a:rPr b="1" i="0" lang="en-US" sz="1000" u="none" cap="none" strike="noStrike">
                  <a:solidFill>
                    <a:srgbClr val="000000"/>
                  </a:solidFill>
                  <a:latin typeface="Lusitana"/>
                  <a:ea typeface="Lusitana"/>
                  <a:cs typeface="Lusitana"/>
                  <a:sym typeface="Lusitana"/>
                </a:rPr>
                <a:t>COMPROMISING</a:t>
              </a:r>
              <a:endParaRPr/>
            </a:p>
          </p:txBody>
        </p:sp>
        <p:sp>
          <p:nvSpPr>
            <p:cNvPr id="890" name="Google Shape;890;p26"/>
            <p:cNvSpPr/>
            <p:nvPr/>
          </p:nvSpPr>
          <p:spPr>
            <a:xfrm>
              <a:off x="1576313" y="1548244"/>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6"/>
            <p:cNvSpPr txBox="1"/>
            <p:nvPr/>
          </p:nvSpPr>
          <p:spPr>
            <a:xfrm>
              <a:off x="1576313" y="1548244"/>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Attempts to find a solution that will at least partially please all parties. You work to find a middle ground between all the needs, which would typically leave people unsatisfied or only satisfied to a certain extent.</a:t>
              </a:r>
              <a:endParaRPr/>
            </a:p>
          </p:txBody>
        </p:sp>
        <p:cxnSp>
          <p:nvCxnSpPr>
            <p:cNvPr id="892" name="Google Shape;892;p26"/>
            <p:cNvCxnSpPr/>
            <p:nvPr/>
          </p:nvCxnSpPr>
          <p:spPr>
            <a:xfrm>
              <a:off x="1466338" y="1903848"/>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sp>
          <p:nvSpPr>
            <p:cNvPr id="893" name="Google Shape;893;p26"/>
            <p:cNvSpPr/>
            <p:nvPr/>
          </p:nvSpPr>
          <p:spPr>
            <a:xfrm>
              <a:off x="1576313" y="1921628"/>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6"/>
            <p:cNvSpPr txBox="1"/>
            <p:nvPr/>
          </p:nvSpPr>
          <p:spPr>
            <a:xfrm>
              <a:off x="1576313" y="1921628"/>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Appropriate when it's more important to reach a solution than for the solution to be great, a deadline is rapidly approaching, you're at an impasse, or you need a temporary solution for the moment.</a:t>
              </a:r>
              <a:endParaRPr/>
            </a:p>
          </p:txBody>
        </p:sp>
        <p:cxnSp>
          <p:nvCxnSpPr>
            <p:cNvPr id="895" name="Google Shape;895;p26"/>
            <p:cNvCxnSpPr/>
            <p:nvPr/>
          </p:nvCxnSpPr>
          <p:spPr>
            <a:xfrm>
              <a:off x="1466338" y="2277233"/>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cxnSp>
          <p:nvCxnSpPr>
            <p:cNvPr id="896" name="Google Shape;896;p26"/>
            <p:cNvCxnSpPr/>
            <p:nvPr/>
          </p:nvCxnSpPr>
          <p:spPr>
            <a:xfrm>
              <a:off x="0" y="2295462"/>
              <a:ext cx="7331690" cy="0"/>
            </a:xfrm>
            <a:prstGeom prst="straightConnector1">
              <a:avLst/>
            </a:prstGeom>
            <a:solidFill>
              <a:schemeClr val="accent2"/>
            </a:solidFill>
            <a:ln cap="flat" cmpd="sng" w="25400">
              <a:solidFill>
                <a:schemeClr val="accent2"/>
              </a:solidFill>
              <a:prstDash val="solid"/>
              <a:round/>
              <a:headEnd len="sm" w="sm" type="none"/>
              <a:tailEnd len="sm" w="sm" type="none"/>
            </a:ln>
          </p:spPr>
        </p:cxnSp>
        <p:sp>
          <p:nvSpPr>
            <p:cNvPr id="897" name="Google Shape;897;p26"/>
            <p:cNvSpPr/>
            <p:nvPr/>
          </p:nvSpPr>
          <p:spPr>
            <a:xfrm>
              <a:off x="0" y="2295462"/>
              <a:ext cx="1466338" cy="76499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6"/>
            <p:cNvSpPr txBox="1"/>
            <p:nvPr/>
          </p:nvSpPr>
          <p:spPr>
            <a:xfrm>
              <a:off x="0" y="2295462"/>
              <a:ext cx="1466338" cy="764998"/>
            </a:xfrm>
            <a:prstGeom prst="rect">
              <a:avLst/>
            </a:prstGeom>
            <a:noFill/>
            <a:ln>
              <a:noFill/>
            </a:ln>
          </p:spPr>
          <p:txBody>
            <a:bodyPr anchorCtr="0" anchor="t" bIns="38100" lIns="38100" spcFirstLastPara="1" rIns="38100" wrap="square" tIns="38100">
              <a:noAutofit/>
            </a:bodyPr>
            <a:lstStyle/>
            <a:p>
              <a:pPr indent="0" lvl="0" marL="0" marR="0" rtl="0" algn="just">
                <a:lnSpc>
                  <a:spcPct val="90000"/>
                </a:lnSpc>
                <a:spcBef>
                  <a:spcPts val="0"/>
                </a:spcBef>
                <a:spcAft>
                  <a:spcPts val="0"/>
                </a:spcAft>
                <a:buClr>
                  <a:srgbClr val="000000"/>
                </a:buClr>
                <a:buSzPts val="1000"/>
                <a:buFont typeface="Arial"/>
                <a:buNone/>
              </a:pPr>
              <a:r>
                <a:rPr b="1" i="0" lang="en-US" sz="1000" u="none" cap="none" strike="noStrike">
                  <a:solidFill>
                    <a:srgbClr val="000000"/>
                  </a:solidFill>
                  <a:latin typeface="Lusitana"/>
                  <a:ea typeface="Lusitana"/>
                  <a:cs typeface="Lusitana"/>
                  <a:sym typeface="Lusitana"/>
                </a:rPr>
                <a:t>COLLABORATING</a:t>
              </a:r>
              <a:endParaRPr/>
            </a:p>
          </p:txBody>
        </p:sp>
        <p:sp>
          <p:nvSpPr>
            <p:cNvPr id="899" name="Google Shape;899;p26"/>
            <p:cNvSpPr/>
            <p:nvPr/>
          </p:nvSpPr>
          <p:spPr>
            <a:xfrm>
              <a:off x="1576313" y="2313242"/>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6"/>
            <p:cNvSpPr txBox="1"/>
            <p:nvPr/>
          </p:nvSpPr>
          <p:spPr>
            <a:xfrm>
              <a:off x="1576313" y="2313242"/>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Attempts to find a solution that will meet the needs of all parties. Rather than trying to find a middle ground solution, you would aim for a solution that satisfies everyone and ends up being a win-win situation.</a:t>
              </a:r>
              <a:endParaRPr/>
            </a:p>
          </p:txBody>
        </p:sp>
        <p:cxnSp>
          <p:nvCxnSpPr>
            <p:cNvPr id="901" name="Google Shape;901;p26"/>
            <p:cNvCxnSpPr/>
            <p:nvPr/>
          </p:nvCxnSpPr>
          <p:spPr>
            <a:xfrm>
              <a:off x="1466338" y="2668847"/>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sp>
          <p:nvSpPr>
            <p:cNvPr id="902" name="Google Shape;902;p26"/>
            <p:cNvSpPr/>
            <p:nvPr/>
          </p:nvSpPr>
          <p:spPr>
            <a:xfrm>
              <a:off x="1576313" y="2686627"/>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6"/>
            <p:cNvSpPr txBox="1"/>
            <p:nvPr/>
          </p:nvSpPr>
          <p:spPr>
            <a:xfrm>
              <a:off x="1576313" y="2686627"/>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Appropriate when multiple perspectives need to be addressed, there is an important relationship between the parties, the final solution is too important for anyone to be displeased, or the beliefs of multiple stakeholders must be represented.</a:t>
              </a:r>
              <a:endParaRPr/>
            </a:p>
          </p:txBody>
        </p:sp>
        <p:cxnSp>
          <p:nvCxnSpPr>
            <p:cNvPr id="904" name="Google Shape;904;p26"/>
            <p:cNvCxnSpPr/>
            <p:nvPr/>
          </p:nvCxnSpPr>
          <p:spPr>
            <a:xfrm>
              <a:off x="1466338" y="3042232"/>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cxnSp>
          <p:nvCxnSpPr>
            <p:cNvPr id="905" name="Google Shape;905;p26"/>
            <p:cNvCxnSpPr/>
            <p:nvPr/>
          </p:nvCxnSpPr>
          <p:spPr>
            <a:xfrm>
              <a:off x="0" y="3060460"/>
              <a:ext cx="7331690" cy="0"/>
            </a:xfrm>
            <a:prstGeom prst="straightConnector1">
              <a:avLst/>
            </a:prstGeom>
            <a:solidFill>
              <a:schemeClr val="accent2"/>
            </a:solidFill>
            <a:ln cap="flat" cmpd="sng" w="25400">
              <a:solidFill>
                <a:schemeClr val="accent2"/>
              </a:solidFill>
              <a:prstDash val="solid"/>
              <a:round/>
              <a:headEnd len="sm" w="sm" type="none"/>
              <a:tailEnd len="sm" w="sm" type="none"/>
            </a:ln>
          </p:spPr>
        </p:cxnSp>
        <p:sp>
          <p:nvSpPr>
            <p:cNvPr id="906" name="Google Shape;906;p26"/>
            <p:cNvSpPr/>
            <p:nvPr/>
          </p:nvSpPr>
          <p:spPr>
            <a:xfrm>
              <a:off x="0" y="3060460"/>
              <a:ext cx="1466338" cy="76499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6"/>
            <p:cNvSpPr txBox="1"/>
            <p:nvPr/>
          </p:nvSpPr>
          <p:spPr>
            <a:xfrm>
              <a:off x="0" y="3060460"/>
              <a:ext cx="1466338" cy="764998"/>
            </a:xfrm>
            <a:prstGeom prst="rect">
              <a:avLst/>
            </a:prstGeom>
            <a:noFill/>
            <a:ln>
              <a:noFill/>
            </a:ln>
          </p:spPr>
          <p:txBody>
            <a:bodyPr anchorCtr="0" anchor="t" bIns="38100" lIns="38100" spcFirstLastPara="1" rIns="38100" wrap="square" tIns="38100">
              <a:noAutofit/>
            </a:bodyPr>
            <a:lstStyle/>
            <a:p>
              <a:pPr indent="0" lvl="0" marL="0" marR="0" rtl="0" algn="just">
                <a:lnSpc>
                  <a:spcPct val="90000"/>
                </a:lnSpc>
                <a:spcBef>
                  <a:spcPts val="0"/>
                </a:spcBef>
                <a:spcAft>
                  <a:spcPts val="0"/>
                </a:spcAft>
                <a:buClr>
                  <a:srgbClr val="000000"/>
                </a:buClr>
                <a:buSzPts val="1000"/>
                <a:buFont typeface="Arial"/>
                <a:buNone/>
              </a:pPr>
              <a:r>
                <a:rPr b="1" i="0" lang="en-US" sz="1000" u="none" cap="none" strike="noStrike">
                  <a:solidFill>
                    <a:srgbClr val="000000"/>
                  </a:solidFill>
                  <a:latin typeface="Lusitana"/>
                  <a:ea typeface="Lusitana"/>
                  <a:cs typeface="Lusitana"/>
                  <a:sym typeface="Lusitana"/>
                </a:rPr>
                <a:t>COMPETING</a:t>
              </a:r>
              <a:endParaRPr/>
            </a:p>
          </p:txBody>
        </p:sp>
        <p:sp>
          <p:nvSpPr>
            <p:cNvPr id="908" name="Google Shape;908;p26"/>
            <p:cNvSpPr/>
            <p:nvPr/>
          </p:nvSpPr>
          <p:spPr>
            <a:xfrm>
              <a:off x="1576313" y="3078240"/>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6"/>
            <p:cNvSpPr txBox="1"/>
            <p:nvPr/>
          </p:nvSpPr>
          <p:spPr>
            <a:xfrm>
              <a:off x="1576313" y="3078240"/>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Takes a firm stance and refuses to see the perspectives of the other parties. You would keep pushing your viewpoint or rejecting other people’s ideas until you get your way.</a:t>
              </a:r>
              <a:endParaRPr/>
            </a:p>
          </p:txBody>
        </p:sp>
        <p:cxnSp>
          <p:nvCxnSpPr>
            <p:cNvPr id="910" name="Google Shape;910;p26"/>
            <p:cNvCxnSpPr/>
            <p:nvPr/>
          </p:nvCxnSpPr>
          <p:spPr>
            <a:xfrm>
              <a:off x="1466338" y="3433845"/>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sp>
          <p:nvSpPr>
            <p:cNvPr id="911" name="Google Shape;911;p26"/>
            <p:cNvSpPr/>
            <p:nvPr/>
          </p:nvSpPr>
          <p:spPr>
            <a:xfrm>
              <a:off x="1576313" y="3451625"/>
              <a:ext cx="5755376" cy="35560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6"/>
            <p:cNvSpPr txBox="1"/>
            <p:nvPr/>
          </p:nvSpPr>
          <p:spPr>
            <a:xfrm>
              <a:off x="1576313" y="3451625"/>
              <a:ext cx="5755376" cy="355604"/>
            </a:xfrm>
            <a:prstGeom prst="rect">
              <a:avLst/>
            </a:prstGeom>
            <a:noFill/>
            <a:ln>
              <a:noFill/>
            </a:ln>
          </p:spPr>
          <p:txBody>
            <a:bodyPr anchorCtr="0" anchor="t" bIns="30475" lIns="30475" spcFirstLastPara="1" rIns="30475" wrap="square" tIns="30475">
              <a:noAutofit/>
            </a:bodyPr>
            <a:lstStyle/>
            <a:p>
              <a:pPr indent="0" lvl="0" marL="0" marR="0" rtl="0" algn="just">
                <a:lnSpc>
                  <a:spcPct val="90000"/>
                </a:lnSpc>
                <a:spcBef>
                  <a:spcPts val="0"/>
                </a:spcBef>
                <a:spcAft>
                  <a:spcPts val="0"/>
                </a:spcAft>
                <a:buClr>
                  <a:srgbClr val="000000"/>
                </a:buClr>
                <a:buSzPts val="800"/>
                <a:buFont typeface="Arial"/>
                <a:buNone/>
              </a:pPr>
              <a:r>
                <a:rPr b="0" i="0" lang="en-US" sz="800" u="none" cap="none" strike="noStrike">
                  <a:solidFill>
                    <a:srgbClr val="000000"/>
                  </a:solidFill>
                  <a:latin typeface="Lusitana"/>
                  <a:ea typeface="Lusitana"/>
                  <a:cs typeface="Lusitana"/>
                  <a:sym typeface="Lusitana"/>
                </a:rPr>
                <a:t>Appropriate when you have to stand up for your rights or morals, need to make a quick decision and force others to get on board, need to end a long-term conflict, or have to prevent a terrible, opposing decision from being made.</a:t>
              </a:r>
              <a:endParaRPr/>
            </a:p>
          </p:txBody>
        </p:sp>
        <p:cxnSp>
          <p:nvCxnSpPr>
            <p:cNvPr id="913" name="Google Shape;913;p26"/>
            <p:cNvCxnSpPr/>
            <p:nvPr/>
          </p:nvCxnSpPr>
          <p:spPr>
            <a:xfrm>
              <a:off x="1466338" y="3807230"/>
              <a:ext cx="5865352" cy="0"/>
            </a:xfrm>
            <a:prstGeom prst="straightConnector1">
              <a:avLst/>
            </a:prstGeom>
            <a:solidFill>
              <a:schemeClr val="accent2"/>
            </a:solidFill>
            <a:ln cap="flat" cmpd="sng" w="25400">
              <a:solidFill>
                <a:srgbClr val="C3CAC0"/>
              </a:solidFill>
              <a:prstDash val="solid"/>
              <a:round/>
              <a:headEnd len="sm" w="sm" type="none"/>
              <a:tailEnd len="sm" w="sm" type="none"/>
            </a:ln>
          </p:spPr>
        </p:cxn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pic>
        <p:nvPicPr>
          <p:cNvPr id="918" name="Google Shape;918;p27"/>
          <p:cNvPicPr preferRelativeResize="0"/>
          <p:nvPr/>
        </p:nvPicPr>
        <p:blipFill rotWithShape="1">
          <a:blip r:embed="rId3">
            <a:alphaModFix/>
          </a:blip>
          <a:srcRect b="0" l="0" r="0" t="0"/>
          <a:stretch/>
        </p:blipFill>
        <p:spPr>
          <a:xfrm>
            <a:off x="4570932" y="766294"/>
            <a:ext cx="3573886" cy="3573886"/>
          </a:xfrm>
          <a:prstGeom prst="rect">
            <a:avLst/>
          </a:prstGeom>
          <a:noFill/>
          <a:ln>
            <a:noFill/>
          </a:ln>
        </p:spPr>
      </p:pic>
      <p:sp>
        <p:nvSpPr>
          <p:cNvPr id="919" name="Google Shape;919;p27"/>
          <p:cNvSpPr/>
          <p:nvPr/>
        </p:nvSpPr>
        <p:spPr>
          <a:xfrm>
            <a:off x="1342405" y="1694587"/>
            <a:ext cx="2608406"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5400" u="none" cap="none" strike="noStrike">
                <a:solidFill>
                  <a:srgbClr val="BDCDB4"/>
                </a:solidFill>
                <a:latin typeface="Arial"/>
                <a:ea typeface="Arial"/>
                <a:cs typeface="Arial"/>
                <a:sym typeface="Arial"/>
              </a:rPr>
              <a:t>THANK</a:t>
            </a:r>
            <a:endParaRPr/>
          </a:p>
          <a:p>
            <a:pPr indent="0" lvl="0" marL="0" marR="0" rtl="0" algn="ctr">
              <a:lnSpc>
                <a:spcPct val="100000"/>
              </a:lnSpc>
              <a:spcBef>
                <a:spcPts val="0"/>
              </a:spcBef>
              <a:spcAft>
                <a:spcPts val="0"/>
              </a:spcAft>
              <a:buNone/>
            </a:pPr>
            <a:r>
              <a:rPr b="1" i="0" lang="en-US" sz="5400" u="none" cap="none" strike="noStrike">
                <a:solidFill>
                  <a:srgbClr val="BDCDB4"/>
                </a:solidFill>
                <a:latin typeface="Arial"/>
                <a:ea typeface="Arial"/>
                <a:cs typeface="Arial"/>
                <a:sym typeface="Arial"/>
              </a:rPr>
              <a:t>YOU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Pest-Borne Diseases: Nile Fever by Slidesgo">
  <a:themeElements>
    <a:clrScheme name="Simple Light">
      <a:dk1>
        <a:srgbClr val="2D3A26"/>
      </a:dk1>
      <a:lt1>
        <a:srgbClr val="DCE7D6"/>
      </a:lt1>
      <a:dk2>
        <a:srgbClr val="FFFAF5"/>
      </a:dk2>
      <a:lt2>
        <a:srgbClr val="E68929"/>
      </a:lt2>
      <a:accent1>
        <a:srgbClr val="DD513B"/>
      </a:accent1>
      <a:accent2>
        <a:srgbClr val="607A52"/>
      </a:accent2>
      <a:accent3>
        <a:srgbClr val="66431E"/>
      </a:accent3>
      <a:accent4>
        <a:srgbClr val="FFFFFF"/>
      </a:accent4>
      <a:accent5>
        <a:srgbClr val="FFFFFF"/>
      </a:accent5>
      <a:accent6>
        <a:srgbClr val="FFFFFF"/>
      </a:accent6>
      <a:hlink>
        <a:srgbClr val="2D3A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Rashmika</dc:creator>
</cp:coreProperties>
</file>