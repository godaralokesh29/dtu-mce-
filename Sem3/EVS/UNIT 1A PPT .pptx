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85"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59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BDDE4D6-5716-4077-8A1C-DED10A17CA6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0962CAE5-4724-4DF9-9FB2-8E0ABE852B78}">
      <dgm:prSet/>
      <dgm:spPr/>
      <dgm:t>
        <a:bodyPr/>
        <a:lstStyle/>
        <a:p>
          <a:r>
            <a:rPr lang="en-US" b="0" i="0" baseline="0"/>
            <a:t>The flow of energy is governed by laws of thermodynamics which state that:</a:t>
          </a:r>
          <a:endParaRPr lang="en-US"/>
        </a:p>
      </dgm:t>
    </dgm:pt>
    <dgm:pt modelId="{BDAF76AE-6735-47ED-8225-D9DCF705A51B}" type="parTrans" cxnId="{CFAECED7-1C66-4177-8D2C-F75100C7972F}">
      <dgm:prSet/>
      <dgm:spPr/>
      <dgm:t>
        <a:bodyPr/>
        <a:lstStyle/>
        <a:p>
          <a:endParaRPr lang="en-US"/>
        </a:p>
      </dgm:t>
    </dgm:pt>
    <dgm:pt modelId="{AB4AEEA0-3D83-4242-99A7-2ED31703640C}" type="sibTrans" cxnId="{CFAECED7-1C66-4177-8D2C-F75100C7972F}">
      <dgm:prSet/>
      <dgm:spPr/>
      <dgm:t>
        <a:bodyPr/>
        <a:lstStyle/>
        <a:p>
          <a:endParaRPr lang="en-US"/>
        </a:p>
      </dgm:t>
    </dgm:pt>
    <dgm:pt modelId="{BFDB3919-5AE5-4A67-AB97-B32A00BEDA0A}">
      <dgm:prSet/>
      <dgm:spPr/>
      <dgm:t>
        <a:bodyPr/>
        <a:lstStyle/>
        <a:p>
          <a:r>
            <a:rPr lang="en-US" b="0" i="0" baseline="0" dirty="0"/>
            <a:t>(a) Energy can neither be created nor be destroyed but may be transformed from one form </a:t>
          </a:r>
          <a:r>
            <a:rPr lang="en-IN" b="0" i="0" baseline="0" dirty="0"/>
            <a:t>to another</a:t>
          </a:r>
          <a:endParaRPr lang="en-US" dirty="0"/>
        </a:p>
      </dgm:t>
    </dgm:pt>
    <dgm:pt modelId="{213E86E7-2D81-4CBD-84E9-8D18AA7F0F34}" type="parTrans" cxnId="{F2F31212-1EE0-46DC-8019-06285745EFCE}">
      <dgm:prSet/>
      <dgm:spPr/>
      <dgm:t>
        <a:bodyPr/>
        <a:lstStyle/>
        <a:p>
          <a:endParaRPr lang="en-US"/>
        </a:p>
      </dgm:t>
    </dgm:pt>
    <dgm:pt modelId="{37E0BB57-E3F2-437E-A892-8A362DDC8691}" type="sibTrans" cxnId="{F2F31212-1EE0-46DC-8019-06285745EFCE}">
      <dgm:prSet/>
      <dgm:spPr/>
      <dgm:t>
        <a:bodyPr/>
        <a:lstStyle/>
        <a:p>
          <a:endParaRPr lang="en-US"/>
        </a:p>
      </dgm:t>
    </dgm:pt>
    <dgm:pt modelId="{57688BCA-F9C5-41D3-A69A-70ACCCD391DA}">
      <dgm:prSet/>
      <dgm:spPr/>
      <dgm:t>
        <a:bodyPr/>
        <a:lstStyle/>
        <a:p>
          <a:r>
            <a:rPr lang="en-US" b="0" i="0" baseline="0"/>
            <a:t>(b) During the energy transfer there is degradation of energy from a concentrated form (mechanical, chemical, or electrical, etc.) to a dispersed form (heat).</a:t>
          </a:r>
          <a:endParaRPr lang="en-US"/>
        </a:p>
      </dgm:t>
    </dgm:pt>
    <dgm:pt modelId="{ABADDBAC-8D1C-4E2A-BD3E-8F53B618B5FA}" type="parTrans" cxnId="{E934520C-C068-42A4-B5C4-AAB451B83852}">
      <dgm:prSet/>
      <dgm:spPr/>
      <dgm:t>
        <a:bodyPr/>
        <a:lstStyle/>
        <a:p>
          <a:endParaRPr lang="en-US"/>
        </a:p>
      </dgm:t>
    </dgm:pt>
    <dgm:pt modelId="{702A7403-BB33-4681-8480-E8C0F812DA63}" type="sibTrans" cxnId="{E934520C-C068-42A4-B5C4-AAB451B83852}">
      <dgm:prSet/>
      <dgm:spPr/>
      <dgm:t>
        <a:bodyPr/>
        <a:lstStyle/>
        <a:p>
          <a:endParaRPr lang="en-US"/>
        </a:p>
      </dgm:t>
    </dgm:pt>
    <dgm:pt modelId="{FEE7E6E0-30D2-4D49-8E52-5CFD07120822}">
      <dgm:prSet/>
      <dgm:spPr/>
      <dgm:t>
        <a:bodyPr/>
        <a:lstStyle/>
        <a:p>
          <a:r>
            <a:rPr lang="en-US" b="0" i="0" baseline="0"/>
            <a:t>No energy transformation is 100 % efficient; it is always lost in the form of heat. Therefore, biological systems including ecosystems must be supplied with energy on a continuous basis. </a:t>
          </a:r>
          <a:endParaRPr lang="en-US"/>
        </a:p>
      </dgm:t>
    </dgm:pt>
    <dgm:pt modelId="{16D10D55-3FE3-4B87-BE6B-39288408215F}" type="parTrans" cxnId="{4F456C85-774B-42FB-A7F7-BB681FD8ED1C}">
      <dgm:prSet/>
      <dgm:spPr/>
      <dgm:t>
        <a:bodyPr/>
        <a:lstStyle/>
        <a:p>
          <a:endParaRPr lang="en-US"/>
        </a:p>
      </dgm:t>
    </dgm:pt>
    <dgm:pt modelId="{A77CB458-F2B7-4293-9A54-75500018A7F6}" type="sibTrans" cxnId="{4F456C85-774B-42FB-A7F7-BB681FD8ED1C}">
      <dgm:prSet/>
      <dgm:spPr/>
      <dgm:t>
        <a:bodyPr/>
        <a:lstStyle/>
        <a:p>
          <a:endParaRPr lang="en-US"/>
        </a:p>
      </dgm:t>
    </dgm:pt>
    <dgm:pt modelId="{F2E48E8E-27BF-47AA-BEAC-704E5F741EA9}" type="pres">
      <dgm:prSet presAssocID="{DBDDE4D6-5716-4077-8A1C-DED10A17CA68}" presName="linear" presStyleCnt="0">
        <dgm:presLayoutVars>
          <dgm:animLvl val="lvl"/>
          <dgm:resizeHandles val="exact"/>
        </dgm:presLayoutVars>
      </dgm:prSet>
      <dgm:spPr/>
    </dgm:pt>
    <dgm:pt modelId="{EDDCA3B8-3590-4D6A-8F9A-A0862FCFA475}" type="pres">
      <dgm:prSet presAssocID="{0962CAE5-4724-4DF9-9FB2-8E0ABE852B78}" presName="parentText" presStyleLbl="node1" presStyleIdx="0" presStyleCnt="4">
        <dgm:presLayoutVars>
          <dgm:chMax val="0"/>
          <dgm:bulletEnabled val="1"/>
        </dgm:presLayoutVars>
      </dgm:prSet>
      <dgm:spPr/>
    </dgm:pt>
    <dgm:pt modelId="{C4065C0D-2B92-49A9-96D3-9D9422C3D91E}" type="pres">
      <dgm:prSet presAssocID="{AB4AEEA0-3D83-4242-99A7-2ED31703640C}" presName="spacer" presStyleCnt="0"/>
      <dgm:spPr/>
    </dgm:pt>
    <dgm:pt modelId="{63F18E73-BF92-43E9-B233-44AE996F2E37}" type="pres">
      <dgm:prSet presAssocID="{BFDB3919-5AE5-4A67-AB97-B32A00BEDA0A}" presName="parentText" presStyleLbl="node1" presStyleIdx="1" presStyleCnt="4">
        <dgm:presLayoutVars>
          <dgm:chMax val="0"/>
          <dgm:bulletEnabled val="1"/>
        </dgm:presLayoutVars>
      </dgm:prSet>
      <dgm:spPr/>
    </dgm:pt>
    <dgm:pt modelId="{BE8C61AF-ADA7-4296-B9D4-246257E533C6}" type="pres">
      <dgm:prSet presAssocID="{37E0BB57-E3F2-437E-A892-8A362DDC8691}" presName="spacer" presStyleCnt="0"/>
      <dgm:spPr/>
    </dgm:pt>
    <dgm:pt modelId="{8E838BCB-2423-4F42-967B-A6B81686513A}" type="pres">
      <dgm:prSet presAssocID="{57688BCA-F9C5-41D3-A69A-70ACCCD391DA}" presName="parentText" presStyleLbl="node1" presStyleIdx="2" presStyleCnt="4">
        <dgm:presLayoutVars>
          <dgm:chMax val="0"/>
          <dgm:bulletEnabled val="1"/>
        </dgm:presLayoutVars>
      </dgm:prSet>
      <dgm:spPr/>
    </dgm:pt>
    <dgm:pt modelId="{91089DA2-1A81-46A1-BECF-0172815C08C8}" type="pres">
      <dgm:prSet presAssocID="{702A7403-BB33-4681-8480-E8C0F812DA63}" presName="spacer" presStyleCnt="0"/>
      <dgm:spPr/>
    </dgm:pt>
    <dgm:pt modelId="{D8F7074A-A983-4972-8CE3-A9976B29C34E}" type="pres">
      <dgm:prSet presAssocID="{FEE7E6E0-30D2-4D49-8E52-5CFD07120822}" presName="parentText" presStyleLbl="node1" presStyleIdx="3" presStyleCnt="4">
        <dgm:presLayoutVars>
          <dgm:chMax val="0"/>
          <dgm:bulletEnabled val="1"/>
        </dgm:presLayoutVars>
      </dgm:prSet>
      <dgm:spPr/>
    </dgm:pt>
  </dgm:ptLst>
  <dgm:cxnLst>
    <dgm:cxn modelId="{E934520C-C068-42A4-B5C4-AAB451B83852}" srcId="{DBDDE4D6-5716-4077-8A1C-DED10A17CA68}" destId="{57688BCA-F9C5-41D3-A69A-70ACCCD391DA}" srcOrd="2" destOrd="0" parTransId="{ABADDBAC-8D1C-4E2A-BD3E-8F53B618B5FA}" sibTransId="{702A7403-BB33-4681-8480-E8C0F812DA63}"/>
    <dgm:cxn modelId="{F2F31212-1EE0-46DC-8019-06285745EFCE}" srcId="{DBDDE4D6-5716-4077-8A1C-DED10A17CA68}" destId="{BFDB3919-5AE5-4A67-AB97-B32A00BEDA0A}" srcOrd="1" destOrd="0" parTransId="{213E86E7-2D81-4CBD-84E9-8D18AA7F0F34}" sibTransId="{37E0BB57-E3F2-437E-A892-8A362DDC8691}"/>
    <dgm:cxn modelId="{8C2B1627-B9B1-45D0-A803-4D4CCCC822BA}" type="presOf" srcId="{DBDDE4D6-5716-4077-8A1C-DED10A17CA68}" destId="{F2E48E8E-27BF-47AA-BEAC-704E5F741EA9}" srcOrd="0" destOrd="0" presId="urn:microsoft.com/office/officeart/2005/8/layout/vList2"/>
    <dgm:cxn modelId="{C764F262-A8F1-4CB8-AFA6-8959206D699D}" type="presOf" srcId="{BFDB3919-5AE5-4A67-AB97-B32A00BEDA0A}" destId="{63F18E73-BF92-43E9-B233-44AE996F2E37}" srcOrd="0" destOrd="0" presId="urn:microsoft.com/office/officeart/2005/8/layout/vList2"/>
    <dgm:cxn modelId="{D14EC650-E1CC-486B-9E8D-E29288379E9B}" type="presOf" srcId="{FEE7E6E0-30D2-4D49-8E52-5CFD07120822}" destId="{D8F7074A-A983-4972-8CE3-A9976B29C34E}" srcOrd="0" destOrd="0" presId="urn:microsoft.com/office/officeart/2005/8/layout/vList2"/>
    <dgm:cxn modelId="{4F456C85-774B-42FB-A7F7-BB681FD8ED1C}" srcId="{DBDDE4D6-5716-4077-8A1C-DED10A17CA68}" destId="{FEE7E6E0-30D2-4D49-8E52-5CFD07120822}" srcOrd="3" destOrd="0" parTransId="{16D10D55-3FE3-4B87-BE6B-39288408215F}" sibTransId="{A77CB458-F2B7-4293-9A54-75500018A7F6}"/>
    <dgm:cxn modelId="{8D0220A3-7A49-4B06-A5CB-FD0B5300BB7C}" type="presOf" srcId="{0962CAE5-4724-4DF9-9FB2-8E0ABE852B78}" destId="{EDDCA3B8-3590-4D6A-8F9A-A0862FCFA475}" srcOrd="0" destOrd="0" presId="urn:microsoft.com/office/officeart/2005/8/layout/vList2"/>
    <dgm:cxn modelId="{0263A7CF-7297-467F-A5D6-C070945C34E4}" type="presOf" srcId="{57688BCA-F9C5-41D3-A69A-70ACCCD391DA}" destId="{8E838BCB-2423-4F42-967B-A6B81686513A}" srcOrd="0" destOrd="0" presId="urn:microsoft.com/office/officeart/2005/8/layout/vList2"/>
    <dgm:cxn modelId="{CFAECED7-1C66-4177-8D2C-F75100C7972F}" srcId="{DBDDE4D6-5716-4077-8A1C-DED10A17CA68}" destId="{0962CAE5-4724-4DF9-9FB2-8E0ABE852B78}" srcOrd="0" destOrd="0" parTransId="{BDAF76AE-6735-47ED-8225-D9DCF705A51B}" sibTransId="{AB4AEEA0-3D83-4242-99A7-2ED31703640C}"/>
    <dgm:cxn modelId="{EF077039-0611-4FE5-B4AA-0AF85C50A41E}" type="presParOf" srcId="{F2E48E8E-27BF-47AA-BEAC-704E5F741EA9}" destId="{EDDCA3B8-3590-4D6A-8F9A-A0862FCFA475}" srcOrd="0" destOrd="0" presId="urn:microsoft.com/office/officeart/2005/8/layout/vList2"/>
    <dgm:cxn modelId="{5BB6894B-B99A-47EF-88BA-91B0D2E9C708}" type="presParOf" srcId="{F2E48E8E-27BF-47AA-BEAC-704E5F741EA9}" destId="{C4065C0D-2B92-49A9-96D3-9D9422C3D91E}" srcOrd="1" destOrd="0" presId="urn:microsoft.com/office/officeart/2005/8/layout/vList2"/>
    <dgm:cxn modelId="{0D5FB374-4219-4E30-9AEF-38F8058AFA71}" type="presParOf" srcId="{F2E48E8E-27BF-47AA-BEAC-704E5F741EA9}" destId="{63F18E73-BF92-43E9-B233-44AE996F2E37}" srcOrd="2" destOrd="0" presId="urn:microsoft.com/office/officeart/2005/8/layout/vList2"/>
    <dgm:cxn modelId="{B77912BF-4D0A-432E-99EE-B471BFD02DEE}" type="presParOf" srcId="{F2E48E8E-27BF-47AA-BEAC-704E5F741EA9}" destId="{BE8C61AF-ADA7-4296-B9D4-246257E533C6}" srcOrd="3" destOrd="0" presId="urn:microsoft.com/office/officeart/2005/8/layout/vList2"/>
    <dgm:cxn modelId="{30EEDEAD-7D8D-4BA2-AAC0-EC19A481BBF9}" type="presParOf" srcId="{F2E48E8E-27BF-47AA-BEAC-704E5F741EA9}" destId="{8E838BCB-2423-4F42-967B-A6B81686513A}" srcOrd="4" destOrd="0" presId="urn:microsoft.com/office/officeart/2005/8/layout/vList2"/>
    <dgm:cxn modelId="{9930F725-F3DB-4560-B92A-3882004E2F28}" type="presParOf" srcId="{F2E48E8E-27BF-47AA-BEAC-704E5F741EA9}" destId="{91089DA2-1A81-46A1-BECF-0172815C08C8}" srcOrd="5" destOrd="0" presId="urn:microsoft.com/office/officeart/2005/8/layout/vList2"/>
    <dgm:cxn modelId="{ECACC804-B4B1-418F-95D6-89B798FF64B3}" type="presParOf" srcId="{F2E48E8E-27BF-47AA-BEAC-704E5F741EA9}" destId="{D8F7074A-A983-4972-8CE3-A9976B29C34E}"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DCA3B8-3590-4D6A-8F9A-A0862FCFA475}">
      <dsp:nvSpPr>
        <dsp:cNvPr id="0" name=""/>
        <dsp:cNvSpPr/>
      </dsp:nvSpPr>
      <dsp:spPr>
        <a:xfrm>
          <a:off x="0" y="84504"/>
          <a:ext cx="6096000" cy="142133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i="0" kern="1200" baseline="0"/>
            <a:t>The flow of energy is governed by laws of thermodynamics which state that:</a:t>
          </a:r>
          <a:endParaRPr lang="en-US" sz="2200" kern="1200"/>
        </a:p>
      </dsp:txBody>
      <dsp:txXfrm>
        <a:off x="69384" y="153888"/>
        <a:ext cx="5957232" cy="1282562"/>
      </dsp:txXfrm>
    </dsp:sp>
    <dsp:sp modelId="{63F18E73-BF92-43E9-B233-44AE996F2E37}">
      <dsp:nvSpPr>
        <dsp:cNvPr id="0" name=""/>
        <dsp:cNvSpPr/>
      </dsp:nvSpPr>
      <dsp:spPr>
        <a:xfrm>
          <a:off x="0" y="1569195"/>
          <a:ext cx="6096000" cy="142133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i="0" kern="1200" baseline="0" dirty="0"/>
            <a:t>(a) Energy can neither be created nor be destroyed but may be transformed from one form </a:t>
          </a:r>
          <a:r>
            <a:rPr lang="en-IN" sz="2200" b="0" i="0" kern="1200" baseline="0" dirty="0"/>
            <a:t>to another</a:t>
          </a:r>
          <a:endParaRPr lang="en-US" sz="2200" kern="1200" dirty="0"/>
        </a:p>
      </dsp:txBody>
      <dsp:txXfrm>
        <a:off x="69384" y="1638579"/>
        <a:ext cx="5957232" cy="1282562"/>
      </dsp:txXfrm>
    </dsp:sp>
    <dsp:sp modelId="{8E838BCB-2423-4F42-967B-A6B81686513A}">
      <dsp:nvSpPr>
        <dsp:cNvPr id="0" name=""/>
        <dsp:cNvSpPr/>
      </dsp:nvSpPr>
      <dsp:spPr>
        <a:xfrm>
          <a:off x="0" y="3053885"/>
          <a:ext cx="6096000" cy="142133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i="0" kern="1200" baseline="0"/>
            <a:t>(b) During the energy transfer there is degradation of energy from a concentrated form (mechanical, chemical, or electrical, etc.) to a dispersed form (heat).</a:t>
          </a:r>
          <a:endParaRPr lang="en-US" sz="2200" kern="1200"/>
        </a:p>
      </dsp:txBody>
      <dsp:txXfrm>
        <a:off x="69384" y="3123269"/>
        <a:ext cx="5957232" cy="1282562"/>
      </dsp:txXfrm>
    </dsp:sp>
    <dsp:sp modelId="{D8F7074A-A983-4972-8CE3-A9976B29C34E}">
      <dsp:nvSpPr>
        <dsp:cNvPr id="0" name=""/>
        <dsp:cNvSpPr/>
      </dsp:nvSpPr>
      <dsp:spPr>
        <a:xfrm>
          <a:off x="0" y="4538576"/>
          <a:ext cx="6096000" cy="142133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i="0" kern="1200" baseline="0"/>
            <a:t>No energy transformation is 100 % efficient; it is always lost in the form of heat. Therefore, biological systems including ecosystems must be supplied with energy on a continuous basis. </a:t>
          </a:r>
          <a:endParaRPr lang="en-US" sz="2200" kern="1200"/>
        </a:p>
      </dsp:txBody>
      <dsp:txXfrm>
        <a:off x="69384" y="4607960"/>
        <a:ext cx="5957232" cy="128256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3A78FE1-D2F1-47FB-9C59-25293D2DE894}" type="datetimeFigureOut">
              <a:rPr lang="en-IN" smtClean="0"/>
              <a:t>02-02-2024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36987E3-FA48-4B91-9C35-A7793627411C}" type="slidenum">
              <a:rPr lang="en-IN" smtClean="0"/>
              <a:t>‹#›</a:t>
            </a:fld>
            <a:endParaRPr lang="en-IN"/>
          </a:p>
        </p:txBody>
      </p:sp>
    </p:spTree>
    <p:extLst>
      <p:ext uri="{BB962C8B-B14F-4D97-AF65-F5344CB8AC3E}">
        <p14:creationId xmlns:p14="http://schemas.microsoft.com/office/powerpoint/2010/main" val="28887271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A78FE1-D2F1-47FB-9C59-25293D2DE894}" type="datetimeFigureOut">
              <a:rPr lang="en-IN" smtClean="0"/>
              <a:t>02-02-2024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36987E3-FA48-4B91-9C35-A7793627411C}" type="slidenum">
              <a:rPr lang="en-IN" smtClean="0"/>
              <a:t>‹#›</a:t>
            </a:fld>
            <a:endParaRPr lang="en-IN"/>
          </a:p>
        </p:txBody>
      </p:sp>
    </p:spTree>
    <p:extLst>
      <p:ext uri="{BB962C8B-B14F-4D97-AF65-F5344CB8AC3E}">
        <p14:creationId xmlns:p14="http://schemas.microsoft.com/office/powerpoint/2010/main" val="3031298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78FE1-D2F1-47FB-9C59-25293D2DE894}" type="datetimeFigureOut">
              <a:rPr lang="en-IN" smtClean="0"/>
              <a:t>02-02-2024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36987E3-FA48-4B91-9C35-A7793627411C}" type="slidenum">
              <a:rPr lang="en-IN" smtClean="0"/>
              <a:t>‹#›</a:t>
            </a:fld>
            <a:endParaRPr lang="en-IN"/>
          </a:p>
        </p:txBody>
      </p:sp>
    </p:spTree>
    <p:extLst>
      <p:ext uri="{BB962C8B-B14F-4D97-AF65-F5344CB8AC3E}">
        <p14:creationId xmlns:p14="http://schemas.microsoft.com/office/powerpoint/2010/main" val="2103389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3A78FE1-D2F1-47FB-9C59-25293D2DE894}" type="datetimeFigureOut">
              <a:rPr lang="en-IN" smtClean="0"/>
              <a:t>02-02-2024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36987E3-FA48-4B91-9C35-A7793627411C}" type="slidenum">
              <a:rPr lang="en-IN" smtClean="0"/>
              <a:t>‹#›</a:t>
            </a:fld>
            <a:endParaRPr lang="en-IN"/>
          </a:p>
        </p:txBody>
      </p:sp>
    </p:spTree>
    <p:extLst>
      <p:ext uri="{BB962C8B-B14F-4D97-AF65-F5344CB8AC3E}">
        <p14:creationId xmlns:p14="http://schemas.microsoft.com/office/powerpoint/2010/main" val="7132104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3A78FE1-D2F1-47FB-9C59-25293D2DE894}" type="datetimeFigureOut">
              <a:rPr lang="en-IN" smtClean="0"/>
              <a:t>02-02-2024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36987E3-FA48-4B91-9C35-A7793627411C}" type="slidenum">
              <a:rPr lang="en-IN" smtClean="0"/>
              <a:t>‹#›</a:t>
            </a:fld>
            <a:endParaRPr lang="en-IN"/>
          </a:p>
        </p:txBody>
      </p:sp>
    </p:spTree>
    <p:extLst>
      <p:ext uri="{BB962C8B-B14F-4D97-AF65-F5344CB8AC3E}">
        <p14:creationId xmlns:p14="http://schemas.microsoft.com/office/powerpoint/2010/main" val="20458252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3A78FE1-D2F1-47FB-9C59-25293D2DE894}" type="datetimeFigureOut">
              <a:rPr lang="en-IN" smtClean="0"/>
              <a:t>02-02-2024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36987E3-FA48-4B91-9C35-A7793627411C}" type="slidenum">
              <a:rPr lang="en-IN" smtClean="0"/>
              <a:t>‹#›</a:t>
            </a:fld>
            <a:endParaRPr lang="en-IN"/>
          </a:p>
        </p:txBody>
      </p:sp>
    </p:spTree>
    <p:extLst>
      <p:ext uri="{BB962C8B-B14F-4D97-AF65-F5344CB8AC3E}">
        <p14:creationId xmlns:p14="http://schemas.microsoft.com/office/powerpoint/2010/main" val="2257670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73A78FE1-D2F1-47FB-9C59-25293D2DE894}" type="datetimeFigureOut">
              <a:rPr lang="en-IN" smtClean="0"/>
              <a:t>02-02-2024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36987E3-FA48-4B91-9C35-A7793627411C}" type="slidenum">
              <a:rPr lang="en-IN" smtClean="0"/>
              <a:t>‹#›</a:t>
            </a:fld>
            <a:endParaRPr lang="en-IN"/>
          </a:p>
        </p:txBody>
      </p:sp>
    </p:spTree>
    <p:extLst>
      <p:ext uri="{BB962C8B-B14F-4D97-AF65-F5344CB8AC3E}">
        <p14:creationId xmlns:p14="http://schemas.microsoft.com/office/powerpoint/2010/main" val="39761311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A78FE1-D2F1-47FB-9C59-25293D2DE894}" type="datetimeFigureOut">
              <a:rPr lang="en-IN" smtClean="0"/>
              <a:t>02-02-2024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36987E3-FA48-4B91-9C35-A7793627411C}" type="slidenum">
              <a:rPr lang="en-IN" smtClean="0"/>
              <a:t>‹#›</a:t>
            </a:fld>
            <a:endParaRPr lang="en-IN"/>
          </a:p>
        </p:txBody>
      </p:sp>
    </p:spTree>
    <p:extLst>
      <p:ext uri="{BB962C8B-B14F-4D97-AF65-F5344CB8AC3E}">
        <p14:creationId xmlns:p14="http://schemas.microsoft.com/office/powerpoint/2010/main" val="34315454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A78FE1-D2F1-47FB-9C59-25293D2DE894}" type="datetimeFigureOut">
              <a:rPr lang="en-IN" smtClean="0"/>
              <a:t>02-02-2024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36987E3-FA48-4B91-9C35-A7793627411C}" type="slidenum">
              <a:rPr lang="en-IN" smtClean="0"/>
              <a:t>‹#›</a:t>
            </a:fld>
            <a:endParaRPr lang="en-IN"/>
          </a:p>
        </p:txBody>
      </p:sp>
    </p:spTree>
    <p:extLst>
      <p:ext uri="{BB962C8B-B14F-4D97-AF65-F5344CB8AC3E}">
        <p14:creationId xmlns:p14="http://schemas.microsoft.com/office/powerpoint/2010/main" val="3129239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A78FE1-D2F1-47FB-9C59-25293D2DE894}" type="datetimeFigureOut">
              <a:rPr lang="en-IN" smtClean="0"/>
              <a:t>02-02-2024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36987E3-FA48-4B91-9C35-A7793627411C}" type="slidenum">
              <a:rPr lang="en-IN" smtClean="0"/>
              <a:t>‹#›</a:t>
            </a:fld>
            <a:endParaRPr lang="en-IN"/>
          </a:p>
        </p:txBody>
      </p:sp>
    </p:spTree>
    <p:extLst>
      <p:ext uri="{BB962C8B-B14F-4D97-AF65-F5344CB8AC3E}">
        <p14:creationId xmlns:p14="http://schemas.microsoft.com/office/powerpoint/2010/main" val="4065685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A78FE1-D2F1-47FB-9C59-25293D2DE894}" type="datetimeFigureOut">
              <a:rPr lang="en-IN" smtClean="0"/>
              <a:t>02-02-2024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36987E3-FA48-4B91-9C35-A7793627411C}" type="slidenum">
              <a:rPr lang="en-IN" smtClean="0"/>
              <a:t>‹#›</a:t>
            </a:fld>
            <a:endParaRPr lang="en-IN"/>
          </a:p>
        </p:txBody>
      </p:sp>
    </p:spTree>
    <p:extLst>
      <p:ext uri="{BB962C8B-B14F-4D97-AF65-F5344CB8AC3E}">
        <p14:creationId xmlns:p14="http://schemas.microsoft.com/office/powerpoint/2010/main" val="37462153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A78FE1-D2F1-47FB-9C59-25293D2DE894}" type="datetimeFigureOut">
              <a:rPr lang="en-IN" smtClean="0"/>
              <a:t>02-02-2024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36987E3-FA48-4B91-9C35-A7793627411C}" type="slidenum">
              <a:rPr lang="en-IN" smtClean="0"/>
              <a:t>‹#›</a:t>
            </a:fld>
            <a:endParaRPr lang="en-I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3396185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A78FE1-D2F1-47FB-9C59-25293D2DE894}" type="datetimeFigureOut">
              <a:rPr lang="en-IN" smtClean="0"/>
              <a:t>02-02-2024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36987E3-FA48-4B91-9C35-A7793627411C}" type="slidenum">
              <a:rPr lang="en-IN" smtClean="0"/>
              <a:t>‹#›</a:t>
            </a:fld>
            <a:endParaRPr lang="en-IN"/>
          </a:p>
        </p:txBody>
      </p:sp>
    </p:spTree>
    <p:extLst>
      <p:ext uri="{BB962C8B-B14F-4D97-AF65-F5344CB8AC3E}">
        <p14:creationId xmlns:p14="http://schemas.microsoft.com/office/powerpoint/2010/main" val="10293730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3A78FE1-D2F1-47FB-9C59-25293D2DE894}" type="datetimeFigureOut">
              <a:rPr lang="en-IN" smtClean="0"/>
              <a:t>02-02-2024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36987E3-FA48-4B91-9C35-A7793627411C}" type="slidenum">
              <a:rPr lang="en-IN" smtClean="0"/>
              <a:t>‹#›</a:t>
            </a:fld>
            <a:endParaRPr lang="en-IN"/>
          </a:p>
        </p:txBody>
      </p:sp>
    </p:spTree>
    <p:extLst>
      <p:ext uri="{BB962C8B-B14F-4D97-AF65-F5344CB8AC3E}">
        <p14:creationId xmlns:p14="http://schemas.microsoft.com/office/powerpoint/2010/main" val="26301981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3A78FE1-D2F1-47FB-9C59-25293D2DE894}" type="datetimeFigureOut">
              <a:rPr lang="en-IN" smtClean="0"/>
              <a:t>02-02-2024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36987E3-FA48-4B91-9C35-A7793627411C}" type="slidenum">
              <a:rPr lang="en-IN" smtClean="0"/>
              <a:t>‹#›</a:t>
            </a:fld>
            <a:endParaRPr lang="en-IN"/>
          </a:p>
        </p:txBody>
      </p:sp>
    </p:spTree>
    <p:extLst>
      <p:ext uri="{BB962C8B-B14F-4D97-AF65-F5344CB8AC3E}">
        <p14:creationId xmlns:p14="http://schemas.microsoft.com/office/powerpoint/2010/main" val="12500043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A78FE1-D2F1-47FB-9C59-25293D2DE894}" type="datetimeFigureOut">
              <a:rPr lang="en-IN" smtClean="0"/>
              <a:t>02-02-2024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36987E3-FA48-4B91-9C35-A7793627411C}" type="slidenum">
              <a:rPr lang="en-IN" smtClean="0"/>
              <a:t>‹#›</a:t>
            </a:fld>
            <a:endParaRPr lang="en-IN"/>
          </a:p>
        </p:txBody>
      </p:sp>
    </p:spTree>
    <p:extLst>
      <p:ext uri="{BB962C8B-B14F-4D97-AF65-F5344CB8AC3E}">
        <p14:creationId xmlns:p14="http://schemas.microsoft.com/office/powerpoint/2010/main" val="26706059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A78FE1-D2F1-47FB-9C59-25293D2DE894}" type="datetimeFigureOut">
              <a:rPr lang="en-IN" smtClean="0"/>
              <a:t>02-02-2024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36987E3-FA48-4B91-9C35-A7793627411C}" type="slidenum">
              <a:rPr lang="en-IN" smtClean="0"/>
              <a:t>‹#›</a:t>
            </a:fld>
            <a:endParaRPr lang="en-IN"/>
          </a:p>
        </p:txBody>
      </p:sp>
    </p:spTree>
    <p:extLst>
      <p:ext uri="{BB962C8B-B14F-4D97-AF65-F5344CB8AC3E}">
        <p14:creationId xmlns:p14="http://schemas.microsoft.com/office/powerpoint/2010/main" val="803222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mt="8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73A78FE1-D2F1-47FB-9C59-25293D2DE894}" type="datetimeFigureOut">
              <a:rPr lang="en-IN" smtClean="0"/>
              <a:t>02-02-2024</a:t>
            </a:fld>
            <a:endParaRPr lang="en-IN"/>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IN"/>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836987E3-FA48-4B91-9C35-A7793627411C}" type="slidenum">
              <a:rPr lang="en-IN" smtClean="0"/>
              <a:t>‹#›</a:t>
            </a:fld>
            <a:endParaRPr lang="en-IN"/>
          </a:p>
        </p:txBody>
      </p:sp>
    </p:spTree>
    <p:extLst>
      <p:ext uri="{BB962C8B-B14F-4D97-AF65-F5344CB8AC3E}">
        <p14:creationId xmlns:p14="http://schemas.microsoft.com/office/powerpoint/2010/main" val="1166597067"/>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5.emf"/></Relationships>
</file>

<file path=ppt/slides/_rels/slide17.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8D4F0-262A-8E3F-EE9E-854FDCB90727}"/>
              </a:ext>
            </a:extLst>
          </p:cNvPr>
          <p:cNvSpPr>
            <a:spLocks noGrp="1"/>
          </p:cNvSpPr>
          <p:nvPr>
            <p:ph type="ctrTitle"/>
          </p:nvPr>
        </p:nvSpPr>
        <p:spPr>
          <a:xfrm>
            <a:off x="1751012" y="793463"/>
            <a:ext cx="8689976" cy="2509213"/>
          </a:xfrm>
        </p:spPr>
        <p:txBody>
          <a:bodyPr/>
          <a:lstStyle/>
          <a:p>
            <a:r>
              <a:rPr lang="en-US" b="1" u="sng" dirty="0">
                <a:latin typeface="Times New Roman" panose="02020603050405020304" pitchFamily="18" charset="0"/>
                <a:cs typeface="Times New Roman" panose="02020603050405020304" pitchFamily="18" charset="0"/>
              </a:rPr>
              <a:t>Unit 1a  ecosystem </a:t>
            </a:r>
            <a:endParaRPr lang="en-IN" b="1" u="sng"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347EFA5-F782-7498-368D-5863149E7EEB}"/>
              </a:ext>
            </a:extLst>
          </p:cNvPr>
          <p:cNvSpPr>
            <a:spLocks noGrp="1"/>
          </p:cNvSpPr>
          <p:nvPr>
            <p:ph type="subTitle" idx="1"/>
          </p:nvPr>
        </p:nvSpPr>
        <p:spPr/>
        <p:txBody>
          <a:bodyPr/>
          <a:lstStyle/>
          <a:p>
            <a:r>
              <a:rPr lang="en-US" b="1" dirty="0">
                <a:latin typeface="Times New Roman" panose="02020603050405020304" pitchFamily="18" charset="0"/>
                <a:cs typeface="Times New Roman" panose="02020603050405020304" pitchFamily="18" charset="0"/>
              </a:rPr>
              <a:t>FEC-7 INTRODUCTION TO ENVIRONMENTAL SCIENCE </a:t>
            </a:r>
          </a:p>
          <a:p>
            <a:r>
              <a:rPr lang="en-US" b="1" dirty="0">
                <a:latin typeface="Times New Roman" panose="02020603050405020304" pitchFamily="18" charset="0"/>
                <a:cs typeface="Times New Roman" panose="02020603050405020304" pitchFamily="18" charset="0"/>
              </a:rPr>
              <a:t>DELHI TECHNOLOGICAL UNIVERSITY </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13069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7BD02-3A56-1F89-C0BD-4CFD740BE8F9}"/>
              </a:ext>
            </a:extLst>
          </p:cNvPr>
          <p:cNvSpPr>
            <a:spLocks noGrp="1"/>
          </p:cNvSpPr>
          <p:nvPr>
            <p:ph type="title"/>
          </p:nvPr>
        </p:nvSpPr>
        <p:spPr>
          <a:xfrm>
            <a:off x="913775" y="618517"/>
            <a:ext cx="10059025" cy="659777"/>
          </a:xfrm>
        </p:spPr>
        <p:txBody>
          <a:bodyPr/>
          <a:lstStyle/>
          <a:p>
            <a:r>
              <a:rPr lang="en-US" b="1" dirty="0">
                <a:latin typeface="Times New Roman" panose="02020603050405020304" pitchFamily="18" charset="0"/>
                <a:cs typeface="Times New Roman" panose="02020603050405020304" pitchFamily="18" charset="0"/>
              </a:rPr>
              <a:t>Concept of ecosystem</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0DE4B48-2218-F42F-3C09-4EA984B55547}"/>
              </a:ext>
            </a:extLst>
          </p:cNvPr>
          <p:cNvSpPr>
            <a:spLocks noGrp="1"/>
          </p:cNvSpPr>
          <p:nvPr>
            <p:ph sz="quarter" idx="13"/>
          </p:nvPr>
        </p:nvSpPr>
        <p:spPr>
          <a:xfrm>
            <a:off x="569792" y="1418253"/>
            <a:ext cx="10913706" cy="4251648"/>
          </a:xfrm>
        </p:spPr>
        <p:txBody>
          <a:bodyPr>
            <a:noAutofit/>
          </a:bodyPr>
          <a:lstStyle/>
          <a:p>
            <a:pPr algn="just">
              <a:lnSpc>
                <a:spcPct val="150000"/>
              </a:lnSpc>
            </a:pPr>
            <a:r>
              <a:rPr lang="en-US" sz="2200" cap="none" dirty="0">
                <a:latin typeface="Times New Roman" panose="02020603050405020304" pitchFamily="18" charset="0"/>
              </a:rPr>
              <a:t>A</a:t>
            </a:r>
            <a:r>
              <a:rPr lang="en-US" sz="2200" b="0" i="0" u="none" strike="noStrike" cap="none" baseline="0" dirty="0">
                <a:latin typeface="Times New Roman" panose="02020603050405020304" pitchFamily="18" charset="0"/>
              </a:rPr>
              <a:t>n </a:t>
            </a:r>
            <a:r>
              <a:rPr lang="en-US" sz="2200" b="1" i="0" u="none" strike="noStrike" cap="none" baseline="0" dirty="0">
                <a:latin typeface="Times New Roman" panose="02020603050405020304" pitchFamily="18" charset="0"/>
              </a:rPr>
              <a:t>ecosystem </a:t>
            </a:r>
            <a:r>
              <a:rPr lang="en-US" sz="2200" b="0" i="0" u="none" strike="noStrike" cap="none" baseline="0" dirty="0">
                <a:latin typeface="Times New Roman" panose="02020603050405020304" pitchFamily="18" charset="0"/>
              </a:rPr>
              <a:t>is a community of organisms interacting with each other and non-living</a:t>
            </a:r>
            <a:r>
              <a:rPr lang="en-US" sz="2200" cap="none" dirty="0">
                <a:latin typeface="Times New Roman" panose="02020603050405020304" pitchFamily="18" charset="0"/>
              </a:rPr>
              <a:t> </a:t>
            </a:r>
            <a:r>
              <a:rPr lang="en-US" sz="2200" b="0" i="0" u="none" strike="noStrike" cap="none" baseline="0" dirty="0">
                <a:latin typeface="Times New Roman" panose="02020603050405020304" pitchFamily="18" charset="0"/>
              </a:rPr>
              <a:t>components for sustainable development and adaptation to changing conditions. there are different ecosystems around us that involve living and non-living</a:t>
            </a:r>
            <a:r>
              <a:rPr lang="en-US" sz="2200" cap="none" dirty="0">
                <a:latin typeface="Times New Roman" panose="02020603050405020304" pitchFamily="18" charset="0"/>
              </a:rPr>
              <a:t> </a:t>
            </a:r>
            <a:r>
              <a:rPr lang="en-US" sz="2200" b="0" i="0" u="none" strike="noStrike" cap="none" baseline="0" dirty="0">
                <a:latin typeface="Times New Roman" panose="02020603050405020304" pitchFamily="18" charset="0"/>
              </a:rPr>
              <a:t>organisms.</a:t>
            </a:r>
          </a:p>
          <a:p>
            <a:pPr algn="just">
              <a:lnSpc>
                <a:spcPct val="150000"/>
              </a:lnSpc>
            </a:pPr>
            <a:r>
              <a:rPr lang="en-US" sz="2200" b="0" i="0" u="none" strike="noStrike" cap="none" baseline="0" dirty="0">
                <a:latin typeface="Times New Roman" panose="02020603050405020304" pitchFamily="18" charset="0"/>
              </a:rPr>
              <a:t> If we combine all the ecosystems present on Earth, it is called a </a:t>
            </a:r>
            <a:r>
              <a:rPr lang="en-US" sz="2200" b="1" i="0" u="none" strike="noStrike" cap="none" baseline="0" dirty="0">
                <a:latin typeface="Times New Roman" panose="02020603050405020304" pitchFamily="18" charset="0"/>
              </a:rPr>
              <a:t>biosphere</a:t>
            </a:r>
            <a:r>
              <a:rPr lang="en-US" sz="2200" b="0" i="0" u="none" strike="noStrike" cap="none" baseline="0" dirty="0">
                <a:latin typeface="Times New Roman" panose="02020603050405020304" pitchFamily="18" charset="0"/>
              </a:rPr>
              <a:t>.</a:t>
            </a:r>
          </a:p>
          <a:p>
            <a:pPr algn="just">
              <a:lnSpc>
                <a:spcPct val="150000"/>
              </a:lnSpc>
            </a:pPr>
            <a:r>
              <a:rPr lang="en-IN" sz="2200" b="0" i="0" u="none" strike="noStrike" cap="none" baseline="0" dirty="0">
                <a:latin typeface="Times New Roman" panose="02020603050405020304" pitchFamily="18" charset="0"/>
              </a:rPr>
              <a:t>The term </a:t>
            </a:r>
            <a:r>
              <a:rPr lang="en-US" sz="2200" b="0" i="0" u="none" strike="noStrike" cap="none" baseline="0" dirty="0">
                <a:latin typeface="Times New Roman" panose="02020603050405020304" pitchFamily="18" charset="0"/>
              </a:rPr>
              <a:t>ecosystem was first proposed by </a:t>
            </a:r>
            <a:r>
              <a:rPr lang="en-US" sz="2200" cap="none" dirty="0">
                <a:latin typeface="Times New Roman" panose="02020603050405020304" pitchFamily="18" charset="0"/>
              </a:rPr>
              <a:t> A</a:t>
            </a:r>
            <a:r>
              <a:rPr lang="en-US" sz="2200" b="0" i="0" u="none" strike="noStrike" cap="none" baseline="0" dirty="0">
                <a:latin typeface="Times New Roman" panose="02020603050405020304" pitchFamily="18" charset="0"/>
              </a:rPr>
              <a:t>.G Tansley (1935).</a:t>
            </a:r>
          </a:p>
          <a:p>
            <a:pPr algn="just">
              <a:lnSpc>
                <a:spcPct val="150000"/>
              </a:lnSpc>
            </a:pPr>
            <a:r>
              <a:rPr lang="en-US" sz="2200" b="0" i="0" u="none" strike="noStrike" cap="none" baseline="0" dirty="0">
                <a:latin typeface="Times New Roman" panose="02020603050405020304" pitchFamily="18" charset="0"/>
              </a:rPr>
              <a:t>In an ecosystem, the interaction of life with its environment takes place at many levels </a:t>
            </a:r>
            <a:r>
              <a:rPr lang="en-IN" sz="2200" b="0" i="0" u="none" strike="noStrike" cap="none" baseline="0" dirty="0">
                <a:latin typeface="Times New Roman" panose="02020603050405020304" pitchFamily="18" charset="0"/>
              </a:rPr>
              <a:t>so, in an </a:t>
            </a:r>
            <a:r>
              <a:rPr lang="en-US" sz="2200" b="0" i="0" u="none" strike="noStrike" cap="none" baseline="0" dirty="0">
                <a:latin typeface="Times New Roman" panose="02020603050405020304" pitchFamily="18" charset="0"/>
              </a:rPr>
              <a:t>ecosystem both organisms (biotic communities) and abiotic environment (rainfall, temperature, humidity) each influence the properties other for the maintenance of life.</a:t>
            </a:r>
            <a:endParaRPr lang="en-IN" sz="2200" cap="none" dirty="0"/>
          </a:p>
        </p:txBody>
      </p:sp>
    </p:spTree>
    <p:extLst>
      <p:ext uri="{BB962C8B-B14F-4D97-AF65-F5344CB8AC3E}">
        <p14:creationId xmlns:p14="http://schemas.microsoft.com/office/powerpoint/2010/main" val="3055344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78000"/>
                <a:shade val="100000"/>
                <a:hueMod val="136000"/>
                <a:satMod val="160000"/>
                <a:lumMod val="105000"/>
              </a:schemeClr>
            </a:gs>
            <a:gs pos="100000">
              <a:schemeClr val="bg2">
                <a:shade val="92000"/>
                <a:satMod val="170000"/>
                <a:lumMod val="96000"/>
              </a:schemeClr>
            </a:gs>
          </a:gsLst>
          <a:lin ang="5400000" scaled="0"/>
        </a:gradFill>
        <a:effectLst/>
      </p:bgPr>
    </p:bg>
    <p:spTree>
      <p:nvGrpSpPr>
        <p:cNvPr id="1" name=""/>
        <p:cNvGrpSpPr/>
        <p:nvPr/>
      </p:nvGrpSpPr>
      <p:grpSpPr>
        <a:xfrm>
          <a:off x="0" y="0"/>
          <a:ext cx="0" cy="0"/>
          <a:chOff x="0" y="0"/>
          <a:chExt cx="0" cy="0"/>
        </a:xfrm>
      </p:grpSpPr>
      <p:sp useBgFill="1">
        <p:nvSpPr>
          <p:cNvPr id="2063" name="Rectangle 2056">
            <a:extLst>
              <a:ext uri="{FF2B5EF4-FFF2-40B4-BE49-F238E27FC236}">
                <a16:creationId xmlns:a16="http://schemas.microsoft.com/office/drawing/2014/main" id="{A1B1FB5C-02AC-4A11-9B9E-D6FAE4AA10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64" name="Picture 2">
            <a:extLst>
              <a:ext uri="{FF2B5EF4-FFF2-40B4-BE49-F238E27FC236}">
                <a16:creationId xmlns:a16="http://schemas.microsoft.com/office/drawing/2014/main" id="{3F72C88A-0506-4B12-8C66-DC9535260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Ecosystem- Definition, Structure, Factors, Types, Functions">
            <a:extLst>
              <a:ext uri="{FF2B5EF4-FFF2-40B4-BE49-F238E27FC236}">
                <a16:creationId xmlns:a16="http://schemas.microsoft.com/office/drawing/2014/main" id="{83E7D29A-1F94-76AF-FE67-DC3C6211CFD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863190" y="1910265"/>
            <a:ext cx="5073606" cy="3881308"/>
          </a:xfrm>
          <a:prstGeom prst="roundRect">
            <a:avLst>
              <a:gd name="adj" fmla="val 530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a:extLst>
            <a:ext uri="{909E8E84-426E-40DD-AFC4-6F175D3DCCD1}">
              <a14:hiddenFill xmlns:a14="http://schemas.microsoft.com/office/drawing/2010/main">
                <a:solidFill>
                  <a:srgbClr val="FFFFFF"/>
                </a:solidFill>
              </a14:hiddenFill>
            </a:ext>
          </a:extLst>
        </p:spPr>
      </p:pic>
      <p:pic>
        <p:nvPicPr>
          <p:cNvPr id="2065" name="Picture 2060">
            <a:extLst>
              <a:ext uri="{FF2B5EF4-FFF2-40B4-BE49-F238E27FC236}">
                <a16:creationId xmlns:a16="http://schemas.microsoft.com/office/drawing/2014/main" id="{BE8C338B-9565-4F98-872C-2008B624B53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D14EFFE-61B2-5B4A-E8DC-67126F633025}"/>
              </a:ext>
            </a:extLst>
          </p:cNvPr>
          <p:cNvSpPr>
            <a:spLocks noGrp="1"/>
          </p:cNvSpPr>
          <p:nvPr>
            <p:ph type="title"/>
          </p:nvPr>
        </p:nvSpPr>
        <p:spPr>
          <a:xfrm>
            <a:off x="2345694" y="-2"/>
            <a:ext cx="6564205" cy="1573863"/>
          </a:xfrm>
        </p:spPr>
        <p:txBody>
          <a:bodyPr>
            <a:normAutofit/>
          </a:bodyPr>
          <a:lstStyle/>
          <a:p>
            <a:r>
              <a:rPr lang="en-US" b="1" dirty="0">
                <a:latin typeface="Times New Roman" panose="02020603050405020304" pitchFamily="18" charset="0"/>
                <a:cs typeface="Times New Roman" panose="02020603050405020304" pitchFamily="18" charset="0"/>
              </a:rPr>
              <a:t>STRUCTURE  OF ECOSYSTEM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5CC6C19-59F3-D291-EF01-98D365CC5529}"/>
              </a:ext>
            </a:extLst>
          </p:cNvPr>
          <p:cNvSpPr>
            <a:spLocks noGrp="1"/>
          </p:cNvSpPr>
          <p:nvPr>
            <p:ph sz="quarter" idx="13"/>
          </p:nvPr>
        </p:nvSpPr>
        <p:spPr>
          <a:xfrm>
            <a:off x="43779" y="2177372"/>
            <a:ext cx="6564207" cy="3881309"/>
          </a:xfrm>
        </p:spPr>
        <p:txBody>
          <a:bodyPr>
            <a:normAutofit/>
          </a:bodyPr>
          <a:lstStyle/>
          <a:p>
            <a:pPr algn="just"/>
            <a:r>
              <a:rPr lang="en-US" sz="2200" cap="none" dirty="0">
                <a:latin typeface="Times New Roman" panose="02020603050405020304" pitchFamily="18" charset="0"/>
                <a:cs typeface="Times New Roman" panose="02020603050405020304" pitchFamily="18" charset="0"/>
              </a:rPr>
              <a:t>A</a:t>
            </a:r>
            <a:r>
              <a:rPr lang="en-US" sz="2200" b="0" i="0" u="none" strike="noStrike" cap="none" baseline="0" dirty="0">
                <a:latin typeface="Times New Roman" panose="02020603050405020304" pitchFamily="18" charset="0"/>
                <a:cs typeface="Times New Roman" panose="02020603050405020304" pitchFamily="18" charset="0"/>
              </a:rPr>
              <a:t> structure of the ecosystem comprised of the composition of the biological community including, species number, biomass, life history, and </a:t>
            </a:r>
            <a:r>
              <a:rPr lang="en-IN" sz="2200" b="0" i="0" u="none" strike="noStrike" cap="none" baseline="0" dirty="0">
                <a:latin typeface="Times New Roman" panose="02020603050405020304" pitchFamily="18" charset="0"/>
                <a:cs typeface="Times New Roman" panose="02020603050405020304" pitchFamily="18" charset="0"/>
              </a:rPr>
              <a:t>distribution in space.</a:t>
            </a:r>
          </a:p>
          <a:p>
            <a:pPr algn="just"/>
            <a:r>
              <a:rPr lang="en-US" sz="2200" b="0" i="0" u="none" strike="noStrike" cap="none" baseline="0" dirty="0">
                <a:latin typeface="Times New Roman" panose="02020603050405020304" pitchFamily="18" charset="0"/>
                <a:cs typeface="Times New Roman" panose="02020603050405020304" pitchFamily="18" charset="0"/>
              </a:rPr>
              <a:t> The quantity and distribution of non-living material, such as nutrient water, etc.</a:t>
            </a:r>
          </a:p>
          <a:p>
            <a:pPr algn="just"/>
            <a:r>
              <a:rPr lang="en-US" sz="2200" b="0" i="0" u="none" strike="noStrike" cap="none" baseline="0" dirty="0">
                <a:latin typeface="Times New Roman" panose="02020603050405020304" pitchFamily="18" charset="0"/>
                <a:cs typeface="Times New Roman" panose="02020603050405020304" pitchFamily="18" charset="0"/>
              </a:rPr>
              <a:t> The rage of conditions of existence such as temperature, and light.</a:t>
            </a:r>
          </a:p>
          <a:p>
            <a:pPr algn="just"/>
            <a:endParaRPr lang="en-IN" sz="2200" cap="none" dirty="0">
              <a:latin typeface="Times New Roman" panose="02020603050405020304" pitchFamily="18" charset="0"/>
              <a:cs typeface="Times New Roman" panose="02020603050405020304" pitchFamily="18" charset="0"/>
            </a:endParaRPr>
          </a:p>
        </p:txBody>
      </p:sp>
      <p:sp>
        <p:nvSpPr>
          <p:cNvPr id="4" name="AutoShape 2" descr="Ecosystem- Definition, Structure, Factors, Types, Functions">
            <a:extLst>
              <a:ext uri="{FF2B5EF4-FFF2-40B4-BE49-F238E27FC236}">
                <a16:creationId xmlns:a16="http://schemas.microsoft.com/office/drawing/2014/main" id="{959169C7-73C7-5756-2005-1768D1DCF69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952745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78000"/>
                <a:shade val="100000"/>
                <a:hueMod val="136000"/>
                <a:satMod val="160000"/>
                <a:lumMod val="105000"/>
              </a:schemeClr>
            </a:gs>
            <a:gs pos="100000">
              <a:schemeClr val="bg2">
                <a:shade val="92000"/>
                <a:satMod val="170000"/>
                <a:lumMod val="96000"/>
              </a:schemeClr>
            </a:gs>
          </a:gsLst>
          <a:lin ang="5400000" scaled="0"/>
        </a:gra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2120660E-F826-4655-BB97-984B17FE52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81" name="Picture 2">
            <a:extLst>
              <a:ext uri="{FF2B5EF4-FFF2-40B4-BE49-F238E27FC236}">
                <a16:creationId xmlns:a16="http://schemas.microsoft.com/office/drawing/2014/main" id="{B36D89EE-FA2B-4C32-8C00-B2C6ED2123E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functions-of-ecosystem">
            <a:extLst>
              <a:ext uri="{FF2B5EF4-FFF2-40B4-BE49-F238E27FC236}">
                <a16:creationId xmlns:a16="http://schemas.microsoft.com/office/drawing/2014/main" id="{4E1173FD-B113-EFD0-384B-34026928CAD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497632" y="1268963"/>
            <a:ext cx="7446812" cy="4544007"/>
          </a:xfrm>
          <a:prstGeom prst="roundRect">
            <a:avLst>
              <a:gd name="adj" fmla="val 2392"/>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a:extLst>
            <a:ext uri="{909E8E84-426E-40DD-AFC4-6F175D3DCCD1}">
              <a14:hiddenFill xmlns:a14="http://schemas.microsoft.com/office/drawing/2010/main">
                <a:solidFill>
                  <a:srgbClr val="FFFFFF"/>
                </a:solidFill>
              </a14:hiddenFill>
            </a:ext>
          </a:extLst>
        </p:spPr>
      </p:pic>
      <p:pic>
        <p:nvPicPr>
          <p:cNvPr id="3088" name="Picture 3082">
            <a:extLst>
              <a:ext uri="{FF2B5EF4-FFF2-40B4-BE49-F238E27FC236}">
                <a16:creationId xmlns:a16="http://schemas.microsoft.com/office/drawing/2014/main" id="{318307F8-152F-4244-A9FE-8D30EFFB79F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Content Placeholder 2">
            <a:extLst>
              <a:ext uri="{FF2B5EF4-FFF2-40B4-BE49-F238E27FC236}">
                <a16:creationId xmlns:a16="http://schemas.microsoft.com/office/drawing/2014/main" id="{883C67D9-B3BA-6A8C-BD3C-EE4B80E8269D}"/>
              </a:ext>
            </a:extLst>
          </p:cNvPr>
          <p:cNvSpPr>
            <a:spLocks noGrp="1"/>
          </p:cNvSpPr>
          <p:nvPr>
            <p:ph sz="quarter" idx="13"/>
          </p:nvPr>
        </p:nvSpPr>
        <p:spPr>
          <a:xfrm>
            <a:off x="370849" y="1157417"/>
            <a:ext cx="3943976" cy="4405183"/>
          </a:xfrm>
        </p:spPr>
        <p:txBody>
          <a:bodyPr>
            <a:noAutofit/>
          </a:bodyPr>
          <a:lstStyle/>
          <a:p>
            <a:pPr algn="just"/>
            <a:r>
              <a:rPr lang="en-US" b="0" i="0" u="none" strike="noStrike" cap="none" baseline="0" dirty="0">
                <a:latin typeface="Times New Roman" panose="02020603050405020304" pitchFamily="18" charset="0"/>
                <a:cs typeface="Times New Roman" panose="02020603050405020304" pitchFamily="18" charset="0"/>
              </a:rPr>
              <a:t>The rate of biological energy flow i.e. production &amp; and respiration rates of the community.</a:t>
            </a:r>
          </a:p>
          <a:p>
            <a:pPr algn="just"/>
            <a:r>
              <a:rPr lang="en-US" b="0" i="0" u="none" strike="noStrike" cap="none" baseline="0" dirty="0">
                <a:latin typeface="Times New Roman" panose="02020603050405020304" pitchFamily="18" charset="0"/>
                <a:cs typeface="Times New Roman" panose="02020603050405020304" pitchFamily="18" charset="0"/>
              </a:rPr>
              <a:t>The rate of material or nutrient cycles</a:t>
            </a:r>
          </a:p>
          <a:p>
            <a:pPr algn="just"/>
            <a:r>
              <a:rPr lang="en-US" b="0" i="0" u="none" strike="noStrike" cap="none" baseline="0" dirty="0">
                <a:latin typeface="Times New Roman" panose="02020603050405020304" pitchFamily="18" charset="0"/>
                <a:cs typeface="Times New Roman" panose="02020603050405020304" pitchFamily="18" charset="0"/>
              </a:rPr>
              <a:t>Biological or ecological regulation including both regulation of organisms by environment and</a:t>
            </a:r>
          </a:p>
          <a:p>
            <a:pPr algn="just"/>
            <a:r>
              <a:rPr lang="en-US" cap="none" dirty="0">
                <a:latin typeface="Times New Roman" panose="02020603050405020304" pitchFamily="18" charset="0"/>
                <a:cs typeface="Times New Roman" panose="02020603050405020304" pitchFamily="18" charset="0"/>
              </a:rPr>
              <a:t>R</a:t>
            </a:r>
            <a:r>
              <a:rPr lang="en-US" b="0" i="0" u="none" strike="noStrike" cap="none" baseline="0" dirty="0">
                <a:latin typeface="Times New Roman" panose="02020603050405020304" pitchFamily="18" charset="0"/>
                <a:cs typeface="Times New Roman" panose="02020603050405020304" pitchFamily="18" charset="0"/>
              </a:rPr>
              <a:t>egulation of the environment by the organisms.</a:t>
            </a:r>
            <a:endParaRPr lang="en-IN" cap="none" dirty="0">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D6D31B81-4690-6D86-BEF9-93D99E35AB0D}"/>
              </a:ext>
            </a:extLst>
          </p:cNvPr>
          <p:cNvSpPr>
            <a:spLocks noGrp="1"/>
          </p:cNvSpPr>
          <p:nvPr>
            <p:ph type="title"/>
          </p:nvPr>
        </p:nvSpPr>
        <p:spPr>
          <a:xfrm>
            <a:off x="3131072" y="-867875"/>
            <a:ext cx="6355827" cy="1596177"/>
          </a:xfrm>
        </p:spPr>
        <p:txBody>
          <a:bodyPr anchor="b">
            <a:normAutofit/>
          </a:bodyPr>
          <a:lstStyle/>
          <a:p>
            <a:r>
              <a:rPr lang="en-US" sz="3200" b="1" dirty="0">
                <a:latin typeface="Times New Roman" panose="02020603050405020304" pitchFamily="18" charset="0"/>
                <a:cs typeface="Times New Roman" panose="02020603050405020304" pitchFamily="18" charset="0"/>
              </a:rPr>
              <a:t>FUNCTIONS OF ECOSYSTEM </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62420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ECD1A-6167-9749-F99B-1E8A0161BE71}"/>
              </a:ext>
            </a:extLst>
          </p:cNvPr>
          <p:cNvSpPr>
            <a:spLocks noGrp="1"/>
          </p:cNvSpPr>
          <p:nvPr>
            <p:ph type="title"/>
          </p:nvPr>
        </p:nvSpPr>
        <p:spPr>
          <a:xfrm>
            <a:off x="3012621" y="141434"/>
            <a:ext cx="7481887" cy="857250"/>
          </a:xfrm>
        </p:spPr>
        <p:txBody>
          <a:bodyPr/>
          <a:lstStyle/>
          <a:p>
            <a:r>
              <a:rPr lang="en-US" b="1" dirty="0">
                <a:latin typeface="Times New Roman" panose="02020603050405020304" pitchFamily="18" charset="0"/>
                <a:cs typeface="Times New Roman" panose="02020603050405020304" pitchFamily="18" charset="0"/>
              </a:rPr>
              <a:t>COMPONENTS OF ECOSYSTEM </a:t>
            </a:r>
            <a:endParaRPr lang="en-IN" b="1" dirty="0">
              <a:latin typeface="Times New Roman" panose="02020603050405020304" pitchFamily="18" charset="0"/>
              <a:cs typeface="Times New Roman" panose="02020603050405020304" pitchFamily="18" charset="0"/>
            </a:endParaRPr>
          </a:p>
        </p:txBody>
      </p:sp>
      <p:pic>
        <p:nvPicPr>
          <p:cNvPr id="1028" name="Picture 4" descr="Components of Environment and Ecosystem - Study Wrap">
            <a:extLst>
              <a:ext uri="{FF2B5EF4-FFF2-40B4-BE49-F238E27FC236}">
                <a16:creationId xmlns:a16="http://schemas.microsoft.com/office/drawing/2014/main" id="{188225D1-F067-B31D-16ED-3796CC1D24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5938" y="998684"/>
            <a:ext cx="9491662" cy="54735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8909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5F8299-174F-EE68-BDF5-3DEE0C39E2C8}"/>
              </a:ext>
            </a:extLst>
          </p:cNvPr>
          <p:cNvSpPr>
            <a:spLocks noGrp="1"/>
          </p:cNvSpPr>
          <p:nvPr>
            <p:ph sz="quarter" idx="13"/>
          </p:nvPr>
        </p:nvSpPr>
        <p:spPr>
          <a:xfrm>
            <a:off x="444057" y="1309428"/>
            <a:ext cx="11570585" cy="5414639"/>
          </a:xfrm>
        </p:spPr>
        <p:txBody>
          <a:bodyPr>
            <a:noAutofit/>
          </a:bodyPr>
          <a:lstStyle/>
          <a:p>
            <a:pPr algn="just"/>
            <a:r>
              <a:rPr lang="en-US" b="1" i="0" u="none" strike="noStrike" cap="none" baseline="0" dirty="0">
                <a:latin typeface="Times New Roman" panose="02020603050405020304" pitchFamily="18" charset="0"/>
                <a:cs typeface="Times New Roman" panose="02020603050405020304" pitchFamily="18" charset="0"/>
              </a:rPr>
              <a:t> Producer (autotrophs): </a:t>
            </a:r>
            <a:r>
              <a:rPr lang="en-US" b="0" i="0" u="none" strike="noStrike" cap="none" baseline="0" dirty="0">
                <a:latin typeface="Times New Roman" panose="02020603050405020304" pitchFamily="18" charset="0"/>
                <a:cs typeface="Times New Roman" panose="02020603050405020304" pitchFamily="18" charset="0"/>
              </a:rPr>
              <a:t>The green plants have chlorophyll with the help of which they trap solar energy and change it into chemical energy of carbohydrates using simple inorganic compounds namely, water and carbon dioxide. this process is known as </a:t>
            </a:r>
            <a:r>
              <a:rPr lang="en-IN" b="0" i="0" u="none" strike="noStrike" cap="none" baseline="0" dirty="0">
                <a:latin typeface="Times New Roman" panose="02020603050405020304" pitchFamily="18" charset="0"/>
                <a:cs typeface="Times New Roman" panose="02020603050405020304" pitchFamily="18" charset="0"/>
              </a:rPr>
              <a:t>photosynthesis.</a:t>
            </a:r>
          </a:p>
          <a:p>
            <a:pPr algn="just"/>
            <a:r>
              <a:rPr lang="en-US" b="1" i="0" u="none" strike="noStrike" cap="none" baseline="0" dirty="0">
                <a:latin typeface="Times New Roman" panose="02020603050405020304" pitchFamily="18" charset="0"/>
                <a:cs typeface="Times New Roman" panose="02020603050405020304" pitchFamily="18" charset="0"/>
              </a:rPr>
              <a:t> Photoautotrophs: </a:t>
            </a:r>
            <a:r>
              <a:rPr lang="en-US" b="0" i="0" u="none" strike="noStrike" cap="none" baseline="0" dirty="0">
                <a:latin typeface="Times New Roman" panose="02020603050405020304" pitchFamily="18" charset="0"/>
                <a:cs typeface="Times New Roman" panose="02020603050405020304" pitchFamily="18" charset="0"/>
              </a:rPr>
              <a:t>an organism capable of synthesizing its own food from inorganic substances using light as an energy source. green plants and photosynthetic bacteria are </a:t>
            </a:r>
            <a:r>
              <a:rPr lang="en-IN" b="0" i="0" u="none" strike="noStrike" cap="none" baseline="0" dirty="0">
                <a:latin typeface="Times New Roman" panose="02020603050405020304" pitchFamily="18" charset="0"/>
                <a:cs typeface="Times New Roman" panose="02020603050405020304" pitchFamily="18" charset="0"/>
              </a:rPr>
              <a:t>photoautotrophs.</a:t>
            </a:r>
          </a:p>
          <a:p>
            <a:pPr algn="just"/>
            <a:r>
              <a:rPr lang="en-US" b="1" i="0" u="none" strike="noStrike" cap="none" baseline="0" dirty="0">
                <a:latin typeface="Times New Roman" panose="02020603050405020304" pitchFamily="18" charset="0"/>
                <a:cs typeface="Times New Roman" panose="02020603050405020304" pitchFamily="18" charset="0"/>
              </a:rPr>
              <a:t> Chemotrophs: </a:t>
            </a:r>
            <a:r>
              <a:rPr lang="en-US" b="0" i="0" u="none" strike="noStrike" cap="none" baseline="0" dirty="0">
                <a:latin typeface="Times New Roman" panose="02020603050405020304" pitchFamily="18" charset="0"/>
                <a:cs typeface="Times New Roman" panose="02020603050405020304" pitchFamily="18" charset="0"/>
              </a:rPr>
              <a:t>organisms that obtain energy by the oxidation of electron donors in their environments. </a:t>
            </a:r>
          </a:p>
          <a:p>
            <a:pPr algn="just"/>
            <a:r>
              <a:rPr lang="en-US" b="0" i="0" u="none" strike="noStrike" cap="none" baseline="0" dirty="0">
                <a:latin typeface="Times New Roman" panose="02020603050405020304" pitchFamily="18" charset="0"/>
                <a:cs typeface="Times New Roman" panose="02020603050405020304" pitchFamily="18" charset="0"/>
              </a:rPr>
              <a:t>These molecules can be organic (chemoorganotrophs) or inorganic </a:t>
            </a:r>
            <a:r>
              <a:rPr lang="en-IN" b="0" i="0" u="none" strike="noStrike" cap="none" baseline="0" dirty="0">
                <a:latin typeface="Times New Roman" panose="02020603050405020304" pitchFamily="18" charset="0"/>
                <a:cs typeface="Times New Roman" panose="02020603050405020304" pitchFamily="18" charset="0"/>
              </a:rPr>
              <a:t>(chemolithotrophs).</a:t>
            </a:r>
          </a:p>
          <a:p>
            <a:pPr algn="just"/>
            <a:r>
              <a:rPr lang="en-US" b="0" i="0" u="none" strike="noStrike" cap="none" baseline="0" dirty="0">
                <a:latin typeface="Times New Roman" panose="02020603050405020304" pitchFamily="18" charset="0"/>
                <a:cs typeface="Times New Roman" panose="02020603050405020304" pitchFamily="18" charset="0"/>
              </a:rPr>
              <a:t> </a:t>
            </a:r>
            <a:r>
              <a:rPr lang="en-US" b="1" i="0" u="none" strike="noStrike" cap="none" baseline="0" dirty="0">
                <a:latin typeface="Times New Roman" panose="02020603050405020304" pitchFamily="18" charset="0"/>
                <a:cs typeface="Times New Roman" panose="02020603050405020304" pitchFamily="18" charset="0"/>
              </a:rPr>
              <a:t>Consumers (heterotrophs): </a:t>
            </a:r>
            <a:r>
              <a:rPr lang="en-US" b="0" i="0" u="none" strike="noStrike" cap="none" baseline="0" dirty="0">
                <a:latin typeface="Times New Roman" panose="02020603050405020304" pitchFamily="18" charset="0"/>
                <a:cs typeface="Times New Roman" panose="02020603050405020304" pitchFamily="18" charset="0"/>
              </a:rPr>
              <a:t>The animals lack chlorophyll and are unable to synthesize their own food therefore they depend on the producers for their food. </a:t>
            </a:r>
          </a:p>
          <a:p>
            <a:pPr algn="just"/>
            <a:r>
              <a:rPr lang="en-US" cap="none" dirty="0">
                <a:latin typeface="Times New Roman" panose="02020603050405020304" pitchFamily="18" charset="0"/>
                <a:cs typeface="Times New Roman" panose="02020603050405020304" pitchFamily="18" charset="0"/>
              </a:rPr>
              <a:t>T</a:t>
            </a:r>
            <a:r>
              <a:rPr lang="en-US" b="0" i="0" u="none" strike="noStrike" cap="none" baseline="0" dirty="0">
                <a:latin typeface="Times New Roman" panose="02020603050405020304" pitchFamily="18" charset="0"/>
                <a:cs typeface="Times New Roman" panose="02020603050405020304" pitchFamily="18" charset="0"/>
              </a:rPr>
              <a:t>hey are known as heterotrophs (i.e. </a:t>
            </a:r>
            <a:r>
              <a:rPr lang="en-US" b="0" i="0" u="none" strike="noStrike" cap="none" baseline="0" dirty="0" err="1">
                <a:latin typeface="Times New Roman" panose="02020603050405020304" pitchFamily="18" charset="0"/>
                <a:cs typeface="Times New Roman" panose="02020603050405020304" pitchFamily="18" charset="0"/>
              </a:rPr>
              <a:t>heteros</a:t>
            </a:r>
            <a:r>
              <a:rPr lang="en-US" b="0" i="0" u="none" strike="noStrike" cap="none" baseline="0" dirty="0">
                <a:latin typeface="Times New Roman" panose="02020603050405020304" pitchFamily="18" charset="0"/>
                <a:cs typeface="Times New Roman" panose="02020603050405020304" pitchFamily="18" charset="0"/>
              </a:rPr>
              <a:t>= others, </a:t>
            </a:r>
            <a:r>
              <a:rPr lang="en-US" b="0" i="0" u="none" strike="noStrike" cap="none" baseline="0" dirty="0" err="1">
                <a:latin typeface="Times New Roman" panose="02020603050405020304" pitchFamily="18" charset="0"/>
                <a:cs typeface="Times New Roman" panose="02020603050405020304" pitchFamily="18" charset="0"/>
              </a:rPr>
              <a:t>trophs</a:t>
            </a:r>
            <a:r>
              <a:rPr lang="en-US" b="0" i="0" u="none" strike="noStrike" cap="none" baseline="0" dirty="0">
                <a:latin typeface="Times New Roman" panose="02020603050405020304" pitchFamily="18" charset="0"/>
                <a:cs typeface="Times New Roman" panose="02020603050405020304" pitchFamily="18" charset="0"/>
              </a:rPr>
              <a:t>= feeder).The consumers are of 4 types:</a:t>
            </a:r>
          </a:p>
          <a:p>
            <a:pPr algn="just"/>
            <a:endParaRPr lang="en-IN"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677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B92EAC-4BED-48D3-13F3-410314ACE977}"/>
              </a:ext>
            </a:extLst>
          </p:cNvPr>
          <p:cNvSpPr>
            <a:spLocks noGrp="1"/>
          </p:cNvSpPr>
          <p:nvPr>
            <p:ph sz="quarter" idx="13"/>
          </p:nvPr>
        </p:nvSpPr>
        <p:spPr>
          <a:xfrm>
            <a:off x="624525" y="883525"/>
            <a:ext cx="10363826" cy="3424107"/>
          </a:xfrm>
        </p:spPr>
        <p:txBody>
          <a:bodyPr>
            <a:noAutofit/>
          </a:bodyPr>
          <a:lstStyle/>
          <a:p>
            <a:pPr marL="0" indent="0" algn="just">
              <a:buNone/>
            </a:pPr>
            <a:r>
              <a:rPr lang="en-US" b="1" i="0" u="none" strike="noStrike" cap="none" baseline="0" dirty="0">
                <a:latin typeface="Times New Roman" panose="02020603050405020304" pitchFamily="18" charset="0"/>
                <a:cs typeface="Times New Roman" panose="02020603050405020304" pitchFamily="18" charset="0"/>
              </a:rPr>
              <a:t>(a) Primary consumer: </a:t>
            </a:r>
            <a:r>
              <a:rPr lang="en-US" b="0" i="0" u="none" strike="noStrike" cap="none" baseline="0" dirty="0">
                <a:latin typeface="Times New Roman" panose="02020603050405020304" pitchFamily="18" charset="0"/>
                <a:cs typeface="Times New Roman" panose="02020603050405020304" pitchFamily="18" charset="0"/>
              </a:rPr>
              <a:t>( herbivores) i.e., animal feeding on plants, e.g., rabbit, deer, </a:t>
            </a:r>
            <a:r>
              <a:rPr lang="en-IN" b="0" i="0" u="none" strike="noStrike" cap="none" baseline="0" dirty="0">
                <a:latin typeface="Times New Roman" panose="02020603050405020304" pitchFamily="18" charset="0"/>
                <a:cs typeface="Times New Roman" panose="02020603050405020304" pitchFamily="18" charset="0"/>
              </a:rPr>
              <a:t>goat, etc.</a:t>
            </a:r>
          </a:p>
          <a:p>
            <a:pPr marL="0" indent="0" algn="just">
              <a:buNone/>
            </a:pPr>
            <a:r>
              <a:rPr lang="en-US" b="1" i="0" u="none" strike="noStrike" cap="none" baseline="0" dirty="0">
                <a:latin typeface="Times New Roman" panose="02020603050405020304" pitchFamily="18" charset="0"/>
                <a:cs typeface="Times New Roman" panose="02020603050405020304" pitchFamily="18" charset="0"/>
              </a:rPr>
              <a:t>(b) Secondary consumers: </a:t>
            </a:r>
            <a:r>
              <a:rPr lang="en-US" b="0" i="0" u="none" strike="noStrike" cap="none" baseline="0" dirty="0">
                <a:latin typeface="Times New Roman" panose="02020603050405020304" pitchFamily="18" charset="0"/>
                <a:cs typeface="Times New Roman" panose="02020603050405020304" pitchFamily="18" charset="0"/>
              </a:rPr>
              <a:t>The animals feeding on herbivores are called secondary consumers or primary carnivores. e.g., cats, foxes, snakes.</a:t>
            </a:r>
          </a:p>
          <a:p>
            <a:pPr marL="0" indent="0" algn="just">
              <a:buNone/>
            </a:pPr>
            <a:r>
              <a:rPr lang="en-US" b="1" i="0" u="none" strike="noStrike" cap="none" baseline="0" dirty="0">
                <a:latin typeface="Times New Roman" panose="02020603050405020304" pitchFamily="18" charset="0"/>
                <a:cs typeface="Times New Roman" panose="02020603050405020304" pitchFamily="18" charset="0"/>
              </a:rPr>
              <a:t>(c) Tertiary consumers: </a:t>
            </a:r>
            <a:r>
              <a:rPr lang="en-US" b="0" i="0" u="none" strike="noStrike" cap="none" baseline="0" dirty="0">
                <a:latin typeface="Times New Roman" panose="02020603050405020304" pitchFamily="18" charset="0"/>
                <a:cs typeface="Times New Roman" panose="02020603050405020304" pitchFamily="18" charset="0"/>
              </a:rPr>
              <a:t>These are large carnivores that feed on secondary </a:t>
            </a:r>
            <a:r>
              <a:rPr lang="en-IN" b="0" i="0" u="none" strike="noStrike" cap="none" baseline="0" dirty="0">
                <a:latin typeface="Times New Roman" panose="02020603050405020304" pitchFamily="18" charset="0"/>
                <a:cs typeface="Times New Roman" panose="02020603050405020304" pitchFamily="18" charset="0"/>
              </a:rPr>
              <a:t>consumers. e.g., wolves</a:t>
            </a:r>
          </a:p>
          <a:p>
            <a:pPr marL="0" indent="0" algn="just">
              <a:buNone/>
            </a:pPr>
            <a:r>
              <a:rPr lang="en-US" b="1" i="0" u="none" strike="noStrike" cap="none" baseline="0" dirty="0">
                <a:latin typeface="Times New Roman" panose="02020603050405020304" pitchFamily="18" charset="0"/>
                <a:cs typeface="Times New Roman" panose="02020603050405020304" pitchFamily="18" charset="0"/>
              </a:rPr>
              <a:t>(d) Quaternary consumers: </a:t>
            </a:r>
            <a:r>
              <a:rPr lang="en-US" b="0" i="0" u="none" strike="noStrike" cap="none" baseline="0" dirty="0">
                <a:latin typeface="Times New Roman" panose="02020603050405020304" pitchFamily="18" charset="0"/>
                <a:cs typeface="Times New Roman" panose="02020603050405020304" pitchFamily="18" charset="0"/>
              </a:rPr>
              <a:t>They are also called omnivores; these are the largest carnivores that feed on tertiary consumers and are not eaten up by any other animals. e.g., lion and tiger.</a:t>
            </a:r>
          </a:p>
          <a:p>
            <a:pPr algn="just"/>
            <a:r>
              <a:rPr lang="en-US" b="0" i="0" u="none" strike="noStrike" cap="none" baseline="0" dirty="0">
                <a:latin typeface="Times New Roman" panose="02020603050405020304" pitchFamily="18" charset="0"/>
                <a:cs typeface="Times New Roman" panose="02020603050405020304" pitchFamily="18" charset="0"/>
              </a:rPr>
              <a:t> </a:t>
            </a:r>
            <a:r>
              <a:rPr lang="en-US" b="1" i="0" u="none" strike="noStrike" cap="none" baseline="0" dirty="0">
                <a:latin typeface="Times New Roman" panose="02020603050405020304" pitchFamily="18" charset="0"/>
                <a:cs typeface="Times New Roman" panose="02020603050405020304" pitchFamily="18" charset="0"/>
              </a:rPr>
              <a:t>Decomposers or </a:t>
            </a:r>
            <a:r>
              <a:rPr lang="en-US" b="1" cap="none" dirty="0">
                <a:latin typeface="Times New Roman" panose="02020603050405020304" pitchFamily="18" charset="0"/>
                <a:cs typeface="Times New Roman" panose="02020603050405020304" pitchFamily="18" charset="0"/>
              </a:rPr>
              <a:t>D</a:t>
            </a:r>
            <a:r>
              <a:rPr lang="en-US" b="1" i="0" u="none" strike="noStrike" cap="none" baseline="0" dirty="0">
                <a:latin typeface="Times New Roman" panose="02020603050405020304" pitchFamily="18" charset="0"/>
                <a:cs typeface="Times New Roman" panose="02020603050405020304" pitchFamily="18" charset="0"/>
              </a:rPr>
              <a:t>etrivores:</a:t>
            </a:r>
            <a:r>
              <a:rPr lang="en-US" cap="none" dirty="0">
                <a:latin typeface="Times New Roman" panose="02020603050405020304" pitchFamily="18" charset="0"/>
                <a:cs typeface="Times New Roman" panose="02020603050405020304" pitchFamily="18" charset="0"/>
              </a:rPr>
              <a:t> B</a:t>
            </a:r>
            <a:r>
              <a:rPr lang="en-US" b="0" i="0" u="none" strike="noStrike" cap="none" baseline="0" dirty="0">
                <a:latin typeface="Times New Roman" panose="02020603050405020304" pitchFamily="18" charset="0"/>
                <a:cs typeface="Times New Roman" panose="02020603050405020304" pitchFamily="18" charset="0"/>
              </a:rPr>
              <a:t>acteria &amp; fungi belong to this category. </a:t>
            </a:r>
          </a:p>
          <a:p>
            <a:pPr algn="just"/>
            <a:r>
              <a:rPr lang="en-US" b="0" i="0" u="none" strike="noStrike" cap="none" baseline="0" dirty="0">
                <a:latin typeface="Times New Roman" panose="02020603050405020304" pitchFamily="18" charset="0"/>
                <a:cs typeface="Times New Roman" panose="02020603050405020304" pitchFamily="18" charset="0"/>
              </a:rPr>
              <a:t>They break down the dead organic matter of producers &amp; and consumers for their food and release to the environment the simple inorganic and organic substance. these simple substances are reused by the producers resulting in a cyclic exchange of material between biotic &amp; and </a:t>
            </a:r>
            <a:r>
              <a:rPr lang="en-IN" b="0" i="0" u="none" strike="noStrike" cap="none" baseline="0" dirty="0">
                <a:latin typeface="Times New Roman" panose="02020603050405020304" pitchFamily="18" charset="0"/>
                <a:cs typeface="Times New Roman" panose="02020603050405020304" pitchFamily="18" charset="0"/>
              </a:rPr>
              <a:t>abiotic environments. </a:t>
            </a:r>
            <a:r>
              <a:rPr lang="en-US" b="1" i="0" u="none" strike="noStrike" cap="none" baseline="0" dirty="0">
                <a:latin typeface="Times New Roman" panose="02020603050405020304" pitchFamily="18" charset="0"/>
                <a:cs typeface="Times New Roman" panose="02020603050405020304" pitchFamily="18" charset="0"/>
              </a:rPr>
              <a:t>eg: bacteria, earthworms, beetles, etc.</a:t>
            </a:r>
            <a:endParaRPr lang="en-IN" dirty="0"/>
          </a:p>
        </p:txBody>
      </p:sp>
    </p:spTree>
    <p:extLst>
      <p:ext uri="{BB962C8B-B14F-4D97-AF65-F5344CB8AC3E}">
        <p14:creationId xmlns:p14="http://schemas.microsoft.com/office/powerpoint/2010/main" val="4080524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2F4AA-6B07-8443-97F7-61B3D70A6E83}"/>
              </a:ext>
            </a:extLst>
          </p:cNvPr>
          <p:cNvSpPr>
            <a:spLocks noGrp="1"/>
          </p:cNvSpPr>
          <p:nvPr>
            <p:ph type="title"/>
          </p:nvPr>
        </p:nvSpPr>
        <p:spPr>
          <a:xfrm>
            <a:off x="1075700" y="113693"/>
            <a:ext cx="10592425" cy="610208"/>
          </a:xfrm>
        </p:spPr>
        <p:txBody>
          <a:bodyPr/>
          <a:lstStyle/>
          <a:p>
            <a:r>
              <a:rPr lang="en-US">
                <a:latin typeface="Times New Roman" panose="02020603050405020304" pitchFamily="18" charset="0"/>
                <a:cs typeface="Times New Roman" panose="02020603050405020304" pitchFamily="18" charset="0"/>
              </a:rPr>
              <a:t>ENERGY FLOW IN THE ECOSYSTEM </a:t>
            </a:r>
            <a:endParaRPr lang="en-IN" dirty="0">
              <a:latin typeface="Times New Roman" panose="02020603050405020304" pitchFamily="18" charset="0"/>
              <a:cs typeface="Times New Roman" panose="02020603050405020304" pitchFamily="18" charset="0"/>
            </a:endParaRPr>
          </a:p>
        </p:txBody>
      </p:sp>
      <p:pic>
        <p:nvPicPr>
          <p:cNvPr id="4098" name="Picture 2" descr="Energy Flow of Ecosystem - Class 12 Biology - GeeksforGeeks">
            <a:extLst>
              <a:ext uri="{FF2B5EF4-FFF2-40B4-BE49-F238E27FC236}">
                <a16:creationId xmlns:a16="http://schemas.microsoft.com/office/drawing/2014/main" id="{B01AF1D7-E00E-56A8-4CAF-AF32D2D136E0}"/>
              </a:ext>
            </a:extLst>
          </p:cNvPr>
          <p:cNvPicPr>
            <a:picLocks noGrp="1" noChangeAspect="1" noChangeArrowheads="1"/>
          </p:cNvPicPr>
          <p:nvPr>
            <p:ph sz="quarter" idx="13"/>
          </p:nvPr>
        </p:nvPicPr>
        <p:blipFill>
          <a:blip r:embed="rId2">
            <a:extLst>
              <a:ext uri="{28A0092B-C50C-407E-A947-70E740481C1C}">
                <a14:useLocalDpi xmlns:a14="http://schemas.microsoft.com/office/drawing/2010/main" val="0"/>
              </a:ext>
            </a:extLst>
          </a:blip>
          <a:srcRect/>
          <a:stretch>
            <a:fillRect/>
          </a:stretch>
        </p:blipFill>
        <p:spPr bwMode="auto">
          <a:xfrm>
            <a:off x="6574948" y="1828800"/>
            <a:ext cx="5353841" cy="281612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102" name="TextBox 4">
            <a:extLst>
              <a:ext uri="{FF2B5EF4-FFF2-40B4-BE49-F238E27FC236}">
                <a16:creationId xmlns:a16="http://schemas.microsoft.com/office/drawing/2014/main" id="{6F8EA3C4-26D2-5635-10A4-F50D5F195489}"/>
              </a:ext>
            </a:extLst>
          </p:cNvPr>
          <p:cNvGraphicFramePr/>
          <p:nvPr>
            <p:extLst>
              <p:ext uri="{D42A27DB-BD31-4B8C-83A1-F6EECF244321}">
                <p14:modId xmlns:p14="http://schemas.microsoft.com/office/powerpoint/2010/main" val="3449698215"/>
              </p:ext>
            </p:extLst>
          </p:nvPr>
        </p:nvGraphicFramePr>
        <p:xfrm>
          <a:off x="263211" y="723901"/>
          <a:ext cx="6096000" cy="60444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067849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78000"/>
                <a:shade val="100000"/>
                <a:hueMod val="136000"/>
                <a:satMod val="160000"/>
                <a:lumMod val="105000"/>
              </a:schemeClr>
            </a:gs>
            <a:gs pos="100000">
              <a:schemeClr val="bg2">
                <a:shade val="92000"/>
                <a:satMod val="170000"/>
                <a:lumMod val="96000"/>
              </a:schemeClr>
            </a:gs>
          </a:gsLst>
          <a:lin ang="5400000" scaled="0"/>
        </a:gra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2120660E-F826-4655-BB97-984B17FE52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9" name="Picture 2">
            <a:extLst>
              <a:ext uri="{FF2B5EF4-FFF2-40B4-BE49-F238E27FC236}">
                <a16:creationId xmlns:a16="http://schemas.microsoft.com/office/drawing/2014/main" id="{B36D89EE-FA2B-4C32-8C00-B2C6ED2123E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5131" name="Picture 5130">
            <a:extLst>
              <a:ext uri="{FF2B5EF4-FFF2-40B4-BE49-F238E27FC236}">
                <a16:creationId xmlns:a16="http://schemas.microsoft.com/office/drawing/2014/main" id="{318307F8-152F-4244-A9FE-8D30EFFB79F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Content Placeholder 2">
            <a:extLst>
              <a:ext uri="{FF2B5EF4-FFF2-40B4-BE49-F238E27FC236}">
                <a16:creationId xmlns:a16="http://schemas.microsoft.com/office/drawing/2014/main" id="{5B0C8871-4483-70CB-5136-D933A2CD3DF7}"/>
              </a:ext>
            </a:extLst>
          </p:cNvPr>
          <p:cNvSpPr>
            <a:spLocks noGrp="1"/>
          </p:cNvSpPr>
          <p:nvPr>
            <p:ph sz="quarter" idx="13"/>
          </p:nvPr>
        </p:nvSpPr>
        <p:spPr>
          <a:xfrm>
            <a:off x="363268" y="752896"/>
            <a:ext cx="3893978" cy="3424107"/>
          </a:xfrm>
        </p:spPr>
        <p:txBody>
          <a:bodyPr>
            <a:noAutofit/>
          </a:bodyPr>
          <a:lstStyle/>
          <a:p>
            <a:pPr algn="just">
              <a:lnSpc>
                <a:spcPct val="110000"/>
              </a:lnSpc>
            </a:pPr>
            <a:r>
              <a:rPr lang="en-US" b="1" dirty="0">
                <a:latin typeface="Times New Roman" panose="02020603050405020304" pitchFamily="18" charset="0"/>
                <a:cs typeface="Times New Roman" panose="02020603050405020304" pitchFamily="18" charset="0"/>
              </a:rPr>
              <a:t>Single channel energy flow model:</a:t>
            </a:r>
          </a:p>
          <a:p>
            <a:pPr algn="just">
              <a:lnSpc>
                <a:spcPct val="110000"/>
              </a:lnSpc>
            </a:pPr>
            <a:r>
              <a:rPr lang="en-US" b="1" dirty="0">
                <a:latin typeface="Times New Roman" panose="02020603050405020304" pitchFamily="18" charset="0"/>
                <a:cs typeface="Times New Roman" panose="02020603050405020304" pitchFamily="18" charset="0"/>
              </a:rPr>
              <a:t> </a:t>
            </a:r>
            <a:r>
              <a:rPr lang="en-IN" cap="none" dirty="0">
                <a:latin typeface="Times New Roman" panose="02020603050405020304" pitchFamily="18" charset="0"/>
                <a:cs typeface="Times New Roman" panose="02020603050405020304" pitchFamily="18" charset="0"/>
              </a:rPr>
              <a:t>Unidirectional flow of the energy from one trophic level to another </a:t>
            </a:r>
          </a:p>
          <a:p>
            <a:pPr algn="just">
              <a:lnSpc>
                <a:spcPct val="110000"/>
              </a:lnSpc>
            </a:pPr>
            <a:r>
              <a:rPr lang="en-IN" cap="none" dirty="0">
                <a:latin typeface="Times New Roman" panose="02020603050405020304" pitchFamily="18" charset="0"/>
                <a:cs typeface="Times New Roman" panose="02020603050405020304" pitchFamily="18" charset="0"/>
              </a:rPr>
              <a:t>At each trophic level in the food chain energy is lost, and only  10% of energy is transferred to another trophic level this is known as Lindmann’s 10 percent law.</a:t>
            </a:r>
          </a:p>
          <a:p>
            <a:pPr algn="just">
              <a:lnSpc>
                <a:spcPct val="110000"/>
              </a:lnSpc>
            </a:pPr>
            <a:r>
              <a:rPr lang="en-IN" cap="none" dirty="0">
                <a:latin typeface="Times New Roman" panose="02020603050405020304" pitchFamily="18" charset="0"/>
                <a:cs typeface="Times New Roman" panose="02020603050405020304" pitchFamily="18" charset="0"/>
              </a:rPr>
              <a:t>It was given by Raymond Lindemann in 1942 for the lake ecosystem.</a:t>
            </a:r>
          </a:p>
          <a:p>
            <a:pPr algn="just">
              <a:lnSpc>
                <a:spcPct val="110000"/>
              </a:lnSpc>
            </a:pPr>
            <a:r>
              <a:rPr lang="en-IN" cap="none" dirty="0">
                <a:latin typeface="Times New Roman" panose="02020603050405020304" pitchFamily="18" charset="0"/>
                <a:cs typeface="Times New Roman" panose="02020603050405020304" pitchFamily="18" charset="0"/>
              </a:rPr>
              <a:t>The single channel does not involve complex interactions, like nutrient cycling, food webs, etc. </a:t>
            </a:r>
          </a:p>
          <a:p>
            <a:pPr algn="just">
              <a:lnSpc>
                <a:spcPct val="110000"/>
              </a:lnSpc>
            </a:pPr>
            <a:endParaRPr lang="en-IN" cap="none" dirty="0">
              <a:latin typeface="Times New Roman" panose="02020603050405020304" pitchFamily="18" charset="0"/>
              <a:cs typeface="Times New Roman" panose="02020603050405020304" pitchFamily="18" charset="0"/>
            </a:endParaRPr>
          </a:p>
          <a:p>
            <a:pPr marL="457200" indent="-457200" algn="just">
              <a:lnSpc>
                <a:spcPct val="110000"/>
              </a:lnSpc>
              <a:buFont typeface="+mj-lt"/>
              <a:buAutoNum type="arabicPeriod"/>
            </a:pPr>
            <a:endParaRPr lang="en-IN" b="1" dirty="0">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060AF2FE-29A5-4249-1493-0476576F3EF1}"/>
              </a:ext>
            </a:extLst>
          </p:cNvPr>
          <p:cNvSpPr>
            <a:spLocks noGrp="1"/>
          </p:cNvSpPr>
          <p:nvPr>
            <p:ph type="title"/>
          </p:nvPr>
        </p:nvSpPr>
        <p:spPr>
          <a:xfrm>
            <a:off x="3712959" y="-989369"/>
            <a:ext cx="3893976" cy="1596177"/>
          </a:xfrm>
        </p:spPr>
        <p:txBody>
          <a:bodyPr anchor="b">
            <a:normAutofit/>
          </a:bodyPr>
          <a:lstStyle/>
          <a:p>
            <a:r>
              <a:rPr lang="en-US" sz="2400" b="1" dirty="0">
                <a:latin typeface="Times New Roman" panose="02020603050405020304" pitchFamily="18" charset="0"/>
                <a:cs typeface="Times New Roman" panose="02020603050405020304" pitchFamily="18" charset="0"/>
              </a:rPr>
              <a:t>Energy flow models </a:t>
            </a:r>
            <a:endParaRPr lang="en-IN" sz="2400" b="1" dirty="0">
              <a:latin typeface="Times New Roman" panose="02020603050405020304" pitchFamily="18" charset="0"/>
              <a:cs typeface="Times New Roman" panose="02020603050405020304" pitchFamily="18" charset="0"/>
            </a:endParaRPr>
          </a:p>
        </p:txBody>
      </p:sp>
      <p:pic>
        <p:nvPicPr>
          <p:cNvPr id="1026" name="Picture 2" descr="$10\\%$ law of flow of energy in the ecosystem was proposed by(a) Lindeman(b)  Carl Mobius(c) Tansley(d) Darwin">
            <a:extLst>
              <a:ext uri="{FF2B5EF4-FFF2-40B4-BE49-F238E27FC236}">
                <a16:creationId xmlns:a16="http://schemas.microsoft.com/office/drawing/2014/main" id="{2FC61C51-5BFE-86FE-D809-A27980B5BA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82200" y="921786"/>
            <a:ext cx="7484846" cy="52482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56035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78000"/>
                <a:shade val="100000"/>
                <a:hueMod val="136000"/>
                <a:satMod val="160000"/>
                <a:lumMod val="105000"/>
              </a:schemeClr>
            </a:gs>
            <a:gs pos="100000">
              <a:schemeClr val="bg2">
                <a:shade val="92000"/>
                <a:satMod val="170000"/>
                <a:lumMod val="96000"/>
              </a:schemeClr>
            </a:gs>
          </a:gsLst>
          <a:lin ang="5400000" scaled="0"/>
        </a:gradFill>
        <a:effectLst/>
      </p:bgPr>
    </p:bg>
    <p:spTree>
      <p:nvGrpSpPr>
        <p:cNvPr id="1" name=""/>
        <p:cNvGrpSpPr/>
        <p:nvPr/>
      </p:nvGrpSpPr>
      <p:grpSpPr>
        <a:xfrm>
          <a:off x="0" y="0"/>
          <a:ext cx="0" cy="0"/>
          <a:chOff x="0" y="0"/>
          <a:chExt cx="0" cy="0"/>
        </a:xfrm>
      </p:grpSpPr>
      <p:sp useBgFill="1">
        <p:nvSpPr>
          <p:cNvPr id="6162" name="Rectangle 6161">
            <a:extLst>
              <a:ext uri="{FF2B5EF4-FFF2-40B4-BE49-F238E27FC236}">
                <a16:creationId xmlns:a16="http://schemas.microsoft.com/office/drawing/2014/main" id="{E8647EB8-A4BA-4577-BC19-D29C4DB7A2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64" name="Picture 2">
            <a:extLst>
              <a:ext uri="{FF2B5EF4-FFF2-40B4-BE49-F238E27FC236}">
                <a16:creationId xmlns:a16="http://schemas.microsoft.com/office/drawing/2014/main" id="{A381ED2D-F98E-4FB5-AF44-0D271CBE376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8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Learn Energy flow models in an Ecosystem in 3 minutes.">
            <a:extLst>
              <a:ext uri="{FF2B5EF4-FFF2-40B4-BE49-F238E27FC236}">
                <a16:creationId xmlns:a16="http://schemas.microsoft.com/office/drawing/2014/main" id="{40AEEC36-57B0-6C43-8C79-F2D83FDC7DE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526503" y="665410"/>
            <a:ext cx="4320276" cy="3326611"/>
          </a:xfrm>
          <a:prstGeom prst="roundRect">
            <a:avLst>
              <a:gd name="adj" fmla="val 530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a:extLst>
            <a:ext uri="{909E8E84-426E-40DD-AFC4-6F175D3DCCD1}">
              <a14:hiddenFill xmlns:a14="http://schemas.microsoft.com/office/drawing/2010/main">
                <a:solidFill>
                  <a:srgbClr val="FFFFFF"/>
                </a:solidFill>
              </a14:hiddenFill>
            </a:ext>
          </a:extLst>
        </p:spPr>
      </p:pic>
      <p:pic>
        <p:nvPicPr>
          <p:cNvPr id="6148" name="Picture 4" descr="What Is Energy Flow Model">
            <a:extLst>
              <a:ext uri="{FF2B5EF4-FFF2-40B4-BE49-F238E27FC236}">
                <a16:creationId xmlns:a16="http://schemas.microsoft.com/office/drawing/2014/main" id="{D38547F6-DFFE-3B32-51BF-6F2842B2F38E}"/>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7212615" y="4277278"/>
            <a:ext cx="4634164" cy="2409765"/>
          </a:xfrm>
          <a:prstGeom prst="roundRect">
            <a:avLst>
              <a:gd name="adj" fmla="val 530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a:extLst>
            <a:ext uri="{909E8E84-426E-40DD-AFC4-6F175D3DCCD1}">
              <a14:hiddenFill xmlns:a14="http://schemas.microsoft.com/office/drawing/2010/main">
                <a:solidFill>
                  <a:srgbClr val="FFFFFF"/>
                </a:solidFill>
              </a14:hiddenFill>
            </a:ext>
          </a:extLst>
        </p:spPr>
      </p:pic>
      <p:pic>
        <p:nvPicPr>
          <p:cNvPr id="6166" name="Picture 6165">
            <a:extLst>
              <a:ext uri="{FF2B5EF4-FFF2-40B4-BE49-F238E27FC236}">
                <a16:creationId xmlns:a16="http://schemas.microsoft.com/office/drawing/2014/main" id="{D6022CFA-A050-4588-AFFA-539348CC3A2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2321702-6612-19B6-C0DF-9A00CCED0C04}"/>
              </a:ext>
            </a:extLst>
          </p:cNvPr>
          <p:cNvSpPr>
            <a:spLocks noGrp="1"/>
          </p:cNvSpPr>
          <p:nvPr>
            <p:ph type="title"/>
          </p:nvPr>
        </p:nvSpPr>
        <p:spPr>
          <a:xfrm>
            <a:off x="913776" y="640831"/>
            <a:ext cx="6564205" cy="1573863"/>
          </a:xfrm>
        </p:spPr>
        <p:txBody>
          <a:bodyPr>
            <a:normAutofit/>
          </a:bodyPr>
          <a:lstStyle/>
          <a:p>
            <a:r>
              <a:rPr lang="en-US" b="1">
                <a:latin typeface="Times New Roman" panose="02020603050405020304" pitchFamily="18" charset="0"/>
                <a:cs typeface="Times New Roman" panose="02020603050405020304" pitchFamily="18" charset="0"/>
              </a:rPr>
              <a:t>Y-shaped or 2-channel energy flow model </a:t>
            </a:r>
            <a:endParaRPr lang="en-IN" b="1">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73D251C-35A1-51B2-BACB-34215BA2C50E}"/>
              </a:ext>
            </a:extLst>
          </p:cNvPr>
          <p:cNvSpPr>
            <a:spLocks noGrp="1"/>
          </p:cNvSpPr>
          <p:nvPr>
            <p:ph sz="quarter" idx="13"/>
          </p:nvPr>
        </p:nvSpPr>
        <p:spPr>
          <a:xfrm>
            <a:off x="913774" y="2367092"/>
            <a:ext cx="6564207" cy="3881309"/>
          </a:xfrm>
        </p:spPr>
        <p:txBody>
          <a:bodyPr>
            <a:normAutofit/>
          </a:bodyPr>
          <a:lstStyle/>
          <a:p>
            <a:r>
              <a:rPr lang="en-US" b="0" i="0" u="none" strike="noStrike" cap="none" baseline="0" dirty="0">
                <a:latin typeface="Times New Roman" panose="02020603050405020304" pitchFamily="18" charset="0"/>
                <a:cs typeface="Times New Roman" panose="02020603050405020304" pitchFamily="18" charset="0"/>
              </a:rPr>
              <a:t> Y-shaped energy flow is more realistic and practical than the single-channel energy flow model.</a:t>
            </a:r>
            <a:endParaRPr lang="en-US" b="0" i="0" u="none" strike="noStrike" cap="none" baseline="0">
              <a:latin typeface="Times New Roman" panose="02020603050405020304" pitchFamily="18" charset="0"/>
              <a:cs typeface="Times New Roman" panose="02020603050405020304" pitchFamily="18" charset="0"/>
            </a:endParaRPr>
          </a:p>
          <a:p>
            <a:r>
              <a:rPr lang="en-US" cap="none" dirty="0">
                <a:latin typeface="Times New Roman" panose="02020603050405020304" pitchFamily="18" charset="0"/>
                <a:cs typeface="Times New Roman" panose="02020603050405020304" pitchFamily="18" charset="0"/>
              </a:rPr>
              <a:t>I</a:t>
            </a:r>
            <a:r>
              <a:rPr lang="en-US" b="0" i="0" u="none" strike="noStrike" cap="none" baseline="0" dirty="0">
                <a:latin typeface="Times New Roman" panose="02020603050405020304" pitchFamily="18" charset="0"/>
                <a:cs typeface="Times New Roman" panose="02020603050405020304" pitchFamily="18" charset="0"/>
              </a:rPr>
              <a:t>t confirms the basic stratified structure of ecosystems</a:t>
            </a:r>
            <a:endParaRPr lang="en-US" b="0" i="0" u="none" strike="noStrike" cap="none" baseline="0">
              <a:latin typeface="Times New Roman" panose="02020603050405020304" pitchFamily="18" charset="0"/>
              <a:cs typeface="Times New Roman" panose="02020603050405020304" pitchFamily="18" charset="0"/>
            </a:endParaRPr>
          </a:p>
          <a:p>
            <a:r>
              <a:rPr lang="en-US" cap="none" dirty="0">
                <a:latin typeface="Times New Roman" panose="02020603050405020304" pitchFamily="18" charset="0"/>
                <a:cs typeface="Times New Roman" panose="02020603050405020304" pitchFamily="18" charset="0"/>
              </a:rPr>
              <a:t>I</a:t>
            </a:r>
            <a:r>
              <a:rPr lang="en-US" b="0" i="0" u="none" strike="noStrike" cap="none" baseline="0" dirty="0">
                <a:latin typeface="Times New Roman" panose="02020603050405020304" pitchFamily="18" charset="0"/>
                <a:cs typeface="Times New Roman" panose="02020603050405020304" pitchFamily="18" charset="0"/>
              </a:rPr>
              <a:t>t separates the two chains i.e</a:t>
            </a:r>
            <a:r>
              <a:rPr lang="en-US" b="1" i="0" u="none" strike="noStrike" cap="none" baseline="0" dirty="0">
                <a:latin typeface="Times New Roman" panose="02020603050405020304" pitchFamily="18" charset="0"/>
                <a:cs typeface="Times New Roman" panose="02020603050405020304" pitchFamily="18" charset="0"/>
              </a:rPr>
              <a:t>., grazing &amp; and detritus food chain </a:t>
            </a:r>
            <a:r>
              <a:rPr lang="en-US" b="0" i="0" u="none" strike="noStrike" cap="none" baseline="0" dirty="0">
                <a:latin typeface="Times New Roman" panose="02020603050405020304" pitchFamily="18" charset="0"/>
                <a:cs typeface="Times New Roman" panose="02020603050405020304" pitchFamily="18" charset="0"/>
              </a:rPr>
              <a:t>in both time and space. </a:t>
            </a:r>
            <a:endParaRPr lang="en-US" b="0" i="0" u="none" strike="noStrike" cap="none" baseline="0">
              <a:latin typeface="Times New Roman" panose="02020603050405020304" pitchFamily="18" charset="0"/>
              <a:cs typeface="Times New Roman" panose="02020603050405020304" pitchFamily="18" charset="0"/>
            </a:endParaRPr>
          </a:p>
          <a:p>
            <a:r>
              <a:rPr lang="en-US" cap="none" dirty="0">
                <a:latin typeface="Times New Roman" panose="02020603050405020304" pitchFamily="18" charset="0"/>
                <a:cs typeface="Times New Roman" panose="02020603050405020304" pitchFamily="18" charset="0"/>
              </a:rPr>
              <a:t>M</a:t>
            </a:r>
            <a:r>
              <a:rPr lang="en-US" b="0" i="0" u="none" strike="noStrike" cap="none" baseline="0" dirty="0">
                <a:latin typeface="Times New Roman" panose="02020603050405020304" pitchFamily="18" charset="0"/>
                <a:cs typeface="Times New Roman" panose="02020603050405020304" pitchFamily="18" charset="0"/>
              </a:rPr>
              <a:t>icro consumers (bacteria &amp; and fungi) and macro consumers (animals) differ greatly in size-metabolism relations in the two </a:t>
            </a:r>
            <a:r>
              <a:rPr lang="en-IN" b="0" i="0" u="none" strike="noStrike" cap="none" baseline="0" dirty="0">
                <a:latin typeface="Times New Roman" panose="02020603050405020304" pitchFamily="18" charset="0"/>
                <a:cs typeface="Times New Roman" panose="02020603050405020304" pitchFamily="18" charset="0"/>
              </a:rPr>
              <a:t>models.</a:t>
            </a:r>
            <a:endParaRPr lang="en-IN" b="0" i="0" u="none" strike="noStrike" cap="none" baseline="0">
              <a:latin typeface="Times New Roman" panose="02020603050405020304" pitchFamily="18" charset="0"/>
              <a:cs typeface="Times New Roman" panose="02020603050405020304" pitchFamily="18" charset="0"/>
            </a:endParaRPr>
          </a:p>
          <a:p>
            <a:endParaRPr lang="en-IN" cap="none">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88093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90844-EDE1-4548-24E9-8CB31C4F2F91}"/>
              </a:ext>
            </a:extLst>
          </p:cNvPr>
          <p:cNvSpPr>
            <a:spLocks noGrp="1"/>
          </p:cNvSpPr>
          <p:nvPr>
            <p:ph type="title"/>
          </p:nvPr>
        </p:nvSpPr>
        <p:spPr>
          <a:xfrm>
            <a:off x="2687216" y="83975"/>
            <a:ext cx="6370324" cy="731127"/>
          </a:xfrm>
        </p:spPr>
        <p:txBody>
          <a:bodyPr>
            <a:normAutofit/>
          </a:bodyPr>
          <a:lstStyle/>
          <a:p>
            <a:r>
              <a:rPr lang="en-IN" sz="2800" b="1" dirty="0">
                <a:latin typeface="Times New Roman" panose="02020603050405020304" pitchFamily="18" charset="0"/>
                <a:cs typeface="Times New Roman" panose="02020603050405020304" pitchFamily="18" charset="0"/>
              </a:rPr>
              <a:t>FOOD CHAIN AND FOOD WEB </a:t>
            </a:r>
          </a:p>
        </p:txBody>
      </p:sp>
      <p:sp>
        <p:nvSpPr>
          <p:cNvPr id="3" name="Content Placeholder 2">
            <a:extLst>
              <a:ext uri="{FF2B5EF4-FFF2-40B4-BE49-F238E27FC236}">
                <a16:creationId xmlns:a16="http://schemas.microsoft.com/office/drawing/2014/main" id="{826ED87E-C603-5D76-619B-01092E79CB72}"/>
              </a:ext>
            </a:extLst>
          </p:cNvPr>
          <p:cNvSpPr>
            <a:spLocks noGrp="1"/>
          </p:cNvSpPr>
          <p:nvPr>
            <p:ph sz="quarter" idx="13"/>
          </p:nvPr>
        </p:nvSpPr>
        <p:spPr>
          <a:xfrm>
            <a:off x="390330" y="815102"/>
            <a:ext cx="11411339" cy="5626359"/>
          </a:xfrm>
        </p:spPr>
        <p:txBody>
          <a:bodyPr>
            <a:normAutofit/>
          </a:bodyPr>
          <a:lstStyle/>
          <a:p>
            <a:pPr algn="just"/>
            <a:r>
              <a:rPr lang="en-US" sz="1800" b="0" i="0" u="none" strike="noStrike" cap="none" baseline="0" dirty="0">
                <a:latin typeface="Times New Roman" panose="02020603050405020304" pitchFamily="18" charset="0"/>
              </a:rPr>
              <a:t> In the food chain each organism eats the smaller organisms and is eaten by the larger one.</a:t>
            </a:r>
          </a:p>
          <a:p>
            <a:pPr algn="just"/>
            <a:r>
              <a:rPr lang="en-US" sz="1800" b="0" i="0" u="none" strike="noStrike" cap="none" baseline="0" dirty="0">
                <a:latin typeface="TimesNewRomanPSMT"/>
              </a:rPr>
              <a:t> The different levels in a food chain are called tropic levels, each food chain has three main </a:t>
            </a:r>
            <a:r>
              <a:rPr lang="en-US" sz="1800" b="0" i="0" u="none" strike="noStrike" cap="none" baseline="0" dirty="0">
                <a:latin typeface="Times New Roman" panose="02020603050405020304" pitchFamily="18" charset="0"/>
              </a:rPr>
              <a:t>tropic levels:- producer level, consumer level, and decomposer level.</a:t>
            </a:r>
          </a:p>
          <a:p>
            <a:pPr algn="just"/>
            <a:r>
              <a:rPr lang="en-IN" sz="1800" b="1" i="0" u="none" strike="noStrike" cap="none" baseline="0" dirty="0">
                <a:latin typeface="Times New Roman" panose="02020603050405020304" pitchFamily="18" charset="0"/>
              </a:rPr>
              <a:t> Types of food chains</a:t>
            </a:r>
            <a:r>
              <a:rPr lang="en-IN" sz="1800" b="1" i="1" u="none" strike="noStrike" cap="none" baseline="0" dirty="0">
                <a:latin typeface="Times New Roman" panose="02020603050405020304" pitchFamily="18" charset="0"/>
              </a:rPr>
              <a:t>:</a:t>
            </a:r>
          </a:p>
          <a:p>
            <a:pPr marL="0" indent="0" algn="just">
              <a:buNone/>
            </a:pPr>
            <a:r>
              <a:rPr lang="en-US" sz="1800" b="0" i="0" u="none" strike="noStrike" cap="none" baseline="0" dirty="0">
                <a:latin typeface="Times New Roman" panose="02020603050405020304" pitchFamily="18" charset="0"/>
              </a:rPr>
              <a:t>a) </a:t>
            </a:r>
            <a:r>
              <a:rPr lang="en-US" sz="1800" b="1" i="0" u="none" strike="noStrike" cap="none" baseline="0" dirty="0">
                <a:latin typeface="Times New Roman" panose="02020603050405020304" pitchFamily="18" charset="0"/>
              </a:rPr>
              <a:t>Grazing food chain: </a:t>
            </a:r>
            <a:r>
              <a:rPr lang="en-US" sz="1800" b="0" i="0" u="none" strike="noStrike" cap="none" baseline="0" dirty="0">
                <a:latin typeface="Times New Roman" panose="02020603050405020304" pitchFamily="18" charset="0"/>
              </a:rPr>
              <a:t>This type of food chain starts from living green plants and goes to grazing herbivores and onto carnivores. ecosystem with such type of food chain directly depends upon the solar energy for their food requirements. most of the ecosystem in nature follows this type of food chain.</a:t>
            </a:r>
          </a:p>
          <a:p>
            <a:pPr marL="0" indent="0" algn="just">
              <a:buNone/>
            </a:pPr>
            <a:r>
              <a:rPr lang="en-US" sz="1800" b="0" i="0" u="none" strike="noStrike" cap="none" baseline="0" dirty="0">
                <a:latin typeface="Times New Roman" panose="02020603050405020304" pitchFamily="18" charset="0"/>
              </a:rPr>
              <a:t>b) </a:t>
            </a:r>
            <a:r>
              <a:rPr lang="en-US" sz="1800" b="1" cap="none" dirty="0">
                <a:latin typeface="Times New Roman" panose="02020603050405020304" pitchFamily="18" charset="0"/>
              </a:rPr>
              <a:t>D</a:t>
            </a:r>
            <a:r>
              <a:rPr lang="en-US" sz="1800" b="1" i="0" u="none" strike="noStrike" cap="none" baseline="0" dirty="0">
                <a:latin typeface="Times New Roman" panose="02020603050405020304" pitchFamily="18" charset="0"/>
              </a:rPr>
              <a:t>etritus food chain: </a:t>
            </a:r>
            <a:r>
              <a:rPr lang="en-US" sz="1800" b="0" i="0" u="none" strike="noStrike" cap="none" baseline="0" dirty="0">
                <a:latin typeface="Times New Roman" panose="02020603050405020304" pitchFamily="18" charset="0"/>
              </a:rPr>
              <a:t>This type of food chain goes from dead organic matter onto microorganisms and then to the organisms feeding on detritus and their predators. Such ecosystems are less dependent on direct solar energy.</a:t>
            </a:r>
          </a:p>
          <a:p>
            <a:pPr marL="0" indent="0" algn="just">
              <a:buNone/>
            </a:pPr>
            <a:r>
              <a:rPr lang="en-US" sz="1800" b="0" i="0" u="none" strike="noStrike" cap="none" baseline="0" dirty="0">
                <a:latin typeface="Times New Roman" panose="02020603050405020304" pitchFamily="18" charset="0"/>
              </a:rPr>
              <a:t>c) </a:t>
            </a:r>
            <a:r>
              <a:rPr lang="en-US" sz="1800" b="1" i="0" u="none" strike="noStrike" cap="none" baseline="0" dirty="0">
                <a:latin typeface="Times New Roman" panose="02020603050405020304" pitchFamily="18" charset="0"/>
              </a:rPr>
              <a:t>Parasitic food chain: </a:t>
            </a:r>
            <a:r>
              <a:rPr lang="en-US" sz="1800" b="0" i="0" u="none" strike="noStrike" cap="none" baseline="0" dirty="0">
                <a:latin typeface="Times New Roman" panose="02020603050405020304" pitchFamily="18" charset="0"/>
              </a:rPr>
              <a:t>This type of food chain starts from big hosts and ends with  </a:t>
            </a:r>
            <a:r>
              <a:rPr lang="en-IN" sz="1800" b="0" i="0" u="none" strike="noStrike" cap="none" baseline="0" dirty="0">
                <a:latin typeface="Times New Roman" panose="02020603050405020304" pitchFamily="18" charset="0"/>
              </a:rPr>
              <a:t>parasitic organisms.</a:t>
            </a:r>
          </a:p>
          <a:p>
            <a:pPr algn="l"/>
            <a:r>
              <a:rPr lang="en-IN" sz="1800" b="1" cap="none" dirty="0">
                <a:latin typeface="Times New Roman" panose="02020603050405020304" pitchFamily="18" charset="0"/>
              </a:rPr>
              <a:t>FOOD WEB: </a:t>
            </a:r>
            <a:r>
              <a:rPr lang="en-US" sz="1800" b="0" i="0" u="none" strike="noStrike" cap="none" baseline="0" dirty="0">
                <a:latin typeface="Times New Roman" panose="02020603050405020304" pitchFamily="18" charset="0"/>
                <a:cs typeface="Times New Roman" panose="02020603050405020304" pitchFamily="18" charset="0"/>
              </a:rPr>
              <a:t>The interconnected, interlocking pattern of the food chain is known as the food web. </a:t>
            </a:r>
          </a:p>
          <a:p>
            <a:pPr algn="l"/>
            <a:r>
              <a:rPr lang="en-US" sz="1800" b="0" i="0" cap="none" dirty="0">
                <a:effectLst/>
                <a:latin typeface="Times New Roman" panose="02020603050405020304" pitchFamily="18" charset="0"/>
                <a:cs typeface="Times New Roman" panose="02020603050405020304" pitchFamily="18" charset="0"/>
              </a:rPr>
              <a:t> The food web is an important conceptual tool for illustrating the feeding relationships among species within a community, revealing species interactions and community structure, and understanding the dynamics of energy transfer in an ecosystem.</a:t>
            </a:r>
            <a:endParaRPr lang="en-US" sz="1800" b="0" i="0" u="none" strike="noStrike" cap="none" baseline="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11085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21" name="Rectangle 9">
            <a:extLst>
              <a:ext uri="{FF2B5EF4-FFF2-40B4-BE49-F238E27FC236}">
                <a16:creationId xmlns:a16="http://schemas.microsoft.com/office/drawing/2014/main" id="{7861DD06-AB17-4E8B-B828-D863D16E2A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3705D97-360C-2932-786A-A4E7B0D0059C}"/>
              </a:ext>
            </a:extLst>
          </p:cNvPr>
          <p:cNvPicPr>
            <a:picLocks noChangeAspect="1"/>
          </p:cNvPicPr>
          <p:nvPr/>
        </p:nvPicPr>
        <p:blipFill>
          <a:blip r:embed="rId2"/>
          <a:stretch>
            <a:fillRect/>
          </a:stretch>
        </p:blipFill>
        <p:spPr>
          <a:xfrm>
            <a:off x="643467" y="1183523"/>
            <a:ext cx="5291666" cy="4490953"/>
          </a:xfrm>
          <a:prstGeom prst="rect">
            <a:avLst/>
          </a:prstGeom>
        </p:spPr>
      </p:pic>
      <p:pic>
        <p:nvPicPr>
          <p:cNvPr id="3" name="Picture 2">
            <a:extLst>
              <a:ext uri="{FF2B5EF4-FFF2-40B4-BE49-F238E27FC236}">
                <a16:creationId xmlns:a16="http://schemas.microsoft.com/office/drawing/2014/main" id="{C6109C08-5D0F-B534-3B37-EEC275B5F65B}"/>
              </a:ext>
            </a:extLst>
          </p:cNvPr>
          <p:cNvPicPr>
            <a:picLocks noChangeAspect="1"/>
          </p:cNvPicPr>
          <p:nvPr/>
        </p:nvPicPr>
        <p:blipFill>
          <a:blip r:embed="rId3"/>
          <a:stretch>
            <a:fillRect/>
          </a:stretch>
        </p:blipFill>
        <p:spPr>
          <a:xfrm>
            <a:off x="6256866" y="1376198"/>
            <a:ext cx="5291666" cy="4105602"/>
          </a:xfrm>
          <a:prstGeom prst="rect">
            <a:avLst/>
          </a:prstGeom>
        </p:spPr>
      </p:pic>
      <p:pic>
        <p:nvPicPr>
          <p:cNvPr id="22" name="Picture 11">
            <a:extLst>
              <a:ext uri="{FF2B5EF4-FFF2-40B4-BE49-F238E27FC236}">
                <a16:creationId xmlns:a16="http://schemas.microsoft.com/office/drawing/2014/main" id="{DB0468DF-40A1-4DCC-AABA-E800DB7102B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824257322"/>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482B87-CC2A-D51B-D9A2-0BC6BB72984E}"/>
              </a:ext>
            </a:extLst>
          </p:cNvPr>
          <p:cNvSpPr txBox="1"/>
          <p:nvPr/>
        </p:nvSpPr>
        <p:spPr>
          <a:xfrm>
            <a:off x="181155" y="370937"/>
            <a:ext cx="11895825" cy="7032694"/>
          </a:xfrm>
          <a:prstGeom prst="rect">
            <a:avLst/>
          </a:prstGeom>
          <a:noFill/>
        </p:spPr>
        <p:txBody>
          <a:bodyPr wrap="square">
            <a:spAutoFit/>
          </a:bodyPr>
          <a:lstStyle/>
          <a:p>
            <a:r>
              <a:rPr lang="en-US" b="1" dirty="0"/>
              <a:t>Succession and Evolution of the Ecosystem </a:t>
            </a:r>
          </a:p>
          <a:p>
            <a:endParaRPr lang="en-US" dirty="0"/>
          </a:p>
          <a:p>
            <a:pPr algn="just"/>
            <a:r>
              <a:rPr lang="en-US" dirty="0"/>
              <a:t>The conversion of a pond to a deciduous forest through various stages such as the development of mesic community, terrestrial community, scrubland and so on or generation and growth of different biospecies in at exposed parent rock are examples of evolution and succession in an ecosystem. So, ecological succession can be defined as a change of community over time, with modification of the physical environment. Ecological succession is a two-step process. First, with the modification of the physical environment one community, mainly autotrophs, tries to survive in the most </a:t>
            </a:r>
            <a:r>
              <a:rPr lang="en-US" dirty="0" err="1"/>
              <a:t>unfavourable</a:t>
            </a:r>
            <a:r>
              <a:rPr lang="en-US" dirty="0"/>
              <a:t> environment, such as an open rock sand dunes, or an aquatic system. </a:t>
            </a:r>
          </a:p>
          <a:p>
            <a:pPr algn="just"/>
            <a:r>
              <a:rPr lang="en-US" dirty="0"/>
              <a:t>Evolution of a biospecies for the first time in a sterile area is known as primary succession. The firs community is always autotrophic and is usually known as the pioneer community as its evolution occurs in a purely inorganic environment. The continuance of the life cycles of the pioneer community makes the environment rich in organic matter which helps the succession of the second community. As a lot of organic matter is available (sewage bed, organic waste), the secondary succession is mainly heterotrophic. </a:t>
            </a:r>
          </a:p>
          <a:p>
            <a:pPr algn="just"/>
            <a:r>
              <a:rPr lang="en-US" dirty="0"/>
              <a:t>The succession process continues till a stable community is developed. The transitional series of communities which develop during succession are called </a:t>
            </a:r>
            <a:r>
              <a:rPr lang="en-US" dirty="0" err="1"/>
              <a:t>seres</a:t>
            </a:r>
            <a:r>
              <a:rPr lang="en-US" dirty="0"/>
              <a:t> or seral stages while the stable community that develops finally is called climax community which is mostly a deciduous forest. Series of different physical environments are depicted in Table 3.2.</a:t>
            </a:r>
          </a:p>
          <a:p>
            <a:pPr algn="just"/>
            <a:r>
              <a:rPr lang="en-US" u="sng" dirty="0"/>
              <a:t>Table 3.2 Evolution of Biospecies  </a:t>
            </a:r>
          </a:p>
          <a:p>
            <a:pPr algn="just"/>
            <a:r>
              <a:rPr lang="en-US" u="sng" dirty="0"/>
              <a:t>Physical Environment                                                 Biospecies</a:t>
            </a:r>
          </a:p>
          <a:p>
            <a:pPr algn="just"/>
            <a:r>
              <a:rPr lang="en-US" dirty="0"/>
              <a:t>Aquatic system                                                 </a:t>
            </a:r>
            <a:r>
              <a:rPr lang="en-US" dirty="0" err="1"/>
              <a:t>Hydrach</a:t>
            </a:r>
            <a:r>
              <a:rPr lang="en-US" dirty="0"/>
              <a:t> succession or </a:t>
            </a:r>
            <a:r>
              <a:rPr lang="en-US" dirty="0" err="1"/>
              <a:t>Hydrosere</a:t>
            </a:r>
            <a:endParaRPr lang="en-US" dirty="0"/>
          </a:p>
          <a:p>
            <a:pPr algn="just"/>
            <a:r>
              <a:rPr lang="en-US" dirty="0"/>
              <a:t>Exposed parent rock                                         </a:t>
            </a:r>
            <a:r>
              <a:rPr lang="en-US" dirty="0" err="1"/>
              <a:t>Xosere</a:t>
            </a:r>
            <a:endParaRPr lang="en-US" dirty="0"/>
          </a:p>
          <a:p>
            <a:pPr algn="just"/>
            <a:r>
              <a:rPr lang="en-US" dirty="0"/>
              <a:t>Dry sand (Desert)                                             </a:t>
            </a:r>
            <a:r>
              <a:rPr lang="en-US" dirty="0" err="1"/>
              <a:t>Psammosere</a:t>
            </a:r>
            <a:endParaRPr lang="en-US" dirty="0"/>
          </a:p>
          <a:p>
            <a:pPr algn="just"/>
            <a:r>
              <a:rPr lang="en-US" dirty="0"/>
              <a:t>Saline land                                                      </a:t>
            </a:r>
            <a:r>
              <a:rPr lang="en-US" dirty="0" err="1"/>
              <a:t>Halosere</a:t>
            </a:r>
            <a:r>
              <a:rPr lang="en-US" dirty="0"/>
              <a:t> </a:t>
            </a:r>
          </a:p>
          <a:p>
            <a:endParaRPr lang="en-US" sz="1100" dirty="0"/>
          </a:p>
          <a:p>
            <a:endParaRPr lang="en-US" sz="1100" dirty="0"/>
          </a:p>
          <a:p>
            <a:endParaRPr lang="en-US" sz="1100" dirty="0"/>
          </a:p>
          <a:p>
            <a:endParaRPr lang="en-US" sz="1100" dirty="0"/>
          </a:p>
          <a:p>
            <a:endParaRPr lang="en-IN" sz="1100" dirty="0"/>
          </a:p>
        </p:txBody>
      </p:sp>
    </p:spTree>
    <p:extLst>
      <p:ext uri="{BB962C8B-B14F-4D97-AF65-F5344CB8AC3E}">
        <p14:creationId xmlns:p14="http://schemas.microsoft.com/office/powerpoint/2010/main" val="19921307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82B7E-91B4-E10A-3D94-9DC480D441A7}"/>
              </a:ext>
            </a:extLst>
          </p:cNvPr>
          <p:cNvSpPr>
            <a:spLocks noGrp="1"/>
          </p:cNvSpPr>
          <p:nvPr>
            <p:ph type="title"/>
          </p:nvPr>
        </p:nvSpPr>
        <p:spPr>
          <a:xfrm>
            <a:off x="1063065" y="123996"/>
            <a:ext cx="9639147" cy="557140"/>
          </a:xfrm>
        </p:spPr>
        <p:txBody>
          <a:bodyPr>
            <a:normAutofit/>
          </a:bodyPr>
          <a:lstStyle/>
          <a:p>
            <a:r>
              <a:rPr lang="en-IN" sz="2800" b="1" dirty="0">
                <a:latin typeface="Times New Roman" panose="02020603050405020304" pitchFamily="18" charset="0"/>
                <a:cs typeface="Times New Roman" panose="02020603050405020304" pitchFamily="18" charset="0"/>
              </a:rPr>
              <a:t>ECOLOGICAL PYRAMIDS </a:t>
            </a:r>
          </a:p>
        </p:txBody>
      </p:sp>
      <p:sp>
        <p:nvSpPr>
          <p:cNvPr id="3" name="Content Placeholder 2">
            <a:extLst>
              <a:ext uri="{FF2B5EF4-FFF2-40B4-BE49-F238E27FC236}">
                <a16:creationId xmlns:a16="http://schemas.microsoft.com/office/drawing/2014/main" id="{2B0FDD61-5BAE-A4EB-C7C2-E55C415D930F}"/>
              </a:ext>
            </a:extLst>
          </p:cNvPr>
          <p:cNvSpPr>
            <a:spLocks noGrp="1"/>
          </p:cNvSpPr>
          <p:nvPr>
            <p:ph sz="quarter" idx="13"/>
          </p:nvPr>
        </p:nvSpPr>
        <p:spPr>
          <a:xfrm>
            <a:off x="130629" y="606490"/>
            <a:ext cx="11849877" cy="6251510"/>
          </a:xfrm>
        </p:spPr>
        <p:txBody>
          <a:bodyPr>
            <a:normAutofit/>
          </a:bodyPr>
          <a:lstStyle/>
          <a:p>
            <a:pPr algn="l"/>
            <a:r>
              <a:rPr lang="en-US" sz="1800" b="0" i="0" u="none" strike="noStrike" cap="none" baseline="0" dirty="0">
                <a:latin typeface="TimesNewRomanPSMT"/>
              </a:rPr>
              <a:t>The graphical representation of the trophic </a:t>
            </a:r>
            <a:r>
              <a:rPr lang="en-US" sz="1800" b="0" i="0" u="none" strike="noStrike" cap="none" baseline="0" dirty="0">
                <a:latin typeface="Times New Roman" panose="02020603050405020304" pitchFamily="18" charset="0"/>
              </a:rPr>
              <a:t>levels is called as ecological pyramids. </a:t>
            </a:r>
          </a:p>
          <a:p>
            <a:pPr algn="l"/>
            <a:r>
              <a:rPr lang="en-US" sz="1800" cap="none" dirty="0">
                <a:latin typeface="Times New Roman" panose="02020603050405020304" pitchFamily="18" charset="0"/>
              </a:rPr>
              <a:t>I</a:t>
            </a:r>
            <a:r>
              <a:rPr lang="en-US" sz="1800" b="0" i="0" u="none" strike="noStrike" cap="none" baseline="0" dirty="0">
                <a:latin typeface="Times New Roman" panose="02020603050405020304" pitchFamily="18" charset="0"/>
              </a:rPr>
              <a:t>t was devised by an ecologist </a:t>
            </a:r>
            <a:r>
              <a:rPr lang="en-US" sz="1800" b="0" i="0" u="none" strike="noStrike" cap="none" baseline="0" dirty="0">
                <a:latin typeface="TimesNewRomanPSMT"/>
              </a:rPr>
              <a:t>“</a:t>
            </a:r>
            <a:r>
              <a:rPr lang="en-US" sz="1800" b="1" cap="none" dirty="0">
                <a:latin typeface="Times New Roman" panose="02020603050405020304" pitchFamily="18" charset="0"/>
              </a:rPr>
              <a:t>C</a:t>
            </a:r>
            <a:r>
              <a:rPr lang="en-US" sz="1800" b="1" i="0" u="none" strike="noStrike" cap="none" baseline="0" dirty="0">
                <a:latin typeface="Times New Roman" panose="02020603050405020304" pitchFamily="18" charset="0"/>
              </a:rPr>
              <a:t>harles </a:t>
            </a:r>
            <a:r>
              <a:rPr lang="en-US" sz="1800" b="1" cap="none" dirty="0">
                <a:latin typeface="Times New Roman" panose="02020603050405020304" pitchFamily="18" charset="0"/>
              </a:rPr>
              <a:t>E</a:t>
            </a:r>
            <a:r>
              <a:rPr lang="en-US" sz="1800" b="1" i="0" u="none" strike="noStrike" cap="none" baseline="0" dirty="0">
                <a:latin typeface="Times New Roman" panose="02020603050405020304" pitchFamily="18" charset="0"/>
              </a:rPr>
              <a:t>lton</a:t>
            </a:r>
            <a:r>
              <a:rPr lang="en-US" sz="1800" b="0" i="0" u="none" strike="noStrike" cap="none" baseline="0" dirty="0">
                <a:latin typeface="TimesNewRomanPSMT"/>
              </a:rPr>
              <a:t>” therefore </a:t>
            </a:r>
            <a:r>
              <a:rPr lang="en-US" sz="1800" b="0" i="0" u="none" strike="noStrike" cap="none" baseline="0" dirty="0">
                <a:latin typeface="Times New Roman" panose="02020603050405020304" pitchFamily="18" charset="0"/>
              </a:rPr>
              <a:t>these pyramid are also called ecological pyramid or </a:t>
            </a:r>
            <a:r>
              <a:rPr lang="en-US" sz="1800" b="1" i="0" u="none" strike="noStrike" cap="none" baseline="0" dirty="0">
                <a:latin typeface="Times New Roman" panose="02020603050405020304" pitchFamily="18" charset="0"/>
              </a:rPr>
              <a:t>Eltonian pyramids.</a:t>
            </a:r>
          </a:p>
          <a:p>
            <a:pPr algn="l"/>
            <a:r>
              <a:rPr lang="en-IN" sz="1800" b="1" i="0" u="none" strike="noStrike" baseline="0" dirty="0">
                <a:latin typeface="Times New Roman" panose="02020603050405020304" pitchFamily="18" charset="0"/>
              </a:rPr>
              <a:t>Types of Ecological Pyramids</a:t>
            </a:r>
            <a:r>
              <a:rPr lang="en-IN" sz="1800" b="0" i="0" u="none" strike="noStrike" baseline="0" dirty="0">
                <a:latin typeface="Times New Roman" panose="02020603050405020304" pitchFamily="18" charset="0"/>
              </a:rPr>
              <a:t>:</a:t>
            </a:r>
          </a:p>
          <a:p>
            <a:pPr algn="l"/>
            <a:r>
              <a:rPr lang="en-US" sz="1800" i="0" u="none" strike="noStrike" baseline="0" dirty="0">
                <a:latin typeface="Times New Roman" panose="02020603050405020304" pitchFamily="18" charset="0"/>
              </a:rPr>
              <a:t>Pyramid of Number </a:t>
            </a:r>
            <a:endParaRPr lang="en-US" sz="1800" dirty="0">
              <a:latin typeface="Times New Roman" panose="02020603050405020304" pitchFamily="18" charset="0"/>
            </a:endParaRPr>
          </a:p>
          <a:p>
            <a:pPr algn="l"/>
            <a:r>
              <a:rPr lang="en-US" sz="1800" i="0" u="none" strike="noStrike" baseline="0" dirty="0">
                <a:latin typeface="Times New Roman" panose="02020603050405020304" pitchFamily="18" charset="0"/>
              </a:rPr>
              <a:t>Pyramid of biomass</a:t>
            </a:r>
          </a:p>
          <a:p>
            <a:pPr algn="l"/>
            <a:r>
              <a:rPr lang="en-IN" sz="1800" i="0" u="none" strike="noStrike" baseline="0" dirty="0">
                <a:latin typeface="Times New Roman" panose="02020603050405020304" pitchFamily="18" charset="0"/>
              </a:rPr>
              <a:t>Pyramid of Energy</a:t>
            </a:r>
          </a:p>
          <a:p>
            <a:pPr algn="l"/>
            <a:endParaRPr lang="en-IN" sz="1800" cap="none" dirty="0">
              <a:latin typeface="Times New Roman" panose="02020603050405020304" pitchFamily="18" charset="0"/>
            </a:endParaRPr>
          </a:p>
          <a:p>
            <a:pPr algn="l"/>
            <a:r>
              <a:rPr lang="en-IN" sz="1800" b="1" cap="none" dirty="0">
                <a:latin typeface="Times New Roman" panose="02020603050405020304" pitchFamily="18" charset="0"/>
              </a:rPr>
              <a:t>P</a:t>
            </a:r>
            <a:r>
              <a:rPr lang="en-IN" sz="1800" b="1" i="0" u="none" strike="noStrike" cap="none" baseline="0" dirty="0">
                <a:latin typeface="Times New Roman" panose="02020603050405020304" pitchFamily="18" charset="0"/>
              </a:rPr>
              <a:t>yramid of Number: </a:t>
            </a:r>
            <a:r>
              <a:rPr lang="en-US" sz="1800" i="0" u="none" strike="noStrike" cap="none" baseline="0" dirty="0">
                <a:latin typeface="TimesNewRomanPSMT"/>
              </a:rPr>
              <a:t>T</a:t>
            </a:r>
            <a:r>
              <a:rPr lang="en-US" sz="1800" b="0" i="0" u="none" strike="noStrike" cap="none" baseline="0" dirty="0">
                <a:latin typeface="TimesNewRomanPSMT"/>
              </a:rPr>
              <a:t>hey show the relationship between producers, herbivores, and carnivores at successive tropic </a:t>
            </a:r>
            <a:r>
              <a:rPr lang="en-US" sz="1800" b="0" i="0" u="none" strike="noStrike" cap="none" baseline="0" dirty="0">
                <a:latin typeface="Times New Roman" panose="02020603050405020304" pitchFamily="18" charset="0"/>
              </a:rPr>
              <a:t>levels in terms of their number.</a:t>
            </a:r>
          </a:p>
          <a:p>
            <a:pPr algn="l"/>
            <a:r>
              <a:rPr lang="en-US" sz="1800" cap="none" dirty="0">
                <a:latin typeface="Times New Roman" panose="02020603050405020304" pitchFamily="18" charset="0"/>
                <a:cs typeface="Times New Roman" panose="02020603050405020304" pitchFamily="18" charset="0"/>
              </a:rPr>
              <a:t>I</a:t>
            </a:r>
            <a:r>
              <a:rPr lang="en-US" sz="1800" b="0" i="0" u="none" strike="noStrike" cap="none" baseline="0" dirty="0">
                <a:latin typeface="Times New Roman" panose="02020603050405020304" pitchFamily="18" charset="0"/>
                <a:cs typeface="Times New Roman" panose="02020603050405020304" pitchFamily="18" charset="0"/>
              </a:rPr>
              <a:t>n the case of pond ecosystem the producers are mainly phytoplankton and are always maximum in number this number then shows a decrease towards apex as primary consumers are zooplanktons are lesser in number than phytoplankton, the secondary consumers are large fish are even lesser in number than the phytoplankton. </a:t>
            </a:r>
          </a:p>
          <a:p>
            <a:pPr algn="l"/>
            <a:r>
              <a:rPr lang="en-US" sz="1800" b="0" i="0" u="none" strike="noStrike" cap="none" baseline="0" dirty="0">
                <a:latin typeface="Times New Roman" panose="02020603050405020304" pitchFamily="18" charset="0"/>
                <a:cs typeface="Times New Roman" panose="02020603050405020304" pitchFamily="18" charset="0"/>
              </a:rPr>
              <a:t>Thus the shape of the pyramid is </a:t>
            </a:r>
            <a:r>
              <a:rPr lang="en-US" sz="1800" b="1" i="0" u="none" strike="noStrike" cap="none" baseline="0" dirty="0">
                <a:latin typeface="Times New Roman" panose="02020603050405020304" pitchFamily="18" charset="0"/>
                <a:cs typeface="Times New Roman" panose="02020603050405020304" pitchFamily="18" charset="0"/>
              </a:rPr>
              <a:t>upright.</a:t>
            </a:r>
          </a:p>
          <a:p>
            <a:pPr algn="l"/>
            <a:endParaRPr lang="en-IN" cap="none" dirty="0"/>
          </a:p>
        </p:txBody>
      </p:sp>
    </p:spTree>
    <p:extLst>
      <p:ext uri="{BB962C8B-B14F-4D97-AF65-F5344CB8AC3E}">
        <p14:creationId xmlns:p14="http://schemas.microsoft.com/office/powerpoint/2010/main" val="3257900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213CE2-3816-DF00-F497-B27C0211C6B2}"/>
              </a:ext>
            </a:extLst>
          </p:cNvPr>
          <p:cNvSpPr>
            <a:spLocks noGrp="1"/>
          </p:cNvSpPr>
          <p:nvPr>
            <p:ph sz="quarter" idx="13"/>
          </p:nvPr>
        </p:nvSpPr>
        <p:spPr>
          <a:xfrm>
            <a:off x="332791" y="348517"/>
            <a:ext cx="11859209" cy="6662057"/>
          </a:xfrm>
        </p:spPr>
        <p:txBody>
          <a:bodyPr/>
          <a:lstStyle/>
          <a:p>
            <a:pPr algn="l"/>
            <a:endParaRPr lang="en-IN" sz="1800" b="0" i="0" u="none" strike="noStrike" cap="none" baseline="0" dirty="0">
              <a:latin typeface="Times New Roman" panose="02020603050405020304" pitchFamily="18" charset="0"/>
            </a:endParaRPr>
          </a:p>
          <a:p>
            <a:pPr algn="l"/>
            <a:r>
              <a:rPr lang="en-IN" sz="1800" b="0" i="0" u="none" strike="noStrike" cap="none" baseline="0" dirty="0">
                <a:latin typeface="Times New Roman" panose="02020603050405020304" pitchFamily="18" charset="0"/>
              </a:rPr>
              <a:t>In the </a:t>
            </a:r>
            <a:r>
              <a:rPr lang="en-US" sz="1800" b="0" i="0" u="none" strike="noStrike" cap="none" baseline="0" dirty="0">
                <a:latin typeface="Times New Roman" panose="02020603050405020304" pitchFamily="18" charset="0"/>
              </a:rPr>
              <a:t>case of a forest ecosystem the pyramids are always inverted because the producers are mainly large trees, are lesser in numbers, and the herbivores fruit-eating birds are more in number than the producers. </a:t>
            </a:r>
          </a:p>
          <a:p>
            <a:pPr algn="l"/>
            <a:r>
              <a:rPr lang="en-US" sz="1800" b="0" i="0" u="none" strike="noStrike" cap="none" baseline="0" dirty="0">
                <a:latin typeface="Times New Roman" panose="02020603050405020304" pitchFamily="18" charset="0"/>
              </a:rPr>
              <a:t>Then there is a gradual decrease in the number of secondary consumers thus making the </a:t>
            </a:r>
            <a:r>
              <a:rPr lang="en-IN" sz="1800" b="1" i="0" u="none" strike="noStrike" cap="none" baseline="0" dirty="0">
                <a:latin typeface="Times New Roman" panose="02020603050405020304" pitchFamily="18" charset="0"/>
              </a:rPr>
              <a:t>pyramid upright </a:t>
            </a:r>
            <a:r>
              <a:rPr lang="en-IN" sz="1800" b="0" i="0" u="none" strike="noStrike" cap="none" baseline="0" dirty="0">
                <a:latin typeface="Times New Roman" panose="02020603050405020304" pitchFamily="18" charset="0"/>
              </a:rPr>
              <a:t>again.</a:t>
            </a:r>
            <a:endParaRPr lang="en-IN" cap="none" dirty="0"/>
          </a:p>
        </p:txBody>
      </p:sp>
      <p:pic>
        <p:nvPicPr>
          <p:cNvPr id="5" name="Picture 4">
            <a:extLst>
              <a:ext uri="{FF2B5EF4-FFF2-40B4-BE49-F238E27FC236}">
                <a16:creationId xmlns:a16="http://schemas.microsoft.com/office/drawing/2014/main" id="{2C1B760F-3639-F4AA-5EB7-0E2802882746}"/>
              </a:ext>
            </a:extLst>
          </p:cNvPr>
          <p:cNvPicPr>
            <a:picLocks noChangeAspect="1"/>
          </p:cNvPicPr>
          <p:nvPr/>
        </p:nvPicPr>
        <p:blipFill>
          <a:blip r:embed="rId2"/>
          <a:stretch>
            <a:fillRect/>
          </a:stretch>
        </p:blipFill>
        <p:spPr>
          <a:xfrm>
            <a:off x="1626058" y="2273909"/>
            <a:ext cx="8939883" cy="3800320"/>
          </a:xfrm>
          <a:prstGeom prst="rect">
            <a:avLst/>
          </a:prstGeom>
        </p:spPr>
      </p:pic>
    </p:spTree>
    <p:extLst>
      <p:ext uri="{BB962C8B-B14F-4D97-AF65-F5344CB8AC3E}">
        <p14:creationId xmlns:p14="http://schemas.microsoft.com/office/powerpoint/2010/main" val="31806129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78000"/>
                <a:shade val="100000"/>
                <a:hueMod val="136000"/>
                <a:satMod val="160000"/>
                <a:lumMod val="105000"/>
              </a:schemeClr>
            </a:gs>
            <a:gs pos="100000">
              <a:schemeClr val="bg2">
                <a:shade val="92000"/>
                <a:satMod val="170000"/>
                <a:lumMod val="96000"/>
              </a:schemeClr>
            </a:gs>
          </a:gsLst>
          <a:lin ang="5400000" scaled="0"/>
        </a:gra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9ED0D1E-FC26-40F6-AD10-FDFBFFFA7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2">
            <a:extLst>
              <a:ext uri="{FF2B5EF4-FFF2-40B4-BE49-F238E27FC236}">
                <a16:creationId xmlns:a16="http://schemas.microsoft.com/office/drawing/2014/main" id="{E6BE1FFE-E54E-44FD-A565-641E62FBCA3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8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874EB5E2-ECC2-76ED-F633-7236346DE052}"/>
              </a:ext>
            </a:extLst>
          </p:cNvPr>
          <p:cNvPicPr>
            <a:picLocks noChangeAspect="1"/>
          </p:cNvPicPr>
          <p:nvPr/>
        </p:nvPicPr>
        <p:blipFill>
          <a:blip r:embed="rId3"/>
          <a:stretch>
            <a:fillRect/>
          </a:stretch>
        </p:blipFill>
        <p:spPr>
          <a:xfrm>
            <a:off x="4768634" y="2099388"/>
            <a:ext cx="3327645" cy="3195863"/>
          </a:xfrm>
          <a:prstGeom prst="roundRect">
            <a:avLst>
              <a:gd name="adj" fmla="val 2392"/>
            </a:avLst>
          </a:prstGeom>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pic>
        <p:nvPicPr>
          <p:cNvPr id="7" name="Picture 6">
            <a:extLst>
              <a:ext uri="{FF2B5EF4-FFF2-40B4-BE49-F238E27FC236}">
                <a16:creationId xmlns:a16="http://schemas.microsoft.com/office/drawing/2014/main" id="{FC68D3D7-7F46-509F-334A-396FE0FE56A4}"/>
              </a:ext>
            </a:extLst>
          </p:cNvPr>
          <p:cNvPicPr>
            <a:picLocks noChangeAspect="1"/>
          </p:cNvPicPr>
          <p:nvPr/>
        </p:nvPicPr>
        <p:blipFill>
          <a:blip r:embed="rId4"/>
          <a:stretch>
            <a:fillRect/>
          </a:stretch>
        </p:blipFill>
        <p:spPr>
          <a:xfrm>
            <a:off x="8285583" y="2099387"/>
            <a:ext cx="3802555" cy="3434973"/>
          </a:xfrm>
          <a:prstGeom prst="roundRect">
            <a:avLst>
              <a:gd name="adj" fmla="val 2392"/>
            </a:avLst>
          </a:prstGeom>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pic>
        <p:nvPicPr>
          <p:cNvPr id="16" name="Picture 15">
            <a:extLst>
              <a:ext uri="{FF2B5EF4-FFF2-40B4-BE49-F238E27FC236}">
                <a16:creationId xmlns:a16="http://schemas.microsoft.com/office/drawing/2014/main" id="{406E8FE9-55B5-4092-9481-F6A8F0F2C6D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085B9A0-34EC-F3A8-C7C1-EA58FA3FACAB}"/>
              </a:ext>
            </a:extLst>
          </p:cNvPr>
          <p:cNvSpPr>
            <a:spLocks noGrp="1"/>
          </p:cNvSpPr>
          <p:nvPr>
            <p:ph type="title"/>
          </p:nvPr>
        </p:nvSpPr>
        <p:spPr>
          <a:xfrm>
            <a:off x="4586892" y="138378"/>
            <a:ext cx="3018216" cy="824044"/>
          </a:xfrm>
        </p:spPr>
        <p:txBody>
          <a:bodyPr anchor="b">
            <a:normAutofit fontScale="90000"/>
          </a:bodyPr>
          <a:lstStyle/>
          <a:p>
            <a:r>
              <a:rPr lang="en-IN" sz="3200" b="1" dirty="0">
                <a:latin typeface="Times New Roman" panose="02020603050405020304" pitchFamily="18" charset="0"/>
                <a:cs typeface="Times New Roman" panose="02020603050405020304" pitchFamily="18" charset="0"/>
              </a:rPr>
              <a:t>PYRAMID OF BIOMASS</a:t>
            </a:r>
          </a:p>
        </p:txBody>
      </p:sp>
      <p:sp>
        <p:nvSpPr>
          <p:cNvPr id="11" name="Content Placeholder 2">
            <a:extLst>
              <a:ext uri="{FF2B5EF4-FFF2-40B4-BE49-F238E27FC236}">
                <a16:creationId xmlns:a16="http://schemas.microsoft.com/office/drawing/2014/main" id="{F9A2A324-41F1-96D6-29BB-4E41DFF8DCF6}"/>
              </a:ext>
            </a:extLst>
          </p:cNvPr>
          <p:cNvSpPr>
            <a:spLocks noGrp="1"/>
          </p:cNvSpPr>
          <p:nvPr>
            <p:ph sz="quarter" idx="13"/>
          </p:nvPr>
        </p:nvSpPr>
        <p:spPr>
          <a:xfrm>
            <a:off x="103861" y="550400"/>
            <a:ext cx="4567880" cy="3424107"/>
          </a:xfrm>
        </p:spPr>
        <p:txBody>
          <a:bodyPr>
            <a:noAutofit/>
          </a:bodyPr>
          <a:lstStyle/>
          <a:p>
            <a:pPr>
              <a:lnSpc>
                <a:spcPct val="110000"/>
              </a:lnSpc>
            </a:pPr>
            <a:r>
              <a:rPr lang="en-US" b="0" i="0" u="none" strike="noStrike" cap="none" baseline="0" dirty="0">
                <a:latin typeface="Times New Roman" panose="02020603050405020304" pitchFamily="18" charset="0"/>
                <a:cs typeface="Times New Roman" panose="02020603050405020304" pitchFamily="18" charset="0"/>
              </a:rPr>
              <a:t> The pyramid of biomass represents the relationship between different tropic levels in terms of </a:t>
            </a:r>
            <a:r>
              <a:rPr lang="en-IN" b="0" i="0" u="none" strike="noStrike" cap="none" baseline="0" dirty="0">
                <a:latin typeface="Times New Roman" panose="02020603050405020304" pitchFamily="18" charset="0"/>
                <a:cs typeface="Times New Roman" panose="02020603050405020304" pitchFamily="18" charset="0"/>
              </a:rPr>
              <a:t>biomass.</a:t>
            </a:r>
          </a:p>
          <a:p>
            <a:pPr>
              <a:lnSpc>
                <a:spcPct val="110000"/>
              </a:lnSpc>
            </a:pPr>
            <a:r>
              <a:rPr lang="en-US" b="0" i="0" u="none" strike="noStrike" cap="none" baseline="0" dirty="0">
                <a:latin typeface="Times New Roman" panose="02020603050405020304" pitchFamily="18" charset="0"/>
                <a:cs typeface="Times New Roman" panose="02020603050405020304" pitchFamily="18" charset="0"/>
              </a:rPr>
              <a:t> There is generally a gradual decrease in the biomass of organisms at successive levels from the producers to the top carnivores.</a:t>
            </a:r>
          </a:p>
          <a:p>
            <a:pPr>
              <a:lnSpc>
                <a:spcPct val="110000"/>
              </a:lnSpc>
            </a:pPr>
            <a:r>
              <a:rPr lang="en-US" b="0" i="0" u="none" strike="noStrike" cap="none" baseline="0" dirty="0">
                <a:latin typeface="Times New Roman" panose="02020603050405020304" pitchFamily="18" charset="0"/>
                <a:cs typeface="Times New Roman" panose="02020603050405020304" pitchFamily="18" charset="0"/>
              </a:rPr>
              <a:t>Thus, the pyramid of biomass is upright for the grassland ecosystem.</a:t>
            </a:r>
          </a:p>
          <a:p>
            <a:pPr>
              <a:lnSpc>
                <a:spcPct val="110000"/>
              </a:lnSpc>
            </a:pPr>
            <a:r>
              <a:rPr lang="en-US" b="0" i="0" u="none" strike="noStrike" cap="none" baseline="0" dirty="0">
                <a:latin typeface="Times New Roman" panose="02020603050405020304" pitchFamily="18" charset="0"/>
                <a:cs typeface="Times New Roman" panose="02020603050405020304" pitchFamily="18" charset="0"/>
              </a:rPr>
              <a:t> However, in the case of a pond as the producers are algae, are the least in number, and this value gradually shows an increase towards the apex of the pyramid thus making the pyramid inverted in </a:t>
            </a:r>
            <a:r>
              <a:rPr lang="en-IN" b="0" i="0" u="none" strike="noStrike" cap="none" baseline="0" dirty="0">
                <a:latin typeface="Times New Roman" panose="02020603050405020304" pitchFamily="18" charset="0"/>
                <a:cs typeface="Times New Roman" panose="02020603050405020304" pitchFamily="18" charset="0"/>
              </a:rPr>
              <a:t>shape.</a:t>
            </a:r>
            <a:endParaRPr lang="en-IN"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81916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78000"/>
                <a:shade val="100000"/>
                <a:hueMod val="136000"/>
                <a:satMod val="160000"/>
                <a:lumMod val="105000"/>
              </a:schemeClr>
            </a:gs>
            <a:gs pos="100000">
              <a:schemeClr val="bg2">
                <a:shade val="92000"/>
                <a:satMod val="170000"/>
                <a:lumMod val="96000"/>
              </a:schemeClr>
            </a:gs>
          </a:gsLst>
          <a:lin ang="5400000" scaled="0"/>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1B1FB5C-02AC-4A11-9B9E-D6FAE4AA10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a:extLst>
              <a:ext uri="{FF2B5EF4-FFF2-40B4-BE49-F238E27FC236}">
                <a16:creationId xmlns:a16="http://schemas.microsoft.com/office/drawing/2014/main" id="{3F72C88A-0506-4B12-8C66-DC9535260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579DEFF3-F32A-435C-BACC-AB8660BF2A95}"/>
              </a:ext>
            </a:extLst>
          </p:cNvPr>
          <p:cNvPicPr>
            <a:picLocks noChangeAspect="1"/>
          </p:cNvPicPr>
          <p:nvPr/>
        </p:nvPicPr>
        <p:blipFill>
          <a:blip r:embed="rId3"/>
          <a:stretch>
            <a:fillRect/>
          </a:stretch>
        </p:blipFill>
        <p:spPr>
          <a:xfrm>
            <a:off x="7391400" y="1737979"/>
            <a:ext cx="4673439" cy="4289010"/>
          </a:xfrm>
          <a:prstGeom prst="roundRect">
            <a:avLst>
              <a:gd name="adj" fmla="val 5301"/>
            </a:avLst>
          </a:prstGeom>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pic>
        <p:nvPicPr>
          <p:cNvPr id="14" name="Picture 13">
            <a:extLst>
              <a:ext uri="{FF2B5EF4-FFF2-40B4-BE49-F238E27FC236}">
                <a16:creationId xmlns:a16="http://schemas.microsoft.com/office/drawing/2014/main" id="{BE8C338B-9565-4F98-872C-2008B624B53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35DB220-771A-6D00-C865-E23EAA7C8CCF}"/>
              </a:ext>
            </a:extLst>
          </p:cNvPr>
          <p:cNvSpPr>
            <a:spLocks noGrp="1"/>
          </p:cNvSpPr>
          <p:nvPr>
            <p:ph type="title"/>
          </p:nvPr>
        </p:nvSpPr>
        <p:spPr>
          <a:xfrm>
            <a:off x="3390277" y="55749"/>
            <a:ext cx="5106024" cy="1243144"/>
          </a:xfrm>
        </p:spPr>
        <p:txBody>
          <a:bodyPr>
            <a:normAutofit/>
          </a:bodyPr>
          <a:lstStyle/>
          <a:p>
            <a:r>
              <a:rPr lang="en-IN" b="1" dirty="0">
                <a:latin typeface="Times New Roman" panose="02020603050405020304" pitchFamily="18" charset="0"/>
                <a:cs typeface="Times New Roman" panose="02020603050405020304" pitchFamily="18" charset="0"/>
              </a:rPr>
              <a:t>Pyramid of energy </a:t>
            </a:r>
          </a:p>
        </p:txBody>
      </p:sp>
      <p:sp>
        <p:nvSpPr>
          <p:cNvPr id="3" name="Content Placeholder 2">
            <a:extLst>
              <a:ext uri="{FF2B5EF4-FFF2-40B4-BE49-F238E27FC236}">
                <a16:creationId xmlns:a16="http://schemas.microsoft.com/office/drawing/2014/main" id="{725A19EA-6B83-480F-FC0D-D890C613A4DD}"/>
              </a:ext>
            </a:extLst>
          </p:cNvPr>
          <p:cNvSpPr>
            <a:spLocks noGrp="1"/>
          </p:cNvSpPr>
          <p:nvPr>
            <p:ph sz="quarter" idx="13"/>
          </p:nvPr>
        </p:nvSpPr>
        <p:spPr>
          <a:xfrm>
            <a:off x="189874" y="1298893"/>
            <a:ext cx="7201526" cy="4614733"/>
          </a:xfrm>
        </p:spPr>
        <p:txBody>
          <a:bodyPr>
            <a:noAutofit/>
          </a:bodyPr>
          <a:lstStyle/>
          <a:p>
            <a:pPr>
              <a:lnSpc>
                <a:spcPct val="110000"/>
              </a:lnSpc>
            </a:pPr>
            <a:r>
              <a:rPr lang="en-US" sz="2200" cap="none" dirty="0">
                <a:latin typeface="Times New Roman" panose="02020603050405020304" pitchFamily="18" charset="0"/>
                <a:cs typeface="Times New Roman" panose="02020603050405020304" pitchFamily="18" charset="0"/>
              </a:rPr>
              <a:t>A</a:t>
            </a:r>
            <a:r>
              <a:rPr lang="en-US" sz="2200" b="0" i="0" cap="none" dirty="0">
                <a:effectLst/>
                <a:latin typeface="Times New Roman" panose="02020603050405020304" pitchFamily="18" charset="0"/>
                <a:cs typeface="Times New Roman" panose="02020603050405020304" pitchFamily="18" charset="0"/>
              </a:rPr>
              <a:t> pyramid of energy is a graphical representation of the amount of energy at each trophic level of a food chain.</a:t>
            </a:r>
          </a:p>
          <a:p>
            <a:pPr>
              <a:lnSpc>
                <a:spcPct val="110000"/>
              </a:lnSpc>
            </a:pPr>
            <a:r>
              <a:rPr lang="en-US" sz="2200" b="0" i="0" cap="none" dirty="0">
                <a:effectLst/>
                <a:latin typeface="Times New Roman" panose="02020603050405020304" pitchFamily="18" charset="0"/>
                <a:cs typeface="Times New Roman" panose="02020603050405020304" pitchFamily="18" charset="0"/>
              </a:rPr>
              <a:t>They are expressed in units of energy per area per time (e.g., kj m</a:t>
            </a:r>
            <a:r>
              <a:rPr lang="en-US" sz="2200" b="0" i="0" cap="none" baseline="30000" dirty="0">
                <a:effectLst/>
                <a:latin typeface="Times New Roman" panose="02020603050405020304" pitchFamily="18" charset="0"/>
                <a:cs typeface="Times New Roman" panose="02020603050405020304" pitchFamily="18" charset="0"/>
              </a:rPr>
              <a:t>–2</a:t>
            </a:r>
            <a:r>
              <a:rPr lang="en-US" sz="2200" b="0" i="0" cap="none" dirty="0">
                <a:effectLst/>
                <a:latin typeface="Times New Roman" panose="02020603050405020304" pitchFamily="18" charset="0"/>
                <a:cs typeface="Times New Roman" panose="02020603050405020304" pitchFamily="18" charset="0"/>
              </a:rPr>
              <a:t> year</a:t>
            </a:r>
            <a:r>
              <a:rPr lang="en-US" sz="2200" b="0" i="0" cap="none" baseline="30000" dirty="0">
                <a:effectLst/>
                <a:latin typeface="Times New Roman" panose="02020603050405020304" pitchFamily="18" charset="0"/>
                <a:cs typeface="Times New Roman" panose="02020603050405020304" pitchFamily="18" charset="0"/>
              </a:rPr>
              <a:t>–1</a:t>
            </a:r>
            <a:r>
              <a:rPr lang="en-US" sz="2200" b="0" i="0" cap="none" dirty="0">
                <a:effectLst/>
                <a:latin typeface="Times New Roman" panose="02020603050405020304" pitchFamily="18" charset="0"/>
                <a:cs typeface="Times New Roman" panose="02020603050405020304" pitchFamily="18" charset="0"/>
              </a:rPr>
              <a:t>)</a:t>
            </a:r>
          </a:p>
          <a:p>
            <a:pPr>
              <a:lnSpc>
                <a:spcPct val="110000"/>
              </a:lnSpc>
            </a:pPr>
            <a:r>
              <a:rPr lang="en-US" sz="2200" b="0" i="0" cap="none" dirty="0">
                <a:effectLst/>
                <a:latin typeface="Times New Roman" panose="02020603050405020304" pitchFamily="18" charset="0"/>
                <a:cs typeface="Times New Roman" panose="02020603050405020304" pitchFamily="18" charset="0"/>
              </a:rPr>
              <a:t> Pyramids of energy will never appear inverted as some of the energy stored in one source is always lost upon transfer.</a:t>
            </a:r>
          </a:p>
          <a:p>
            <a:pPr>
              <a:lnSpc>
                <a:spcPct val="110000"/>
              </a:lnSpc>
              <a:buFont typeface="Arial" panose="020B0604020202020204" pitchFamily="34" charset="0"/>
              <a:buChar char="•"/>
            </a:pPr>
            <a:r>
              <a:rPr lang="en-US" sz="2200" b="0" i="0" cap="none" dirty="0">
                <a:effectLst/>
                <a:latin typeface="Times New Roman" panose="02020603050405020304" pitchFamily="18" charset="0"/>
                <a:cs typeface="Times New Roman" panose="02020603050405020304" pitchFamily="18" charset="0"/>
              </a:rPr>
              <a:t> Each level should be roughly </a:t>
            </a:r>
            <a:r>
              <a:rPr lang="en-US" sz="2200" b="0" i="1" cap="none" dirty="0">
                <a:effectLst/>
                <a:latin typeface="Times New Roman" panose="02020603050405020304" pitchFamily="18" charset="0"/>
                <a:cs typeface="Times New Roman" panose="02020603050405020304" pitchFamily="18" charset="0"/>
              </a:rPr>
              <a:t>one-tenth</a:t>
            </a:r>
            <a:r>
              <a:rPr lang="en-US" sz="2200" b="0" i="0" cap="none" dirty="0">
                <a:effectLst/>
                <a:latin typeface="Times New Roman" panose="02020603050405020304" pitchFamily="18" charset="0"/>
                <a:cs typeface="Times New Roman" panose="02020603050405020304" pitchFamily="18" charset="0"/>
              </a:rPr>
              <a:t> of the size of the preceding level (as energy transformations are ~10% efficient)</a:t>
            </a:r>
          </a:p>
          <a:p>
            <a:pPr>
              <a:lnSpc>
                <a:spcPct val="110000"/>
              </a:lnSpc>
              <a:buFont typeface="Arial" panose="020B0604020202020204" pitchFamily="34" charset="0"/>
              <a:buChar char="•"/>
            </a:pPr>
            <a:r>
              <a:rPr lang="en-US" sz="2200" b="0" i="0" cap="none" dirty="0">
                <a:effectLst/>
                <a:latin typeface="Times New Roman" panose="02020603050405020304" pitchFamily="18" charset="0"/>
                <a:cs typeface="Times New Roman" panose="02020603050405020304" pitchFamily="18" charset="0"/>
              </a:rPr>
              <a:t> The bottom level will always represent the producers, with subsequent levels representing consumers (primary, secondary, etc.)</a:t>
            </a:r>
          </a:p>
          <a:p>
            <a:pPr>
              <a:lnSpc>
                <a:spcPct val="110000"/>
              </a:lnSpc>
            </a:pPr>
            <a:endParaRPr lang="en-US" sz="2200" b="0" i="0" cap="none" dirty="0">
              <a:effectLst/>
              <a:latin typeface="Times New Roman" panose="02020603050405020304" pitchFamily="18" charset="0"/>
              <a:cs typeface="Times New Roman" panose="02020603050405020304" pitchFamily="18" charset="0"/>
            </a:endParaRPr>
          </a:p>
          <a:p>
            <a:pPr>
              <a:lnSpc>
                <a:spcPct val="110000"/>
              </a:lnSpc>
            </a:pPr>
            <a:endParaRPr lang="en-IN" sz="2200"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17341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78000"/>
                <a:shade val="100000"/>
                <a:hueMod val="136000"/>
                <a:satMod val="160000"/>
                <a:lumMod val="105000"/>
              </a:schemeClr>
            </a:gs>
            <a:gs pos="100000">
              <a:schemeClr val="bg2">
                <a:shade val="92000"/>
                <a:satMod val="170000"/>
                <a:lumMod val="96000"/>
              </a:schemeClr>
            </a:gs>
          </a:gsLst>
          <a:lin ang="5400000" scaled="0"/>
        </a:gradFill>
        <a:effectLst/>
      </p:bgPr>
    </p:bg>
    <p:spTree>
      <p:nvGrpSpPr>
        <p:cNvPr id="1" name=""/>
        <p:cNvGrpSpPr/>
        <p:nvPr/>
      </p:nvGrpSpPr>
      <p:grpSpPr>
        <a:xfrm>
          <a:off x="0" y="0"/>
          <a:ext cx="0" cy="0"/>
          <a:chOff x="0" y="0"/>
          <a:chExt cx="0" cy="0"/>
        </a:xfrm>
      </p:grpSpPr>
      <p:pic>
        <p:nvPicPr>
          <p:cNvPr id="7177" name="Picture 2">
            <a:extLst>
              <a:ext uri="{FF2B5EF4-FFF2-40B4-BE49-F238E27FC236}">
                <a16:creationId xmlns:a16="http://schemas.microsoft.com/office/drawing/2014/main" id="{E43006C0-9CF0-4AD0-9C72-B3F9942A80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8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7179" name="Picture 7178">
            <a:extLst>
              <a:ext uri="{FF2B5EF4-FFF2-40B4-BE49-F238E27FC236}">
                <a16:creationId xmlns:a16="http://schemas.microsoft.com/office/drawing/2014/main" id="{78A20B43-EA35-4D51-8E25-05F8B334E9E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7181" name="Rectangle 7180">
            <a:extLst>
              <a:ext uri="{FF2B5EF4-FFF2-40B4-BE49-F238E27FC236}">
                <a16:creationId xmlns:a16="http://schemas.microsoft.com/office/drawing/2014/main" id="{53D1018B-412F-4D92-8F80-6D1E41C88D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83" name="Picture 2">
            <a:extLst>
              <a:ext uri="{FF2B5EF4-FFF2-40B4-BE49-F238E27FC236}">
                <a16:creationId xmlns:a16="http://schemas.microsoft.com/office/drawing/2014/main" id="{B59371E8-E3A5-457E-A234-8A4F8B8256C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Water Cycle">
            <a:extLst>
              <a:ext uri="{FF2B5EF4-FFF2-40B4-BE49-F238E27FC236}">
                <a16:creationId xmlns:a16="http://schemas.microsoft.com/office/drawing/2014/main" id="{F95CC78E-F9CE-6AFA-017B-8756621C4406}"/>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2752724" y="145000"/>
            <a:ext cx="8386763" cy="6415874"/>
          </a:xfrm>
          <a:prstGeom prst="roundRect">
            <a:avLst>
              <a:gd name="adj" fmla="val 530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a:extLst>
            <a:ext uri="{909E8E84-426E-40DD-AFC4-6F175D3DCCD1}">
              <a14:hiddenFill xmlns:a14="http://schemas.microsoft.com/office/drawing/2010/main">
                <a:solidFill>
                  <a:srgbClr val="FFFFFF"/>
                </a:solidFill>
              </a14:hiddenFill>
            </a:ext>
          </a:extLst>
        </p:spPr>
      </p:pic>
      <p:pic>
        <p:nvPicPr>
          <p:cNvPr id="7185" name="Picture 7184">
            <a:extLst>
              <a:ext uri="{FF2B5EF4-FFF2-40B4-BE49-F238E27FC236}">
                <a16:creationId xmlns:a16="http://schemas.microsoft.com/office/drawing/2014/main" id="{4108FAA8-9416-4584-94E0-E60C0EF6F22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F68B7ECF-5B9B-F311-87B4-BA5AA8BA2216}"/>
              </a:ext>
            </a:extLst>
          </p:cNvPr>
          <p:cNvSpPr>
            <a:spLocks noGrp="1"/>
          </p:cNvSpPr>
          <p:nvPr>
            <p:ph type="title"/>
          </p:nvPr>
        </p:nvSpPr>
        <p:spPr>
          <a:xfrm>
            <a:off x="-1543050" y="1419225"/>
            <a:ext cx="5781675" cy="1050924"/>
          </a:xfrm>
        </p:spPr>
        <p:txBody>
          <a:bodyPr vert="horz" lIns="91440" tIns="45720" rIns="91440" bIns="45720" rtlCol="0" anchor="b">
            <a:normAutofit/>
          </a:bodyPr>
          <a:lstStyle/>
          <a:p>
            <a:r>
              <a:rPr lang="en-US" sz="2800" b="1" dirty="0">
                <a:latin typeface="Times New Roman" panose="02020603050405020304" pitchFamily="18" charset="0"/>
                <a:cs typeface="Times New Roman" panose="02020603050405020304" pitchFamily="18" charset="0"/>
              </a:rPr>
              <a:t>Water cycle </a:t>
            </a:r>
          </a:p>
        </p:txBody>
      </p:sp>
    </p:spTree>
    <p:extLst>
      <p:ext uri="{BB962C8B-B14F-4D97-AF65-F5344CB8AC3E}">
        <p14:creationId xmlns:p14="http://schemas.microsoft.com/office/powerpoint/2010/main" val="22066025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D176-F3A7-8151-D243-65AB16C653D1}"/>
              </a:ext>
            </a:extLst>
          </p:cNvPr>
          <p:cNvSpPr>
            <a:spLocks noGrp="1"/>
          </p:cNvSpPr>
          <p:nvPr>
            <p:ph type="title"/>
          </p:nvPr>
        </p:nvSpPr>
        <p:spPr>
          <a:xfrm>
            <a:off x="-3267701" y="1866292"/>
            <a:ext cx="9592301" cy="981683"/>
          </a:xfrm>
        </p:spPr>
        <p:txBody>
          <a:bodyPr>
            <a:normAutofit/>
          </a:bodyPr>
          <a:lstStyle/>
          <a:p>
            <a:r>
              <a:rPr lang="en-IN" sz="2200" b="1" dirty="0">
                <a:latin typeface="Times New Roman" panose="02020603050405020304" pitchFamily="18" charset="0"/>
                <a:cs typeface="Times New Roman" panose="02020603050405020304" pitchFamily="18" charset="0"/>
              </a:rPr>
              <a:t>Nitrogen cycle </a:t>
            </a:r>
          </a:p>
        </p:txBody>
      </p:sp>
      <p:pic>
        <p:nvPicPr>
          <p:cNvPr id="8194" name="Picture 2" descr="What is nitrogen cycle By Unacademy">
            <a:extLst>
              <a:ext uri="{FF2B5EF4-FFF2-40B4-BE49-F238E27FC236}">
                <a16:creationId xmlns:a16="http://schemas.microsoft.com/office/drawing/2014/main" id="{D93DEF91-722F-B1CC-9762-1C0DD54559DB}"/>
              </a:ext>
            </a:extLst>
          </p:cNvPr>
          <p:cNvPicPr>
            <a:picLocks noGrp="1" noChangeAspect="1" noChangeArrowheads="1"/>
          </p:cNvPicPr>
          <p:nvPr>
            <p:ph sz="quarter" idx="13"/>
          </p:nvPr>
        </p:nvPicPr>
        <p:blipFill>
          <a:blip r:embed="rId2">
            <a:extLst>
              <a:ext uri="{28A0092B-C50C-407E-A947-70E740481C1C}">
                <a14:useLocalDpi xmlns:a14="http://schemas.microsoft.com/office/drawing/2010/main" val="0"/>
              </a:ext>
            </a:extLst>
          </a:blip>
          <a:srcRect/>
          <a:stretch>
            <a:fillRect/>
          </a:stretch>
        </p:blipFill>
        <p:spPr bwMode="auto">
          <a:xfrm>
            <a:off x="3390901" y="133499"/>
            <a:ext cx="7381874" cy="63625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20806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73603-7EFA-206F-0B08-96414C00A2D5}"/>
              </a:ext>
            </a:extLst>
          </p:cNvPr>
          <p:cNvSpPr>
            <a:spLocks noGrp="1"/>
          </p:cNvSpPr>
          <p:nvPr>
            <p:ph type="title"/>
          </p:nvPr>
        </p:nvSpPr>
        <p:spPr>
          <a:xfrm>
            <a:off x="-2247630" y="2207468"/>
            <a:ext cx="8133810" cy="796441"/>
          </a:xfrm>
        </p:spPr>
        <p:txBody>
          <a:bodyPr>
            <a:normAutofit/>
          </a:bodyPr>
          <a:lstStyle/>
          <a:p>
            <a:r>
              <a:rPr lang="en-IN" sz="3000" b="1" dirty="0">
                <a:latin typeface="Times New Roman" panose="02020603050405020304" pitchFamily="18" charset="0"/>
                <a:cs typeface="Times New Roman" panose="02020603050405020304" pitchFamily="18" charset="0"/>
              </a:rPr>
              <a:t>Carbon cycle </a:t>
            </a:r>
          </a:p>
        </p:txBody>
      </p:sp>
      <p:pic>
        <p:nvPicPr>
          <p:cNvPr id="9218" name="Picture 2" descr="Carbon Cycle - Definition, Process, Diagram Of Carbon Cycle">
            <a:extLst>
              <a:ext uri="{FF2B5EF4-FFF2-40B4-BE49-F238E27FC236}">
                <a16:creationId xmlns:a16="http://schemas.microsoft.com/office/drawing/2014/main" id="{1D870F3A-9622-7CBE-5E13-87D02A5F84B4}"/>
              </a:ext>
            </a:extLst>
          </p:cNvPr>
          <p:cNvPicPr>
            <a:picLocks noGrp="1" noChangeAspect="1" noChangeArrowheads="1"/>
          </p:cNvPicPr>
          <p:nvPr>
            <p:ph sz="quarter" idx="13"/>
          </p:nvPr>
        </p:nvPicPr>
        <p:blipFill>
          <a:blip r:embed="rId2">
            <a:extLst>
              <a:ext uri="{28A0092B-C50C-407E-A947-70E740481C1C}">
                <a14:useLocalDpi xmlns:a14="http://schemas.microsoft.com/office/drawing/2010/main" val="0"/>
              </a:ext>
            </a:extLst>
          </a:blip>
          <a:srcRect/>
          <a:stretch>
            <a:fillRect/>
          </a:stretch>
        </p:blipFill>
        <p:spPr bwMode="auto">
          <a:xfrm>
            <a:off x="3819525" y="210185"/>
            <a:ext cx="7753350" cy="64376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59948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CD805-BAB9-269C-AB9D-D664BE4C9ED6}"/>
              </a:ext>
            </a:extLst>
          </p:cNvPr>
          <p:cNvSpPr>
            <a:spLocks noGrp="1"/>
          </p:cNvSpPr>
          <p:nvPr>
            <p:ph type="title"/>
          </p:nvPr>
        </p:nvSpPr>
        <p:spPr>
          <a:xfrm>
            <a:off x="-1534151" y="2400300"/>
            <a:ext cx="6744326" cy="947869"/>
          </a:xfrm>
        </p:spPr>
        <p:txBody>
          <a:bodyPr>
            <a:normAutofit/>
          </a:bodyPr>
          <a:lstStyle/>
          <a:p>
            <a:r>
              <a:rPr lang="en-IN" sz="3000" b="1" dirty="0">
                <a:latin typeface="Times New Roman" panose="02020603050405020304" pitchFamily="18" charset="0"/>
                <a:cs typeface="Times New Roman" panose="02020603050405020304" pitchFamily="18" charset="0"/>
              </a:rPr>
              <a:t>Oxygen cycle </a:t>
            </a:r>
          </a:p>
        </p:txBody>
      </p:sp>
      <p:pic>
        <p:nvPicPr>
          <p:cNvPr id="10242" name="Picture 2" descr="Oxygen Cycle With Diagram – Definition, Steps &amp; Importance">
            <a:extLst>
              <a:ext uri="{FF2B5EF4-FFF2-40B4-BE49-F238E27FC236}">
                <a16:creationId xmlns:a16="http://schemas.microsoft.com/office/drawing/2014/main" id="{3EB52976-F305-79C5-2E72-E34853EAC2BA}"/>
              </a:ext>
            </a:extLst>
          </p:cNvPr>
          <p:cNvPicPr>
            <a:picLocks noGrp="1" noChangeAspect="1" noChangeArrowheads="1"/>
          </p:cNvPicPr>
          <p:nvPr>
            <p:ph sz="quarter" idx="13"/>
          </p:nvPr>
        </p:nvPicPr>
        <p:blipFill>
          <a:blip r:embed="rId2">
            <a:extLst>
              <a:ext uri="{28A0092B-C50C-407E-A947-70E740481C1C}">
                <a14:useLocalDpi xmlns:a14="http://schemas.microsoft.com/office/drawing/2010/main" val="0"/>
              </a:ext>
            </a:extLst>
          </a:blip>
          <a:srcRect/>
          <a:stretch>
            <a:fillRect/>
          </a:stretch>
        </p:blipFill>
        <p:spPr bwMode="auto">
          <a:xfrm>
            <a:off x="3695700" y="212221"/>
            <a:ext cx="7826055" cy="64335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67357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950CE-597D-71F1-844E-CC22DD2EDDBE}"/>
              </a:ext>
            </a:extLst>
          </p:cNvPr>
          <p:cNvSpPr>
            <a:spLocks noGrp="1"/>
          </p:cNvSpPr>
          <p:nvPr>
            <p:ph type="title"/>
          </p:nvPr>
        </p:nvSpPr>
        <p:spPr>
          <a:xfrm>
            <a:off x="1646540" y="0"/>
            <a:ext cx="8898920" cy="759118"/>
          </a:xfrm>
        </p:spPr>
        <p:txBody>
          <a:bodyPr>
            <a:normAutofit/>
          </a:bodyPr>
          <a:lstStyle/>
          <a:p>
            <a:r>
              <a:rPr lang="en-US" sz="2800" b="1" dirty="0">
                <a:latin typeface="Times New Roman" panose="02020603050405020304" pitchFamily="18" charset="0"/>
                <a:cs typeface="Times New Roman" panose="02020603050405020304" pitchFamily="18" charset="0"/>
              </a:rPr>
              <a:t>Forest ecosystem </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8B089EA-5DE4-9B82-8C16-672E0F7A99D4}"/>
              </a:ext>
            </a:extLst>
          </p:cNvPr>
          <p:cNvSpPr>
            <a:spLocks noGrp="1"/>
          </p:cNvSpPr>
          <p:nvPr>
            <p:ph sz="quarter" idx="13"/>
          </p:nvPr>
        </p:nvSpPr>
        <p:spPr>
          <a:xfrm>
            <a:off x="354563" y="923731"/>
            <a:ext cx="10792408" cy="4027713"/>
          </a:xfrm>
        </p:spPr>
        <p:txBody>
          <a:bodyPr>
            <a:normAutofit/>
          </a:bodyPr>
          <a:lstStyle/>
          <a:p>
            <a:r>
              <a:rPr lang="en-US" sz="2200" cap="none" dirty="0">
                <a:latin typeface="Times New Roman" panose="02020603050405020304" pitchFamily="18" charset="0"/>
                <a:cs typeface="Times New Roman" panose="02020603050405020304" pitchFamily="18" charset="0"/>
              </a:rPr>
              <a:t>It has 2 components : </a:t>
            </a:r>
          </a:p>
          <a:p>
            <a:r>
              <a:rPr lang="en-US" sz="2200" cap="none" dirty="0">
                <a:latin typeface="Times New Roman" panose="02020603050405020304" pitchFamily="18" charset="0"/>
                <a:cs typeface="Times New Roman" panose="02020603050405020304" pitchFamily="18" charset="0"/>
              </a:rPr>
              <a:t>Biotic that includes plants and animal communities, types of forests, their products etc. </a:t>
            </a:r>
          </a:p>
          <a:p>
            <a:r>
              <a:rPr lang="en-US" sz="2200" cap="none" dirty="0">
                <a:latin typeface="Times New Roman" panose="02020603050405020304" pitchFamily="18" charset="0"/>
                <a:cs typeface="Times New Roman" panose="02020603050405020304" pitchFamily="18" charset="0"/>
              </a:rPr>
              <a:t>Abiotic that includes the mountains, river valleys, hills, amount oof rainfall, local temperature, precipitation, humidity etc. </a:t>
            </a:r>
          </a:p>
        </p:txBody>
      </p:sp>
      <p:sp>
        <p:nvSpPr>
          <p:cNvPr id="4" name="Rectangle 1">
            <a:extLst>
              <a:ext uri="{FF2B5EF4-FFF2-40B4-BE49-F238E27FC236}">
                <a16:creationId xmlns:a16="http://schemas.microsoft.com/office/drawing/2014/main" id="{F63E7ADF-E6D6-8022-95CE-67AB2C026A0D}"/>
              </a:ext>
            </a:extLst>
          </p:cNvPr>
          <p:cNvSpPr>
            <a:spLocks noChangeArrowheads="1"/>
          </p:cNvSpPr>
          <p:nvPr/>
        </p:nvSpPr>
        <p:spPr bwMode="auto">
          <a:xfrm>
            <a:off x="0" y="-338811"/>
            <a:ext cx="65" cy="677623"/>
          </a:xfrm>
          <a:prstGeom prst="rect">
            <a:avLst/>
          </a:prstGeom>
          <a:solidFill>
            <a:srgbClr val="34354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9C06C711-B10F-DC5B-65BA-21A74FC767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6628" y="3047509"/>
            <a:ext cx="7212563" cy="3157348"/>
          </a:xfrm>
          <a:prstGeom prst="rect">
            <a:avLst/>
          </a:prstGeom>
        </p:spPr>
      </p:pic>
    </p:spTree>
    <p:extLst>
      <p:ext uri="{BB962C8B-B14F-4D97-AF65-F5344CB8AC3E}">
        <p14:creationId xmlns:p14="http://schemas.microsoft.com/office/powerpoint/2010/main" val="22308790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BAAB708-713C-D147-2811-53AD41171888}"/>
              </a:ext>
            </a:extLst>
          </p:cNvPr>
          <p:cNvSpPr>
            <a:spLocks noGrp="1"/>
          </p:cNvSpPr>
          <p:nvPr>
            <p:ph sz="quarter" idx="13"/>
          </p:nvPr>
        </p:nvSpPr>
        <p:spPr>
          <a:xfrm>
            <a:off x="93663" y="107156"/>
            <a:ext cx="12098337" cy="6643688"/>
          </a:xfrm>
        </p:spPr>
        <p:txBody>
          <a:bodyPr>
            <a:normAutofit fontScale="92500"/>
          </a:bodyPr>
          <a:lstStyle/>
          <a:p>
            <a:pPr algn="just">
              <a:lnSpc>
                <a:spcPct val="150000"/>
              </a:lnSpc>
            </a:pPr>
            <a:r>
              <a:rPr lang="en-US" sz="2200" b="1" cap="none" dirty="0">
                <a:latin typeface="Times New Roman" panose="02020603050405020304" pitchFamily="18" charset="0"/>
                <a:cs typeface="Times New Roman" panose="02020603050405020304" pitchFamily="18" charset="0"/>
              </a:rPr>
              <a:t>Tropical Rainforests:  </a:t>
            </a:r>
            <a:r>
              <a:rPr lang="en-US" sz="2200" cap="none" dirty="0">
                <a:latin typeface="Times New Roman" panose="02020603050405020304" pitchFamily="18" charset="0"/>
                <a:cs typeface="Times New Roman" panose="02020603050405020304" pitchFamily="18" charset="0"/>
              </a:rPr>
              <a:t>Located near the equator, these forests are characterized by high temperatures and heavy rainfall throughout the year.</a:t>
            </a:r>
          </a:p>
          <a:p>
            <a:pPr algn="just">
              <a:lnSpc>
                <a:spcPct val="150000"/>
              </a:lnSpc>
            </a:pPr>
            <a:r>
              <a:rPr lang="en-US" sz="2200" cap="none" dirty="0">
                <a:latin typeface="Times New Roman" panose="02020603050405020304" pitchFamily="18" charset="0"/>
                <a:cs typeface="Times New Roman" panose="02020603050405020304" pitchFamily="18" charset="0"/>
              </a:rPr>
              <a:t>They are incredibly biodiverse, hosting a wide variety of plant and animal species.</a:t>
            </a:r>
          </a:p>
          <a:p>
            <a:pPr algn="just">
              <a:lnSpc>
                <a:spcPct val="150000"/>
              </a:lnSpc>
            </a:pPr>
            <a:r>
              <a:rPr lang="en-US" sz="2200" cap="none" dirty="0">
                <a:latin typeface="Times New Roman" panose="02020603050405020304" pitchFamily="18" charset="0"/>
                <a:cs typeface="Times New Roman" panose="02020603050405020304" pitchFamily="18" charset="0"/>
              </a:rPr>
              <a:t>Tropical rainforests are often referred to as the "lungs of the earth" due to their significant role in oxygen production.</a:t>
            </a:r>
          </a:p>
          <a:p>
            <a:pPr algn="just">
              <a:lnSpc>
                <a:spcPct val="150000"/>
              </a:lnSpc>
            </a:pPr>
            <a:r>
              <a:rPr lang="en-US" sz="2200" b="1" cap="none" dirty="0">
                <a:latin typeface="Times New Roman" panose="02020603050405020304" pitchFamily="18" charset="0"/>
                <a:cs typeface="Times New Roman" panose="02020603050405020304" pitchFamily="18" charset="0"/>
              </a:rPr>
              <a:t>Temperate Forests:  </a:t>
            </a:r>
            <a:r>
              <a:rPr lang="en-US" sz="2200" cap="none" dirty="0">
                <a:latin typeface="Times New Roman" panose="02020603050405020304" pitchFamily="18" charset="0"/>
                <a:cs typeface="Times New Roman" panose="02020603050405020304" pitchFamily="18" charset="0"/>
              </a:rPr>
              <a:t>Found in regions with distinct seasons, including North America, Europe, and parts of Asia.</a:t>
            </a:r>
          </a:p>
          <a:p>
            <a:pPr algn="just">
              <a:lnSpc>
                <a:spcPct val="150000"/>
              </a:lnSpc>
            </a:pPr>
            <a:r>
              <a:rPr lang="en-US" sz="2200" cap="none" dirty="0">
                <a:latin typeface="Times New Roman" panose="02020603050405020304" pitchFamily="18" charset="0"/>
                <a:cs typeface="Times New Roman" panose="02020603050405020304" pitchFamily="18" charset="0"/>
              </a:rPr>
              <a:t>These forests experience four distinct seasons: spring, summer, autumn, and winter.</a:t>
            </a:r>
          </a:p>
          <a:p>
            <a:pPr algn="just">
              <a:lnSpc>
                <a:spcPct val="150000"/>
              </a:lnSpc>
            </a:pPr>
            <a:r>
              <a:rPr lang="en-US" sz="2200" cap="none" dirty="0">
                <a:latin typeface="Times New Roman" panose="02020603050405020304" pitchFamily="18" charset="0"/>
                <a:cs typeface="Times New Roman" panose="02020603050405020304" pitchFamily="18" charset="0"/>
              </a:rPr>
              <a:t>They are home to diverse tree species, such as oak, maple, and beech.</a:t>
            </a:r>
          </a:p>
          <a:p>
            <a:pPr algn="just">
              <a:lnSpc>
                <a:spcPct val="150000"/>
              </a:lnSpc>
            </a:pPr>
            <a:r>
              <a:rPr lang="en-US" sz="2200" b="1" cap="none" dirty="0">
                <a:latin typeface="Times New Roman" panose="02020603050405020304" pitchFamily="18" charset="0"/>
                <a:cs typeface="Times New Roman" panose="02020603050405020304" pitchFamily="18" charset="0"/>
              </a:rPr>
              <a:t>Boreal Forests (Taiga): </a:t>
            </a:r>
            <a:r>
              <a:rPr lang="en-US" sz="2200" cap="none" dirty="0">
                <a:latin typeface="Times New Roman" panose="02020603050405020304" pitchFamily="18" charset="0"/>
                <a:cs typeface="Times New Roman" panose="02020603050405020304" pitchFamily="18" charset="0"/>
              </a:rPr>
              <a:t>Extending across the northern regions of North America, Europe, and Asia, the taiga is the world's largest terrestrial biome.</a:t>
            </a:r>
          </a:p>
          <a:p>
            <a:pPr algn="just">
              <a:lnSpc>
                <a:spcPct val="150000"/>
              </a:lnSpc>
            </a:pPr>
            <a:r>
              <a:rPr lang="en-US" sz="2200" cap="none" dirty="0">
                <a:latin typeface="Times New Roman" panose="02020603050405020304" pitchFamily="18" charset="0"/>
                <a:cs typeface="Times New Roman" panose="02020603050405020304" pitchFamily="18" charset="0"/>
              </a:rPr>
              <a:t>Characterized by cold winters, short summers, and coniferous trees like spruce, fir, and pine.</a:t>
            </a:r>
          </a:p>
          <a:p>
            <a:pPr algn="just">
              <a:lnSpc>
                <a:spcPct val="150000"/>
              </a:lnSpc>
            </a:pPr>
            <a:r>
              <a:rPr lang="en-US" sz="2200" cap="none" dirty="0">
                <a:latin typeface="Times New Roman" panose="02020603050405020304" pitchFamily="18" charset="0"/>
                <a:cs typeface="Times New Roman" panose="02020603050405020304" pitchFamily="18" charset="0"/>
              </a:rPr>
              <a:t>Wildlife in the taiga includes bears, wolves, and various migratory birds.</a:t>
            </a:r>
            <a:endParaRPr lang="en-IN" sz="2200" cap="none" dirty="0">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ECC166F4-AD64-E37B-741C-A2F42E00B841}"/>
              </a:ext>
            </a:extLst>
          </p:cNvPr>
          <p:cNvSpPr>
            <a:spLocks noChangeArrowheads="1"/>
          </p:cNvSpPr>
          <p:nvPr/>
        </p:nvSpPr>
        <p:spPr bwMode="auto">
          <a:xfrm>
            <a:off x="0" y="-308035"/>
            <a:ext cx="65" cy="616068"/>
          </a:xfrm>
          <a:prstGeom prst="rect">
            <a:avLst/>
          </a:prstGeom>
          <a:solidFill>
            <a:srgbClr val="34354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06648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671F87-D0A0-83F1-3E7C-0FDF97FB178A}"/>
              </a:ext>
            </a:extLst>
          </p:cNvPr>
          <p:cNvSpPr>
            <a:spLocks noGrp="1"/>
          </p:cNvSpPr>
          <p:nvPr>
            <p:ph sz="quarter" idx="13"/>
          </p:nvPr>
        </p:nvSpPr>
        <p:spPr>
          <a:xfrm>
            <a:off x="102637" y="0"/>
            <a:ext cx="11933853" cy="6858000"/>
          </a:xfrm>
        </p:spPr>
        <p:txBody>
          <a:bodyPr>
            <a:normAutofit/>
          </a:bodyPr>
          <a:lstStyle/>
          <a:p>
            <a:pPr algn="just"/>
            <a:r>
              <a:rPr lang="en-US" b="1" cap="none" dirty="0">
                <a:latin typeface="Times New Roman" panose="02020603050405020304" pitchFamily="18" charset="0"/>
                <a:cs typeface="Times New Roman" panose="02020603050405020304" pitchFamily="18" charset="0"/>
              </a:rPr>
              <a:t>Deciduous Forests</a:t>
            </a:r>
            <a:r>
              <a:rPr lang="en-US" cap="none" dirty="0">
                <a:latin typeface="Times New Roman" panose="02020603050405020304" pitchFamily="18" charset="0"/>
                <a:cs typeface="Times New Roman" panose="02020603050405020304" pitchFamily="18" charset="0"/>
              </a:rPr>
              <a:t>: found in areas with moderate rainfall and distinct seasons, including parts of North America, Europe, and Asia.</a:t>
            </a:r>
          </a:p>
          <a:p>
            <a:pPr algn="just"/>
            <a:r>
              <a:rPr lang="en-US" cap="none" dirty="0">
                <a:latin typeface="Times New Roman" panose="02020603050405020304" pitchFamily="18" charset="0"/>
                <a:cs typeface="Times New Roman" panose="02020603050405020304" pitchFamily="18" charset="0"/>
              </a:rPr>
              <a:t>Dominated by trees that shed their leaves in the fall, such as oak, maple, and hickory.</a:t>
            </a:r>
          </a:p>
          <a:p>
            <a:pPr algn="just"/>
            <a:r>
              <a:rPr lang="en-US" cap="none" dirty="0">
                <a:latin typeface="Times New Roman" panose="02020603050405020304" pitchFamily="18" charset="0"/>
                <a:cs typeface="Times New Roman" panose="02020603050405020304" pitchFamily="18" charset="0"/>
              </a:rPr>
              <a:t> These forests are known for their vibrant foliage during the autumn months.</a:t>
            </a:r>
          </a:p>
          <a:p>
            <a:pPr algn="just"/>
            <a:r>
              <a:rPr lang="en-US" b="1" cap="none" dirty="0">
                <a:latin typeface="Times New Roman" panose="02020603050405020304" pitchFamily="18" charset="0"/>
                <a:cs typeface="Times New Roman" panose="02020603050405020304" pitchFamily="18" charset="0"/>
              </a:rPr>
              <a:t>Coniferous Forests: </a:t>
            </a:r>
            <a:r>
              <a:rPr lang="en-US" cap="none" dirty="0">
                <a:latin typeface="Times New Roman" panose="02020603050405020304" pitchFamily="18" charset="0"/>
                <a:cs typeface="Times New Roman" panose="02020603050405020304" pitchFamily="18" charset="0"/>
              </a:rPr>
              <a:t>typically found in colder, northern regions where temperatures remain low throughout the year.</a:t>
            </a:r>
          </a:p>
          <a:p>
            <a:pPr algn="just"/>
            <a:r>
              <a:rPr lang="en-US" cap="none" dirty="0">
                <a:latin typeface="Times New Roman" panose="02020603050405020304" pitchFamily="18" charset="0"/>
                <a:cs typeface="Times New Roman" panose="02020603050405020304" pitchFamily="18" charset="0"/>
              </a:rPr>
              <a:t> composed mainly of evergreen trees like pine, spruce, and fir.</a:t>
            </a:r>
          </a:p>
          <a:p>
            <a:pPr algn="just"/>
            <a:r>
              <a:rPr lang="en-US" cap="none" dirty="0">
                <a:latin typeface="Times New Roman" panose="02020603050405020304" pitchFamily="18" charset="0"/>
                <a:cs typeface="Times New Roman" panose="02020603050405020304" pitchFamily="18" charset="0"/>
              </a:rPr>
              <a:t> Coniferous forests are adapted to survive harsh winter conditions.</a:t>
            </a:r>
          </a:p>
          <a:p>
            <a:pPr algn="just"/>
            <a:r>
              <a:rPr lang="en-US" b="1" cap="none" dirty="0">
                <a:latin typeface="Times New Roman" panose="02020603050405020304" pitchFamily="18" charset="0"/>
                <a:cs typeface="Times New Roman" panose="02020603050405020304" pitchFamily="18" charset="0"/>
              </a:rPr>
              <a:t>Mangrove Forests: </a:t>
            </a:r>
            <a:r>
              <a:rPr lang="en-US" cap="none" dirty="0">
                <a:latin typeface="Times New Roman" panose="02020603050405020304" pitchFamily="18" charset="0"/>
                <a:cs typeface="Times New Roman" panose="02020603050405020304" pitchFamily="18" charset="0"/>
              </a:rPr>
              <a:t>These unique coastal ecosystems are characterized by salt-tolerant trees and shrubs.</a:t>
            </a:r>
          </a:p>
          <a:p>
            <a:pPr algn="just"/>
            <a:r>
              <a:rPr lang="en-US" cap="none" dirty="0">
                <a:latin typeface="Times New Roman" panose="02020603050405020304" pitchFamily="18" charset="0"/>
                <a:cs typeface="Times New Roman" panose="02020603050405020304" pitchFamily="18" charset="0"/>
              </a:rPr>
              <a:t>Found in tropical and subtropical regions, mangroves protect coastlines from erosion and provide vital habitat for numerous aquatic species.</a:t>
            </a:r>
          </a:p>
          <a:p>
            <a:pPr algn="just"/>
            <a:r>
              <a:rPr lang="en-US" b="1" cap="none" dirty="0">
                <a:latin typeface="Times New Roman" panose="02020603050405020304" pitchFamily="18" charset="0"/>
                <a:cs typeface="Times New Roman" panose="02020603050405020304" pitchFamily="18" charset="0"/>
              </a:rPr>
              <a:t>Montane Forests: </a:t>
            </a:r>
            <a:r>
              <a:rPr lang="en-US" cap="none" dirty="0">
                <a:latin typeface="Times New Roman" panose="02020603050405020304" pitchFamily="18" charset="0"/>
                <a:cs typeface="Times New Roman" panose="02020603050405020304" pitchFamily="18" charset="0"/>
              </a:rPr>
              <a:t>Located in mountainous regions at higher altitudes, these forests are subject to colder temperatures and lower oxygen levels.</a:t>
            </a:r>
          </a:p>
          <a:p>
            <a:pPr algn="just"/>
            <a:r>
              <a:rPr lang="en-US" cap="none" dirty="0">
                <a:latin typeface="Times New Roman" panose="02020603050405020304" pitchFamily="18" charset="0"/>
                <a:cs typeface="Times New Roman" panose="02020603050405020304" pitchFamily="18" charset="0"/>
              </a:rPr>
              <a:t>Plant and animal species in montane forests have adapted to the challenging mountain environment.</a:t>
            </a:r>
            <a:endParaRPr lang="en-IN"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73217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06F628-E80C-A6FA-9E8C-446D31158BAF}"/>
              </a:ext>
            </a:extLst>
          </p:cNvPr>
          <p:cNvSpPr>
            <a:spLocks noGrp="1"/>
          </p:cNvSpPr>
          <p:nvPr>
            <p:ph sz="quarter" idx="13"/>
          </p:nvPr>
        </p:nvSpPr>
        <p:spPr>
          <a:xfrm>
            <a:off x="177281" y="214604"/>
            <a:ext cx="11933853" cy="5576595"/>
          </a:xfrm>
        </p:spPr>
        <p:txBody>
          <a:bodyPr/>
          <a:lstStyle/>
          <a:p>
            <a:pPr algn="just">
              <a:lnSpc>
                <a:spcPct val="150000"/>
              </a:lnSpc>
            </a:pPr>
            <a:r>
              <a:rPr lang="en-US" b="1" cap="none" dirty="0">
                <a:latin typeface="Times New Roman" panose="02020603050405020304" pitchFamily="18" charset="0"/>
                <a:cs typeface="Times New Roman" panose="02020603050405020304" pitchFamily="18" charset="0"/>
              </a:rPr>
              <a:t> Dry or desert forests: </a:t>
            </a:r>
            <a:r>
              <a:rPr lang="en-US" cap="none" dirty="0">
                <a:latin typeface="Times New Roman" panose="02020603050405020304" pitchFamily="18" charset="0"/>
                <a:cs typeface="Times New Roman" panose="02020603050405020304" pitchFamily="18" charset="0"/>
              </a:rPr>
              <a:t>Found in arid regions with limited rainfall, such as deserts and semi-arid areas.</a:t>
            </a:r>
          </a:p>
          <a:p>
            <a:pPr algn="just">
              <a:lnSpc>
                <a:spcPct val="150000"/>
              </a:lnSpc>
            </a:pPr>
            <a:r>
              <a:rPr lang="en-US" cap="none" dirty="0">
                <a:latin typeface="Times New Roman" panose="02020603050405020304" pitchFamily="18" charset="0"/>
                <a:cs typeface="Times New Roman" panose="02020603050405020304" pitchFamily="18" charset="0"/>
              </a:rPr>
              <a:t> Plant and animal life in these forests have evolved to thrive in harsh, water-scarce conditions.</a:t>
            </a:r>
          </a:p>
          <a:p>
            <a:pPr algn="just">
              <a:lnSpc>
                <a:spcPct val="150000"/>
              </a:lnSpc>
            </a:pPr>
            <a:r>
              <a:rPr lang="en-US" b="1" cap="none" dirty="0">
                <a:latin typeface="Times New Roman" panose="02020603050405020304" pitchFamily="18" charset="0"/>
                <a:cs typeface="Times New Roman" panose="02020603050405020304" pitchFamily="18" charset="0"/>
              </a:rPr>
              <a:t> Tundra: </a:t>
            </a:r>
            <a:r>
              <a:rPr lang="en-US" cap="none" dirty="0">
                <a:latin typeface="Times New Roman" panose="02020603050405020304" pitchFamily="18" charset="0"/>
                <a:cs typeface="Times New Roman" panose="02020603050405020304" pitchFamily="18" charset="0"/>
              </a:rPr>
              <a:t>The tundra biome is characterized by extremely cold temperatures, permafrost, and a short growing season.</a:t>
            </a:r>
          </a:p>
          <a:p>
            <a:pPr algn="just">
              <a:lnSpc>
                <a:spcPct val="150000"/>
              </a:lnSpc>
            </a:pPr>
            <a:r>
              <a:rPr lang="en-US" cap="none" dirty="0">
                <a:latin typeface="Times New Roman" panose="02020603050405020304" pitchFamily="18" charset="0"/>
                <a:cs typeface="Times New Roman" panose="02020603050405020304" pitchFamily="18" charset="0"/>
              </a:rPr>
              <a:t>Vegetation consists of hardy plants like mosses, lichens, and dwarf shrubs, with limited tree growth.</a:t>
            </a:r>
          </a:p>
          <a:p>
            <a:pPr algn="just">
              <a:lnSpc>
                <a:spcPct val="150000"/>
              </a:lnSpc>
            </a:pPr>
            <a:r>
              <a:rPr lang="en-US" cap="none" dirty="0">
                <a:latin typeface="Times New Roman" panose="02020603050405020304" pitchFamily="18" charset="0"/>
                <a:cs typeface="Times New Roman" panose="02020603050405020304" pitchFamily="18" charset="0"/>
              </a:rPr>
              <a:t>Tundra ecosystems are home to unique wildlife like reindeer, arctic foxes, and polar bears.</a:t>
            </a:r>
          </a:p>
          <a:p>
            <a:pPr algn="just">
              <a:lnSpc>
                <a:spcPct val="150000"/>
              </a:lnSpc>
            </a:pPr>
            <a:endParaRPr lang="en-US" cap="none" dirty="0">
              <a:latin typeface="Times New Roman" panose="02020603050405020304" pitchFamily="18" charset="0"/>
              <a:cs typeface="Times New Roman" panose="02020603050405020304" pitchFamily="18" charset="0"/>
            </a:endParaRPr>
          </a:p>
          <a:p>
            <a:pPr algn="just">
              <a:lnSpc>
                <a:spcPct val="150000"/>
              </a:lnSpc>
            </a:pPr>
            <a:r>
              <a:rPr lang="en-US" cap="none" dirty="0">
                <a:latin typeface="Times New Roman" panose="02020603050405020304" pitchFamily="18" charset="0"/>
                <a:cs typeface="Times New Roman" panose="02020603050405020304" pitchFamily="18" charset="0"/>
              </a:rPr>
              <a:t>(FUNCTIONS OF FOREST)</a:t>
            </a:r>
            <a:endParaRPr lang="en-IN"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39965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DD393-5312-9449-C325-99EE7E3BB1E1}"/>
              </a:ext>
            </a:extLst>
          </p:cNvPr>
          <p:cNvSpPr>
            <a:spLocks noGrp="1"/>
          </p:cNvSpPr>
          <p:nvPr>
            <p:ph type="title"/>
          </p:nvPr>
        </p:nvSpPr>
        <p:spPr>
          <a:xfrm>
            <a:off x="2542279" y="-124636"/>
            <a:ext cx="7107442" cy="693804"/>
          </a:xfrm>
        </p:spPr>
        <p:txBody>
          <a:bodyPr>
            <a:normAutofit/>
          </a:bodyPr>
          <a:lstStyle/>
          <a:p>
            <a:r>
              <a:rPr lang="en-US" sz="2800" b="1" dirty="0">
                <a:latin typeface="Times New Roman" panose="02020603050405020304" pitchFamily="18" charset="0"/>
                <a:cs typeface="Times New Roman" panose="02020603050405020304" pitchFamily="18" charset="0"/>
              </a:rPr>
              <a:t>GRASSLAND ECOSYSTEM </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B276A64-7509-1757-07BF-A6E1754C12AE}"/>
              </a:ext>
            </a:extLst>
          </p:cNvPr>
          <p:cNvSpPr>
            <a:spLocks noGrp="1"/>
          </p:cNvSpPr>
          <p:nvPr>
            <p:ph sz="quarter" idx="13"/>
          </p:nvPr>
        </p:nvSpPr>
        <p:spPr>
          <a:xfrm>
            <a:off x="195943" y="335903"/>
            <a:ext cx="11084768" cy="5439746"/>
          </a:xfrm>
        </p:spPr>
        <p:txBody>
          <a:bodyPr>
            <a:noAutofit/>
          </a:bodyPr>
          <a:lstStyle/>
          <a:p>
            <a:pPr algn="just">
              <a:lnSpc>
                <a:spcPct val="170000"/>
              </a:lnSpc>
            </a:pPr>
            <a:r>
              <a:rPr lang="en-US" sz="1800" cap="none" dirty="0">
                <a:latin typeface="Times New Roman" panose="02020603050405020304" pitchFamily="18" charset="0"/>
                <a:cs typeface="Times New Roman" panose="02020603050405020304" pitchFamily="18" charset="0"/>
              </a:rPr>
              <a:t>Grasslands are ecosystems with wide fields of grasses and herbaceous plants and few trees or shrubs. </a:t>
            </a:r>
          </a:p>
          <a:p>
            <a:pPr algn="just">
              <a:lnSpc>
                <a:spcPct val="170000"/>
              </a:lnSpc>
            </a:pPr>
            <a:r>
              <a:rPr lang="en-US" sz="1800" cap="none" dirty="0">
                <a:latin typeface="Times New Roman" panose="02020603050405020304" pitchFamily="18" charset="0"/>
                <a:cs typeface="Times New Roman" panose="02020603050405020304" pitchFamily="18" charset="0"/>
              </a:rPr>
              <a:t>They are present on all continents except Antarctica and play an important role in global ecosystems and human cultures.</a:t>
            </a:r>
          </a:p>
          <a:p>
            <a:pPr algn="just">
              <a:lnSpc>
                <a:spcPct val="170000"/>
              </a:lnSpc>
            </a:pPr>
            <a:r>
              <a:rPr lang="en-US" sz="1800" b="1" cap="none" dirty="0">
                <a:latin typeface="Times New Roman" panose="02020603050405020304" pitchFamily="18" charset="0"/>
                <a:cs typeface="Times New Roman" panose="02020603050405020304" pitchFamily="18" charset="0"/>
              </a:rPr>
              <a:t>Temperate grasslands and tropical grasslands </a:t>
            </a:r>
            <a:r>
              <a:rPr lang="en-US" sz="1800" cap="none" dirty="0">
                <a:latin typeface="Times New Roman" panose="02020603050405020304" pitchFamily="18" charset="0"/>
                <a:cs typeface="Times New Roman" panose="02020603050405020304" pitchFamily="18" charset="0"/>
              </a:rPr>
              <a:t>(sometimes known as savannas) are the two main types of grasslands.</a:t>
            </a:r>
          </a:p>
          <a:p>
            <a:pPr algn="just">
              <a:lnSpc>
                <a:spcPct val="170000"/>
              </a:lnSpc>
            </a:pPr>
            <a:r>
              <a:rPr lang="en-US" sz="1800" b="1" cap="none" dirty="0">
                <a:latin typeface="Times New Roman" panose="02020603050405020304" pitchFamily="18" charset="0"/>
                <a:cs typeface="Times New Roman" panose="02020603050405020304" pitchFamily="18" charset="0"/>
              </a:rPr>
              <a:t>TEMPERATE GRASSLANDS: </a:t>
            </a:r>
            <a:r>
              <a:rPr lang="en-US" sz="1800" cap="none" dirty="0">
                <a:latin typeface="Times New Roman" panose="02020603050405020304" pitchFamily="18" charset="0"/>
                <a:cs typeface="Times New Roman" panose="02020603050405020304" pitchFamily="18" charset="0"/>
              </a:rPr>
              <a:t>Located in areas with significant seasonal temperature changes, such as North America's Great Plains, Eurasia's Russian steppes, South America's Pampas, and Australia.</a:t>
            </a:r>
          </a:p>
          <a:p>
            <a:pPr algn="just">
              <a:lnSpc>
                <a:spcPct val="170000"/>
              </a:lnSpc>
            </a:pPr>
            <a:r>
              <a:rPr lang="en-US" sz="1800" cap="none" dirty="0">
                <a:latin typeface="Times New Roman" panose="02020603050405020304" pitchFamily="18" charset="0"/>
                <a:cs typeface="Times New Roman" panose="02020603050405020304" pitchFamily="18" charset="0"/>
              </a:rPr>
              <a:t>Grasses dominate the vegetation, with only a few trees and bushes present.</a:t>
            </a:r>
          </a:p>
          <a:p>
            <a:pPr algn="just">
              <a:lnSpc>
                <a:spcPct val="170000"/>
              </a:lnSpc>
            </a:pPr>
            <a:r>
              <a:rPr lang="en-US" sz="1800" cap="none" dirty="0">
                <a:latin typeface="Times New Roman" panose="02020603050405020304" pitchFamily="18" charset="0"/>
                <a:cs typeface="Times New Roman" panose="02020603050405020304" pitchFamily="18" charset="0"/>
              </a:rPr>
              <a:t>These grasslands have chilly winters and scorching summers, and they frequently face droughts and fires.</a:t>
            </a:r>
          </a:p>
          <a:p>
            <a:pPr algn="just">
              <a:lnSpc>
                <a:spcPct val="170000"/>
              </a:lnSpc>
            </a:pPr>
            <a:r>
              <a:rPr lang="en-US" sz="1800" cap="none" dirty="0">
                <a:latin typeface="Times New Roman" panose="02020603050405020304" pitchFamily="18" charset="0"/>
                <a:cs typeface="Times New Roman" panose="02020603050405020304" pitchFamily="18" charset="0"/>
              </a:rPr>
              <a:t>Large herbivores such as bison, pronghorn, and gazelles, as well as predators and many bird species, live in temperate grasslands.</a:t>
            </a:r>
          </a:p>
          <a:p>
            <a:pPr algn="just">
              <a:lnSpc>
                <a:spcPct val="170000"/>
              </a:lnSpc>
            </a:pPr>
            <a:r>
              <a:rPr lang="en-US" sz="1800" cap="none" dirty="0">
                <a:latin typeface="Times New Roman" panose="02020603050405020304" pitchFamily="18" charset="0"/>
                <a:cs typeface="Times New Roman" panose="02020603050405020304" pitchFamily="18" charset="0"/>
              </a:rPr>
              <a:t>These ecosystems are also extremely beneficial for agriculture since wheat, maize, and soybeans are widely farmed in these areas.</a:t>
            </a:r>
            <a:endParaRPr lang="en-IN" sz="1800"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39617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ADB6A1D-FDCD-8470-2B67-AD7234AE2D1A}"/>
              </a:ext>
            </a:extLst>
          </p:cNvPr>
          <p:cNvSpPr>
            <a:spLocks noGrp="1"/>
          </p:cNvSpPr>
          <p:nvPr>
            <p:ph sz="quarter" idx="13"/>
          </p:nvPr>
        </p:nvSpPr>
        <p:spPr>
          <a:xfrm>
            <a:off x="121298" y="149290"/>
            <a:ext cx="11887200" cy="6494105"/>
          </a:xfrm>
        </p:spPr>
        <p:txBody>
          <a:bodyPr>
            <a:normAutofit/>
          </a:bodyPr>
          <a:lstStyle/>
          <a:p>
            <a:pPr algn="just"/>
            <a:r>
              <a:rPr lang="en-US" b="1" cap="none" dirty="0">
                <a:latin typeface="Times New Roman" panose="02020603050405020304" pitchFamily="18" charset="0"/>
                <a:cs typeface="Times New Roman" panose="02020603050405020304" pitchFamily="18" charset="0"/>
              </a:rPr>
              <a:t>Savannas (tropical grasslands</a:t>
            </a:r>
            <a:r>
              <a:rPr lang="en-US" cap="none" dirty="0">
                <a:latin typeface="Times New Roman" panose="02020603050405020304" pitchFamily="18" charset="0"/>
                <a:cs typeface="Times New Roman" panose="02020603050405020304" pitchFamily="18" charset="0"/>
              </a:rPr>
              <a:t>): </a:t>
            </a:r>
          </a:p>
          <a:p>
            <a:pPr algn="just"/>
            <a:r>
              <a:rPr lang="en-US" cap="none" dirty="0">
                <a:latin typeface="Times New Roman" panose="02020603050405020304" pitchFamily="18" charset="0"/>
                <a:cs typeface="Times New Roman" panose="02020603050405020304" pitchFamily="18" charset="0"/>
              </a:rPr>
              <a:t>Found in tropical places with year-round mild temperatures, such as Africa, South America, Australia, and portions of Asia.</a:t>
            </a:r>
          </a:p>
          <a:p>
            <a:pPr algn="just"/>
            <a:r>
              <a:rPr lang="en-US" cap="none" dirty="0">
                <a:latin typeface="Times New Roman" panose="02020603050405020304" pitchFamily="18" charset="0"/>
                <a:cs typeface="Times New Roman" panose="02020603050405020304" pitchFamily="18" charset="0"/>
              </a:rPr>
              <a:t>Savannas are often composed of a patchwork of grasslands and scattered trees or bushes.</a:t>
            </a:r>
          </a:p>
          <a:p>
            <a:pPr algn="just"/>
            <a:r>
              <a:rPr lang="en-US" cap="none" dirty="0">
                <a:latin typeface="Times New Roman" panose="02020603050405020304" pitchFamily="18" charset="0"/>
                <a:cs typeface="Times New Roman" panose="02020603050405020304" pitchFamily="18" charset="0"/>
              </a:rPr>
              <a:t>These ecosystems have distinct wet and dry seasons, with protracted drought spells throughout the dry season.</a:t>
            </a:r>
          </a:p>
          <a:p>
            <a:pPr algn="just"/>
            <a:r>
              <a:rPr lang="en-US" cap="none" dirty="0">
                <a:latin typeface="Times New Roman" panose="02020603050405020304" pitchFamily="18" charset="0"/>
                <a:cs typeface="Times New Roman" panose="02020603050405020304" pitchFamily="18" charset="0"/>
              </a:rPr>
              <a:t>Savanna fauna includes huge herbivores such as elephants, giraffes, zebras, and antelopes, as well as predators like as lions, cheetahs, and hyenas.</a:t>
            </a:r>
          </a:p>
          <a:p>
            <a:pPr algn="just"/>
            <a:r>
              <a:rPr lang="en-US" cap="none" dirty="0">
                <a:latin typeface="Times New Roman" panose="02020603050405020304" pitchFamily="18" charset="0"/>
                <a:cs typeface="Times New Roman" panose="02020603050405020304" pitchFamily="18" charset="0"/>
              </a:rPr>
              <a:t>Savannas are frequently inhabited by nomadic or semi-nomadic human tribes that rely on agriculture.</a:t>
            </a:r>
          </a:p>
          <a:p>
            <a:pPr marL="0" indent="0" algn="just">
              <a:buNone/>
            </a:pPr>
            <a:endParaRPr lang="en-US" cap="none" dirty="0">
              <a:latin typeface="Times New Roman" panose="02020603050405020304" pitchFamily="18" charset="0"/>
              <a:cs typeface="Times New Roman" panose="02020603050405020304" pitchFamily="18" charset="0"/>
            </a:endParaRPr>
          </a:p>
          <a:p>
            <a:pPr algn="l"/>
            <a:r>
              <a:rPr lang="en-IN" b="1" cap="none" dirty="0">
                <a:latin typeface="Times New Roman" panose="02020603050405020304" pitchFamily="18" charset="0"/>
                <a:cs typeface="Times New Roman" panose="02020603050405020304" pitchFamily="18" charset="0"/>
              </a:rPr>
              <a:t>FUNCTIONS: </a:t>
            </a:r>
            <a:r>
              <a:rPr lang="en-US" b="0" i="0" u="none" strike="noStrike" cap="none" baseline="0" dirty="0">
                <a:solidFill>
                  <a:srgbClr val="231F20"/>
                </a:solidFill>
                <a:latin typeface="Times New Roman" panose="02020603050405020304" pitchFamily="18" charset="0"/>
                <a:cs typeface="Times New Roman" panose="02020603050405020304" pitchFamily="18" charset="0"/>
              </a:rPr>
              <a:t>Grasslands are the grazing areas of many rural </a:t>
            </a:r>
            <a:r>
              <a:rPr lang="en-IN" b="0" i="0" u="none" strike="noStrike" cap="none" baseline="0" dirty="0">
                <a:solidFill>
                  <a:srgbClr val="231F20"/>
                </a:solidFill>
                <a:latin typeface="Times New Roman" panose="02020603050405020304" pitchFamily="18" charset="0"/>
                <a:cs typeface="Times New Roman" panose="02020603050405020304" pitchFamily="18" charset="0"/>
              </a:rPr>
              <a:t>communities. </a:t>
            </a:r>
          </a:p>
          <a:p>
            <a:pPr algn="l"/>
            <a:r>
              <a:rPr lang="en-US" cap="none" dirty="0">
                <a:solidFill>
                  <a:srgbClr val="231F20"/>
                </a:solidFill>
                <a:latin typeface="Times New Roman" panose="02020603050405020304" pitchFamily="18" charset="0"/>
                <a:cs typeface="Times New Roman" panose="02020603050405020304" pitchFamily="18" charset="0"/>
              </a:rPr>
              <a:t>T</a:t>
            </a:r>
            <a:r>
              <a:rPr lang="en-US" b="0" i="0" u="none" strike="noStrike" cap="none" baseline="0" dirty="0">
                <a:solidFill>
                  <a:srgbClr val="231F20"/>
                </a:solidFill>
                <a:latin typeface="Times New Roman" panose="02020603050405020304" pitchFamily="18" charset="0"/>
                <a:cs typeface="Times New Roman" panose="02020603050405020304" pitchFamily="18" charset="0"/>
              </a:rPr>
              <a:t>he thorny bushes and branches of the few trees that are seen in grasslands are seen as a major source of fuelwood.</a:t>
            </a:r>
          </a:p>
          <a:p>
            <a:pPr algn="l"/>
            <a:r>
              <a:rPr lang="en-IN" cap="none" dirty="0">
                <a:solidFill>
                  <a:srgbClr val="231F20"/>
                </a:solidFill>
                <a:latin typeface="Times New Roman" panose="02020603050405020304" pitchFamily="18" charset="0"/>
                <a:cs typeface="Times New Roman" panose="02020603050405020304" pitchFamily="18" charset="0"/>
              </a:rPr>
              <a:t>G</a:t>
            </a:r>
            <a:r>
              <a:rPr lang="en-IN" b="0" i="0" u="none" strike="noStrike" cap="none" baseline="0" dirty="0">
                <a:solidFill>
                  <a:srgbClr val="231F20"/>
                </a:solidFill>
                <a:latin typeface="Times New Roman" panose="02020603050405020304" pitchFamily="18" charset="0"/>
                <a:cs typeface="Times New Roman" panose="02020603050405020304" pitchFamily="18" charset="0"/>
              </a:rPr>
              <a:t>rasslands have </a:t>
            </a:r>
            <a:r>
              <a:rPr lang="en-US" b="0" i="0" u="none" strike="noStrike" cap="none" baseline="0" dirty="0">
                <a:solidFill>
                  <a:srgbClr val="231F20"/>
                </a:solidFill>
                <a:latin typeface="Times New Roman" panose="02020603050405020304" pitchFamily="18" charset="0"/>
                <a:cs typeface="Times New Roman" panose="02020603050405020304" pitchFamily="18" charset="0"/>
              </a:rPr>
              <a:t>diverse species of insects that pollinate crops.</a:t>
            </a:r>
            <a:endParaRPr lang="en-IN"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22798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DEE9F-B93E-2DA4-AF33-84AFC0594582}"/>
              </a:ext>
            </a:extLst>
          </p:cNvPr>
          <p:cNvSpPr>
            <a:spLocks noGrp="1"/>
          </p:cNvSpPr>
          <p:nvPr>
            <p:ph type="title"/>
          </p:nvPr>
        </p:nvSpPr>
        <p:spPr>
          <a:xfrm>
            <a:off x="1665201" y="0"/>
            <a:ext cx="8861597" cy="637821"/>
          </a:xfrm>
        </p:spPr>
        <p:txBody>
          <a:bodyPr>
            <a:normAutofit/>
          </a:bodyPr>
          <a:lstStyle/>
          <a:p>
            <a:r>
              <a:rPr lang="en-US" sz="2800" b="1" dirty="0">
                <a:latin typeface="Times New Roman" panose="02020603050405020304" pitchFamily="18" charset="0"/>
                <a:cs typeface="Times New Roman" panose="02020603050405020304" pitchFamily="18" charset="0"/>
              </a:rPr>
              <a:t>DESERT ECOSYSTEM </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1D44575-AB4B-0CB4-8AA6-53CF12E2C780}"/>
              </a:ext>
            </a:extLst>
          </p:cNvPr>
          <p:cNvSpPr>
            <a:spLocks noGrp="1"/>
          </p:cNvSpPr>
          <p:nvPr>
            <p:ph sz="quarter" idx="13"/>
          </p:nvPr>
        </p:nvSpPr>
        <p:spPr>
          <a:xfrm>
            <a:off x="214603" y="401217"/>
            <a:ext cx="11803225" cy="5072742"/>
          </a:xfrm>
        </p:spPr>
        <p:txBody>
          <a:bodyPr>
            <a:noAutofit/>
          </a:bodyPr>
          <a:lstStyle/>
          <a:p>
            <a:pPr algn="l">
              <a:lnSpc>
                <a:spcPct val="150000"/>
              </a:lnSpc>
            </a:pPr>
            <a:r>
              <a:rPr lang="en-US" b="0" i="0" u="none" strike="noStrike" cap="none" baseline="0" dirty="0">
                <a:solidFill>
                  <a:srgbClr val="231F20"/>
                </a:solidFill>
                <a:latin typeface="Times New Roman" panose="02020603050405020304" pitchFamily="18" charset="0"/>
                <a:cs typeface="Times New Roman" panose="02020603050405020304" pitchFamily="18" charset="0"/>
              </a:rPr>
              <a:t>Deserts and semi-arid areas are in western India and the Deccan plateau. the climate in these vast tracts is extremely dry. there are also cold deserts such as in Ladakh, which are located in the high plateaus of the Himalayas.</a:t>
            </a:r>
          </a:p>
          <a:p>
            <a:pPr algn="l">
              <a:lnSpc>
                <a:spcPct val="150000"/>
              </a:lnSpc>
            </a:pPr>
            <a:r>
              <a:rPr lang="en-US" b="0" i="0" u="none" strike="noStrike" cap="none" baseline="0" dirty="0">
                <a:solidFill>
                  <a:srgbClr val="231F20"/>
                </a:solidFill>
                <a:latin typeface="Times New Roman" panose="02020603050405020304" pitchFamily="18" charset="0"/>
                <a:cs typeface="Times New Roman" panose="02020603050405020304" pitchFamily="18" charset="0"/>
              </a:rPr>
              <a:t>The most typical desert landscape that is seen in Rajasthan is in the Thar desert.</a:t>
            </a:r>
          </a:p>
          <a:p>
            <a:pPr algn="l">
              <a:lnSpc>
                <a:spcPct val="150000"/>
              </a:lnSpc>
            </a:pPr>
            <a:r>
              <a:rPr lang="en-US" b="0" i="0" u="none" strike="noStrike" cap="none" baseline="0" dirty="0">
                <a:solidFill>
                  <a:srgbClr val="231F20"/>
                </a:solidFill>
                <a:latin typeface="Times New Roman" panose="02020603050405020304" pitchFamily="18" charset="0"/>
                <a:cs typeface="Times New Roman" panose="02020603050405020304" pitchFamily="18" charset="0"/>
              </a:rPr>
              <a:t> The great and little Rann of Kutch are highly </a:t>
            </a:r>
            <a:r>
              <a:rPr lang="en-IN" b="0" i="0" u="none" strike="noStrike" cap="none" baseline="0" dirty="0">
                <a:solidFill>
                  <a:srgbClr val="231F20"/>
                </a:solidFill>
                <a:latin typeface="Times New Roman" panose="02020603050405020304" pitchFamily="18" charset="0"/>
                <a:cs typeface="Times New Roman" panose="02020603050405020304" pitchFamily="18" charset="0"/>
              </a:rPr>
              <a:t>specialized arid ecosystems.</a:t>
            </a:r>
          </a:p>
          <a:p>
            <a:pPr algn="l">
              <a:lnSpc>
                <a:spcPct val="150000"/>
              </a:lnSpc>
            </a:pPr>
            <a:r>
              <a:rPr lang="en-IN" b="1" cap="none" dirty="0">
                <a:solidFill>
                  <a:srgbClr val="231F20"/>
                </a:solidFill>
                <a:latin typeface="Times New Roman" panose="02020603050405020304" pitchFamily="18" charset="0"/>
                <a:cs typeface="Times New Roman" panose="02020603050405020304" pitchFamily="18" charset="0"/>
              </a:rPr>
              <a:t>FUNCTIONS/USES: </a:t>
            </a:r>
            <a:r>
              <a:rPr lang="en-IN" b="0" i="0" u="none" strike="noStrike" cap="none" baseline="0" dirty="0">
                <a:solidFill>
                  <a:srgbClr val="231F20"/>
                </a:solidFill>
                <a:latin typeface="Times New Roman" panose="02020603050405020304" pitchFamily="18" charset="0"/>
                <a:cs typeface="Times New Roman" panose="02020603050405020304" pitchFamily="18" charset="0"/>
              </a:rPr>
              <a:t>Scrubland </a:t>
            </a:r>
            <a:r>
              <a:rPr lang="en-US" b="0" i="0" u="none" strike="noStrike" cap="none" baseline="0" dirty="0">
                <a:solidFill>
                  <a:srgbClr val="231F20"/>
                </a:solidFill>
                <a:latin typeface="Times New Roman" panose="02020603050405020304" pitchFamily="18" charset="0"/>
                <a:cs typeface="Times New Roman" panose="02020603050405020304" pitchFamily="18" charset="0"/>
              </a:rPr>
              <a:t>has been used for camel, cattle, and goat grazing in Rajasthan and Gujarat, and for sheep</a:t>
            </a:r>
          </a:p>
          <a:p>
            <a:pPr algn="l">
              <a:lnSpc>
                <a:spcPct val="150000"/>
              </a:lnSpc>
            </a:pPr>
            <a:r>
              <a:rPr lang="en-US" b="0" i="0" u="none" strike="noStrike" cap="none" baseline="0" dirty="0">
                <a:solidFill>
                  <a:srgbClr val="231F20"/>
                </a:solidFill>
                <a:latin typeface="Times New Roman" panose="02020603050405020304" pitchFamily="18" charset="0"/>
                <a:cs typeface="Times New Roman" panose="02020603050405020304" pitchFamily="18" charset="0"/>
              </a:rPr>
              <a:t>Grazing in the Deccan plateau.</a:t>
            </a:r>
          </a:p>
          <a:p>
            <a:pPr algn="l">
              <a:lnSpc>
                <a:spcPct val="150000"/>
              </a:lnSpc>
            </a:pPr>
            <a:r>
              <a:rPr lang="en-US" b="0" i="0" u="none" strike="noStrike" cap="none" baseline="0" dirty="0">
                <a:solidFill>
                  <a:srgbClr val="231F20"/>
                </a:solidFill>
                <a:latin typeface="Times New Roman" panose="02020603050405020304" pitchFamily="18" charset="0"/>
                <a:cs typeface="Times New Roman" panose="02020603050405020304" pitchFamily="18" charset="0"/>
              </a:rPr>
              <a:t> Areas that have a little moisture, such as along the watercourses, have been used for growing crops such as jowar, and bajra </a:t>
            </a:r>
            <a:r>
              <a:rPr lang="en-US" cap="none" dirty="0">
                <a:solidFill>
                  <a:srgbClr val="231F20"/>
                </a:solidFill>
                <a:latin typeface="Times New Roman" panose="02020603050405020304" pitchFamily="18" charset="0"/>
                <a:cs typeface="Times New Roman" panose="02020603050405020304" pitchFamily="18" charset="0"/>
              </a:rPr>
              <a:t>because t</a:t>
            </a:r>
            <a:r>
              <a:rPr lang="en-US" b="0" i="0" u="none" strike="noStrike" cap="none" baseline="0" dirty="0">
                <a:solidFill>
                  <a:srgbClr val="231F20"/>
                </a:solidFill>
                <a:latin typeface="Times New Roman" panose="02020603050405020304" pitchFamily="18" charset="0"/>
                <a:cs typeface="Times New Roman" panose="02020603050405020304" pitchFamily="18" charset="0"/>
              </a:rPr>
              <a:t>he natural grasses and local varieties of crops have adapted to growing at very low moisture levels. </a:t>
            </a:r>
          </a:p>
          <a:p>
            <a:pPr algn="l">
              <a:lnSpc>
                <a:spcPct val="150000"/>
              </a:lnSpc>
            </a:pPr>
            <a:r>
              <a:rPr lang="en-US" b="0" i="0" u="none" strike="noStrike" cap="none" baseline="0" dirty="0">
                <a:solidFill>
                  <a:srgbClr val="231F20"/>
                </a:solidFill>
                <a:latin typeface="Times New Roman" panose="02020603050405020304" pitchFamily="18" charset="0"/>
                <a:cs typeface="Times New Roman" panose="02020603050405020304" pitchFamily="18" charset="0"/>
              </a:rPr>
              <a:t>These can be used for genetic engineering and developing arid land crops for the future.</a:t>
            </a:r>
            <a:endParaRPr lang="en-IN"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7090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78000"/>
                <a:shade val="100000"/>
                <a:hueMod val="136000"/>
                <a:satMod val="160000"/>
                <a:lumMod val="105000"/>
              </a:schemeClr>
            </a:gs>
            <a:gs pos="100000">
              <a:schemeClr val="bg2">
                <a:shade val="92000"/>
                <a:satMod val="170000"/>
                <a:lumMod val="96000"/>
              </a:schemeClr>
            </a:gs>
          </a:gsLst>
          <a:lin ang="5400000" scaled="0"/>
        </a:gra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A1B1FB5C-02AC-4A11-9B9E-D6FAE4AA10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
            <a:extLst>
              <a:ext uri="{FF2B5EF4-FFF2-40B4-BE49-F238E27FC236}">
                <a16:creationId xmlns:a16="http://schemas.microsoft.com/office/drawing/2014/main" id="{3F72C88A-0506-4B12-8C66-DC9535260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screenshot of a computer&#10;&#10;Description automatically generated">
            <a:extLst>
              <a:ext uri="{FF2B5EF4-FFF2-40B4-BE49-F238E27FC236}">
                <a16:creationId xmlns:a16="http://schemas.microsoft.com/office/drawing/2014/main" id="{F8B95F61-1704-7FBC-A69D-104F61A924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08181" y="4580072"/>
            <a:ext cx="6564206" cy="1744528"/>
          </a:xfrm>
          <a:prstGeom prst="roundRect">
            <a:avLst>
              <a:gd name="adj" fmla="val 5301"/>
            </a:avLst>
          </a:prstGeom>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pic>
        <p:nvPicPr>
          <p:cNvPr id="23" name="Picture 22">
            <a:extLst>
              <a:ext uri="{FF2B5EF4-FFF2-40B4-BE49-F238E27FC236}">
                <a16:creationId xmlns:a16="http://schemas.microsoft.com/office/drawing/2014/main" id="{BE8C338B-9565-4F98-872C-2008B624B53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D09B4D7-F5AC-E359-821D-819067B4C754}"/>
              </a:ext>
            </a:extLst>
          </p:cNvPr>
          <p:cNvSpPr>
            <a:spLocks noGrp="1"/>
          </p:cNvSpPr>
          <p:nvPr>
            <p:ph type="title"/>
          </p:nvPr>
        </p:nvSpPr>
        <p:spPr>
          <a:xfrm>
            <a:off x="3971302" y="-2448"/>
            <a:ext cx="5563224" cy="1185994"/>
          </a:xfrm>
        </p:spPr>
        <p:txBody>
          <a:bodyPr>
            <a:normAutofit/>
          </a:bodyPr>
          <a:lstStyle/>
          <a:p>
            <a:r>
              <a:rPr lang="en-US" sz="2800" b="1" dirty="0">
                <a:latin typeface="Times New Roman" panose="02020603050405020304" pitchFamily="18" charset="0"/>
                <a:cs typeface="Times New Roman" panose="02020603050405020304" pitchFamily="18" charset="0"/>
              </a:rPr>
              <a:t>Aquatic ecosystem </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3E9AA61-B0E8-3884-315D-0D4BDCE9CA1F}"/>
              </a:ext>
            </a:extLst>
          </p:cNvPr>
          <p:cNvSpPr>
            <a:spLocks noGrp="1"/>
          </p:cNvSpPr>
          <p:nvPr>
            <p:ph sz="quarter" idx="13"/>
          </p:nvPr>
        </p:nvSpPr>
        <p:spPr>
          <a:xfrm>
            <a:off x="188707" y="991592"/>
            <a:ext cx="6564207" cy="3881309"/>
          </a:xfrm>
        </p:spPr>
        <p:txBody>
          <a:bodyPr>
            <a:normAutofit/>
          </a:bodyPr>
          <a:lstStyle/>
          <a:p>
            <a:r>
              <a:rPr lang="en-US" cap="none" dirty="0">
                <a:latin typeface="Times New Roman" panose="02020603050405020304" pitchFamily="18" charset="0"/>
                <a:cs typeface="Times New Roman" panose="02020603050405020304" pitchFamily="18" charset="0"/>
              </a:rPr>
              <a:t>A</a:t>
            </a:r>
            <a:r>
              <a:rPr lang="en-US" b="0" i="0" u="none" strike="noStrike" cap="none" baseline="0" dirty="0">
                <a:latin typeface="Times New Roman" panose="02020603050405020304" pitchFamily="18" charset="0"/>
                <a:cs typeface="Times New Roman" panose="02020603050405020304" pitchFamily="18" charset="0"/>
              </a:rPr>
              <a:t>quatic ecosystems </a:t>
            </a:r>
            <a:r>
              <a:rPr lang="en-US" cap="none" dirty="0">
                <a:latin typeface="Times New Roman" panose="02020603050405020304" pitchFamily="18" charset="0"/>
                <a:cs typeface="Times New Roman" panose="02020603050405020304" pitchFamily="18" charset="0"/>
              </a:rPr>
              <a:t>are comprised of </a:t>
            </a:r>
            <a:r>
              <a:rPr lang="en-US" b="0" i="0" u="none" strike="noStrike" cap="none" baseline="0" dirty="0">
                <a:latin typeface="Times New Roman" panose="02020603050405020304" pitchFamily="18" charset="0"/>
                <a:cs typeface="Times New Roman" panose="02020603050405020304" pitchFamily="18" charset="0"/>
              </a:rPr>
              <a:t>plants and animals that live in water. </a:t>
            </a:r>
          </a:p>
          <a:p>
            <a:r>
              <a:rPr lang="en-US" b="0" i="0" u="none" strike="noStrike" cap="none" baseline="0" dirty="0">
                <a:latin typeface="Times New Roman" panose="02020603050405020304" pitchFamily="18" charset="0"/>
                <a:cs typeface="Times New Roman" panose="02020603050405020304" pitchFamily="18" charset="0"/>
              </a:rPr>
              <a:t>These species are adapted to live in different types of aquatic habitats. </a:t>
            </a:r>
          </a:p>
          <a:p>
            <a:r>
              <a:rPr lang="en-US" b="0" i="0" u="none" strike="noStrike" cap="none" baseline="0" dirty="0">
                <a:latin typeface="Times New Roman" panose="02020603050405020304" pitchFamily="18" charset="0"/>
                <a:cs typeface="Times New Roman" panose="02020603050405020304" pitchFamily="18" charset="0"/>
              </a:rPr>
              <a:t> The special abiotic features are its physical aspects such as the quality of the water, which includes its clarity, salinity, oxygen content, and rate of flow.</a:t>
            </a:r>
          </a:p>
          <a:p>
            <a:r>
              <a:rPr lang="en-US" b="0" i="0" u="none" strike="noStrike" cap="none" baseline="0" dirty="0">
                <a:latin typeface="Times New Roman" panose="02020603050405020304" pitchFamily="18" charset="0"/>
                <a:cs typeface="Times New Roman" panose="02020603050405020304" pitchFamily="18" charset="0"/>
              </a:rPr>
              <a:t>Aquatic ecosystems may be classified as being </a:t>
            </a:r>
            <a:r>
              <a:rPr lang="en-US" b="1" i="0" u="none" strike="noStrike" cap="none" baseline="0" dirty="0">
                <a:latin typeface="Times New Roman" panose="02020603050405020304" pitchFamily="18" charset="0"/>
                <a:cs typeface="Times New Roman" panose="02020603050405020304" pitchFamily="18" charset="0"/>
              </a:rPr>
              <a:t>stagnant ecosystems or running water ecosystems.</a:t>
            </a:r>
          </a:p>
          <a:p>
            <a:endParaRPr lang="en-IN" b="1"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5294259"/>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27537E"/>
      </a:dk2>
      <a:lt2>
        <a:srgbClr val="AABED7"/>
      </a:lt2>
      <a:accent1>
        <a:srgbClr val="E34B7A"/>
      </a:accent1>
      <a:accent2>
        <a:srgbClr val="AC339A"/>
      </a:accent2>
      <a:accent3>
        <a:srgbClr val="6953B7"/>
      </a:accent3>
      <a:accent4>
        <a:srgbClr val="1D7EAB"/>
      </a:accent4>
      <a:accent5>
        <a:srgbClr val="43AFD6"/>
      </a:accent5>
      <a:accent6>
        <a:srgbClr val="DE85E1"/>
      </a:accent6>
      <a:hlink>
        <a:srgbClr val="ED87A6"/>
      </a:hlink>
      <a:folHlink>
        <a:srgbClr val="C99EAC"/>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78000"/>
                <a:shade val="100000"/>
                <a:hueMod val="136000"/>
                <a:satMod val="160000"/>
                <a:lumMod val="105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C71B277C-C29A-4BA0-A7BA-43502DF21AB3}"/>
    </a:ext>
  </a:extLst>
</a:theme>
</file>

<file path=docProps/app.xml><?xml version="1.0" encoding="utf-8"?>
<Properties xmlns="http://schemas.openxmlformats.org/officeDocument/2006/extended-properties" xmlns:vt="http://schemas.openxmlformats.org/officeDocument/2006/docPropsVTypes">
  <Template>Droplet</Template>
  <TotalTime>803</TotalTime>
  <Words>2857</Words>
  <Application>Microsoft Office PowerPoint</Application>
  <PresentationFormat>Widescreen</PresentationFormat>
  <Paragraphs>160</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Times New Roman</vt:lpstr>
      <vt:lpstr>TimesNewRomanPSMT</vt:lpstr>
      <vt:lpstr>Tw Cen MT</vt:lpstr>
      <vt:lpstr>Droplet</vt:lpstr>
      <vt:lpstr>Unit 1a  ecosystem </vt:lpstr>
      <vt:lpstr>Concept of ecosystem</vt:lpstr>
      <vt:lpstr>STRUCTURE  OF ECOSYSTEM </vt:lpstr>
      <vt:lpstr>FUNCTIONS OF ECOSYSTEM </vt:lpstr>
      <vt:lpstr>COMPONENTS OF ECOSYSTEM </vt:lpstr>
      <vt:lpstr>PowerPoint Presentation</vt:lpstr>
      <vt:lpstr>PowerPoint Presentation</vt:lpstr>
      <vt:lpstr>ENERGY FLOW IN THE ECOSYSTEM </vt:lpstr>
      <vt:lpstr>Energy flow models </vt:lpstr>
      <vt:lpstr>Y-shaped or 2-channel energy flow model </vt:lpstr>
      <vt:lpstr>FOOD CHAIN AND FOOD WEB </vt:lpstr>
      <vt:lpstr>PowerPoint Presentation</vt:lpstr>
      <vt:lpstr>PowerPoint Presentation</vt:lpstr>
      <vt:lpstr>ECOLOGICAL PYRAMIDS </vt:lpstr>
      <vt:lpstr>PowerPoint Presentation</vt:lpstr>
      <vt:lpstr>PYRAMID OF BIOMASS</vt:lpstr>
      <vt:lpstr>Pyramid of energy </vt:lpstr>
      <vt:lpstr>Water cycle </vt:lpstr>
      <vt:lpstr>Nitrogen cycle </vt:lpstr>
      <vt:lpstr>Carbon cycle </vt:lpstr>
      <vt:lpstr>Oxygen cycle </vt:lpstr>
      <vt:lpstr>Forest ecosystem </vt:lpstr>
      <vt:lpstr>PowerPoint Presentation</vt:lpstr>
      <vt:lpstr>PowerPoint Presentation</vt:lpstr>
      <vt:lpstr>PowerPoint Presentation</vt:lpstr>
      <vt:lpstr>GRASSLAND ECOSYSTEM </vt:lpstr>
      <vt:lpstr>PowerPoint Presentation</vt:lpstr>
      <vt:lpstr>DESERT ECOSYSTEM </vt:lpstr>
      <vt:lpstr>Aquatic ecosystem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1a  ecosystem </dc:title>
  <dc:creator>Shazia Shifa</dc:creator>
  <cp:lastModifiedBy>Satyendra</cp:lastModifiedBy>
  <cp:revision>8</cp:revision>
  <dcterms:created xsi:type="dcterms:W3CDTF">2023-09-11T06:31:54Z</dcterms:created>
  <dcterms:modified xsi:type="dcterms:W3CDTF">2024-02-02T06:37:47Z</dcterms:modified>
</cp:coreProperties>
</file>