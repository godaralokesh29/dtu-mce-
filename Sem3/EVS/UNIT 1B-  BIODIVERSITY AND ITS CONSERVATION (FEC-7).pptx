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6"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71" autoAdjust="0"/>
    <p:restoredTop sz="94660"/>
  </p:normalViewPr>
  <p:slideViewPr>
    <p:cSldViewPr snapToGrid="0">
      <p:cViewPr varScale="1">
        <p:scale>
          <a:sx n="95" d="100"/>
          <a:sy n="95" d="100"/>
        </p:scale>
        <p:origin x="2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9BA41F-09EE-4ABB-AA5E-6004D1C2CC9D}"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93817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9BA41F-09EE-4ABB-AA5E-6004D1C2CC9D}"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767838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9BA41F-09EE-4ABB-AA5E-6004D1C2CC9D}"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2337237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9BA41F-09EE-4ABB-AA5E-6004D1C2CC9D}"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3641116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9BA41F-09EE-4ABB-AA5E-6004D1C2CC9D}" type="datetimeFigureOut">
              <a:rPr lang="en-IN" smtClean="0"/>
              <a:t>03-12-2024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81922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9BA41F-09EE-4ABB-AA5E-6004D1C2CC9D}" type="datetimeFigureOut">
              <a:rPr lang="en-IN" smtClean="0"/>
              <a:t>03-12-2024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413313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9BA41F-09EE-4ABB-AA5E-6004D1C2CC9D}" type="datetimeFigureOut">
              <a:rPr lang="en-IN" smtClean="0"/>
              <a:t>03-12-2024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1014324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9BA41F-09EE-4ABB-AA5E-6004D1C2CC9D}"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1835543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9BA41F-09EE-4ABB-AA5E-6004D1C2CC9D}" type="datetimeFigureOut">
              <a:rPr lang="en-IN" smtClean="0"/>
              <a:t>03-12-2024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2115058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9BA41F-09EE-4ABB-AA5E-6004D1C2CC9D}"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2397744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9BA41F-09EE-4ABB-AA5E-6004D1C2CC9D}" type="datetimeFigureOut">
              <a:rPr lang="en-IN" smtClean="0"/>
              <a:t>03-12-2024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D8262C-C3A7-47E8-8285-D5C5AB3EF6ED}" type="slidenum">
              <a:rPr lang="en-IN" smtClean="0"/>
              <a:t>‹#›</a:t>
            </a:fld>
            <a:endParaRPr lang="en-IN"/>
          </a:p>
        </p:txBody>
      </p:sp>
    </p:spTree>
    <p:extLst>
      <p:ext uri="{BB962C8B-B14F-4D97-AF65-F5344CB8AC3E}">
        <p14:creationId xmlns:p14="http://schemas.microsoft.com/office/powerpoint/2010/main" val="343799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9BA41F-09EE-4ABB-AA5E-6004D1C2CC9D}" type="datetimeFigureOut">
              <a:rPr lang="en-IN" smtClean="0"/>
              <a:t>03-12-2024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D8262C-C3A7-47E8-8285-D5C5AB3EF6ED}" type="slidenum">
              <a:rPr lang="en-IN" smtClean="0"/>
              <a:t>‹#›</a:t>
            </a:fld>
            <a:endParaRPr lang="en-IN"/>
          </a:p>
        </p:txBody>
      </p:sp>
    </p:spTree>
    <p:extLst>
      <p:ext uri="{BB962C8B-B14F-4D97-AF65-F5344CB8AC3E}">
        <p14:creationId xmlns:p14="http://schemas.microsoft.com/office/powerpoint/2010/main" val="35853720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1" name="Group 9">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6668" cy="4570886"/>
            <a:chOff x="0" y="0"/>
            <a:chExt cx="12196668" cy="4570886"/>
          </a:xfrm>
        </p:grpSpPr>
        <p:sp>
          <p:nvSpPr>
            <p:cNvPr id="11" name="Rectangle 10">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1">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13">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1501D21D-3E04-B7CD-9765-D7332CA82A9E}"/>
              </a:ext>
            </a:extLst>
          </p:cNvPr>
          <p:cNvSpPr>
            <a:spLocks noGrp="1"/>
          </p:cNvSpPr>
          <p:nvPr>
            <p:ph type="ctrTitle"/>
          </p:nvPr>
        </p:nvSpPr>
        <p:spPr>
          <a:xfrm>
            <a:off x="1126348" y="1124262"/>
            <a:ext cx="8017652" cy="2690413"/>
          </a:xfrm>
        </p:spPr>
        <p:txBody>
          <a:bodyPr anchor="t">
            <a:normAutofit/>
          </a:bodyPr>
          <a:lstStyle/>
          <a:p>
            <a:pPr algn="l"/>
            <a:r>
              <a:rPr lang="en-IN" sz="5400" b="1" u="sng" dirty="0">
                <a:solidFill>
                  <a:srgbClr val="FFFFFF"/>
                </a:solidFill>
                <a:latin typeface="+mn-lt"/>
              </a:rPr>
              <a:t>UNIT 1- BIODIVERSITY AND ITS CONSERVATION </a:t>
            </a:r>
          </a:p>
        </p:txBody>
      </p:sp>
      <p:sp>
        <p:nvSpPr>
          <p:cNvPr id="3" name="Subtitle 2">
            <a:extLst>
              <a:ext uri="{FF2B5EF4-FFF2-40B4-BE49-F238E27FC236}">
                <a16:creationId xmlns:a16="http://schemas.microsoft.com/office/drawing/2014/main" id="{D2F501B5-B2BC-B339-ADC6-46A6AEAEDBAC}"/>
              </a:ext>
            </a:extLst>
          </p:cNvPr>
          <p:cNvSpPr>
            <a:spLocks noGrp="1"/>
          </p:cNvSpPr>
          <p:nvPr>
            <p:ph type="subTitle" idx="1"/>
          </p:nvPr>
        </p:nvSpPr>
        <p:spPr>
          <a:xfrm>
            <a:off x="1126348" y="4706224"/>
            <a:ext cx="6481746" cy="1988191"/>
          </a:xfrm>
        </p:spPr>
        <p:txBody>
          <a:bodyPr anchor="ctr">
            <a:normAutofit/>
          </a:bodyPr>
          <a:lstStyle/>
          <a:p>
            <a:pPr algn="l"/>
            <a:r>
              <a:rPr lang="en-IN" sz="2000" dirty="0"/>
              <a:t>FEC-7- INTRODUCTION TO ENVIRONMENTAL SCIENCE </a:t>
            </a:r>
          </a:p>
          <a:p>
            <a:pPr algn="l"/>
            <a:r>
              <a:rPr lang="en-IN" sz="2000" dirty="0"/>
              <a:t>DELHI TECHNOLOGICAL UNIVERSITY </a:t>
            </a:r>
          </a:p>
          <a:p>
            <a:pPr algn="l"/>
            <a:r>
              <a:rPr lang="en-IN" sz="2000" dirty="0"/>
              <a:t>Lokesh Godara</a:t>
            </a:r>
          </a:p>
          <a:p>
            <a:pPr algn="l"/>
            <a:r>
              <a:rPr lang="en-IN" sz="2000" dirty="0"/>
              <a:t>23/MC/082</a:t>
            </a:r>
          </a:p>
          <a:p>
            <a:pPr algn="l"/>
            <a:endParaRPr lang="en-IN" sz="2000" dirty="0"/>
          </a:p>
        </p:txBody>
      </p:sp>
      <p:pic>
        <p:nvPicPr>
          <p:cNvPr id="7" name="Graphic 6" descr="Deciduous tree">
            <a:extLst>
              <a:ext uri="{FF2B5EF4-FFF2-40B4-BE49-F238E27FC236}">
                <a16:creationId xmlns:a16="http://schemas.microsoft.com/office/drawing/2014/main" id="{B453BEDF-49A8-C543-1A42-121884AB81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5646" y="5061057"/>
            <a:ext cx="1199733" cy="1199733"/>
          </a:xfrm>
          <a:prstGeom prst="rect">
            <a:avLst/>
          </a:prstGeom>
        </p:spPr>
      </p:pic>
    </p:spTree>
    <p:extLst>
      <p:ext uri="{BB962C8B-B14F-4D97-AF65-F5344CB8AC3E}">
        <p14:creationId xmlns:p14="http://schemas.microsoft.com/office/powerpoint/2010/main" val="3215916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425D6-9F86-147D-CF7C-CF6186A9B708}"/>
              </a:ext>
            </a:extLst>
          </p:cNvPr>
          <p:cNvSpPr>
            <a:spLocks noGrp="1"/>
          </p:cNvSpPr>
          <p:nvPr>
            <p:ph type="title"/>
          </p:nvPr>
        </p:nvSpPr>
        <p:spPr>
          <a:xfrm>
            <a:off x="686834" y="1153572"/>
            <a:ext cx="3200400" cy="4461163"/>
          </a:xfrm>
        </p:spPr>
        <p:txBody>
          <a:bodyPr>
            <a:normAutofit/>
          </a:bodyPr>
          <a:lstStyle/>
          <a:p>
            <a:r>
              <a:rPr lang="en-IN" sz="3400" b="1" u="sng" dirty="0">
                <a:solidFill>
                  <a:srgbClr val="FF0000"/>
                </a:solidFill>
                <a:latin typeface="+mn-lt"/>
              </a:rPr>
              <a:t>INTRODUCTION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Content Placeholder 2">
            <a:extLst>
              <a:ext uri="{FF2B5EF4-FFF2-40B4-BE49-F238E27FC236}">
                <a16:creationId xmlns:a16="http://schemas.microsoft.com/office/drawing/2014/main" id="{A22805F2-B2E1-BA03-D93E-A20A954C76F1}"/>
              </a:ext>
            </a:extLst>
          </p:cNvPr>
          <p:cNvSpPr>
            <a:spLocks noGrp="1"/>
          </p:cNvSpPr>
          <p:nvPr>
            <p:ph idx="1"/>
          </p:nvPr>
        </p:nvSpPr>
        <p:spPr>
          <a:xfrm>
            <a:off x="4282752" y="0"/>
            <a:ext cx="7753738" cy="6699380"/>
          </a:xfrm>
        </p:spPr>
        <p:txBody>
          <a:bodyPr anchor="ctr">
            <a:normAutofit/>
          </a:bodyPr>
          <a:lstStyle/>
          <a:p>
            <a:pPr>
              <a:lnSpc>
                <a:spcPct val="100000"/>
              </a:lnSpc>
            </a:pPr>
            <a:r>
              <a:rPr lang="en-US" sz="1800" b="0" i="0" u="none" strike="noStrike" baseline="0" dirty="0">
                <a:latin typeface="Times New Roman" panose="02020603050405020304" pitchFamily="18" charset="0"/>
                <a:cs typeface="Times New Roman" panose="02020603050405020304" pitchFamily="18" charset="0"/>
              </a:rPr>
              <a:t>The word biodiversity is a combination of two words: “biological and diversity” and refers to the variety of life on the Earth. </a:t>
            </a:r>
          </a:p>
          <a:p>
            <a:pPr>
              <a:lnSpc>
                <a:spcPct val="100000"/>
              </a:lnSpc>
            </a:pPr>
            <a:r>
              <a:rPr lang="en-US" sz="1800" b="1" i="0" u="none" strike="noStrike" baseline="0" dirty="0">
                <a:latin typeface="Times New Roman" panose="02020603050405020304" pitchFamily="18" charset="0"/>
                <a:cs typeface="Times New Roman" panose="02020603050405020304" pitchFamily="18" charset="0"/>
              </a:rPr>
              <a:t>Biodiversity </a:t>
            </a:r>
            <a:r>
              <a:rPr lang="en-US" sz="1800" b="0" i="0" u="none" strike="noStrike" baseline="0" dirty="0">
                <a:latin typeface="Times New Roman" panose="02020603050405020304" pitchFamily="18" charset="0"/>
                <a:cs typeface="Times New Roman" panose="02020603050405020304" pitchFamily="18" charset="0"/>
              </a:rPr>
              <a:t>is the degree of variation of life forms within a given species, ecosystem, biome, or an entire planet. Biodiversity is a measure of the health of </a:t>
            </a:r>
            <a:r>
              <a:rPr lang="en-IN" sz="1800" b="0" i="0" u="none" strike="noStrike" baseline="0" dirty="0">
                <a:latin typeface="Times New Roman" panose="02020603050405020304" pitchFamily="18" charset="0"/>
                <a:cs typeface="Times New Roman" panose="02020603050405020304" pitchFamily="18" charset="0"/>
              </a:rPr>
              <a:t>ecosystems.</a:t>
            </a:r>
          </a:p>
          <a:p>
            <a:pPr>
              <a:lnSpc>
                <a:spcPct val="100000"/>
              </a:lnSpc>
            </a:pPr>
            <a:r>
              <a:rPr lang="en-IN" sz="1800" b="0" i="0" u="none" strike="noStrike" baseline="0" dirty="0">
                <a:latin typeface="Times New Roman" panose="02020603050405020304" pitchFamily="18" charset="0"/>
                <a:cs typeface="Times New Roman" panose="02020603050405020304" pitchFamily="18" charset="0"/>
              </a:rPr>
              <a:t>The term was first coined by </a:t>
            </a:r>
            <a:r>
              <a:rPr lang="en-US" sz="1800" b="1" i="0" u="none" strike="noStrike" baseline="0" dirty="0">
                <a:latin typeface="Times New Roman" panose="02020603050405020304" pitchFamily="18" charset="0"/>
                <a:cs typeface="Times New Roman" panose="02020603050405020304" pitchFamily="18" charset="0"/>
              </a:rPr>
              <a:t>W.G. Rosen in 1985.</a:t>
            </a:r>
          </a:p>
          <a:p>
            <a:pPr>
              <a:lnSpc>
                <a:spcPct val="100000"/>
              </a:lnSpc>
            </a:pPr>
            <a:r>
              <a:rPr lang="en-US" sz="1800" b="1" i="0" u="none" strike="noStrike" baseline="0" dirty="0">
                <a:latin typeface="Times New Roman" panose="02020603050405020304" pitchFamily="18" charset="0"/>
                <a:cs typeface="Times New Roman" panose="02020603050405020304" pitchFamily="18" charset="0"/>
              </a:rPr>
              <a:t>Biodiversity is usually considered at three different levels:</a:t>
            </a:r>
          </a:p>
          <a:p>
            <a:pPr>
              <a:lnSpc>
                <a:spcPct val="100000"/>
              </a:lnSpc>
            </a:pPr>
            <a:r>
              <a:rPr lang="en-US" sz="1800" b="0" i="0" u="none" strike="noStrike" baseline="0" dirty="0">
                <a:latin typeface="Times New Roman" panose="02020603050405020304" pitchFamily="18" charset="0"/>
                <a:cs typeface="Times New Roman" panose="02020603050405020304" pitchFamily="18" charset="0"/>
              </a:rPr>
              <a:t>The following are different types of biodiversity:</a:t>
            </a:r>
            <a:endParaRPr lang="en-IN" sz="1800" b="0" i="0" u="none" strike="noStrike" baseline="0" dirty="0">
              <a:latin typeface="Times New Roman" panose="02020603050405020304" pitchFamily="18" charset="0"/>
              <a:cs typeface="Times New Roman" panose="02020603050405020304" pitchFamily="18" charset="0"/>
            </a:endParaRPr>
          </a:p>
          <a:p>
            <a:pPr marL="342900" indent="-342900">
              <a:lnSpc>
                <a:spcPct val="100000"/>
              </a:lnSpc>
              <a:buAutoNum type="arabicPeriod"/>
            </a:pPr>
            <a:r>
              <a:rPr lang="en-US" sz="1800" b="1" i="0" u="none" strike="noStrike" baseline="0" dirty="0">
                <a:latin typeface="Times New Roman" panose="02020603050405020304" pitchFamily="18" charset="0"/>
                <a:cs typeface="Times New Roman" panose="02020603050405020304" pitchFamily="18" charset="0"/>
              </a:rPr>
              <a:t>Genetic diversity: </a:t>
            </a:r>
            <a:r>
              <a:rPr lang="en-US" sz="1800" b="0" i="0" u="none" strike="noStrike" baseline="0" dirty="0">
                <a:latin typeface="Times New Roman" panose="02020603050405020304" pitchFamily="18" charset="0"/>
                <a:cs typeface="Times New Roman" panose="02020603050405020304" pitchFamily="18" charset="0"/>
              </a:rPr>
              <a:t>variety in the genetic makeup among individuals within a species</a:t>
            </a:r>
          </a:p>
          <a:p>
            <a:pPr marL="342900" indent="-342900">
              <a:lnSpc>
                <a:spcPct val="100000"/>
              </a:lnSpc>
              <a:buAutoNum type="arabicPeriod"/>
            </a:pPr>
            <a:r>
              <a:rPr lang="en-US" sz="1800" b="1" i="0" u="none" strike="noStrike" baseline="0" dirty="0">
                <a:latin typeface="Times New Roman" panose="02020603050405020304" pitchFamily="18" charset="0"/>
                <a:cs typeface="Times New Roman" panose="02020603050405020304" pitchFamily="18" charset="0"/>
              </a:rPr>
              <a:t>Species diversity: </a:t>
            </a:r>
            <a:r>
              <a:rPr lang="en-US" sz="1800" b="0" i="0" u="none" strike="noStrike" baseline="0" dirty="0">
                <a:latin typeface="Times New Roman" panose="02020603050405020304" pitchFamily="18" charset="0"/>
                <a:cs typeface="Times New Roman" panose="02020603050405020304" pitchFamily="18" charset="0"/>
              </a:rPr>
              <a:t>variety among the species or distinct types of living organisms found in different habitats of the  planet</a:t>
            </a:r>
          </a:p>
          <a:p>
            <a:pPr marL="342900" indent="-342900">
              <a:lnSpc>
                <a:spcPct val="100000"/>
              </a:lnSpc>
              <a:buAutoNum type="arabicPeriod"/>
            </a:pPr>
            <a:r>
              <a:rPr lang="en-US" sz="1800" b="1" i="0" u="none" strike="noStrike" baseline="0" dirty="0">
                <a:latin typeface="Times New Roman" panose="02020603050405020304" pitchFamily="18" charset="0"/>
                <a:cs typeface="Times New Roman" panose="02020603050405020304" pitchFamily="18" charset="0"/>
              </a:rPr>
              <a:t>Ecosystem or ecological diversity</a:t>
            </a:r>
            <a:r>
              <a:rPr lang="en-US" sz="1800" b="0" i="0" u="none" strike="noStrike" baseline="0" dirty="0">
                <a:latin typeface="Times New Roman" panose="02020603050405020304" pitchFamily="18" charset="0"/>
                <a:cs typeface="Times New Roman" panose="02020603050405020304" pitchFamily="18" charset="0"/>
              </a:rPr>
              <a:t>: the variety of forests, deserts, grasslands, streams, lakes, oceans, coral reefs,    wetlands, and other biological communities.</a:t>
            </a:r>
          </a:p>
          <a:p>
            <a:pPr marL="342900" indent="-342900">
              <a:lnSpc>
                <a:spcPct val="100000"/>
              </a:lnSpc>
              <a:buAutoNum type="arabicPeriod"/>
            </a:pPr>
            <a:r>
              <a:rPr lang="en-US" sz="1800" b="1" i="0" u="none" strike="noStrike" baseline="0" dirty="0">
                <a:latin typeface="Times New Roman" panose="02020603050405020304" pitchFamily="18" charset="0"/>
                <a:cs typeface="Times New Roman" panose="02020603050405020304" pitchFamily="18" charset="0"/>
              </a:rPr>
              <a:t>Functional diversity: </a:t>
            </a:r>
            <a:r>
              <a:rPr lang="en-US" sz="1800" b="0" i="0" u="none" strike="noStrike" baseline="0" dirty="0">
                <a:latin typeface="Times New Roman" panose="02020603050405020304" pitchFamily="18" charset="0"/>
                <a:cs typeface="Times New Roman" panose="02020603050405020304" pitchFamily="18" charset="0"/>
              </a:rPr>
              <a:t>biological and chemical processes of functions such as energy flow and matter cycling needed for the survival of species and biological communities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80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B9635C-2951-14D1-5792-1D4E5E3505D6}"/>
              </a:ext>
            </a:extLst>
          </p:cNvPr>
          <p:cNvSpPr>
            <a:spLocks noGrp="1"/>
          </p:cNvSpPr>
          <p:nvPr>
            <p:ph type="ctrTitle"/>
          </p:nvPr>
        </p:nvSpPr>
        <p:spPr>
          <a:xfrm>
            <a:off x="80344" y="920307"/>
            <a:ext cx="3200400" cy="4461163"/>
          </a:xfrm>
        </p:spPr>
        <p:txBody>
          <a:bodyPr vert="horz" lIns="91440" tIns="45720" rIns="91440" bIns="45720" rtlCol="0" anchor="ctr">
            <a:normAutofit/>
          </a:bodyPr>
          <a:lstStyle/>
          <a:p>
            <a:pPr algn="l"/>
            <a:r>
              <a:rPr lang="en-US" sz="4000" b="1" u="sng" kern="1200" dirty="0">
                <a:solidFill>
                  <a:srgbClr val="FF0000"/>
                </a:solidFill>
                <a:latin typeface="+mn-lt"/>
                <a:ea typeface="+mj-ea"/>
                <a:cs typeface="+mj-cs"/>
              </a:rPr>
              <a:t>TYPES OF BIODIVERSITY </a:t>
            </a:r>
          </a:p>
        </p:txBody>
      </p:sp>
      <p:sp>
        <p:nvSpPr>
          <p:cNvPr id="34"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title 2">
            <a:extLst>
              <a:ext uri="{FF2B5EF4-FFF2-40B4-BE49-F238E27FC236}">
                <a16:creationId xmlns:a16="http://schemas.microsoft.com/office/drawing/2014/main" id="{3298E3F6-0FBA-4982-63E1-E1B5FFF17CC5}"/>
              </a:ext>
            </a:extLst>
          </p:cNvPr>
          <p:cNvSpPr>
            <a:spLocks noGrp="1"/>
          </p:cNvSpPr>
          <p:nvPr>
            <p:ph type="subTitle" idx="1"/>
          </p:nvPr>
        </p:nvSpPr>
        <p:spPr>
          <a:xfrm>
            <a:off x="3041781" y="0"/>
            <a:ext cx="9150220" cy="6932645"/>
          </a:xfrm>
        </p:spPr>
        <p:txBody>
          <a:bodyPr vert="horz" lIns="91440" tIns="45720" rIns="91440" bIns="45720" rtlCol="0" anchor="ctr">
            <a:noAutofit/>
          </a:bodyPr>
          <a:lstStyle/>
          <a:p>
            <a:pPr indent="-228600" algn="l">
              <a:lnSpc>
                <a:spcPct val="150000"/>
              </a:lnSpc>
              <a:buFont typeface="Arial" panose="020B0604020202020204" pitchFamily="34" charset="0"/>
              <a:buChar char="•"/>
            </a:pPr>
            <a:r>
              <a:rPr lang="en-US" sz="1600" b="1" i="0" u="none" strike="noStrike" baseline="0" dirty="0">
                <a:latin typeface="Times New Roman" panose="02020603050405020304" pitchFamily="18" charset="0"/>
                <a:cs typeface="Times New Roman" panose="02020603050405020304" pitchFamily="18" charset="0"/>
              </a:rPr>
              <a:t>1. Genetic Diversity</a:t>
            </a:r>
            <a:r>
              <a:rPr lang="en-US" sz="1600" b="0" i="0" u="none" strike="noStrike" baseline="0" dirty="0">
                <a:latin typeface="Times New Roman" panose="02020603050405020304" pitchFamily="18" charset="0"/>
                <a:cs typeface="Times New Roman" panose="02020603050405020304" pitchFamily="18" charset="0"/>
              </a:rPr>
              <a:t>: Genetic diversity is the “raw material” that permits species to adjust to a changing world whether these changes are due to natural factors or are caused by human factors.</a:t>
            </a:r>
          </a:p>
          <a:p>
            <a:pPr marL="285750" indent="-228600" algn="l">
              <a:lnSpc>
                <a:spcPct val="150000"/>
              </a:lnSpc>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It refers to the variation at the level of individual genes and provides a mechanism for populations to adapt to their ever-changing environment. </a:t>
            </a:r>
            <a:r>
              <a:rPr lang="en-US" sz="1600" b="0" i="0" u="none" strike="noStrike" baseline="0" dirty="0" err="1">
                <a:latin typeface="Times New Roman" panose="02020603050405020304" pitchFamily="18" charset="0"/>
                <a:cs typeface="Times New Roman" panose="02020603050405020304" pitchFamily="18" charset="0"/>
              </a:rPr>
              <a:t>Eg</a:t>
            </a:r>
            <a:r>
              <a:rPr lang="en-US" sz="1600" b="0" i="0" u="none" strike="noStrike" baseline="0" dirty="0">
                <a:latin typeface="Times New Roman" panose="02020603050405020304" pitchFamily="18" charset="0"/>
                <a:cs typeface="Times New Roman" panose="02020603050405020304" pitchFamily="18" charset="0"/>
              </a:rPr>
              <a:t>: Human beings</a:t>
            </a:r>
          </a:p>
          <a:p>
            <a:pPr indent="-228600" algn="l">
              <a:lnSpc>
                <a:spcPct val="150000"/>
              </a:lnSpc>
              <a:buFont typeface="Arial" panose="020B0604020202020204" pitchFamily="34" charset="0"/>
              <a:buChar char="•"/>
            </a:pPr>
            <a:r>
              <a:rPr lang="en-US" sz="1600" b="1" i="0" u="none" strike="noStrike" baseline="0" dirty="0">
                <a:latin typeface="Times New Roman" panose="02020603050405020304" pitchFamily="18" charset="0"/>
                <a:cs typeface="Times New Roman" panose="02020603050405020304" pitchFamily="18" charset="0"/>
              </a:rPr>
              <a:t>2. Species Diversity</a:t>
            </a:r>
            <a:r>
              <a:rPr lang="en-US" sz="1600" b="0" i="0" u="none" strike="noStrike" baseline="0" dirty="0">
                <a:latin typeface="Times New Roman" panose="02020603050405020304" pitchFamily="18" charset="0"/>
                <a:cs typeface="Times New Roman" panose="02020603050405020304" pitchFamily="18" charset="0"/>
              </a:rPr>
              <a:t>: Species diversity refers to the different types of living organisms on Earth.</a:t>
            </a:r>
          </a:p>
          <a:p>
            <a:pPr marL="285750" indent="-228600" algn="l">
              <a:lnSpc>
                <a:spcPct val="150000"/>
              </a:lnSpc>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This includes the many types of birds, insects, plants, bacteria, fungi, mammals, and more. Many differing species often live together in communities depending on each other to provide for their</a:t>
            </a:r>
            <a:r>
              <a:rPr lang="en-US" sz="1600" dirty="0">
                <a:latin typeface="Times New Roman" panose="02020603050405020304" pitchFamily="18" charset="0"/>
                <a:cs typeface="Times New Roman" panose="02020603050405020304" pitchFamily="18" charset="0"/>
              </a:rPr>
              <a:t> </a:t>
            </a:r>
            <a:r>
              <a:rPr lang="en-US" sz="1600" b="0" i="0" u="none" strike="noStrike" baseline="0" dirty="0">
                <a:latin typeface="Times New Roman" panose="02020603050405020304" pitchFamily="18" charset="0"/>
                <a:cs typeface="Times New Roman" panose="02020603050405020304" pitchFamily="18" charset="0"/>
              </a:rPr>
              <a:t>needs.</a:t>
            </a:r>
          </a:p>
          <a:p>
            <a:pPr marL="285750" indent="-228600" algn="l">
              <a:lnSpc>
                <a:spcPct val="150000"/>
              </a:lnSpc>
              <a:buFont typeface="Arial" panose="020B0604020202020204" pitchFamily="34" charset="0"/>
              <a:buChar char="•"/>
            </a:pPr>
            <a:r>
              <a:rPr lang="en-US" sz="1600" b="0" i="0" u="none" strike="noStrike" baseline="0" dirty="0">
                <a:latin typeface="Times New Roman" panose="02020603050405020304" pitchFamily="18" charset="0"/>
                <a:cs typeface="Times New Roman" panose="02020603050405020304" pitchFamily="18" charset="0"/>
              </a:rPr>
              <a:t>A species can be defined as a group or population of similar organisms that reproduce by interbreeding within the group. Members of a species do not normally reproduce with members of any other species. Members of a specific species possess common characteristics that distinguish them from other species, and this remains constant regardless of geographic location.</a:t>
            </a:r>
          </a:p>
          <a:p>
            <a:pPr indent="-228600" algn="l">
              <a:lnSpc>
                <a:spcPct val="150000"/>
              </a:lnSpc>
              <a:buFont typeface="Arial" panose="020B0604020202020204" pitchFamily="34" charset="0"/>
              <a:buChar char="•"/>
            </a:pPr>
            <a:r>
              <a:rPr lang="en-US" sz="1600" b="1" i="0" u="none" strike="noStrike" baseline="0" dirty="0">
                <a:latin typeface="Times New Roman" panose="02020603050405020304" pitchFamily="18" charset="0"/>
                <a:cs typeface="Times New Roman" panose="02020603050405020304" pitchFamily="18" charset="0"/>
              </a:rPr>
              <a:t>3. Ecosystem Diversity</a:t>
            </a:r>
            <a:r>
              <a:rPr lang="en-US" sz="1600" b="0" i="0" u="none" strike="noStrike" baseline="0" dirty="0">
                <a:latin typeface="Times New Roman" panose="02020603050405020304" pitchFamily="18" charset="0"/>
                <a:cs typeface="Times New Roman" panose="02020603050405020304" pitchFamily="18" charset="0"/>
              </a:rPr>
              <a:t>: Ecological diversity or ecosystem diversity is the variety of biological communities, such as forests, deserts, grasslands and streams that interact with one another and with their physical and chemical (nonliving) environments. It relates to the different forms of life which are present in any one particular area or site. </a:t>
            </a:r>
          </a:p>
          <a:p>
            <a:pPr marL="285750" indent="-228600" algn="l">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a:t>
            </a:r>
            <a:r>
              <a:rPr lang="en-US" sz="1600" b="0" i="0" u="none" strike="noStrike" baseline="0" dirty="0">
                <a:latin typeface="Times New Roman" panose="02020603050405020304" pitchFamily="18" charset="0"/>
                <a:cs typeface="Times New Roman" panose="02020603050405020304" pitchFamily="18" charset="0"/>
              </a:rPr>
              <a:t>t concerns the different species of a particular genus that are present in an ecological community.</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14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diagram of different types of biodiversity&#10;&#10;Description automatically generated">
            <a:extLst>
              <a:ext uri="{FF2B5EF4-FFF2-40B4-BE49-F238E27FC236}">
                <a16:creationId xmlns:a16="http://schemas.microsoft.com/office/drawing/2014/main" id="{C5578D71-2F6F-11CE-746F-5806BF8EDC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247885" y="594790"/>
            <a:ext cx="7696229" cy="606078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AutoShape 4">
            <a:extLst>
              <a:ext uri="{FF2B5EF4-FFF2-40B4-BE49-F238E27FC236}">
                <a16:creationId xmlns:a16="http://schemas.microsoft.com/office/drawing/2014/main" id="{9F5DF3A6-CCA1-81B7-9E3C-14CE242066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25454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483F1C-F07E-B8DF-DE6F-D5BAE5C465AB}"/>
              </a:ext>
            </a:extLst>
          </p:cNvPr>
          <p:cNvSpPr>
            <a:spLocks noGrp="1"/>
          </p:cNvSpPr>
          <p:nvPr>
            <p:ph type="title"/>
          </p:nvPr>
        </p:nvSpPr>
        <p:spPr>
          <a:xfrm>
            <a:off x="-20455" y="1974231"/>
            <a:ext cx="3528129" cy="1464907"/>
          </a:xfrm>
        </p:spPr>
        <p:txBody>
          <a:bodyPr anchor="b">
            <a:normAutofit/>
          </a:bodyPr>
          <a:lstStyle/>
          <a:p>
            <a:pPr algn="ctr"/>
            <a:r>
              <a:rPr lang="en-IN" sz="4000" b="1" u="sng" dirty="0">
                <a:solidFill>
                  <a:srgbClr val="FF0000"/>
                </a:solidFill>
                <a:latin typeface="+mn-lt"/>
              </a:rPr>
              <a:t>VALUES OF BIODIVERSITY </a:t>
            </a:r>
          </a:p>
        </p:txBody>
      </p:sp>
      <p:sp>
        <p:nvSpPr>
          <p:cNvPr id="3" name="Content Placeholder 2">
            <a:extLst>
              <a:ext uri="{FF2B5EF4-FFF2-40B4-BE49-F238E27FC236}">
                <a16:creationId xmlns:a16="http://schemas.microsoft.com/office/drawing/2014/main" id="{3E2C56F5-A549-F717-0F91-191C7F865D63}"/>
              </a:ext>
            </a:extLst>
          </p:cNvPr>
          <p:cNvSpPr>
            <a:spLocks noGrp="1"/>
          </p:cNvSpPr>
          <p:nvPr>
            <p:ph idx="1"/>
          </p:nvPr>
        </p:nvSpPr>
        <p:spPr>
          <a:xfrm>
            <a:off x="4009715" y="250623"/>
            <a:ext cx="8179237" cy="6336474"/>
          </a:xfrm>
        </p:spPr>
        <p:txBody>
          <a:bodyPr anchor="ctr">
            <a:noAutofit/>
          </a:bodyPr>
          <a:lstStyle/>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The value of biodiversity (in terms of its commercial utility, ecological services, social and aesthetic values) is enormous. </a:t>
            </a:r>
          </a:p>
          <a:p>
            <a:pPr marL="0" indent="0">
              <a:lnSpc>
                <a:spcPct val="100000"/>
              </a:lnSpc>
              <a:buNone/>
            </a:pPr>
            <a:r>
              <a:rPr lang="en-US" sz="1550" b="1" dirty="0">
                <a:latin typeface="Times New Roman" panose="02020603050405020304" pitchFamily="18" charset="0"/>
                <a:cs typeface="Times New Roman" panose="02020603050405020304" pitchFamily="18" charset="0"/>
              </a:rPr>
              <a:t>1. </a:t>
            </a:r>
            <a:r>
              <a:rPr lang="en-US" sz="1550" b="1" i="0" u="none" strike="noStrike" baseline="0" dirty="0">
                <a:latin typeface="Times New Roman" panose="02020603050405020304" pitchFamily="18" charset="0"/>
                <a:cs typeface="Times New Roman" panose="02020603050405020304" pitchFamily="18" charset="0"/>
              </a:rPr>
              <a:t>CONSUMPTIVE VALUE: </a:t>
            </a:r>
            <a:r>
              <a:rPr lang="en-US" sz="1550" b="0" i="0" u="none" strike="noStrike" baseline="0" dirty="0">
                <a:latin typeface="Times New Roman" panose="02020603050405020304" pitchFamily="18" charset="0"/>
                <a:cs typeface="Times New Roman" panose="02020603050405020304" pitchFamily="18" charset="0"/>
              </a:rPr>
              <a:t>Biodiversity is an essential requirement for the maintenance of global food supply. The main sources of human food include animals, fish, and plant products.</a:t>
            </a:r>
          </a:p>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Many plants are consumed by human beings as food. A few animal species are consumed by people which come including cattle, pigs, sheep, goats, buffaloes, chickens, ducks, </a:t>
            </a:r>
            <a:r>
              <a:rPr lang="en-IN" sz="1550" b="0" i="0" u="none" strike="noStrike" baseline="0" dirty="0">
                <a:latin typeface="Times New Roman" panose="02020603050405020304" pitchFamily="18" charset="0"/>
                <a:cs typeface="Times New Roman" panose="02020603050405020304" pitchFamily="18" charset="0"/>
              </a:rPr>
              <a:t>geese, and turkey species.</a:t>
            </a:r>
          </a:p>
          <a:p>
            <a:pPr>
              <a:lnSpc>
                <a:spcPct val="100000"/>
              </a:lnSpc>
            </a:pPr>
            <a:r>
              <a:rPr lang="en-US" sz="1550" b="1" i="0" u="none" strike="noStrike" baseline="0" dirty="0">
                <a:latin typeface="Times New Roman" panose="02020603050405020304" pitchFamily="18" charset="0"/>
                <a:cs typeface="Times New Roman" panose="02020603050405020304" pitchFamily="18" charset="0"/>
              </a:rPr>
              <a:t>Fish: </a:t>
            </a:r>
            <a:r>
              <a:rPr lang="en-US" sz="1550" i="0" u="none" strike="noStrike" baseline="0" dirty="0">
                <a:latin typeface="Times New Roman" panose="02020603050405020304" pitchFamily="18" charset="0"/>
                <a:cs typeface="Times New Roman" panose="02020603050405020304" pitchFamily="18" charset="0"/>
              </a:rPr>
              <a:t>Many freshwater fish can be grown in ponds. Israel and China already get about half of their fish from aquaculture.</a:t>
            </a:r>
          </a:p>
          <a:p>
            <a:pPr>
              <a:lnSpc>
                <a:spcPct val="100000"/>
              </a:lnSpc>
            </a:pPr>
            <a:r>
              <a:rPr lang="en-US" sz="1550" b="1" i="0" u="none" strike="noStrike" baseline="0" dirty="0">
                <a:latin typeface="Times New Roman" panose="02020603050405020304" pitchFamily="18" charset="0"/>
                <a:cs typeface="Times New Roman" panose="02020603050405020304" pitchFamily="18" charset="0"/>
              </a:rPr>
              <a:t>Drugs &amp; medicines: </a:t>
            </a:r>
            <a:r>
              <a:rPr lang="en-US" sz="1550" b="0" i="0" u="none" strike="noStrike" baseline="0" dirty="0">
                <a:latin typeface="Times New Roman" panose="02020603050405020304" pitchFamily="18" charset="0"/>
                <a:cs typeface="Times New Roman" panose="02020603050405020304" pitchFamily="18" charset="0"/>
              </a:rPr>
              <a:t>About 75% of the world’s population depends upon plants or plant extracts</a:t>
            </a:r>
          </a:p>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for medicines. The drug Penicillin used as an antibiotic is derived from a fungus called </a:t>
            </a:r>
            <a:r>
              <a:rPr lang="en-IN" sz="1550" b="1" i="0" u="none" strike="noStrike" baseline="0" dirty="0">
                <a:latin typeface="Times New Roman" panose="02020603050405020304" pitchFamily="18" charset="0"/>
                <a:cs typeface="Times New Roman" panose="02020603050405020304" pitchFamily="18" charset="0"/>
              </a:rPr>
              <a:t>Penicillium. </a:t>
            </a:r>
          </a:p>
          <a:p>
            <a:pPr>
              <a:lnSpc>
                <a:spcPct val="100000"/>
              </a:lnSpc>
            </a:pPr>
            <a:r>
              <a:rPr lang="en-US" sz="1550" b="1" i="0" u="none" strike="noStrike" baseline="0" dirty="0">
                <a:latin typeface="Times New Roman" panose="02020603050405020304" pitchFamily="18" charset="0"/>
                <a:cs typeface="Times New Roman" panose="02020603050405020304" pitchFamily="18" charset="0"/>
              </a:rPr>
              <a:t>Fuel: </a:t>
            </a:r>
            <a:r>
              <a:rPr lang="en-US" sz="1550" b="0" i="0" u="none" strike="noStrike" baseline="0" dirty="0">
                <a:latin typeface="Times New Roman" panose="02020603050405020304" pitchFamily="18" charset="0"/>
                <a:cs typeface="Times New Roman" panose="02020603050405020304" pitchFamily="18" charset="0"/>
              </a:rPr>
              <a:t>Fossil fuels like coal, petroleum products, and natural gas are the products of </a:t>
            </a:r>
            <a:r>
              <a:rPr lang="en-IN" sz="1550" b="0" i="0" u="none" strike="noStrike" baseline="0" dirty="0">
                <a:latin typeface="Times New Roman" panose="02020603050405020304" pitchFamily="18" charset="0"/>
                <a:cs typeface="Times New Roman" panose="02020603050405020304" pitchFamily="18" charset="0"/>
              </a:rPr>
              <a:t>Biodiversity </a:t>
            </a:r>
          </a:p>
          <a:p>
            <a:pPr marL="0" indent="0">
              <a:lnSpc>
                <a:spcPct val="100000"/>
              </a:lnSpc>
              <a:buNone/>
            </a:pPr>
            <a:endParaRPr lang="en-IN" sz="1550" dirty="0">
              <a:latin typeface="Times New Roman" panose="02020603050405020304" pitchFamily="18" charset="0"/>
              <a:cs typeface="Times New Roman" panose="02020603050405020304" pitchFamily="18" charset="0"/>
            </a:endParaRPr>
          </a:p>
          <a:p>
            <a:pPr marL="0" indent="0">
              <a:lnSpc>
                <a:spcPct val="100000"/>
              </a:lnSpc>
              <a:buNone/>
            </a:pPr>
            <a:r>
              <a:rPr lang="en-US" sz="1550" b="1" i="0" u="none" strike="noStrike" baseline="0" dirty="0">
                <a:latin typeface="Times New Roman" panose="02020603050405020304" pitchFamily="18" charset="0"/>
                <a:cs typeface="Times New Roman" panose="02020603050405020304" pitchFamily="18" charset="0"/>
              </a:rPr>
              <a:t>2.  PRODUCTIVE VALUE: </a:t>
            </a:r>
            <a:r>
              <a:rPr lang="en-US" sz="1550" b="0" i="0" u="none" strike="noStrike" baseline="0" dirty="0">
                <a:latin typeface="Times New Roman" panose="02020603050405020304" pitchFamily="18" charset="0"/>
                <a:cs typeface="Times New Roman" panose="02020603050405020304" pitchFamily="18" charset="0"/>
              </a:rPr>
              <a:t>Some of the organisms are commercially usable where the product is marketed and sold. </a:t>
            </a:r>
          </a:p>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The animal products like tusks of elephants; musk from deer; silk from silkworms; wool from sheep or goats; and fur of many animals, all of which are traded in the </a:t>
            </a:r>
            <a:r>
              <a:rPr lang="en-IN" sz="1550" b="0" i="0" u="none" strike="noStrike" baseline="0" dirty="0">
                <a:latin typeface="Times New Roman" panose="02020603050405020304" pitchFamily="18" charset="0"/>
                <a:cs typeface="Times New Roman" panose="02020603050405020304" pitchFamily="18" charset="0"/>
              </a:rPr>
              <a:t>market.</a:t>
            </a:r>
          </a:p>
          <a:p>
            <a:pPr>
              <a:lnSpc>
                <a:spcPct val="100000"/>
              </a:lnSpc>
            </a:pPr>
            <a:r>
              <a:rPr lang="en-US" sz="1550" b="0" i="0" u="none" strike="noStrike" baseline="0" dirty="0" err="1">
                <a:latin typeface="Times New Roman" panose="02020603050405020304" pitchFamily="18" charset="0"/>
                <a:cs typeface="Times New Roman" panose="02020603050405020304" pitchFamily="18" charset="0"/>
              </a:rPr>
              <a:t>Eg</a:t>
            </a:r>
            <a:r>
              <a:rPr lang="en-US" sz="1550" b="0" i="0" u="none" strike="noStrike" baseline="0" dirty="0">
                <a:latin typeface="Times New Roman" panose="02020603050405020304" pitchFamily="18" charset="0"/>
                <a:cs typeface="Times New Roman" panose="02020603050405020304" pitchFamily="18" charset="0"/>
              </a:rPr>
              <a:t>: Calabar bean was traditionally used as a poison in West Africa.</a:t>
            </a:r>
          </a:p>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Daisy plants were first used as a lice remedy in the Middle East, leading to the Discovery of Pyrethrum. Mosquito coils made from Pyrethrum are sold in the market.</a:t>
            </a:r>
          </a:p>
          <a:p>
            <a:pPr>
              <a:lnSpc>
                <a:spcPct val="100000"/>
              </a:lnSpc>
            </a:pPr>
            <a:r>
              <a:rPr lang="en-US" sz="1550" b="0" i="0" u="none" strike="noStrike" baseline="0" dirty="0">
                <a:latin typeface="Times New Roman" panose="02020603050405020304" pitchFamily="18" charset="0"/>
                <a:cs typeface="Times New Roman" panose="02020603050405020304" pitchFamily="18" charset="0"/>
              </a:rPr>
              <a:t>The bacterium Bacillus thuringiensis produces toxic proteins that kill certain insects</a:t>
            </a:r>
            <a:endParaRPr lang="en-IN" sz="15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679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unch of flowers">
            <a:extLst>
              <a:ext uri="{FF2B5EF4-FFF2-40B4-BE49-F238E27FC236}">
                <a16:creationId xmlns:a16="http://schemas.microsoft.com/office/drawing/2014/main" id="{03151927-72F4-1222-7631-62CA3D53EC29}"/>
              </a:ext>
            </a:extLst>
          </p:cNvPr>
          <p:cNvPicPr>
            <a:picLocks noChangeAspect="1"/>
          </p:cNvPicPr>
          <p:nvPr/>
        </p:nvPicPr>
        <p:blipFill rotWithShape="1">
          <a:blip r:embed="rId2"/>
          <a:srcRect l="39410" r="19744" b="-1"/>
          <a:stretch/>
        </p:blipFill>
        <p:spPr>
          <a:xfrm>
            <a:off x="1" y="10"/>
            <a:ext cx="3508309" cy="6857990"/>
          </a:xfrm>
          <a:prstGeom prst="rect">
            <a:avLst/>
          </a:prstGeom>
          <a:effectLst/>
        </p:spPr>
      </p:pic>
      <p:sp>
        <p:nvSpPr>
          <p:cNvPr id="5" name="Title 1">
            <a:extLst>
              <a:ext uri="{FF2B5EF4-FFF2-40B4-BE49-F238E27FC236}">
                <a16:creationId xmlns:a16="http://schemas.microsoft.com/office/drawing/2014/main" id="{2CDE9A63-BAE5-73F7-C3F2-F6C6218B0C6E}"/>
              </a:ext>
            </a:extLst>
          </p:cNvPr>
          <p:cNvSpPr>
            <a:spLocks noGrp="1"/>
          </p:cNvSpPr>
          <p:nvPr>
            <p:ph idx="1"/>
          </p:nvPr>
        </p:nvSpPr>
        <p:spPr>
          <a:xfrm>
            <a:off x="3508311" y="0"/>
            <a:ext cx="8680640" cy="6858000"/>
          </a:xfrm>
        </p:spPr>
        <p:txBody>
          <a:bodyPr>
            <a:noAutofit/>
          </a:bodyPr>
          <a:lstStyle/>
          <a:p>
            <a:pPr marL="0" indent="0">
              <a:lnSpc>
                <a:spcPct val="150000"/>
              </a:lnSpc>
              <a:buNone/>
            </a:pPr>
            <a:r>
              <a:rPr lang="en-US" sz="1600" b="1" dirty="0">
                <a:latin typeface="Times New Roman" panose="02020603050405020304" pitchFamily="18" charset="0"/>
              </a:rPr>
              <a:t>3. </a:t>
            </a:r>
            <a:r>
              <a:rPr lang="en-US" sz="1600" b="1" i="0" u="none" strike="noStrike" baseline="0" dirty="0">
                <a:latin typeface="Times New Roman" panose="02020603050405020304" pitchFamily="18" charset="0"/>
              </a:rPr>
              <a:t>SOCIAL VALUE</a:t>
            </a:r>
            <a:r>
              <a:rPr lang="en-US" sz="1600" b="0" i="0" u="none" strike="noStrike" baseline="0" dirty="0">
                <a:latin typeface="Times New Roman" panose="02020603050405020304" pitchFamily="18" charset="0"/>
              </a:rPr>
              <a:t>: These are the values associated with the social life, religion, and spiritual aspects of the people. Many of the plants are sacred in our country like Tulasi, Mango leaves, and Banana leaves. The leaves, fruits, and flowers of some of the plants are used in worship. </a:t>
            </a:r>
          </a:p>
          <a:p>
            <a:pPr>
              <a:lnSpc>
                <a:spcPct val="150000"/>
              </a:lnSpc>
            </a:pPr>
            <a:r>
              <a:rPr lang="en-US" sz="1600" b="0" i="0" u="none" strike="noStrike" baseline="0" dirty="0">
                <a:latin typeface="Times New Roman" panose="02020603050405020304" pitchFamily="18" charset="0"/>
              </a:rPr>
              <a:t>Many animals like cow, snake, bull, peacock also have significant place in spiritual and thus hold special importance. Thus, biodiversity has distinct social value, attached with different </a:t>
            </a:r>
            <a:r>
              <a:rPr lang="en-IN" sz="1600" b="0" i="0" u="none" strike="noStrike" baseline="0" dirty="0">
                <a:latin typeface="Times New Roman" panose="02020603050405020304" pitchFamily="18" charset="0"/>
              </a:rPr>
              <a:t>societies.</a:t>
            </a:r>
          </a:p>
          <a:p>
            <a:pPr marL="0" indent="0">
              <a:lnSpc>
                <a:spcPct val="150000"/>
              </a:lnSpc>
              <a:buNone/>
            </a:pPr>
            <a:r>
              <a:rPr lang="en-US" sz="1600" b="1" dirty="0">
                <a:latin typeface="Times New Roman" panose="02020603050405020304" pitchFamily="18" charset="0"/>
              </a:rPr>
              <a:t>4. </a:t>
            </a:r>
            <a:r>
              <a:rPr lang="en-US" sz="1600" b="1" i="0" u="none" strike="noStrike" baseline="0" dirty="0">
                <a:latin typeface="Times New Roman" panose="02020603050405020304" pitchFamily="18" charset="0"/>
              </a:rPr>
              <a:t>ETHICAL VALUE</a:t>
            </a:r>
            <a:r>
              <a:rPr lang="en-US" sz="1600" b="0" i="0" u="none" strike="noStrike" baseline="0" dirty="0">
                <a:latin typeface="Times New Roman" panose="02020603050405020304" pitchFamily="18" charset="0"/>
              </a:rPr>
              <a:t>: The ethical value means that human beings may or may not use a certain species but knowing the very fact that this species exists in nature gives pleasure. </a:t>
            </a:r>
          </a:p>
          <a:p>
            <a:pPr marL="0" indent="0">
              <a:lnSpc>
                <a:spcPct val="150000"/>
              </a:lnSpc>
              <a:buNone/>
            </a:pPr>
            <a:r>
              <a:rPr lang="en-US" sz="1600" b="1" i="0" u="none" strike="noStrike" baseline="0" dirty="0">
                <a:latin typeface="Times New Roman" panose="02020603050405020304" pitchFamily="18" charset="0"/>
              </a:rPr>
              <a:t>For </a:t>
            </a:r>
            <a:r>
              <a:rPr lang="en-US" sz="1600" b="1" i="0" u="none" strike="noStrike" baseline="0" dirty="0" err="1">
                <a:latin typeface="Times New Roman" panose="02020603050405020304" pitchFamily="18" charset="0"/>
              </a:rPr>
              <a:t>eg</a:t>
            </a:r>
            <a:r>
              <a:rPr lang="en-US" sz="1600" b="1" i="0" u="none" strike="noStrike" baseline="0" dirty="0">
                <a:latin typeface="Times New Roman" panose="02020603050405020304" pitchFamily="18" charset="0"/>
              </a:rPr>
              <a:t>: </a:t>
            </a:r>
            <a:r>
              <a:rPr lang="en-US" sz="1600" b="0" i="0" u="none" strike="noStrike" baseline="0" dirty="0">
                <a:latin typeface="Times New Roman" panose="02020603050405020304" pitchFamily="18" charset="0"/>
              </a:rPr>
              <a:t>A peculiar species of Pigeon, grey / white bird with short legs is no more on this earth.</a:t>
            </a:r>
          </a:p>
          <a:p>
            <a:pPr>
              <a:lnSpc>
                <a:spcPct val="150000"/>
              </a:lnSpc>
            </a:pPr>
            <a:r>
              <a:rPr lang="en-US" sz="1600" b="0" i="0" u="none" strike="noStrike" baseline="0" dirty="0">
                <a:latin typeface="Times New Roman" panose="02020603050405020304" pitchFamily="18" charset="0"/>
              </a:rPr>
              <a:t>Similarly, Dodo species is also no more. Human beings are not deriving anything direct from Kangaroo, giraffe but strongly feel that these species should exist in nature.</a:t>
            </a:r>
          </a:p>
          <a:p>
            <a:pPr marL="0" indent="0">
              <a:lnSpc>
                <a:spcPct val="150000"/>
              </a:lnSpc>
              <a:buNone/>
            </a:pPr>
            <a:r>
              <a:rPr lang="en-US" sz="1600" b="1" dirty="0">
                <a:latin typeface="Times New Roman" panose="02020603050405020304" pitchFamily="18" charset="0"/>
              </a:rPr>
              <a:t>5. </a:t>
            </a:r>
            <a:r>
              <a:rPr lang="en-US" sz="1600" b="1" i="0" u="none" strike="noStrike" baseline="0" dirty="0">
                <a:latin typeface="Times New Roman" panose="02020603050405020304" pitchFamily="18" charset="0"/>
              </a:rPr>
              <a:t>AESTHETIC VALUE: </a:t>
            </a:r>
            <a:r>
              <a:rPr lang="en-US" sz="1600" b="0" i="0" u="none" strike="noStrike" baseline="0" dirty="0">
                <a:latin typeface="Times New Roman" panose="02020603050405020304" pitchFamily="18" charset="0"/>
              </a:rPr>
              <a:t>Every one of us would like to visit vast stretches of lands to enjoy the visible life. People from farther areas, spend a lot of time and money to visit wildlife areas where they can enjoy the aesthetic value of biodiversity and this type of tourism is known as eco </a:t>
            </a:r>
            <a:r>
              <a:rPr lang="en-IN" sz="1600" b="0" i="0" u="none" strike="noStrike" baseline="0" dirty="0">
                <a:latin typeface="Times New Roman" panose="02020603050405020304" pitchFamily="18" charset="0"/>
              </a:rPr>
              <a:t>tourism.</a:t>
            </a:r>
          </a:p>
          <a:p>
            <a:pPr>
              <a:lnSpc>
                <a:spcPct val="150000"/>
              </a:lnSpc>
            </a:pPr>
            <a:r>
              <a:rPr lang="en-US" sz="1600" b="0" i="0" u="none" strike="noStrike" baseline="0" dirty="0">
                <a:latin typeface="Times New Roman" panose="02020603050405020304" pitchFamily="18" charset="0"/>
              </a:rPr>
              <a:t>Eco-tourism is estimated to generate 12 billion dollars of revenue annually that roughly gives the </a:t>
            </a:r>
            <a:r>
              <a:rPr lang="en-IN" sz="1600" b="0" i="0" u="none" strike="noStrike" baseline="0" dirty="0">
                <a:latin typeface="Times New Roman" panose="02020603050405020304" pitchFamily="18" charset="0"/>
              </a:rPr>
              <a:t>aesthetic value of biodiversity.</a:t>
            </a:r>
          </a:p>
        </p:txBody>
      </p:sp>
    </p:spTree>
    <p:extLst>
      <p:ext uri="{BB962C8B-B14F-4D97-AF65-F5344CB8AC3E}">
        <p14:creationId xmlns:p14="http://schemas.microsoft.com/office/powerpoint/2010/main" val="85557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34D42-CF89-17B1-7FC7-C0612226F579}"/>
              </a:ext>
            </a:extLst>
          </p:cNvPr>
          <p:cNvSpPr>
            <a:spLocks noGrp="1"/>
          </p:cNvSpPr>
          <p:nvPr>
            <p:ph type="title"/>
          </p:nvPr>
        </p:nvSpPr>
        <p:spPr>
          <a:xfrm>
            <a:off x="1651518" y="-67259"/>
            <a:ext cx="10159482" cy="748296"/>
          </a:xfrm>
        </p:spPr>
        <p:txBody>
          <a:bodyPr>
            <a:normAutofit/>
          </a:bodyPr>
          <a:lstStyle/>
          <a:p>
            <a:r>
              <a:rPr lang="en-US" sz="2000" b="1" i="0" u="sng" strike="noStrike" baseline="0" dirty="0">
                <a:solidFill>
                  <a:srgbClr val="FF0000"/>
                </a:solidFill>
                <a:latin typeface="Times New Roman" panose="02020603050405020304" pitchFamily="18" charset="0"/>
              </a:rPr>
              <a:t>BIODIVERSITY AT GLOBAL, NATIONAL AND LOCAL LEVEL</a:t>
            </a:r>
            <a:endParaRPr lang="en-IN" sz="2000" u="sng" dirty="0">
              <a:solidFill>
                <a:srgbClr val="FF0000"/>
              </a:solidFill>
            </a:endParaRPr>
          </a:p>
        </p:txBody>
      </p:sp>
      <p:sp>
        <p:nvSpPr>
          <p:cNvPr id="3" name="Content Placeholder 2">
            <a:extLst>
              <a:ext uri="{FF2B5EF4-FFF2-40B4-BE49-F238E27FC236}">
                <a16:creationId xmlns:a16="http://schemas.microsoft.com/office/drawing/2014/main" id="{A5E08012-8E66-249F-FA46-36E4DF8B542E}"/>
              </a:ext>
            </a:extLst>
          </p:cNvPr>
          <p:cNvSpPr>
            <a:spLocks noGrp="1"/>
          </p:cNvSpPr>
          <p:nvPr>
            <p:ph idx="1"/>
          </p:nvPr>
        </p:nvSpPr>
        <p:spPr>
          <a:xfrm>
            <a:off x="108857" y="681037"/>
            <a:ext cx="11974285" cy="6018246"/>
          </a:xfrm>
        </p:spPr>
        <p:txBody>
          <a:bodyPr>
            <a:noAutofit/>
          </a:bodyPr>
          <a:lstStyle/>
          <a:p>
            <a:pPr algn="just">
              <a:lnSpc>
                <a:spcPct val="150000"/>
              </a:lnSpc>
            </a:pPr>
            <a:r>
              <a:rPr lang="en-US" sz="1700" b="0" i="0" u="none" strike="noStrike" baseline="0" dirty="0">
                <a:latin typeface="Times New Roman" panose="02020603050405020304" pitchFamily="18" charset="0"/>
              </a:rPr>
              <a:t>The enormous diversity of life forms in the biosphere has evolved essentially through the process of trial and error during organic evolution. The changes in the character of living organisms which confer some advantage to the species are retained.</a:t>
            </a:r>
          </a:p>
          <a:p>
            <a:pPr algn="just">
              <a:lnSpc>
                <a:spcPct val="150000"/>
              </a:lnSpc>
            </a:pPr>
            <a:r>
              <a:rPr lang="en-US" sz="1700" b="0" i="0" u="none" strike="noStrike" baseline="0" dirty="0">
                <a:latin typeface="Times New Roman" panose="02020603050405020304" pitchFamily="18" charset="0"/>
              </a:rPr>
              <a:t>The changes in climatic conditions are reflected in the distribution of living organisms and the pattern of biodiversity on our planet. The number of species present per unit area decreases as we move from mild tropics to the tundras.</a:t>
            </a:r>
          </a:p>
          <a:p>
            <a:pPr algn="just">
              <a:lnSpc>
                <a:spcPct val="150000"/>
              </a:lnSpc>
            </a:pPr>
            <a:r>
              <a:rPr lang="en-US" sz="1700" b="0" i="0" u="none" strike="noStrike" baseline="0" dirty="0">
                <a:latin typeface="Times New Roman" panose="02020603050405020304" pitchFamily="18" charset="0"/>
              </a:rPr>
              <a:t>The Indian region (</a:t>
            </a:r>
            <a:r>
              <a:rPr lang="en-US" sz="1700" b="1" i="0" u="none" strike="noStrike" baseline="0" dirty="0">
                <a:latin typeface="Times New Roman" panose="02020603050405020304" pitchFamily="18" charset="0"/>
              </a:rPr>
              <a:t>8° to 30° N and 60° to 97.5°) with a total area of 329 million hectares</a:t>
            </a:r>
            <a:r>
              <a:rPr lang="en-US" sz="1700" b="0" i="0" u="none" strike="noStrike" baseline="0" dirty="0">
                <a:latin typeface="Times New Roman" panose="02020603050405020304" pitchFamily="18" charset="0"/>
              </a:rPr>
              <a:t> is </a:t>
            </a:r>
            <a:r>
              <a:rPr lang="en-US" sz="1700" b="1" i="0" u="none" strike="noStrike" baseline="0" dirty="0">
                <a:latin typeface="Times New Roman" panose="02020603050405020304" pitchFamily="18" charset="0"/>
              </a:rPr>
              <a:t>very rich in biodiversity</a:t>
            </a:r>
            <a:r>
              <a:rPr lang="en-US" sz="1700" b="0" i="0" u="none" strike="noStrike" baseline="0" dirty="0">
                <a:latin typeface="Times New Roman" panose="02020603050405020304" pitchFamily="18" charset="0"/>
              </a:rPr>
              <a:t>. It is estimated that about </a:t>
            </a:r>
            <a:r>
              <a:rPr lang="en-US" sz="1700" b="1" i="0" u="none" strike="noStrike" baseline="0" dirty="0">
                <a:latin typeface="Times New Roman" panose="02020603050405020304" pitchFamily="18" charset="0"/>
              </a:rPr>
              <a:t>45000 species of plants </a:t>
            </a:r>
            <a:r>
              <a:rPr lang="en-US" sz="1700" b="0" i="0" u="none" strike="noStrike" baseline="0" dirty="0">
                <a:latin typeface="Times New Roman" panose="02020603050405020304" pitchFamily="18" charset="0"/>
              </a:rPr>
              <a:t>occur in this country. The position of Indian sub-continent at the confluence of their biogeography reels is also an important contributing factor and explains the preservation of African, European, Sind, Japanese, and Indo-Malayan elements in the flora and fauna in India. It is the sum of such remarkable diversity that has made India a "gene bank" for several food crops, forest trees, medical and aromatic plants, and domesticated animals.</a:t>
            </a:r>
          </a:p>
          <a:p>
            <a:pPr algn="just">
              <a:lnSpc>
                <a:spcPct val="150000"/>
              </a:lnSpc>
            </a:pPr>
            <a:r>
              <a:rPr lang="en-US" sz="1700" b="0" i="0" u="none" strike="noStrike" baseline="0" dirty="0">
                <a:latin typeface="Times New Roman" panose="02020603050405020304" pitchFamily="18" charset="0"/>
              </a:rPr>
              <a:t>Forests are important bioreserves; most of the 1700 million hectares of tropical forests are in poor countries. There are about 53.5% of tree species found only in these forests and studies of birds, reptiles, primates, and butterflies have revealed equally high or higher endemics.</a:t>
            </a:r>
          </a:p>
          <a:p>
            <a:pPr algn="l"/>
            <a:r>
              <a:rPr lang="en-US" sz="1700" b="0" i="0" u="none" strike="noStrike" baseline="0" dirty="0">
                <a:solidFill>
                  <a:srgbClr val="231F20"/>
                </a:solidFill>
                <a:latin typeface="Times New Roman" panose="02020603050405020304" pitchFamily="18" charset="0"/>
                <a:cs typeface="Times New Roman" panose="02020603050405020304" pitchFamily="18" charset="0"/>
              </a:rPr>
              <a:t>Countries with diversities higher than India are in South America such as Brazil, and Southeast Asian countries such as Malaysia and </a:t>
            </a:r>
            <a:r>
              <a:rPr lang="en-IN" sz="1700" b="0" i="0" u="none" strike="noStrike" baseline="0" dirty="0">
                <a:solidFill>
                  <a:srgbClr val="231F20"/>
                </a:solidFill>
                <a:latin typeface="Times New Roman" panose="02020603050405020304" pitchFamily="18" charset="0"/>
                <a:cs typeface="Times New Roman" panose="02020603050405020304" pitchFamily="18" charset="0"/>
              </a:rPr>
              <a:t>Indonesia.</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07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8FD2-1E49-00E1-17C1-54B5FBC99321}"/>
              </a:ext>
            </a:extLst>
          </p:cNvPr>
          <p:cNvSpPr>
            <a:spLocks noGrp="1"/>
          </p:cNvSpPr>
          <p:nvPr>
            <p:ph type="title"/>
          </p:nvPr>
        </p:nvSpPr>
        <p:spPr>
          <a:xfrm>
            <a:off x="1250302" y="-27992"/>
            <a:ext cx="10010192" cy="626997"/>
          </a:xfrm>
        </p:spPr>
        <p:txBody>
          <a:bodyPr>
            <a:normAutofit/>
          </a:bodyPr>
          <a:lstStyle/>
          <a:p>
            <a:pPr algn="ctr"/>
            <a:r>
              <a:rPr lang="en-IN" sz="3000" b="1" u="sng" dirty="0">
                <a:solidFill>
                  <a:srgbClr val="FF0000"/>
                </a:solidFill>
                <a:latin typeface="+mn-lt"/>
              </a:rPr>
              <a:t>BIOGEOGRAPHIC CLASSIFICATION OF INDIA</a:t>
            </a:r>
          </a:p>
        </p:txBody>
      </p:sp>
      <p:sp>
        <p:nvSpPr>
          <p:cNvPr id="3" name="Content Placeholder 2">
            <a:extLst>
              <a:ext uri="{FF2B5EF4-FFF2-40B4-BE49-F238E27FC236}">
                <a16:creationId xmlns:a16="http://schemas.microsoft.com/office/drawing/2014/main" id="{8457BCEA-3E73-8326-0CEF-34B5E92AE928}"/>
              </a:ext>
            </a:extLst>
          </p:cNvPr>
          <p:cNvSpPr>
            <a:spLocks noGrp="1"/>
          </p:cNvSpPr>
          <p:nvPr>
            <p:ph idx="1"/>
          </p:nvPr>
        </p:nvSpPr>
        <p:spPr>
          <a:xfrm>
            <a:off x="251927" y="599005"/>
            <a:ext cx="11549743" cy="6018244"/>
          </a:xfrm>
        </p:spPr>
        <p:txBody>
          <a:bodyPr>
            <a:noAutofit/>
          </a:bodyPr>
          <a:lstStyle/>
          <a:p>
            <a:pPr algn="just">
              <a:lnSpc>
                <a:spcPct val="150000"/>
              </a:lnSpc>
            </a:pPr>
            <a:r>
              <a:rPr lang="en-US" sz="1600" b="0" i="0" u="none" strike="noStrike" baseline="0" dirty="0">
                <a:solidFill>
                  <a:srgbClr val="231F20"/>
                </a:solidFill>
                <a:latin typeface="Times New Roman" panose="02020603050405020304" pitchFamily="18" charset="0"/>
                <a:cs typeface="Times New Roman" panose="02020603050405020304" pitchFamily="18" charset="0"/>
              </a:rPr>
              <a:t>Our country can be conveniently divided into ten major regions, based on the geography, climate, and pattern of vegetation seen and the communities of mammals, birds, reptiles, amphibia, insects, and other invertebrates that live in them. Each of these regions contains a variety of ecosystems such as forests, grasslands, lakes, rivers, wetlands, mountains, and hills, which have specific plant and animals.</a:t>
            </a:r>
            <a:endParaRPr lang="en-US" sz="1600" dirty="0">
              <a:solidFill>
                <a:srgbClr val="231F20"/>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1600" b="0" i="0" u="none" strike="noStrike" baseline="0" dirty="0">
                <a:solidFill>
                  <a:srgbClr val="231F20"/>
                </a:solidFill>
                <a:latin typeface="Times New Roman" panose="02020603050405020304" pitchFamily="18" charset="0"/>
                <a:cs typeface="Times New Roman" panose="02020603050405020304" pitchFamily="18" charset="0"/>
              </a:rPr>
              <a:t>  1. The cold mountainous snow-covered Trans </a:t>
            </a:r>
            <a:r>
              <a:rPr lang="en-IN" sz="1600" b="0" i="0" u="none" strike="noStrike" baseline="0" dirty="0">
                <a:solidFill>
                  <a:srgbClr val="231F20"/>
                </a:solidFill>
                <a:latin typeface="Times New Roman" panose="02020603050405020304" pitchFamily="18" charset="0"/>
                <a:cs typeface="Times New Roman" panose="02020603050405020304" pitchFamily="18" charset="0"/>
              </a:rPr>
              <a:t>Himalayan region of Ladakh.</a:t>
            </a:r>
          </a:p>
          <a:p>
            <a:pPr marL="0" indent="0" algn="just">
              <a:lnSpc>
                <a:spcPct val="150000"/>
              </a:lnSpc>
              <a:buNone/>
            </a:pPr>
            <a:r>
              <a:rPr lang="en-IN"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2. The Himalayan ranges and valleys of Kashmir, </a:t>
            </a:r>
            <a:r>
              <a:rPr lang="en-IN" sz="1600" b="0" i="0" u="none" strike="noStrike" baseline="0" dirty="0">
                <a:solidFill>
                  <a:srgbClr val="231F20"/>
                </a:solidFill>
                <a:latin typeface="Times New Roman" panose="02020603050405020304" pitchFamily="18" charset="0"/>
                <a:cs typeface="Times New Roman" panose="02020603050405020304" pitchFamily="18" charset="0"/>
              </a:rPr>
              <a:t>Himachal Pradesh, Uttarakhand, Assam,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and other Northeastern States.</a:t>
            </a:r>
          </a:p>
          <a:p>
            <a:pPr marL="0" indent="0" algn="just">
              <a:lnSpc>
                <a:spcPct val="150000"/>
              </a:lnSpc>
              <a:buNone/>
            </a:pPr>
            <a:r>
              <a:rPr lang="en-US"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3. The Terai, the lowland where the Himalayan rivers flow into the plains. </a:t>
            </a:r>
          </a:p>
          <a:p>
            <a:pPr marL="0" indent="0" algn="just">
              <a:lnSpc>
                <a:spcPct val="150000"/>
              </a:lnSpc>
              <a:buNone/>
            </a:pPr>
            <a:r>
              <a:rPr lang="en-US"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4. The Gangetic and Brahmaputra plains. </a:t>
            </a:r>
          </a:p>
          <a:p>
            <a:pPr marL="0" indent="0" algn="just">
              <a:lnSpc>
                <a:spcPct val="150000"/>
              </a:lnSpc>
              <a:buNone/>
            </a:pPr>
            <a:r>
              <a:rPr lang="en-US"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5. The Thar Desert of Rajasthan.</a:t>
            </a:r>
          </a:p>
          <a:p>
            <a:pPr marL="0" indent="0" algn="just">
              <a:lnSpc>
                <a:spcPct val="150000"/>
              </a:lnSpc>
              <a:buNone/>
            </a:pPr>
            <a:r>
              <a:rPr lang="en-US" sz="1600" b="0" i="0" u="none" strike="noStrike" baseline="0" dirty="0">
                <a:solidFill>
                  <a:srgbClr val="231F20"/>
                </a:solidFill>
                <a:latin typeface="Times New Roman" panose="02020603050405020304" pitchFamily="18" charset="0"/>
                <a:cs typeface="Times New Roman" panose="02020603050405020304" pitchFamily="18" charset="0"/>
              </a:rPr>
              <a:t>  6 . The semi-arid grassland region of the </a:t>
            </a:r>
            <a:r>
              <a:rPr lang="en-IN" sz="1600" b="0" i="0" u="none" strike="noStrike" baseline="0" dirty="0">
                <a:solidFill>
                  <a:srgbClr val="231F20"/>
                </a:solidFill>
                <a:latin typeface="Times New Roman" panose="02020603050405020304" pitchFamily="18" charset="0"/>
                <a:cs typeface="Times New Roman" panose="02020603050405020304" pitchFamily="18" charset="0"/>
              </a:rPr>
              <a:t>Deccan plateau Gujarat, Maharashtra, </a:t>
            </a:r>
            <a:r>
              <a:rPr lang="sv-SE" sz="1600" b="0" i="0" u="none" strike="noStrike" baseline="0" dirty="0">
                <a:solidFill>
                  <a:srgbClr val="231F20"/>
                </a:solidFill>
                <a:latin typeface="Times New Roman" panose="02020603050405020304" pitchFamily="18" charset="0"/>
                <a:cs typeface="Times New Roman" panose="02020603050405020304" pitchFamily="18" charset="0"/>
              </a:rPr>
              <a:t>Andra Pradesh, Karnataka and Tamil Nadu.</a:t>
            </a:r>
          </a:p>
          <a:p>
            <a:pPr marL="0" indent="0" algn="just">
              <a:lnSpc>
                <a:spcPct val="150000"/>
              </a:lnSpc>
              <a:buNone/>
            </a:pPr>
            <a:r>
              <a:rPr lang="sv-SE"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7. The Northeast States of India,</a:t>
            </a:r>
          </a:p>
          <a:p>
            <a:pPr marL="0" indent="0" algn="just">
              <a:lnSpc>
                <a:spcPct val="150000"/>
              </a:lnSpc>
              <a:buNone/>
            </a:pPr>
            <a:r>
              <a:rPr lang="en-US" sz="1600" dirty="0">
                <a:solidFill>
                  <a:srgbClr val="231F20"/>
                </a:solidFill>
                <a:latin typeface="Times New Roman" panose="02020603050405020304" pitchFamily="18" charset="0"/>
                <a:cs typeface="Times New Roman" panose="02020603050405020304" pitchFamily="18" charset="0"/>
              </a:rPr>
              <a:t>  </a:t>
            </a:r>
            <a:r>
              <a:rPr lang="en-IN" sz="1600" b="0" i="0" u="none" strike="noStrike" baseline="0" dirty="0">
                <a:solidFill>
                  <a:srgbClr val="231F20"/>
                </a:solidFill>
                <a:latin typeface="Times New Roman" panose="02020603050405020304" pitchFamily="18" charset="0"/>
                <a:cs typeface="Times New Roman" panose="02020603050405020304" pitchFamily="18" charset="0"/>
              </a:rPr>
              <a:t>8. The Western Ghats in Maharashtra, Karnataka and Kerala.</a:t>
            </a:r>
          </a:p>
          <a:p>
            <a:pPr marL="0" indent="0" algn="just">
              <a:lnSpc>
                <a:spcPct val="150000"/>
              </a:lnSpc>
              <a:buNone/>
            </a:pPr>
            <a:r>
              <a:rPr lang="en-IN"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9. The Andaman and Nicobar Islands.</a:t>
            </a:r>
          </a:p>
          <a:p>
            <a:pPr marL="0" indent="0" algn="just">
              <a:lnSpc>
                <a:spcPct val="150000"/>
              </a:lnSpc>
              <a:buNone/>
            </a:pPr>
            <a:r>
              <a:rPr lang="en-US" sz="1600" dirty="0">
                <a:solidFill>
                  <a:srgbClr val="231F20"/>
                </a:solidFill>
                <a:latin typeface="Times New Roman" panose="02020603050405020304" pitchFamily="18" charset="0"/>
                <a:cs typeface="Times New Roman" panose="02020603050405020304" pitchFamily="18" charset="0"/>
              </a:rPr>
              <a:t> </a:t>
            </a:r>
            <a:r>
              <a:rPr lang="en-US" sz="1600" b="0" i="0" u="none" strike="noStrike" baseline="0" dirty="0">
                <a:solidFill>
                  <a:srgbClr val="231F20"/>
                </a:solidFill>
                <a:latin typeface="Times New Roman" panose="02020603050405020304" pitchFamily="18" charset="0"/>
                <a:cs typeface="Times New Roman" panose="02020603050405020304" pitchFamily="18" charset="0"/>
              </a:rPr>
              <a:t>10. The long western and eastern coastal belt with sandy beaches, forests and mangroves.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905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AB3D-ADA6-11A0-078A-0F5A4E147D84}"/>
              </a:ext>
            </a:extLst>
          </p:cNvPr>
          <p:cNvSpPr>
            <a:spLocks noGrp="1"/>
          </p:cNvSpPr>
          <p:nvPr>
            <p:ph type="title"/>
          </p:nvPr>
        </p:nvSpPr>
        <p:spPr>
          <a:xfrm>
            <a:off x="3051110" y="-159544"/>
            <a:ext cx="6606073" cy="692312"/>
          </a:xfrm>
        </p:spPr>
        <p:txBody>
          <a:bodyPr>
            <a:normAutofit/>
          </a:bodyPr>
          <a:lstStyle/>
          <a:p>
            <a:pPr algn="ctr"/>
            <a:r>
              <a:rPr lang="en-IN" sz="2800" b="1" u="sng" dirty="0">
                <a:solidFill>
                  <a:srgbClr val="FF0000"/>
                </a:solidFill>
                <a:latin typeface="+mn-lt"/>
              </a:rPr>
              <a:t>INDIA AS A MEGA DIVERSITY NATION</a:t>
            </a:r>
          </a:p>
        </p:txBody>
      </p:sp>
      <p:sp>
        <p:nvSpPr>
          <p:cNvPr id="3" name="Content Placeholder 2">
            <a:extLst>
              <a:ext uri="{FF2B5EF4-FFF2-40B4-BE49-F238E27FC236}">
                <a16:creationId xmlns:a16="http://schemas.microsoft.com/office/drawing/2014/main" id="{95E3459F-1C84-12F8-083A-F75883C7C020}"/>
              </a:ext>
            </a:extLst>
          </p:cNvPr>
          <p:cNvSpPr>
            <a:spLocks noGrp="1"/>
          </p:cNvSpPr>
          <p:nvPr>
            <p:ph idx="1"/>
          </p:nvPr>
        </p:nvSpPr>
        <p:spPr>
          <a:xfrm>
            <a:off x="223935" y="438538"/>
            <a:ext cx="11666375" cy="6354148"/>
          </a:xfrm>
        </p:spPr>
        <p:txBody>
          <a:bodyPr>
            <a:noAutofit/>
          </a:bodyPr>
          <a:lstStyle/>
          <a:p>
            <a:pPr algn="just">
              <a:lnSpc>
                <a:spcPct val="150000"/>
              </a:lnSpc>
            </a:pPr>
            <a:r>
              <a:rPr lang="en-US" sz="1600" b="0" i="0" u="none" strike="noStrike" baseline="0" dirty="0">
                <a:latin typeface="Times New Roman" panose="02020603050405020304" pitchFamily="18" charset="0"/>
                <a:cs typeface="Times New Roman" panose="02020603050405020304" pitchFamily="18" charset="0"/>
              </a:rPr>
              <a:t>India contains a great wealth of biodiversity in the forests, wetlands, and marine areas. Hence biodiversity can be observed at all levels i.e. locally, nationally, and globally. India, as a subcontinent representing a major part of South Asia, is rich in flora and fauna and hence it is one of the world’s “MEGADIVERSITY NATIONS”. It is estimated that over </a:t>
            </a:r>
            <a:r>
              <a:rPr lang="en-US" sz="1600" b="1" i="0" u="none" strike="noStrike" baseline="0" dirty="0">
                <a:latin typeface="Times New Roman" panose="02020603050405020304" pitchFamily="18" charset="0"/>
                <a:cs typeface="Times New Roman" panose="02020603050405020304" pitchFamily="18" charset="0"/>
              </a:rPr>
              <a:t>75000 species of animals </a:t>
            </a:r>
            <a:r>
              <a:rPr lang="en-US" sz="1600" b="0" i="0" u="none" strike="noStrike" baseline="0" dirty="0">
                <a:latin typeface="Times New Roman" panose="02020603050405020304" pitchFamily="18" charset="0"/>
                <a:cs typeface="Times New Roman" panose="02020603050405020304" pitchFamily="18" charset="0"/>
              </a:rPr>
              <a:t>and over </a:t>
            </a:r>
            <a:r>
              <a:rPr lang="en-US" sz="1600" b="1" i="0" u="none" strike="noStrike" baseline="0" dirty="0">
                <a:latin typeface="Times New Roman" panose="02020603050405020304" pitchFamily="18" charset="0"/>
                <a:cs typeface="Times New Roman" panose="02020603050405020304" pitchFamily="18" charset="0"/>
              </a:rPr>
              <a:t>45000 species of plants </a:t>
            </a:r>
            <a:r>
              <a:rPr lang="en-US" sz="1600" b="0" i="0" u="none" strike="noStrike" baseline="0" dirty="0">
                <a:latin typeface="Times New Roman" panose="02020603050405020304" pitchFamily="18" charset="0"/>
                <a:cs typeface="Times New Roman" panose="02020603050405020304" pitchFamily="18" charset="0"/>
              </a:rPr>
              <a:t>are found in </a:t>
            </a:r>
            <a:r>
              <a:rPr lang="en-IN" sz="1600" b="0" i="0" u="none" strike="noStrike" baseline="0" dirty="0">
                <a:latin typeface="Times New Roman" panose="02020603050405020304" pitchFamily="18" charset="0"/>
                <a:cs typeface="Times New Roman" panose="02020603050405020304" pitchFamily="18" charset="0"/>
              </a:rPr>
              <a:t>India.</a:t>
            </a:r>
          </a:p>
          <a:p>
            <a:pPr algn="just">
              <a:lnSpc>
                <a:spcPct val="150000"/>
              </a:lnSpc>
            </a:pPr>
            <a:r>
              <a:rPr lang="en-US" sz="1600" b="1" i="0" u="none" strike="noStrike" baseline="0" dirty="0">
                <a:latin typeface="Times New Roman" panose="02020603050405020304" pitchFamily="18" charset="0"/>
                <a:cs typeface="Times New Roman" panose="02020603050405020304" pitchFamily="18" charset="0"/>
              </a:rPr>
              <a:t>Biogeographic regions of India: </a:t>
            </a:r>
            <a:r>
              <a:rPr lang="en-US" sz="1600" b="0" i="0" u="none" strike="noStrike" baseline="0" dirty="0">
                <a:latin typeface="Times New Roman" panose="02020603050405020304" pitchFamily="18" charset="0"/>
                <a:cs typeface="Times New Roman" panose="02020603050405020304" pitchFamily="18" charset="0"/>
              </a:rPr>
              <a:t>According to the </a:t>
            </a:r>
            <a:r>
              <a:rPr lang="en-US" sz="1600" b="1" i="0" u="none" strike="noStrike" baseline="0" dirty="0">
                <a:latin typeface="Times New Roman" panose="02020603050405020304" pitchFamily="18" charset="0"/>
                <a:cs typeface="Times New Roman" panose="02020603050405020304" pitchFamily="18" charset="0"/>
              </a:rPr>
              <a:t>Wildlife Institute of India</a:t>
            </a:r>
            <a:r>
              <a:rPr lang="en-US" sz="1600" b="0" i="0" u="none" strike="noStrike" baseline="0" dirty="0">
                <a:latin typeface="Times New Roman" panose="02020603050405020304" pitchFamily="18" charset="0"/>
                <a:cs typeface="Times New Roman" panose="02020603050405020304" pitchFamily="18" charset="0"/>
              </a:rPr>
              <a:t>, the country has 10 distinct biogeographic zones or regions.</a:t>
            </a:r>
          </a:p>
          <a:p>
            <a:pPr marL="0" indent="0" algn="just">
              <a:lnSpc>
                <a:spcPct val="150000"/>
              </a:lnSpc>
              <a:buNone/>
            </a:pPr>
            <a:r>
              <a:rPr lang="en-US"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a:latin typeface="Times New Roman" panose="02020603050405020304" pitchFamily="18" charset="0"/>
                <a:cs typeface="Times New Roman" panose="02020603050405020304" pitchFamily="18" charset="0"/>
              </a:rPr>
              <a:t>1. Trans – Himalayan Zone </a:t>
            </a:r>
          </a:p>
          <a:p>
            <a:pPr marL="0" indent="0" algn="just">
              <a:lnSpc>
                <a:spcPct val="150000"/>
              </a:lnSpc>
              <a:buNone/>
            </a:pPr>
            <a:r>
              <a:rPr lang="en-IN" sz="1600" dirty="0">
                <a:latin typeface="Times New Roman" panose="02020603050405020304" pitchFamily="18" charset="0"/>
                <a:cs typeface="Times New Roman" panose="02020603050405020304" pitchFamily="18" charset="0"/>
              </a:rPr>
              <a:t> </a:t>
            </a:r>
            <a:r>
              <a:rPr lang="en-IN" sz="1600" b="0" i="0" u="none" strike="noStrike" baseline="0" dirty="0">
                <a:latin typeface="Times New Roman" panose="02020603050405020304" pitchFamily="18" charset="0"/>
                <a:cs typeface="Times New Roman" panose="02020603050405020304" pitchFamily="18" charset="0"/>
              </a:rPr>
              <a:t>2. Himalayan Zone</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3. Desert Zone</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4. Semi-arid Zone</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5. Western Ghats</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6. Deccan Zone</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7. Gangetic plain Zone</a:t>
            </a:r>
          </a:p>
          <a:p>
            <a:pPr marL="0" indent="0" algn="just">
              <a:lnSpc>
                <a:spcPct val="150000"/>
              </a:lnSpc>
              <a:buNone/>
            </a:pPr>
            <a:r>
              <a:rPr lang="en-IN" sz="1600" b="0" i="0" u="none" strike="noStrike" baseline="0" dirty="0">
                <a:latin typeface="Times New Roman" panose="02020603050405020304" pitchFamily="18" charset="0"/>
                <a:cs typeface="Times New Roman" panose="02020603050405020304" pitchFamily="18" charset="0"/>
              </a:rPr>
              <a:t> 8. NE Indian Zone      9. Coastal Zone and     </a:t>
            </a:r>
            <a:r>
              <a:rPr lang="en-US" sz="1600" b="0" i="0" u="none" strike="noStrike" baseline="0" dirty="0">
                <a:latin typeface="Times New Roman" panose="02020603050405020304" pitchFamily="18" charset="0"/>
                <a:cs typeface="Times New Roman" panose="02020603050405020304" pitchFamily="18" charset="0"/>
              </a:rPr>
              <a:t>10. Islands around the country</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b="0" i="0"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600" b="0" i="0" u="none" strike="noStrike" baseline="0" dirty="0">
              <a:latin typeface="Times New Roman" panose="02020603050405020304" pitchFamily="18" charset="0"/>
              <a:cs typeface="Times New Roman" panose="02020603050405020304" pitchFamily="18" charset="0"/>
            </a:endParaRPr>
          </a:p>
          <a:p>
            <a:pPr algn="just">
              <a:lnSpc>
                <a:spcPct val="150000"/>
              </a:lnSpc>
            </a:pPr>
            <a:endParaRPr lang="en-IN" sz="16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65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8BE1-3A87-EACB-3835-311775AA651F}"/>
              </a:ext>
            </a:extLst>
          </p:cNvPr>
          <p:cNvSpPr>
            <a:spLocks noGrp="1"/>
          </p:cNvSpPr>
          <p:nvPr>
            <p:ph type="title"/>
          </p:nvPr>
        </p:nvSpPr>
        <p:spPr>
          <a:xfrm>
            <a:off x="3422780" y="-74743"/>
            <a:ext cx="5571931" cy="738966"/>
          </a:xfrm>
        </p:spPr>
        <p:txBody>
          <a:bodyPr>
            <a:normAutofit/>
          </a:bodyPr>
          <a:lstStyle/>
          <a:p>
            <a:pPr algn="ctr"/>
            <a:r>
              <a:rPr lang="en-IN" sz="3000" b="1" u="sng" dirty="0">
                <a:solidFill>
                  <a:srgbClr val="FF0000"/>
                </a:solidFill>
                <a:latin typeface="+mn-lt"/>
              </a:rPr>
              <a:t>HOTSPOTS OF BIODIVERSITY </a:t>
            </a:r>
          </a:p>
        </p:txBody>
      </p:sp>
      <p:sp>
        <p:nvSpPr>
          <p:cNvPr id="3" name="Content Placeholder 2">
            <a:extLst>
              <a:ext uri="{FF2B5EF4-FFF2-40B4-BE49-F238E27FC236}">
                <a16:creationId xmlns:a16="http://schemas.microsoft.com/office/drawing/2014/main" id="{CBC30427-C642-3827-04DB-C1AEAA51700E}"/>
              </a:ext>
            </a:extLst>
          </p:cNvPr>
          <p:cNvSpPr>
            <a:spLocks noGrp="1"/>
          </p:cNvSpPr>
          <p:nvPr>
            <p:ph idx="1"/>
          </p:nvPr>
        </p:nvSpPr>
        <p:spPr>
          <a:xfrm>
            <a:off x="91751" y="431056"/>
            <a:ext cx="12008498" cy="6426944"/>
          </a:xfrm>
        </p:spPr>
        <p:txBody>
          <a:bodyPr>
            <a:noAutofit/>
          </a:bodyPr>
          <a:lstStyle/>
          <a:p>
            <a:pPr algn="l">
              <a:lnSpc>
                <a:spcPct val="150000"/>
              </a:lnSpc>
            </a:pPr>
            <a:r>
              <a:rPr lang="en-US" sz="1600" b="0" i="0" u="none" strike="noStrike" baseline="0" dirty="0">
                <a:latin typeface="Times New Roman" panose="02020603050405020304" pitchFamily="18" charset="0"/>
                <a:cs typeface="Times New Roman" panose="02020603050405020304" pitchFamily="18" charset="0"/>
              </a:rPr>
              <a:t>Areas that exhibit high species richness, as well as high species endemism, are termed hot spots of biodiversity. </a:t>
            </a:r>
            <a:r>
              <a:rPr lang="en-US" sz="1600" b="1" i="0" u="none" strike="noStrike" baseline="0" dirty="0">
                <a:latin typeface="Times New Roman" panose="02020603050405020304" pitchFamily="18" charset="0"/>
                <a:cs typeface="Times New Roman" panose="02020603050405020304" pitchFamily="18" charset="0"/>
              </a:rPr>
              <a:t>Species which are restricted only to areas are known as endemic.</a:t>
            </a:r>
          </a:p>
          <a:p>
            <a:pPr algn="l">
              <a:lnSpc>
                <a:spcPct val="150000"/>
              </a:lnSpc>
            </a:pPr>
            <a:r>
              <a:rPr lang="en-US" sz="1600" b="0" i="0" u="none" strike="noStrike" baseline="0" dirty="0">
                <a:latin typeface="Times New Roman" panose="02020603050405020304" pitchFamily="18" charset="0"/>
                <a:cs typeface="Times New Roman" panose="02020603050405020304" pitchFamily="18" charset="0"/>
              </a:rPr>
              <a:t>India shows a good number of endemic species. </a:t>
            </a:r>
            <a:r>
              <a:rPr lang="en-US" sz="1600" b="1" i="0" u="none" strike="noStrike" baseline="0" dirty="0">
                <a:latin typeface="Times New Roman" panose="02020603050405020304" pitchFamily="18" charset="0"/>
                <a:cs typeface="Times New Roman" panose="02020603050405020304" pitchFamily="18" charset="0"/>
              </a:rPr>
              <a:t>About 62% of amphibians and 50% of lizards are endemic to India. Western Ghats are the site of maximum endemism. </a:t>
            </a:r>
          </a:p>
          <a:p>
            <a:pPr algn="l">
              <a:lnSpc>
                <a:spcPct val="150000"/>
              </a:lnSpc>
            </a:pPr>
            <a:r>
              <a:rPr lang="en-US" sz="1600" b="0" i="0" u="none" strike="noStrike" baseline="0" dirty="0">
                <a:latin typeface="Times New Roman" panose="02020603050405020304" pitchFamily="18" charset="0"/>
                <a:cs typeface="Times New Roman" panose="02020603050405020304" pitchFamily="18" charset="0"/>
              </a:rPr>
              <a:t>The term “Hot spots” was introduced by </a:t>
            </a:r>
            <a:r>
              <a:rPr lang="en-US" sz="1600" b="1" i="0" u="none" strike="noStrike" baseline="0" dirty="0">
                <a:latin typeface="Times New Roman" panose="02020603050405020304" pitchFamily="18" charset="0"/>
                <a:cs typeface="Times New Roman" panose="02020603050405020304" pitchFamily="18" charset="0"/>
              </a:rPr>
              <a:t>Myers </a:t>
            </a:r>
            <a:r>
              <a:rPr lang="en-US" sz="1600" b="0" i="0" u="none" strike="noStrike" baseline="0" dirty="0">
                <a:latin typeface="Times New Roman" panose="02020603050405020304" pitchFamily="18" charset="0"/>
                <a:cs typeface="Times New Roman" panose="02020603050405020304" pitchFamily="18" charset="0"/>
              </a:rPr>
              <a:t>(1988). There are 36  such hot spots of biodiversity on a global level.</a:t>
            </a:r>
          </a:p>
          <a:p>
            <a:pPr algn="l">
              <a:lnSpc>
                <a:spcPct val="150000"/>
              </a:lnSpc>
            </a:pPr>
            <a:r>
              <a:rPr lang="en-US" sz="1600" dirty="0">
                <a:latin typeface="Times New Roman" panose="02020603050405020304" pitchFamily="18" charset="0"/>
                <a:cs typeface="Times New Roman" panose="02020603050405020304" pitchFamily="18" charset="0"/>
              </a:rPr>
              <a:t> </a:t>
            </a:r>
            <a:r>
              <a:rPr lang="en-US" sz="1600" b="1" u="sng" dirty="0">
                <a:latin typeface="Times New Roman" panose="02020603050405020304" pitchFamily="18" charset="0"/>
                <a:cs typeface="Times New Roman" panose="02020603050405020304" pitchFamily="18" charset="0"/>
              </a:rPr>
              <a:t>INDIA HAS 4 HOTSPOTS: </a:t>
            </a:r>
          </a:p>
          <a:p>
            <a:pPr algn="l">
              <a:lnSpc>
                <a:spcPct val="150000"/>
              </a:lnSpc>
            </a:pPr>
            <a:r>
              <a:rPr lang="en-US" sz="1600" b="1" dirty="0">
                <a:latin typeface="Times New Roman" panose="02020603050405020304" pitchFamily="18" charset="0"/>
                <a:cs typeface="Times New Roman" panose="02020603050405020304" pitchFamily="18" charset="0"/>
              </a:rPr>
              <a:t>Western Ghats: </a:t>
            </a:r>
            <a:r>
              <a:rPr lang="en-US" sz="1600" dirty="0">
                <a:latin typeface="Times New Roman" panose="02020603050405020304" pitchFamily="18" charset="0"/>
                <a:cs typeface="Times New Roman" panose="02020603050405020304" pitchFamily="18" charset="0"/>
              </a:rPr>
              <a:t>The Western Ghats, a mountain range along the western coast of India, is one of the most biodiverse regions in the country.</a:t>
            </a:r>
          </a:p>
          <a:p>
            <a:pPr algn="l">
              <a:lnSpc>
                <a:spcPct val="150000"/>
              </a:lnSpc>
            </a:pPr>
            <a:r>
              <a:rPr lang="en-US" sz="1600" dirty="0">
                <a:latin typeface="Times New Roman" panose="02020603050405020304" pitchFamily="18" charset="0"/>
                <a:cs typeface="Times New Roman" panose="02020603050405020304" pitchFamily="18" charset="0"/>
              </a:rPr>
              <a:t>It is home to numerous endemic species of plants, animals, and birds.</a:t>
            </a:r>
          </a:p>
          <a:p>
            <a:pPr algn="l">
              <a:lnSpc>
                <a:spcPct val="150000"/>
              </a:lnSpc>
            </a:pPr>
            <a:r>
              <a:rPr lang="en-US" sz="1600" dirty="0">
                <a:latin typeface="Times New Roman" panose="02020603050405020304" pitchFamily="18" charset="0"/>
                <a:cs typeface="Times New Roman" panose="02020603050405020304" pitchFamily="18" charset="0"/>
              </a:rPr>
              <a:t>The Nilgiri Biosphere Reserve, Agasthyamalai Biosphere Reserve, and several national parks like Periyar and Silent Valley are located in this region.</a:t>
            </a:r>
          </a:p>
          <a:p>
            <a:pPr algn="l">
              <a:lnSpc>
                <a:spcPct val="150000"/>
              </a:lnSpc>
            </a:pPr>
            <a:r>
              <a:rPr lang="en-US" sz="1600" b="1" dirty="0">
                <a:latin typeface="Times New Roman" panose="02020603050405020304" pitchFamily="18" charset="0"/>
                <a:cs typeface="Times New Roman" panose="02020603050405020304" pitchFamily="18" charset="0"/>
              </a:rPr>
              <a:t>Indo-Burma: </a:t>
            </a:r>
            <a:r>
              <a:rPr lang="en-US" sz="1600" dirty="0">
                <a:latin typeface="Times New Roman" panose="02020603050405020304" pitchFamily="18" charset="0"/>
                <a:cs typeface="Times New Roman" panose="02020603050405020304" pitchFamily="18" charset="0"/>
              </a:rPr>
              <a:t>The Indo-Burma area, which encompasses sections of northeastern India, Myanmar, Thailand, Laos, Cambodia, and Vietnam, is a biodiversity hotspot.</a:t>
            </a:r>
          </a:p>
          <a:p>
            <a:pPr algn="l">
              <a:lnSpc>
                <a:spcPct val="150000"/>
              </a:lnSpc>
            </a:pPr>
            <a:r>
              <a:rPr lang="en-US" sz="1600" dirty="0">
                <a:latin typeface="Times New Roman" panose="02020603050405020304" pitchFamily="18" charset="0"/>
                <a:cs typeface="Times New Roman" panose="02020603050405020304" pitchFamily="18" charset="0"/>
              </a:rPr>
              <a:t>It is well-known for its diverse amphibians, reptiles, and vegetation. Conservation sites in this region include the Manas National Park and the Namdapha National Park.</a:t>
            </a:r>
          </a:p>
          <a:p>
            <a:pPr algn="l">
              <a:lnSpc>
                <a:spcPct val="150000"/>
              </a:lnSpc>
            </a:pPr>
            <a:endParaRPr lang="en-US" sz="1600" b="0" i="0" dirty="0">
              <a:solidFill>
                <a:srgbClr val="4C436B"/>
              </a:solidFill>
              <a:effectLst/>
              <a:latin typeface="Times New Roman" panose="02020603050405020304" pitchFamily="18" charset="0"/>
              <a:cs typeface="Times New Roman" panose="02020603050405020304" pitchFamily="18" charset="0"/>
            </a:endParaRPr>
          </a:p>
          <a:p>
            <a:pPr algn="l">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998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F2118D-1223-3F54-BA1D-3FAE11F64895}"/>
              </a:ext>
            </a:extLst>
          </p:cNvPr>
          <p:cNvSpPr>
            <a:spLocks noGrp="1"/>
          </p:cNvSpPr>
          <p:nvPr>
            <p:ph idx="1"/>
          </p:nvPr>
        </p:nvSpPr>
        <p:spPr>
          <a:xfrm>
            <a:off x="317241" y="345234"/>
            <a:ext cx="11597951" cy="6242178"/>
          </a:xfrm>
        </p:spPr>
        <p:txBody>
          <a:bodyPr>
            <a:normAutofit/>
          </a:bodyPr>
          <a:lstStyle/>
          <a:p>
            <a:pPr>
              <a:lnSpc>
                <a:spcPct val="150000"/>
              </a:lnSpc>
            </a:pPr>
            <a:r>
              <a:rPr lang="en-US" sz="1800" b="1" i="0" dirty="0">
                <a:effectLst/>
                <a:latin typeface="Times New Roman" panose="02020603050405020304" pitchFamily="18" charset="0"/>
                <a:cs typeface="Times New Roman" panose="02020603050405020304" pitchFamily="18" charset="0"/>
              </a:rPr>
              <a:t>The Himalayan Hotspot</a:t>
            </a:r>
            <a:r>
              <a:rPr lang="en-US" sz="1800" b="0" i="0" dirty="0">
                <a:effectLst/>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b="0" i="0" dirty="0">
                <a:effectLst/>
                <a:latin typeface="Times New Roman" panose="02020603050405020304" pitchFamily="18" charset="0"/>
                <a:cs typeface="Times New Roman" panose="02020603050405020304" pitchFamily="18" charset="0"/>
              </a:rPr>
              <a:t>The high altitude, pollution-free air, and unique hill soil of the Himalayas support certain plants, animals, insects, and birds that can’t be found elsewhere. </a:t>
            </a:r>
          </a:p>
          <a:p>
            <a:pPr>
              <a:lnSpc>
                <a:spcPct val="150000"/>
              </a:lnSpc>
            </a:pPr>
            <a:r>
              <a:rPr lang="en-US" sz="1800" b="0" i="0" dirty="0">
                <a:effectLst/>
                <a:latin typeface="Times New Roman" panose="02020603050405020304" pitchFamily="18" charset="0"/>
                <a:cs typeface="Times New Roman" panose="02020603050405020304" pitchFamily="18" charset="0"/>
              </a:rPr>
              <a:t>Giant butterflies, brightly colored birds and a variety of deer and goats make up a wonderland that looks like a page out of a coloring book.</a:t>
            </a:r>
          </a:p>
          <a:p>
            <a:pPr>
              <a:lnSpc>
                <a:spcPct val="150000"/>
              </a:lnSpc>
            </a:pPr>
            <a:r>
              <a:rPr lang="en-US" sz="1800" b="0" i="0" dirty="0">
                <a:effectLst/>
                <a:latin typeface="Times New Roman" panose="02020603050405020304" pitchFamily="18" charset="0"/>
                <a:cs typeface="Times New Roman" panose="02020603050405020304" pitchFamily="18" charset="0"/>
              </a:rPr>
              <a:t>Some animals like the snow leopard are moving towards extinction and need to be preserved to maintain the careful balance of nature.</a:t>
            </a:r>
          </a:p>
          <a:p>
            <a:pPr>
              <a:lnSpc>
                <a:spcPct val="150000"/>
              </a:lnSpc>
            </a:pPr>
            <a:r>
              <a:rPr lang="en-US" sz="1800" b="1" i="0" dirty="0">
                <a:effectLst/>
                <a:latin typeface="Times New Roman" panose="02020603050405020304" pitchFamily="18" charset="0"/>
                <a:cs typeface="Times New Roman" panose="02020603050405020304" pitchFamily="18" charset="0"/>
              </a:rPr>
              <a:t>Sundaland</a:t>
            </a:r>
          </a:p>
          <a:p>
            <a:pPr>
              <a:lnSpc>
                <a:spcPct val="150000"/>
              </a:lnSpc>
            </a:pPr>
            <a:r>
              <a:rPr lang="en-US" sz="1800" b="0" i="0" dirty="0">
                <a:effectLst/>
                <a:latin typeface="Times New Roman" panose="02020603050405020304" pitchFamily="18" charset="0"/>
                <a:cs typeface="Times New Roman" panose="02020603050405020304" pitchFamily="18" charset="0"/>
              </a:rPr>
              <a:t>  Sundaland is a stretch on the Indian Ocean, including the Nicobar Islands of India. </a:t>
            </a:r>
          </a:p>
          <a:p>
            <a:pPr>
              <a:lnSpc>
                <a:spcPct val="150000"/>
              </a:lnSpc>
            </a:pPr>
            <a:r>
              <a:rPr lang="en-US" sz="1800" b="0" i="0" dirty="0">
                <a:effectLst/>
                <a:latin typeface="Times New Roman" panose="02020603050405020304" pitchFamily="18" charset="0"/>
                <a:cs typeface="Times New Roman" panose="02020603050405020304" pitchFamily="18" charset="0"/>
              </a:rPr>
              <a:t>The hotspot includes the sea floor, teaming with aquatic life. </a:t>
            </a:r>
          </a:p>
          <a:p>
            <a:pPr>
              <a:lnSpc>
                <a:spcPct val="150000"/>
              </a:lnSpc>
            </a:pPr>
            <a:r>
              <a:rPr lang="en-US" sz="1800" b="0" i="0" dirty="0">
                <a:effectLst/>
                <a:latin typeface="Times New Roman" panose="02020603050405020304" pitchFamily="18" charset="0"/>
                <a:cs typeface="Times New Roman" panose="02020603050405020304" pitchFamily="18" charset="0"/>
              </a:rPr>
              <a:t>This hotspot is home to creatures like orangutans, pig-tailed langurs, Javan and Sumatran rhinos, and proboscis monkeys. </a:t>
            </a:r>
          </a:p>
          <a:p>
            <a:pPr>
              <a:lnSpc>
                <a:spcPct val="150000"/>
              </a:lnSpc>
            </a:pPr>
            <a:r>
              <a:rPr lang="en-US" sz="1800" b="0" i="0" dirty="0">
                <a:effectLst/>
                <a:latin typeface="Times New Roman" panose="02020603050405020304" pitchFamily="18" charset="0"/>
                <a:cs typeface="Times New Roman" panose="02020603050405020304" pitchFamily="18" charset="0"/>
              </a:rPr>
              <a:t>Sundaland also has the rafflesia, the largest flowers in the world.  </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3801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6FE4-2A10-08CA-F53E-39D714B50E17}"/>
              </a:ext>
            </a:extLst>
          </p:cNvPr>
          <p:cNvSpPr>
            <a:spLocks noGrp="1"/>
          </p:cNvSpPr>
          <p:nvPr>
            <p:ph type="title"/>
          </p:nvPr>
        </p:nvSpPr>
        <p:spPr>
          <a:xfrm>
            <a:off x="2896377" y="0"/>
            <a:ext cx="6399245" cy="757627"/>
          </a:xfrm>
        </p:spPr>
        <p:txBody>
          <a:bodyPr>
            <a:normAutofit/>
          </a:bodyPr>
          <a:lstStyle/>
          <a:p>
            <a:pPr algn="ctr"/>
            <a:r>
              <a:rPr lang="en-IN" sz="3000" b="1" u="sng" dirty="0">
                <a:solidFill>
                  <a:srgbClr val="FF0000"/>
                </a:solidFill>
                <a:latin typeface="+mn-lt"/>
              </a:rPr>
              <a:t>THREATS TO BIODIVERSITY</a:t>
            </a:r>
          </a:p>
        </p:txBody>
      </p:sp>
      <p:sp>
        <p:nvSpPr>
          <p:cNvPr id="3" name="Content Placeholder 2">
            <a:extLst>
              <a:ext uri="{FF2B5EF4-FFF2-40B4-BE49-F238E27FC236}">
                <a16:creationId xmlns:a16="http://schemas.microsoft.com/office/drawing/2014/main" id="{69E616B4-0A78-A80F-091A-1CBA87CCAB69}"/>
              </a:ext>
            </a:extLst>
          </p:cNvPr>
          <p:cNvSpPr>
            <a:spLocks noGrp="1"/>
          </p:cNvSpPr>
          <p:nvPr>
            <p:ph idx="1"/>
          </p:nvPr>
        </p:nvSpPr>
        <p:spPr>
          <a:xfrm>
            <a:off x="287692" y="626998"/>
            <a:ext cx="11616613" cy="5913761"/>
          </a:xfrm>
        </p:spPr>
        <p:txBody>
          <a:bodyPr>
            <a:noAutofit/>
          </a:bodyPr>
          <a:lstStyle/>
          <a:p>
            <a:pPr algn="just">
              <a:lnSpc>
                <a:spcPct val="160000"/>
              </a:lnSpc>
            </a:pPr>
            <a:r>
              <a:rPr lang="en-US" sz="1600" b="1" i="0" u="none" strike="noStrike" baseline="0" dirty="0">
                <a:latin typeface="Times New Roman" panose="02020603050405020304" pitchFamily="18" charset="0"/>
                <a:cs typeface="Times New Roman" panose="02020603050405020304" pitchFamily="18" charset="0"/>
              </a:rPr>
              <a:t>Edward O. Wilson prefers the </a:t>
            </a:r>
            <a:r>
              <a:rPr lang="en-IN" sz="1600" b="1" i="0" u="none" strike="noStrike" baseline="0" dirty="0">
                <a:latin typeface="Times New Roman" panose="02020603050405020304" pitchFamily="18" charset="0"/>
                <a:cs typeface="Times New Roman" panose="02020603050405020304" pitchFamily="18" charset="0"/>
              </a:rPr>
              <a:t>acronym HIPPO, standing for habitat destruction, invasive species, pollution, human overpopulation, and over-harvesting.</a:t>
            </a:r>
          </a:p>
          <a:p>
            <a:pPr algn="just">
              <a:lnSpc>
                <a:spcPct val="160000"/>
              </a:lnSpc>
            </a:pPr>
            <a:r>
              <a:rPr lang="en-US" sz="1600" b="1" i="0" u="none" strike="noStrike" baseline="0" dirty="0">
                <a:solidFill>
                  <a:srgbClr val="000000"/>
                </a:solidFill>
                <a:latin typeface="Times New Roman" panose="02020603050405020304" pitchFamily="18" charset="0"/>
                <a:cs typeface="Times New Roman" panose="02020603050405020304" pitchFamily="18" charset="0"/>
              </a:rPr>
              <a:t>Habitat destruction</a:t>
            </a:r>
          </a:p>
          <a:p>
            <a:pPr algn="just">
              <a:lnSpc>
                <a:spcPct val="160000"/>
              </a:lnSpc>
            </a:pPr>
            <a:r>
              <a:rPr lang="en-US" sz="1600" b="1" i="0" u="none" strike="noStrike" baseline="0" dirty="0">
                <a:solidFill>
                  <a:srgbClr val="000000"/>
                </a:solidFill>
                <a:latin typeface="Times New Roman" panose="02020603050405020304" pitchFamily="18" charset="0"/>
                <a:cs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Habitat destruction has played a key role in extinctions, especially related to tropical forest destruction</a:t>
            </a:r>
            <a:r>
              <a:rPr lang="en-US" sz="1600" b="0" i="0" u="none" strike="noStrike" baseline="0" dirty="0">
                <a:solidFill>
                  <a:srgbClr val="4F82BE"/>
                </a:solidFill>
                <a:latin typeface="Times New Roman" panose="02020603050405020304" pitchFamily="18" charset="0"/>
                <a:cs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Factors contributing to habitat loss are overpopulation, deforestation, pollution (air pollution, water pollution, soil contamination), and global warming or </a:t>
            </a:r>
            <a:r>
              <a:rPr lang="en-IN" sz="1600" b="0" i="0" u="none" strike="noStrike" baseline="0" dirty="0">
                <a:solidFill>
                  <a:srgbClr val="000000"/>
                </a:solidFill>
                <a:latin typeface="Times New Roman" panose="02020603050405020304" pitchFamily="18" charset="0"/>
                <a:cs typeface="Times New Roman" panose="02020603050405020304" pitchFamily="18" charset="0"/>
              </a:rPr>
              <a:t>climate change.</a:t>
            </a:r>
          </a:p>
          <a:p>
            <a:pPr algn="just">
              <a:lnSpc>
                <a:spcPct val="160000"/>
              </a:lnSpc>
            </a:pPr>
            <a:r>
              <a:rPr lang="en-IN" sz="1600" dirty="0">
                <a:solidFill>
                  <a:srgbClr val="000000"/>
                </a:solidFill>
                <a:latin typeface="Times New Roman" panose="02020603050405020304" pitchFamily="18" charset="0"/>
                <a:cs typeface="Times New Roman" panose="02020603050405020304" pitchFamily="18" charset="0"/>
              </a:rPr>
              <a:t>Habitat loss leads to the loss of habitats of wild animals, their homes, and food sources.</a:t>
            </a:r>
          </a:p>
          <a:p>
            <a:pPr algn="just">
              <a:lnSpc>
                <a:spcPct val="160000"/>
              </a:lnSpc>
            </a:pPr>
            <a:r>
              <a:rPr lang="en-IN" sz="1600" dirty="0">
                <a:solidFill>
                  <a:srgbClr val="000000"/>
                </a:solidFill>
                <a:latin typeface="Times New Roman" panose="02020603050405020304" pitchFamily="18" charset="0"/>
                <a:cs typeface="Times New Roman" panose="02020603050405020304" pitchFamily="18" charset="0"/>
              </a:rPr>
              <a:t>It also leads to disruptions of the ecosystem, reduced genetic diversity, and loss of ecosystem services. </a:t>
            </a:r>
          </a:p>
          <a:p>
            <a:pPr algn="just">
              <a:lnSpc>
                <a:spcPct val="160000"/>
              </a:lnSpc>
            </a:pPr>
            <a:r>
              <a:rPr lang="en-US" sz="1600" b="1" i="0" u="none" strike="noStrike" baseline="0" dirty="0">
                <a:latin typeface="Times New Roman" panose="02020603050405020304" pitchFamily="18" charset="0"/>
                <a:cs typeface="Times New Roman" panose="02020603050405020304" pitchFamily="18" charset="0"/>
              </a:rPr>
              <a:t>Poaching</a:t>
            </a:r>
          </a:p>
          <a:p>
            <a:pPr algn="just">
              <a:lnSpc>
                <a:spcPct val="160000"/>
              </a:lnSpc>
            </a:pPr>
            <a:r>
              <a:rPr lang="en-US" sz="1600" b="0" i="0" u="none" strike="noStrike" baseline="0" dirty="0">
                <a:latin typeface="Times New Roman" panose="02020603050405020304" pitchFamily="18" charset="0"/>
                <a:cs typeface="Times New Roman" panose="02020603050405020304" pitchFamily="18" charset="0"/>
              </a:rPr>
              <a:t>Illegal trade of wildlife products by killing prohibited endangered animals</a:t>
            </a:r>
            <a:endParaRPr lang="en-IN" sz="16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lnSpc>
                <a:spcPct val="160000"/>
              </a:lnSpc>
            </a:pPr>
            <a:r>
              <a:rPr lang="en-US" sz="1600" b="0" i="0" u="none" strike="noStrike" baseline="0" dirty="0">
                <a:latin typeface="Times New Roman" panose="02020603050405020304" pitchFamily="18" charset="0"/>
                <a:cs typeface="Times New Roman" panose="02020603050405020304" pitchFamily="18" charset="0"/>
              </a:rPr>
              <a:t>Smuggling of wildlife items like furs, hides, horns, tusks, live specimens, and herbal products worth millions of dollars per year continues, the developing nations in Asia, Latin America, and Africa are the richest source of biodiversity and have an enormous wealth of </a:t>
            </a:r>
            <a:r>
              <a:rPr lang="en-IN" sz="1600" b="0" i="0" u="none" strike="noStrike" baseline="0" dirty="0">
                <a:latin typeface="Times New Roman" panose="02020603050405020304" pitchFamily="18" charset="0"/>
                <a:cs typeface="Times New Roman" panose="02020603050405020304" pitchFamily="18" charset="0"/>
              </a:rPr>
              <a:t>wildlife.</a:t>
            </a:r>
          </a:p>
        </p:txBody>
      </p:sp>
    </p:spTree>
    <p:extLst>
      <p:ext uri="{BB962C8B-B14F-4D97-AF65-F5344CB8AC3E}">
        <p14:creationId xmlns:p14="http://schemas.microsoft.com/office/powerpoint/2010/main" val="2260544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7" name="Arc 205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059" name="Freeform: Shape 205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The Statistics of Biodiversity Loss [2020 WWF Report] | Earth.Org">
            <a:extLst>
              <a:ext uri="{FF2B5EF4-FFF2-40B4-BE49-F238E27FC236}">
                <a16:creationId xmlns:a16="http://schemas.microsoft.com/office/drawing/2014/main" id="{578C42B7-A762-DD48-ECF7-C43CACD050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876" y="530943"/>
            <a:ext cx="6472096" cy="450934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EBB92F5-2943-5799-9024-305AB2C44F6A}"/>
              </a:ext>
            </a:extLst>
          </p:cNvPr>
          <p:cNvSpPr>
            <a:spLocks noGrp="1"/>
          </p:cNvSpPr>
          <p:nvPr>
            <p:ph idx="1"/>
          </p:nvPr>
        </p:nvSpPr>
        <p:spPr>
          <a:xfrm>
            <a:off x="6673250" y="279155"/>
            <a:ext cx="5429874" cy="6856614"/>
          </a:xfrm>
        </p:spPr>
        <p:txBody>
          <a:bodyPr>
            <a:normAutofit fontScale="92500"/>
          </a:bodyPr>
          <a:lstStyle/>
          <a:p>
            <a:pPr>
              <a:lnSpc>
                <a:spcPct val="150000"/>
              </a:lnSpc>
            </a:pPr>
            <a:r>
              <a:rPr lang="en-IN" sz="2000" b="1" i="0" u="none" strike="noStrike" baseline="0" dirty="0">
                <a:latin typeface="Times New Roman" panose="02020603050405020304" pitchFamily="18" charset="0"/>
                <a:cs typeface="Times New Roman" panose="02020603050405020304" pitchFamily="18" charset="0"/>
              </a:rPr>
              <a:t>Man-Wildlife Conflicts</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b="0" i="0" u="none" strike="noStrike" baseline="0" dirty="0">
                <a:latin typeface="Times New Roman" panose="02020603050405020304" pitchFamily="18" charset="0"/>
                <a:cs typeface="Times New Roman" panose="02020603050405020304" pitchFamily="18" charset="0"/>
              </a:rPr>
              <a:t>Conflicting situations </a:t>
            </a:r>
            <a:r>
              <a:rPr lang="en-US" sz="2000" dirty="0">
                <a:latin typeface="Times New Roman" panose="02020603050405020304" pitchFamily="18" charset="0"/>
                <a:cs typeface="Times New Roman" panose="02020603050405020304" pitchFamily="18" charset="0"/>
              </a:rPr>
              <a:t>arise </a:t>
            </a:r>
            <a:r>
              <a:rPr lang="en-US" sz="2000" b="0" i="0" u="none" strike="noStrike" baseline="0" dirty="0">
                <a:latin typeface="Times New Roman" panose="02020603050405020304" pitchFamily="18" charset="0"/>
                <a:cs typeface="Times New Roman" panose="02020603050405020304" pitchFamily="18" charset="0"/>
              </a:rPr>
              <a:t>when wildlife starts causing immense damage and danger to man and under such conditions it becomes very difficult for the forest department to pacify the affected villages and gain local support for wildlife conservation.</a:t>
            </a:r>
          </a:p>
          <a:p>
            <a:pPr>
              <a:lnSpc>
                <a:spcPct val="150000"/>
              </a:lnSpc>
            </a:pPr>
            <a:r>
              <a:rPr lang="en-US" sz="2000" b="0" i="0" u="none" strike="noStrike" baseline="0" dirty="0">
                <a:latin typeface="Times New Roman" panose="02020603050405020304" pitchFamily="18" charset="0"/>
                <a:cs typeface="Times New Roman" panose="02020603050405020304" pitchFamily="18" charset="0"/>
              </a:rPr>
              <a:t>In Sambalpur, Orissa 195 humans were killed in the last 5 years by elephants. In retaliation, the villagers killed 95 elephants in the border region of the Kote-Chamarajanagar belt in Mysore which has been reported recently. The man-elephant conflict in this region has arisen because of massive damage done by the elephants to the farmer’s cotton and sugarcane crops.</a:t>
            </a:r>
          </a:p>
          <a:p>
            <a:pPr marL="0" indent="0">
              <a:lnSpc>
                <a:spcPct val="150000"/>
              </a:lnSpc>
              <a:buNone/>
            </a:pP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p>
        </p:txBody>
      </p:sp>
    </p:spTree>
    <p:extLst>
      <p:ext uri="{BB962C8B-B14F-4D97-AF65-F5344CB8AC3E}">
        <p14:creationId xmlns:p14="http://schemas.microsoft.com/office/powerpoint/2010/main" val="1711047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FC43C-3604-B025-DC39-EE351A7B1C70}"/>
              </a:ext>
            </a:extLst>
          </p:cNvPr>
          <p:cNvSpPr>
            <a:spLocks noGrp="1"/>
          </p:cNvSpPr>
          <p:nvPr>
            <p:ph type="title"/>
          </p:nvPr>
        </p:nvSpPr>
        <p:spPr>
          <a:xfrm>
            <a:off x="1651518" y="128682"/>
            <a:ext cx="9347718" cy="487039"/>
          </a:xfrm>
        </p:spPr>
        <p:txBody>
          <a:bodyPr>
            <a:normAutofit fontScale="90000"/>
          </a:bodyPr>
          <a:lstStyle/>
          <a:p>
            <a:pPr algn="ctr"/>
            <a:r>
              <a:rPr lang="en-IN" sz="3000" b="1" u="sng" dirty="0">
                <a:solidFill>
                  <a:srgbClr val="FF0000"/>
                </a:solidFill>
                <a:latin typeface="+mn-lt"/>
              </a:rPr>
              <a:t>ENDANGERED AND ENDEMIC SPECIES OF INDIA</a:t>
            </a:r>
          </a:p>
        </p:txBody>
      </p:sp>
      <p:sp>
        <p:nvSpPr>
          <p:cNvPr id="3" name="Content Placeholder 2">
            <a:extLst>
              <a:ext uri="{FF2B5EF4-FFF2-40B4-BE49-F238E27FC236}">
                <a16:creationId xmlns:a16="http://schemas.microsoft.com/office/drawing/2014/main" id="{678F997D-B88D-FD88-D032-36BFA06091C8}"/>
              </a:ext>
            </a:extLst>
          </p:cNvPr>
          <p:cNvSpPr>
            <a:spLocks noGrp="1"/>
          </p:cNvSpPr>
          <p:nvPr>
            <p:ph idx="1"/>
          </p:nvPr>
        </p:nvSpPr>
        <p:spPr>
          <a:xfrm>
            <a:off x="278363" y="437517"/>
            <a:ext cx="11635273" cy="5982965"/>
          </a:xfrm>
        </p:spPr>
        <p:txBody>
          <a:bodyPr>
            <a:noAutofit/>
          </a:bodyPr>
          <a:lstStyle/>
          <a:p>
            <a:pPr algn="just">
              <a:lnSpc>
                <a:spcPct val="150000"/>
              </a:lnSpc>
            </a:pPr>
            <a:r>
              <a:rPr lang="en-US" sz="1600" b="1" i="0" u="none" strike="noStrike" baseline="0" dirty="0">
                <a:latin typeface="Times New Roman" panose="02020603050405020304" pitchFamily="18" charset="0"/>
              </a:rPr>
              <a:t>Endangered species </a:t>
            </a:r>
            <a:r>
              <a:rPr lang="en-US" sz="1600" b="0" i="0" u="none" strike="noStrike" baseline="0" dirty="0">
                <a:latin typeface="Times New Roman" panose="02020603050405020304" pitchFamily="18" charset="0"/>
              </a:rPr>
              <a:t>A species whose numbers are reduced to the point. That means endangered species are in immediate danger of extinction.</a:t>
            </a:r>
          </a:p>
          <a:p>
            <a:pPr algn="just">
              <a:lnSpc>
                <a:spcPct val="150000"/>
              </a:lnSpc>
            </a:pPr>
            <a:r>
              <a:rPr lang="en-US" sz="1600" b="0" i="0" u="none" strike="noStrike" baseline="0" dirty="0">
                <a:latin typeface="Times New Roman" panose="02020603050405020304" pitchFamily="18" charset="0"/>
              </a:rPr>
              <a:t>The International Union Conservation of Nature ( IUCN ) classified the species of plants and </a:t>
            </a:r>
            <a:r>
              <a:rPr lang="en-IN" sz="1600" b="0" i="0" u="none" strike="noStrike" baseline="0" dirty="0">
                <a:latin typeface="Times New Roman" panose="02020603050405020304" pitchFamily="18" charset="0"/>
              </a:rPr>
              <a:t>animals as:</a:t>
            </a:r>
          </a:p>
          <a:p>
            <a:pPr algn="just">
              <a:lnSpc>
                <a:spcPct val="150000"/>
              </a:lnSpc>
            </a:pPr>
            <a:r>
              <a:rPr lang="en-IN" sz="1600" b="0" i="0" u="none" strike="noStrike" baseline="0" dirty="0">
                <a:latin typeface="Times New Roman" panose="02020603050405020304" pitchFamily="18" charset="0"/>
              </a:rPr>
              <a:t>(a) Endangered species</a:t>
            </a:r>
          </a:p>
          <a:p>
            <a:pPr algn="just">
              <a:lnSpc>
                <a:spcPct val="150000"/>
              </a:lnSpc>
            </a:pPr>
            <a:r>
              <a:rPr lang="en-US" sz="1600" b="0" i="0" u="none" strike="noStrike" baseline="0" dirty="0">
                <a:latin typeface="Times New Roman" panose="02020603050405020304" pitchFamily="18" charset="0"/>
              </a:rPr>
              <a:t>(b) Threatened species: Species ( including animals, plants, fungi, etc.) which are vulnerable to endangerment soon)</a:t>
            </a:r>
          </a:p>
          <a:p>
            <a:pPr algn="just">
              <a:lnSpc>
                <a:spcPct val="150000"/>
              </a:lnSpc>
            </a:pPr>
            <a:r>
              <a:rPr lang="en-US" sz="1600" b="0" i="0" u="none" strike="noStrike" baseline="0" dirty="0">
                <a:latin typeface="Times New Roman" panose="02020603050405020304" pitchFamily="18" charset="0"/>
              </a:rPr>
              <a:t>(c) Rare species: Among the important endangered animal species, the Indian wild ass;  the Golden Langur, etc are considered highly endangered. There are also endangered bird species like the Siberian crane; the great Indian Bustard; the florican etc.</a:t>
            </a:r>
          </a:p>
          <a:p>
            <a:pPr algn="just">
              <a:lnSpc>
                <a:spcPct val="150000"/>
              </a:lnSpc>
            </a:pPr>
            <a:r>
              <a:rPr lang="en-US" sz="1600" b="0" i="0" u="none" strike="noStrike" baseline="0" dirty="0">
                <a:latin typeface="Times New Roman" panose="02020603050405020304" pitchFamily="18" charset="0"/>
              </a:rPr>
              <a:t>The IUCN published the data on endangered species of both plants and animals of India.</a:t>
            </a:r>
          </a:p>
          <a:p>
            <a:pPr algn="just">
              <a:lnSpc>
                <a:spcPct val="150000"/>
              </a:lnSpc>
            </a:pPr>
            <a:r>
              <a:rPr lang="en-US" sz="1600" b="0" i="0" u="none" strike="noStrike" baseline="0" dirty="0">
                <a:latin typeface="Times New Roman" panose="02020603050405020304" pitchFamily="18" charset="0"/>
              </a:rPr>
              <a:t>A species is said to be </a:t>
            </a:r>
            <a:r>
              <a:rPr lang="en-US" sz="1600" b="1" i="0" u="none" strike="noStrike" baseline="0" dirty="0">
                <a:latin typeface="Times New Roman" panose="02020603050405020304" pitchFamily="18" charset="0"/>
              </a:rPr>
              <a:t>extinct </a:t>
            </a:r>
            <a:r>
              <a:rPr lang="en-US" sz="1600" b="0" i="0" u="none" strike="noStrike" baseline="0" dirty="0">
                <a:latin typeface="Times New Roman" panose="02020603050405020304" pitchFamily="18" charset="0"/>
              </a:rPr>
              <a:t>when it is not seen in the wild for 50 years at a stretch e.g., Dodo, </a:t>
            </a:r>
            <a:r>
              <a:rPr lang="en-IN" sz="1600" b="0" i="0" u="none" strike="noStrike" baseline="0" dirty="0">
                <a:latin typeface="Times New Roman" panose="02020603050405020304" pitchFamily="18" charset="0"/>
              </a:rPr>
              <a:t>Passenger Pigeon.</a:t>
            </a:r>
          </a:p>
          <a:p>
            <a:pPr algn="just">
              <a:lnSpc>
                <a:spcPct val="150000"/>
              </a:lnSpc>
            </a:pPr>
            <a:r>
              <a:rPr lang="en-US" sz="1600" b="0" i="0" u="none" strike="noStrike" baseline="0" dirty="0">
                <a:latin typeface="Times New Roman" panose="02020603050405020304" pitchFamily="18" charset="0"/>
              </a:rPr>
              <a:t>A species is said to be </a:t>
            </a:r>
            <a:r>
              <a:rPr lang="en-US" sz="1600" b="1" i="0" u="none" strike="noStrike" baseline="0" dirty="0">
                <a:latin typeface="Times New Roman" panose="02020603050405020304" pitchFamily="18" charset="0"/>
              </a:rPr>
              <a:t>endangered </a:t>
            </a:r>
            <a:r>
              <a:rPr lang="en-US" sz="1600" b="0" i="0" u="none" strike="noStrike" baseline="0" dirty="0">
                <a:latin typeface="Times New Roman" panose="02020603050405020304" pitchFamily="18" charset="0"/>
              </a:rPr>
              <a:t>when its number has been reduced to a critical level or its habitat, have been drastically reduced and if such species is not protected and conserved, it is in </a:t>
            </a:r>
            <a:r>
              <a:rPr lang="en-IN" sz="1600" b="0" i="0" u="none" strike="noStrike" baseline="0" dirty="0">
                <a:latin typeface="Times New Roman" panose="02020603050405020304" pitchFamily="18" charset="0"/>
              </a:rPr>
              <a:t>immediate danger of extinction.</a:t>
            </a:r>
          </a:p>
          <a:p>
            <a:pPr algn="just">
              <a:lnSpc>
                <a:spcPct val="150000"/>
              </a:lnSpc>
            </a:pPr>
            <a:r>
              <a:rPr lang="en-US" sz="1600" b="0" i="0" u="none" strike="noStrike" baseline="0" dirty="0">
                <a:latin typeface="Times New Roman" panose="02020603050405020304" pitchFamily="18" charset="0"/>
              </a:rPr>
              <a:t>The International Union for Conservation of Nature and Natural Resources(IUCN) publishes the</a:t>
            </a:r>
          </a:p>
          <a:p>
            <a:pPr algn="just">
              <a:lnSpc>
                <a:spcPct val="150000"/>
              </a:lnSpc>
            </a:pPr>
            <a:r>
              <a:rPr lang="en-US" sz="1600" b="1" i="0" u="none" strike="noStrike" baseline="0" dirty="0">
                <a:latin typeface="Times New Roman" panose="02020603050405020304" pitchFamily="18" charset="0"/>
              </a:rPr>
              <a:t>Red Data Book </a:t>
            </a:r>
            <a:r>
              <a:rPr lang="en-US" sz="1600" b="0" i="0" u="none" strike="noStrike" baseline="0" dirty="0">
                <a:latin typeface="Times New Roman" panose="02020603050405020304" pitchFamily="18" charset="0"/>
              </a:rPr>
              <a:t>which includes the list of endangered species of plants and animals.</a:t>
            </a:r>
            <a:endParaRPr lang="en-IN" sz="1600" dirty="0">
              <a:latin typeface="Times New Roman" panose="02020603050405020304" pitchFamily="18" charset="0"/>
            </a:endParaRPr>
          </a:p>
        </p:txBody>
      </p:sp>
    </p:spTree>
    <p:extLst>
      <p:ext uri="{BB962C8B-B14F-4D97-AF65-F5344CB8AC3E}">
        <p14:creationId xmlns:p14="http://schemas.microsoft.com/office/powerpoint/2010/main" val="893330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EC283-E2B0-6863-3A3D-E27D9B77059C}"/>
              </a:ext>
            </a:extLst>
          </p:cNvPr>
          <p:cNvSpPr>
            <a:spLocks noGrp="1"/>
          </p:cNvSpPr>
          <p:nvPr>
            <p:ph sz="half" idx="1"/>
          </p:nvPr>
        </p:nvSpPr>
        <p:spPr>
          <a:xfrm>
            <a:off x="222380" y="127453"/>
            <a:ext cx="4246983" cy="5386939"/>
          </a:xfrm>
        </p:spPr>
        <p:txBody>
          <a:bodyPr>
            <a:normAutofit fontScale="92500" lnSpcReduction="20000"/>
          </a:bodyPr>
          <a:lstStyle/>
          <a:p>
            <a:pPr algn="just">
              <a:lnSpc>
                <a:spcPct val="100000"/>
              </a:lnSpc>
            </a:pPr>
            <a:r>
              <a:rPr lang="en-US" sz="1600" b="0" i="0" u="none" strike="noStrike" baseline="0" dirty="0">
                <a:latin typeface="Times New Roman" panose="02020603050405020304" pitchFamily="18" charset="0"/>
                <a:cs typeface="Times New Roman" panose="02020603050405020304" pitchFamily="18" charset="0"/>
              </a:rPr>
              <a:t>The animals that are listed under the </a:t>
            </a:r>
            <a:r>
              <a:rPr lang="en-US" sz="1600" b="1" i="0" u="none" strike="noStrike" baseline="0" dirty="0">
                <a:latin typeface="Times New Roman" panose="02020603050405020304" pitchFamily="18" charset="0"/>
                <a:cs typeface="Times New Roman" panose="02020603050405020304" pitchFamily="18" charset="0"/>
              </a:rPr>
              <a:t>critically endangered category </a:t>
            </a:r>
            <a:r>
              <a:rPr lang="en-US" sz="1600" b="0" i="0" u="none" strike="noStrike" baseline="0" dirty="0">
                <a:latin typeface="Times New Roman" panose="02020603050405020304" pitchFamily="18" charset="0"/>
                <a:cs typeface="Times New Roman" panose="02020603050405020304" pitchFamily="18" charset="0"/>
              </a:rPr>
              <a:t>are as under:</a:t>
            </a:r>
          </a:p>
          <a:p>
            <a:pPr algn="just">
              <a:lnSpc>
                <a:spcPct val="100000"/>
              </a:lnSpc>
            </a:pPr>
            <a:r>
              <a:rPr lang="en-IN" sz="1600" b="0" i="0" u="none" strike="noStrike" baseline="0" dirty="0">
                <a:latin typeface="Times New Roman" panose="02020603050405020304" pitchFamily="18" charset="0"/>
                <a:cs typeface="Times New Roman" panose="02020603050405020304" pitchFamily="18" charset="0"/>
              </a:rPr>
              <a:t>1)Malabar Large Spotted Civet</a:t>
            </a:r>
          </a:p>
          <a:p>
            <a:pPr algn="just">
              <a:lnSpc>
                <a:spcPct val="100000"/>
              </a:lnSpc>
            </a:pPr>
            <a:r>
              <a:rPr lang="en-IN" sz="1600" b="0" i="0" u="none" strike="noStrike" baseline="0" dirty="0">
                <a:latin typeface="Times New Roman" panose="02020603050405020304" pitchFamily="18" charset="0"/>
                <a:cs typeface="Times New Roman" panose="02020603050405020304" pitchFamily="18" charset="0"/>
              </a:rPr>
              <a:t>2)Namdapha Flying Squirrel</a:t>
            </a:r>
          </a:p>
          <a:p>
            <a:pPr algn="just">
              <a:lnSpc>
                <a:spcPct val="100000"/>
              </a:lnSpc>
            </a:pPr>
            <a:r>
              <a:rPr lang="en-IN" sz="1600" b="0" i="0" u="none" strike="noStrike" baseline="0" dirty="0">
                <a:latin typeface="Times New Roman" panose="02020603050405020304" pitchFamily="18" charset="0"/>
                <a:cs typeface="Times New Roman" panose="02020603050405020304" pitchFamily="18" charset="0"/>
              </a:rPr>
              <a:t>3)Salim Ali’s Fruit Bat</a:t>
            </a:r>
          </a:p>
          <a:p>
            <a:pPr algn="just">
              <a:lnSpc>
                <a:spcPct val="100000"/>
              </a:lnSpc>
            </a:pPr>
            <a:r>
              <a:rPr lang="en-IN" sz="1600" b="0" i="0" u="none" strike="noStrike" baseline="0" dirty="0">
                <a:latin typeface="Times New Roman" panose="02020603050405020304" pitchFamily="18" charset="0"/>
                <a:cs typeface="Times New Roman" panose="02020603050405020304" pitchFamily="18" charset="0"/>
              </a:rPr>
              <a:t>4)Sumatran Rhinoceros</a:t>
            </a:r>
          </a:p>
          <a:p>
            <a:pPr marL="0" indent="0" algn="just">
              <a:lnSpc>
                <a:spcPct val="100000"/>
              </a:lnSpc>
              <a:buNone/>
            </a:pPr>
            <a:endParaRPr lang="en-IN" sz="1600" b="0" i="0" u="none" strike="noStrike" baseline="0" dirty="0">
              <a:latin typeface="Times New Roman" panose="02020603050405020304" pitchFamily="18" charset="0"/>
              <a:cs typeface="Times New Roman" panose="02020603050405020304" pitchFamily="18" charset="0"/>
            </a:endParaRPr>
          </a:p>
          <a:p>
            <a:pPr algn="l">
              <a:lnSpc>
                <a:spcPct val="100000"/>
              </a:lnSpc>
            </a:pPr>
            <a:r>
              <a:rPr lang="en-IN" sz="1600" b="1" i="0" u="none" strike="noStrike" baseline="0" dirty="0">
                <a:latin typeface="Times New Roman" panose="02020603050405020304" pitchFamily="18" charset="0"/>
              </a:rPr>
              <a:t>Endangered Species are:</a:t>
            </a:r>
          </a:p>
          <a:p>
            <a:pPr algn="l">
              <a:lnSpc>
                <a:spcPct val="100000"/>
              </a:lnSpc>
            </a:pPr>
            <a:r>
              <a:rPr lang="en-IN" sz="1600" b="0" i="0" u="none" strike="noStrike" baseline="0" dirty="0">
                <a:latin typeface="Times New Roman" panose="02020603050405020304" pitchFamily="18" charset="0"/>
              </a:rPr>
              <a:t>1)Asiatic Lion</a:t>
            </a:r>
          </a:p>
          <a:p>
            <a:pPr algn="l">
              <a:lnSpc>
                <a:spcPct val="100000"/>
              </a:lnSpc>
            </a:pPr>
            <a:r>
              <a:rPr lang="en-IN" sz="1600" b="0" i="0" u="none" strike="noStrike" baseline="0" dirty="0">
                <a:latin typeface="Times New Roman" panose="02020603050405020304" pitchFamily="18" charset="0"/>
              </a:rPr>
              <a:t>2)Asiatic Black Bear</a:t>
            </a:r>
          </a:p>
          <a:p>
            <a:pPr algn="l">
              <a:lnSpc>
                <a:spcPct val="100000"/>
              </a:lnSpc>
            </a:pPr>
            <a:r>
              <a:rPr lang="en-IN" sz="1600" b="0" i="0" u="none" strike="noStrike" baseline="0" dirty="0">
                <a:latin typeface="Times New Roman" panose="02020603050405020304" pitchFamily="18" charset="0"/>
              </a:rPr>
              <a:t>3)Desert Cat</a:t>
            </a:r>
          </a:p>
          <a:p>
            <a:pPr algn="l">
              <a:lnSpc>
                <a:spcPct val="100000"/>
              </a:lnSpc>
            </a:pPr>
            <a:r>
              <a:rPr lang="en-IN" sz="1600" b="0" i="0" u="none" strike="noStrike" baseline="0" dirty="0">
                <a:latin typeface="Times New Roman" panose="02020603050405020304" pitchFamily="18" charset="0"/>
              </a:rPr>
              <a:t>4)Great Indian Rhinoceros</a:t>
            </a:r>
          </a:p>
          <a:p>
            <a:pPr algn="l">
              <a:lnSpc>
                <a:spcPct val="100000"/>
              </a:lnSpc>
            </a:pPr>
            <a:r>
              <a:rPr lang="en-IN" sz="1600" b="0" i="0" u="none" strike="noStrike" baseline="0" dirty="0">
                <a:latin typeface="Times New Roman" panose="02020603050405020304" pitchFamily="18" charset="0"/>
              </a:rPr>
              <a:t>5)Indian Elephant(or)Asian Elephant</a:t>
            </a:r>
          </a:p>
          <a:p>
            <a:pPr marL="0" indent="0" algn="l">
              <a:lnSpc>
                <a:spcPct val="100000"/>
              </a:lnSpc>
              <a:buNone/>
            </a:pPr>
            <a:endParaRPr lang="en-IN" sz="1600" b="0" i="0" u="none" strike="noStrike" baseline="0" dirty="0">
              <a:latin typeface="Times New Roman" panose="02020603050405020304" pitchFamily="18" charset="0"/>
            </a:endParaRPr>
          </a:p>
          <a:p>
            <a:pPr algn="l">
              <a:lnSpc>
                <a:spcPct val="100000"/>
              </a:lnSpc>
            </a:pPr>
            <a:r>
              <a:rPr lang="en-IN" sz="1600" b="1" i="0" u="none" strike="noStrike" baseline="0" dirty="0">
                <a:latin typeface="Times New Roman" panose="02020603050405020304" pitchFamily="18" charset="0"/>
              </a:rPr>
              <a:t>Threatened Species are :</a:t>
            </a:r>
          </a:p>
          <a:p>
            <a:pPr algn="l">
              <a:lnSpc>
                <a:spcPct val="100000"/>
              </a:lnSpc>
            </a:pPr>
            <a:r>
              <a:rPr lang="en-IN" sz="1600" b="0" i="0" u="none" strike="noStrike" baseline="0" dirty="0">
                <a:latin typeface="Times New Roman" panose="02020603050405020304" pitchFamily="18" charset="0"/>
              </a:rPr>
              <a:t>1)Indian Wild Ass</a:t>
            </a:r>
          </a:p>
          <a:p>
            <a:pPr algn="l">
              <a:lnSpc>
                <a:spcPct val="100000"/>
              </a:lnSpc>
            </a:pPr>
            <a:r>
              <a:rPr lang="en-IN" sz="1600" b="0" i="0" u="none" strike="noStrike" baseline="0" dirty="0">
                <a:latin typeface="Times New Roman" panose="02020603050405020304" pitchFamily="18" charset="0"/>
              </a:rPr>
              <a:t>2)Leopard</a:t>
            </a:r>
            <a:endParaRPr lang="en-IN" sz="1600" dirty="0"/>
          </a:p>
          <a:p>
            <a:pPr algn="just">
              <a:lnSpc>
                <a:spcPct val="150000"/>
              </a:lnSpc>
            </a:pPr>
            <a:endParaRPr lang="en-IN" sz="1600" b="0" i="0" u="none" strike="noStrike" baseline="0" dirty="0">
              <a:latin typeface="Times New Roman" panose="02020603050405020304" pitchFamily="18" charset="0"/>
              <a:cs typeface="Times New Roman" panose="02020603050405020304" pitchFamily="18" charset="0"/>
            </a:endParaRPr>
          </a:p>
          <a:p>
            <a:pPr algn="just">
              <a:lnSpc>
                <a:spcPct val="150000"/>
              </a:lnSpc>
            </a:pPr>
            <a:endParaRPr lang="en-IN" sz="1600" dirty="0">
              <a:latin typeface="Times New Roman" panose="02020603050405020304" pitchFamily="18" charset="0"/>
              <a:cs typeface="Times New Roman" panose="02020603050405020304" pitchFamily="18" charset="0"/>
            </a:endParaRPr>
          </a:p>
          <a:p>
            <a:endParaRPr lang="en-IN" dirty="0"/>
          </a:p>
        </p:txBody>
      </p:sp>
      <p:sp>
        <p:nvSpPr>
          <p:cNvPr id="4" name="Content Placeholder 3">
            <a:extLst>
              <a:ext uri="{FF2B5EF4-FFF2-40B4-BE49-F238E27FC236}">
                <a16:creationId xmlns:a16="http://schemas.microsoft.com/office/drawing/2014/main" id="{DAF0A2DA-BD35-7CC2-7A97-158CE76C1360}"/>
              </a:ext>
            </a:extLst>
          </p:cNvPr>
          <p:cNvSpPr>
            <a:spLocks noGrp="1"/>
          </p:cNvSpPr>
          <p:nvPr>
            <p:ph sz="half" idx="2"/>
          </p:nvPr>
        </p:nvSpPr>
        <p:spPr>
          <a:xfrm>
            <a:off x="4469363" y="0"/>
            <a:ext cx="7791061" cy="6858000"/>
          </a:xfrm>
        </p:spPr>
        <p:txBody>
          <a:bodyPr>
            <a:noAutofit/>
          </a:bodyPr>
          <a:lstStyle/>
          <a:p>
            <a:pPr algn="l">
              <a:lnSpc>
                <a:spcPct val="150000"/>
              </a:lnSpc>
            </a:pPr>
            <a:r>
              <a:rPr lang="en-IN" sz="1600" b="1" i="0" u="none" strike="noStrike" baseline="0" dirty="0">
                <a:latin typeface="Times New Roman" panose="02020603050405020304" pitchFamily="18" charset="0"/>
              </a:rPr>
              <a:t>Endemic species of India: </a:t>
            </a:r>
            <a:r>
              <a:rPr lang="en-US" sz="1600" b="1" i="0" u="none" strike="noStrike" baseline="0" dirty="0">
                <a:latin typeface="Times New Roman" panose="02020603050405020304" pitchFamily="18" charset="0"/>
              </a:rPr>
              <a:t>Endemic species are those taxa whose distribution is confined to a restricted area due to their specific ecological niches and edaphic gradients</a:t>
            </a:r>
            <a:r>
              <a:rPr lang="en-US" sz="1600" b="0" i="0" u="none" strike="noStrike" baseline="0" dirty="0">
                <a:latin typeface="Times New Roman" panose="02020603050405020304" pitchFamily="18" charset="0"/>
              </a:rPr>
              <a:t>. Therefore, the habitats of endemic species are far more vulnerable than other species. Endemic species once lost, it is a loss of biodiversity </a:t>
            </a:r>
            <a:r>
              <a:rPr lang="en-IN" sz="1600" b="0" i="0" u="none" strike="noStrike" baseline="0" dirty="0">
                <a:latin typeface="Times New Roman" panose="02020603050405020304" pitchFamily="18" charset="0"/>
              </a:rPr>
              <a:t>of these species forever.</a:t>
            </a:r>
            <a:endParaRPr lang="en-IN" sz="1600" b="1" dirty="0">
              <a:latin typeface="Times New Roman" panose="02020603050405020304" pitchFamily="18" charset="0"/>
            </a:endParaRPr>
          </a:p>
          <a:p>
            <a:pPr algn="l">
              <a:lnSpc>
                <a:spcPct val="150000"/>
              </a:lnSpc>
            </a:pPr>
            <a:r>
              <a:rPr lang="en-US" sz="1600" b="0" i="0" u="none" strike="noStrike" baseline="0" dirty="0">
                <a:latin typeface="Times New Roman" panose="02020603050405020304" pitchFamily="18" charset="0"/>
              </a:rPr>
              <a:t>In </a:t>
            </a:r>
            <a:r>
              <a:rPr lang="en-US" sz="1600" b="1" i="0" u="none" strike="noStrike" baseline="0" dirty="0">
                <a:latin typeface="Times New Roman" panose="02020603050405020304" pitchFamily="18" charset="0"/>
              </a:rPr>
              <a:t>India there are about 5725 endemic taxa of angiosperms (33.5% of Indian flora) which are in 25 hot spots</a:t>
            </a:r>
            <a:r>
              <a:rPr lang="en-US" sz="1600" b="0" i="0" u="none" strike="noStrike" baseline="0" dirty="0">
                <a:latin typeface="Times New Roman" panose="02020603050405020304" pitchFamily="18" charset="0"/>
              </a:rPr>
              <a:t>. The major hotspots in India that contain the largest number of endemic plant species are the </a:t>
            </a:r>
            <a:r>
              <a:rPr lang="en-US" sz="1600" b="1" i="0" u="none" strike="noStrike" baseline="0" dirty="0">
                <a:latin typeface="Times New Roman" panose="02020603050405020304" pitchFamily="18" charset="0"/>
              </a:rPr>
              <a:t>Southern Western Ghats and Eastern Himalayas with 1286 and 1808 </a:t>
            </a:r>
            <a:r>
              <a:rPr lang="en-IN" sz="1600" b="1" i="0" u="none" strike="noStrike" baseline="0" dirty="0">
                <a:latin typeface="Times New Roman" panose="02020603050405020304" pitchFamily="18" charset="0"/>
              </a:rPr>
              <a:t>endemic species </a:t>
            </a:r>
            <a:r>
              <a:rPr lang="en-IN" sz="1600" b="0" i="0" u="none" strike="noStrike" baseline="0" dirty="0">
                <a:latin typeface="Times New Roman" panose="02020603050405020304" pitchFamily="18" charset="0"/>
              </a:rPr>
              <a:t>respectively.</a:t>
            </a:r>
            <a:endParaRPr lang="en-IN" sz="1600" b="1" i="0" u="none" strike="noStrike" baseline="0" dirty="0">
              <a:latin typeface="Times New Roman" panose="02020603050405020304" pitchFamily="18" charset="0"/>
            </a:endParaRPr>
          </a:p>
          <a:p>
            <a:pPr algn="l">
              <a:lnSpc>
                <a:spcPct val="150000"/>
              </a:lnSpc>
            </a:pPr>
            <a:r>
              <a:rPr lang="en-US" sz="1600" b="0" i="0" u="none" strike="noStrike" baseline="0" dirty="0">
                <a:latin typeface="Times New Roman" panose="02020603050405020304" pitchFamily="18" charset="0"/>
              </a:rPr>
              <a:t>There are about 1272 species of endemic angiosperms out of 3800 species occurring in Kerala (33.5% of Kerala flora) which represent 22.6% of Indian endemics.</a:t>
            </a:r>
          </a:p>
          <a:p>
            <a:pPr algn="l">
              <a:lnSpc>
                <a:spcPct val="150000"/>
              </a:lnSpc>
            </a:pPr>
            <a:r>
              <a:rPr lang="en-US" sz="1600" b="0" i="0" u="none" strike="noStrike" baseline="0" dirty="0">
                <a:latin typeface="Times New Roman" panose="02020603050405020304" pitchFamily="18" charset="0"/>
              </a:rPr>
              <a:t>Seventy percent of the 1272 species of endemics have the major areas of distribution in Kerala with spillover in adjacent regions</a:t>
            </a:r>
          </a:p>
          <a:p>
            <a:pPr algn="l">
              <a:lnSpc>
                <a:spcPct val="150000"/>
              </a:lnSpc>
            </a:pPr>
            <a:r>
              <a:rPr lang="en-US" sz="1600" b="1" i="0" u="none" strike="noStrike" baseline="0" dirty="0">
                <a:latin typeface="Times New Roman" panose="02020603050405020304" pitchFamily="18" charset="0"/>
              </a:rPr>
              <a:t>102 endemic species occur exclusively in Kerala.</a:t>
            </a:r>
            <a:endParaRPr lang="en-US" sz="1600" b="1" dirty="0">
              <a:latin typeface="Times New Roman" panose="02020603050405020304" pitchFamily="18" charset="0"/>
            </a:endParaRPr>
          </a:p>
          <a:p>
            <a:pPr algn="l">
              <a:lnSpc>
                <a:spcPct val="150000"/>
              </a:lnSpc>
            </a:pPr>
            <a:r>
              <a:rPr lang="en-US" sz="1600" b="0" i="0" u="none" strike="noStrike" baseline="0" dirty="0">
                <a:latin typeface="Times New Roman" panose="02020603050405020304" pitchFamily="18" charset="0"/>
              </a:rPr>
              <a:t>A large number out of a total of 81,000 animals in our country is endemic. The Western Ghats are particularly rich in amphibians (frogs, toads etc) and reptiles (lizards, crocodiles etc) about 62% of amphibians and 50% of lizards are endemic to the Western Ghats</a:t>
            </a:r>
            <a:endParaRPr lang="en-IN" sz="1600" dirty="0"/>
          </a:p>
        </p:txBody>
      </p:sp>
      <p:cxnSp>
        <p:nvCxnSpPr>
          <p:cNvPr id="6" name="Straight Connector 5">
            <a:extLst>
              <a:ext uri="{FF2B5EF4-FFF2-40B4-BE49-F238E27FC236}">
                <a16:creationId xmlns:a16="http://schemas.microsoft.com/office/drawing/2014/main" id="{8978E61B-0229-C924-90E6-F868E224A1AB}"/>
              </a:ext>
            </a:extLst>
          </p:cNvPr>
          <p:cNvCxnSpPr/>
          <p:nvPr/>
        </p:nvCxnSpPr>
        <p:spPr>
          <a:xfrm>
            <a:off x="4544008" y="0"/>
            <a:ext cx="0" cy="68580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3030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conservation scheme&#10;&#10;Description automatically generated">
            <a:extLst>
              <a:ext uri="{FF2B5EF4-FFF2-40B4-BE49-F238E27FC236}">
                <a16:creationId xmlns:a16="http://schemas.microsoft.com/office/drawing/2014/main" id="{2CF61E63-5658-CD20-6747-AA2F03844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665" y="1056309"/>
            <a:ext cx="9514727" cy="5470969"/>
          </a:xfrm>
          <a:prstGeom prst="rect">
            <a:avLst/>
          </a:prstGeom>
          <a:ln>
            <a:noFill/>
          </a:ln>
        </p:spPr>
      </p:pic>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06BE01F-9746-3BD3-ED53-23A02C700694}"/>
              </a:ext>
            </a:extLst>
          </p:cNvPr>
          <p:cNvSpPr txBox="1"/>
          <p:nvPr/>
        </p:nvSpPr>
        <p:spPr>
          <a:xfrm>
            <a:off x="3275044" y="210280"/>
            <a:ext cx="4608953" cy="1015663"/>
          </a:xfrm>
          <a:prstGeom prst="rect">
            <a:avLst/>
          </a:prstGeom>
          <a:noFill/>
        </p:spPr>
        <p:txBody>
          <a:bodyPr wrap="square" rtlCol="0">
            <a:spAutoFit/>
          </a:bodyPr>
          <a:lstStyle/>
          <a:p>
            <a:r>
              <a:rPr lang="en-IN" sz="3000" b="1" u="sng" dirty="0">
                <a:solidFill>
                  <a:srgbClr val="FF0000"/>
                </a:solidFill>
              </a:rPr>
              <a:t>CONSERVATION OF BIODIVERSITY </a:t>
            </a:r>
          </a:p>
        </p:txBody>
      </p:sp>
    </p:spTree>
    <p:extLst>
      <p:ext uri="{BB962C8B-B14F-4D97-AF65-F5344CB8AC3E}">
        <p14:creationId xmlns:p14="http://schemas.microsoft.com/office/powerpoint/2010/main" val="201875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69D9B2-0B09-7A89-1191-1C2DC0982AB8}"/>
              </a:ext>
            </a:extLst>
          </p:cNvPr>
          <p:cNvSpPr>
            <a:spLocks noGrp="1"/>
          </p:cNvSpPr>
          <p:nvPr>
            <p:ph sz="half" idx="1"/>
          </p:nvPr>
        </p:nvSpPr>
        <p:spPr>
          <a:xfrm>
            <a:off x="586273" y="1253331"/>
            <a:ext cx="5181600" cy="4351338"/>
          </a:xfrm>
        </p:spPr>
        <p:txBody>
          <a:bodyPr>
            <a:normAutofit/>
          </a:bodyPr>
          <a:lstStyle/>
          <a:p>
            <a:pPr>
              <a:lnSpc>
                <a:spcPct val="150000"/>
              </a:lnSpc>
            </a:pPr>
            <a:r>
              <a:rPr lang="en-IN" sz="1800" dirty="0">
                <a:latin typeface="Times New Roman" panose="02020603050405020304" pitchFamily="18" charset="0"/>
                <a:cs typeface="Times New Roman" panose="02020603050405020304" pitchFamily="18" charset="0"/>
              </a:rPr>
              <a:t>IN-SITU</a:t>
            </a:r>
          </a:p>
          <a:p>
            <a:pPr>
              <a:lnSpc>
                <a:spcPct val="150000"/>
              </a:lnSpc>
            </a:pPr>
            <a:r>
              <a:rPr lang="en-IN" sz="1800" dirty="0">
                <a:latin typeface="Times New Roman" panose="02020603050405020304" pitchFamily="18" charset="0"/>
                <a:cs typeface="Times New Roman" panose="02020603050405020304" pitchFamily="18" charset="0"/>
              </a:rPr>
              <a:t>When the conservation of the species is done in the natural habitat and environment.</a:t>
            </a:r>
          </a:p>
          <a:p>
            <a:pPr>
              <a:lnSpc>
                <a:spcPct val="150000"/>
              </a:lnSpc>
            </a:pPr>
            <a:r>
              <a:rPr lang="en-IN" sz="1800" dirty="0">
                <a:latin typeface="Times New Roman" panose="02020603050405020304" pitchFamily="18" charset="0"/>
                <a:cs typeface="Times New Roman" panose="02020603050405020304" pitchFamily="18" charset="0"/>
              </a:rPr>
              <a:t>This is also known as on-site conservation.</a:t>
            </a:r>
          </a:p>
          <a:p>
            <a:pPr>
              <a:lnSpc>
                <a:spcPct val="150000"/>
              </a:lnSpc>
            </a:pPr>
            <a:r>
              <a:rPr lang="en-IN" sz="1800" dirty="0">
                <a:latin typeface="Times New Roman" panose="02020603050405020304" pitchFamily="18" charset="0"/>
                <a:cs typeface="Times New Roman" panose="02020603050405020304" pitchFamily="18" charset="0"/>
              </a:rPr>
              <a:t>Eg: Biosphere Reserves, National Parks, Wildlife sanctuaries, Sacred Groves, Biodiversity hotspots.</a:t>
            </a:r>
          </a:p>
        </p:txBody>
      </p:sp>
      <p:sp>
        <p:nvSpPr>
          <p:cNvPr id="4" name="Content Placeholder 3">
            <a:extLst>
              <a:ext uri="{FF2B5EF4-FFF2-40B4-BE49-F238E27FC236}">
                <a16:creationId xmlns:a16="http://schemas.microsoft.com/office/drawing/2014/main" id="{665E039F-F1AC-CAB2-B36A-290FFF0ECC2C}"/>
              </a:ext>
            </a:extLst>
          </p:cNvPr>
          <p:cNvSpPr>
            <a:spLocks noGrp="1"/>
          </p:cNvSpPr>
          <p:nvPr>
            <p:ph sz="half" idx="2"/>
          </p:nvPr>
        </p:nvSpPr>
        <p:spPr>
          <a:xfrm>
            <a:off x="6797351" y="1253331"/>
            <a:ext cx="5181600" cy="4351338"/>
          </a:xfrm>
        </p:spPr>
        <p:txBody>
          <a:bodyPr>
            <a:normAutofit/>
          </a:bodyPr>
          <a:lstStyle/>
          <a:p>
            <a:pPr>
              <a:lnSpc>
                <a:spcPct val="150000"/>
              </a:lnSpc>
            </a:pPr>
            <a:r>
              <a:rPr lang="en-IN" sz="1800" dirty="0">
                <a:latin typeface="Times New Roman" panose="02020603050405020304" pitchFamily="18" charset="0"/>
                <a:cs typeface="Times New Roman" panose="02020603050405020304" pitchFamily="18" charset="0"/>
              </a:rPr>
              <a:t>EX-SITU </a:t>
            </a:r>
          </a:p>
          <a:p>
            <a:pPr>
              <a:lnSpc>
                <a:spcPct val="150000"/>
              </a:lnSpc>
            </a:pPr>
            <a:r>
              <a:rPr lang="en-IN" sz="1800" dirty="0">
                <a:latin typeface="Times New Roman" panose="02020603050405020304" pitchFamily="18" charset="0"/>
                <a:cs typeface="Times New Roman" panose="02020603050405020304" pitchFamily="18" charset="0"/>
              </a:rPr>
              <a:t>When the conservation of the species is done in the artificial environment.</a:t>
            </a:r>
          </a:p>
          <a:p>
            <a:pPr>
              <a:lnSpc>
                <a:spcPct val="150000"/>
              </a:lnSpc>
            </a:pPr>
            <a:r>
              <a:rPr lang="en-IN" sz="1800" dirty="0">
                <a:latin typeface="Times New Roman" panose="02020603050405020304" pitchFamily="18" charset="0"/>
                <a:cs typeface="Times New Roman" panose="02020603050405020304" pitchFamily="18" charset="0"/>
              </a:rPr>
              <a:t>This is also known as off-site conservation.</a:t>
            </a:r>
          </a:p>
          <a:p>
            <a:pPr>
              <a:lnSpc>
                <a:spcPct val="150000"/>
              </a:lnSpc>
            </a:pPr>
            <a:r>
              <a:rPr lang="en-IN" sz="1800" dirty="0">
                <a:latin typeface="Times New Roman" panose="02020603050405020304" pitchFamily="18" charset="0"/>
                <a:cs typeface="Times New Roman" panose="02020603050405020304" pitchFamily="18" charset="0"/>
              </a:rPr>
              <a:t>Eg: zoological garden, botanical garden, seed bank, gene banks, germplasm bank, etc. </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7111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Freeform: Shape 308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89" name="Isosceles Triangle 308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Difference Between In-Situ and Ex-Situ Conservation | Compare the Difference  Between Similar Terms">
            <a:extLst>
              <a:ext uri="{FF2B5EF4-FFF2-40B4-BE49-F238E27FC236}">
                <a16:creationId xmlns:a16="http://schemas.microsoft.com/office/drawing/2014/main" id="{1A69F851-0A8C-590A-0479-9D5632599F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28335" y="643467"/>
            <a:ext cx="6027175" cy="580967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091" name="Isosceles Triangle 309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6910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rectangular object with text&#10;&#10;Description automatically generated with medium confidence">
            <a:extLst>
              <a:ext uri="{FF2B5EF4-FFF2-40B4-BE49-F238E27FC236}">
                <a16:creationId xmlns:a16="http://schemas.microsoft.com/office/drawing/2014/main" id="{88C34C3D-D26B-2DAA-4DE7-AD3CC6D75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813407"/>
            <a:ext cx="10905066" cy="5343481"/>
          </a:xfrm>
          <a:prstGeom prst="rect">
            <a:avLst/>
          </a:prstGeom>
        </p:spPr>
      </p:pic>
    </p:spTree>
    <p:extLst>
      <p:ext uri="{BB962C8B-B14F-4D97-AF65-F5344CB8AC3E}">
        <p14:creationId xmlns:p14="http://schemas.microsoft.com/office/powerpoint/2010/main" val="2046745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humbs Up Sign">
            <a:extLst>
              <a:ext uri="{FF2B5EF4-FFF2-40B4-BE49-F238E27FC236}">
                <a16:creationId xmlns:a16="http://schemas.microsoft.com/office/drawing/2014/main" id="{74E6991B-9262-314B-14AE-AC0DBADE08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C880B012-949A-87BD-596D-45C9EDCAAF4B}"/>
              </a:ext>
            </a:extLst>
          </p:cNvPr>
          <p:cNvSpPr>
            <a:spLocks noGrp="1"/>
          </p:cNvSpPr>
          <p:nvPr>
            <p:ph idx="1"/>
          </p:nvPr>
        </p:nvSpPr>
        <p:spPr>
          <a:xfrm>
            <a:off x="6090574" y="2421682"/>
            <a:ext cx="5629478" cy="3639289"/>
          </a:xfrm>
        </p:spPr>
        <p:txBody>
          <a:bodyPr anchor="ctr">
            <a:normAutofit/>
          </a:bodyPr>
          <a:lstStyle/>
          <a:p>
            <a:pPr marL="0" indent="0">
              <a:buNone/>
            </a:pPr>
            <a:r>
              <a:rPr lang="en-IN" sz="6000" dirty="0">
                <a:solidFill>
                  <a:schemeClr val="tx2"/>
                </a:solidFill>
              </a:rPr>
              <a:t>THANK YOU……..</a:t>
            </a:r>
          </a:p>
          <a:p>
            <a:pPr marL="0" indent="0">
              <a:buNone/>
            </a:pPr>
            <a:r>
              <a:rPr lang="en-IN" sz="6000" dirty="0">
                <a:solidFill>
                  <a:schemeClr val="tx2"/>
                </a:solidFill>
              </a:rPr>
              <a:t>Lokesh Godara</a:t>
            </a:r>
          </a:p>
          <a:p>
            <a:pPr marL="0" indent="0">
              <a:buNone/>
            </a:pPr>
            <a:r>
              <a:rPr lang="en-IN" sz="6000" dirty="0">
                <a:solidFill>
                  <a:schemeClr val="tx2"/>
                </a:solidFill>
              </a:rPr>
              <a:t>23/MC/082</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17211474"/>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587</TotalTime>
  <Words>2995</Words>
  <Application>Microsoft Office PowerPoint</Application>
  <PresentationFormat>Widescreen</PresentationFormat>
  <Paragraphs>150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UNIT 1- BIODIVERSITY AND ITS CONSERVATION </vt:lpstr>
      <vt:lpstr>INTRODUCTION </vt:lpstr>
      <vt:lpstr>TYPES OF BIODIVERSITY </vt:lpstr>
      <vt:lpstr>PowerPoint Presentation</vt:lpstr>
      <vt:lpstr>VALUES OF BIODIVERSITY </vt:lpstr>
      <vt:lpstr>PowerPoint Presentation</vt:lpstr>
      <vt:lpstr>BIODIVERSITY AT GLOBAL, NATIONAL AND LOCAL LEVEL</vt:lpstr>
      <vt:lpstr>BIOGEOGRAPHIC CLASSIFICATION OF INDIA</vt:lpstr>
      <vt:lpstr>INDIA AS A MEGA DIVERSITY NATION</vt:lpstr>
      <vt:lpstr>HOTSPOTS OF BIODIVERSITY </vt:lpstr>
      <vt:lpstr>PowerPoint Presentation</vt:lpstr>
      <vt:lpstr>THREATS TO BIODIVERSITY</vt:lpstr>
      <vt:lpstr>PowerPoint Presentation</vt:lpstr>
      <vt:lpstr>ENDANGERED AND ENDEMIC SPECIES OF INDIA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BIODIVERSITY AND ITS CONSERVATION</dc:title>
  <dc:creator>Shazia Shifa</dc:creator>
  <cp:lastModifiedBy>Lokesh Godara</cp:lastModifiedBy>
  <cp:revision>6</cp:revision>
  <dcterms:created xsi:type="dcterms:W3CDTF">2023-09-17T09:12:44Z</dcterms:created>
  <dcterms:modified xsi:type="dcterms:W3CDTF">2024-12-03T02:17:50Z</dcterms:modified>
</cp:coreProperties>
</file>